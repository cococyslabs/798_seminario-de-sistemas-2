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Geo"/>
      <p:regular r:id="rId30"/>
      <p:italic r:id="rId31"/>
    </p:embeddedFont>
    <p:embeddedFont>
      <p:font typeface="League Spartan"/>
      <p:regular r:id="rId32"/>
      <p:bold r:id="rId33"/>
    </p:embeddedFont>
    <p:embeddedFont>
      <p:font typeface="DM Sans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ghQrquYwYP6Ei3tTzKvlz0l5Kf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eo-italic.fntdata"/><Relationship Id="rId30" Type="http://schemas.openxmlformats.org/officeDocument/2006/relationships/font" Target="fonts/Geo-regular.fntdata"/><Relationship Id="rId11" Type="http://schemas.openxmlformats.org/officeDocument/2006/relationships/slide" Target="slides/slide6.xml"/><Relationship Id="rId33" Type="http://schemas.openxmlformats.org/officeDocument/2006/relationships/font" Target="fonts/LeagueSpartan-bold.fntdata"/><Relationship Id="rId10" Type="http://schemas.openxmlformats.org/officeDocument/2006/relationships/slide" Target="slides/slide5.xml"/><Relationship Id="rId32" Type="http://schemas.openxmlformats.org/officeDocument/2006/relationships/font" Target="fonts/LeagueSpartan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.fntdata"/><Relationship Id="rId12" Type="http://schemas.openxmlformats.org/officeDocument/2006/relationships/slide" Target="slides/slide7.xml"/><Relationship Id="rId34" Type="http://schemas.openxmlformats.org/officeDocument/2006/relationships/font" Target="fonts/DMSans-regular.fntdata"/><Relationship Id="rId15" Type="http://schemas.openxmlformats.org/officeDocument/2006/relationships/slide" Target="slides/slide10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9.xml"/><Relationship Id="rId36" Type="http://schemas.openxmlformats.org/officeDocument/2006/relationships/font" Target="fonts/DMSans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94d08b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e094d08b1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1e6175c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c1e6175c1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1e6175c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c1e6175c1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1e6175c1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c1e6175c1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94d08b17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g3e094d08b17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g3e094d08b17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g3e094d08b17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Wendy Lucía Mazariegos Samayoa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g3e094d08b17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SEMINARIO DE SISTEMAS 2 </a:t>
            </a: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9" name="Google Shape;89;g3e094d08b17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90" name="Google Shape;90;g3e094d08b17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91" name="Google Shape;91;g3e094d08b17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g3e094d08b17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e094d08b17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22/07/2026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8991600" cy="10287000"/>
          </a:xfrm>
          <a:custGeom>
            <a:rect b="b" l="l" r="r" t="t"/>
            <a:pathLst>
              <a:path extrusionOk="0" h="1184737" w="1035548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" l="0" r="0" t="-377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10041793" y="1363594"/>
            <a:ext cx="62805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rPr b="0" i="0" lang="en-US" sz="38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Seminario de Sistemas 2 — Sección </a:t>
            </a:r>
            <a:r>
              <a:rPr lang="en-US" sz="3864">
                <a:solidFill>
                  <a:srgbClr val="FFFFFF"/>
                </a:solidFill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t/>
            </a:r>
            <a:endParaRPr b="0" i="0" sz="3864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0041793" y="3605207"/>
            <a:ext cx="6886575" cy="2225584"/>
            <a:chOff x="0" y="200025"/>
            <a:chExt cx="9182100" cy="2967445"/>
          </a:xfrm>
        </p:grpSpPr>
        <p:sp>
          <p:nvSpPr>
            <p:cNvPr id="101" name="Google Shape;101;p2"/>
            <p:cNvSpPr txBox="1"/>
            <p:nvPr/>
          </p:nvSpPr>
          <p:spPr>
            <a:xfrm>
              <a:off x="0" y="200025"/>
              <a:ext cx="9182100" cy="21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99"/>
                <a:buFont typeface="Arial"/>
                <a:buNone/>
              </a:pPr>
              <a:r>
                <a:rPr b="0" i="0" lang="en-US" sz="10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Unidad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2371815"/>
              <a:ext cx="9172670" cy="79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99"/>
                <a:buFont typeface="Arial"/>
                <a:buNone/>
              </a:pPr>
              <a:r>
                <a:rPr b="0" i="0" lang="en-US" sz="35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Fundamentos de BI y OLAP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3c1e6175c13_0_13"/>
          <p:cNvGrpSpPr/>
          <p:nvPr/>
        </p:nvGrpSpPr>
        <p:grpSpPr>
          <a:xfrm>
            <a:off x="432743" y="453557"/>
            <a:ext cx="16488650" cy="4996042"/>
            <a:chOff x="-12812067" y="-4002175"/>
            <a:chExt cx="21984867" cy="6661390"/>
          </a:xfrm>
        </p:grpSpPr>
        <p:sp>
          <p:nvSpPr>
            <p:cNvPr id="108" name="Google Shape;108;g3c1e6175c13_0_13"/>
            <p:cNvSpPr txBox="1"/>
            <p:nvPr/>
          </p:nvSpPr>
          <p:spPr>
            <a:xfrm>
              <a:off x="-12812067" y="-4002175"/>
              <a:ext cx="91821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c1e6175c13_0_13"/>
            <p:cNvSpPr txBox="1"/>
            <p:nvPr/>
          </p:nvSpPr>
          <p:spPr>
            <a:xfrm>
              <a:off x="0" y="2371815"/>
              <a:ext cx="91728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0" name="Google Shape;110;g3c1e6175c13_0_13" title="Arquitectura de la cla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163" y="1974500"/>
            <a:ext cx="13901674" cy="766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c1e6175c13_0_13"/>
          <p:cNvSpPr txBox="1"/>
          <p:nvPr/>
        </p:nvSpPr>
        <p:spPr>
          <a:xfrm>
            <a:off x="0" y="0"/>
            <a:ext cx="18288000" cy="180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9"/>
              <a:buFont typeface="Arial"/>
              <a:buNone/>
            </a:pPr>
            <a:r>
              <a:rPr b="1" i="0" lang="en-US" sz="104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Arquitectura de la clase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1202255" y="1394248"/>
            <a:ext cx="575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419230" y="2471665"/>
            <a:ext cx="10529700" cy="6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BUSINESS INTELLIGENCE?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TIPOS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NIVELES DE MADUREZ ANALÍTICA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DATOS PARA LA TOMA DE DECISIONES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INTRODUCCIÓN A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VENTAJAS DEL ANÁLISIS MULTIDIMENSIONAL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DEMOSTRACIÓN DE CUBO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TRABAJO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lemento visual decorativo abstracto" id="122" name="Google Shape;122;p4"/>
          <p:cNvSpPr/>
          <p:nvPr/>
        </p:nvSpPr>
        <p:spPr>
          <a:xfrm>
            <a:off x="0" y="0"/>
            <a:ext cx="18745200" cy="18288000"/>
          </a:xfrm>
          <a:custGeom>
            <a:rect b="b" l="l" r="r" t="t"/>
            <a:pathLst>
              <a:path extrusionOk="0"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999"/>
            </a:blip>
            <a:stretch>
              <a:fillRect b="-7634" l="0" r="0" t="-7635"/>
            </a:stretch>
          </a:blipFill>
          <a:ln>
            <a:noFill/>
          </a:ln>
        </p:spPr>
      </p:sp>
      <p:sp>
        <p:nvSpPr>
          <p:cNvPr id="123" name="Google Shape;123;p4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Business Intelligence?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988925" y="4212431"/>
            <a:ext cx="4314825" cy="3480375"/>
            <a:chOff x="0" y="-47625"/>
            <a:chExt cx="5753100" cy="4640500"/>
          </a:xfrm>
        </p:grpSpPr>
        <p:sp>
          <p:nvSpPr>
            <p:cNvPr id="125" name="Google Shape;125;p4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Business Intelligence (BI) se refiere a un conjunto de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capacidades integradas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 permiten acceder, integrar y analizar datos para transformar estos en información valiosa para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CAPACIDADES DE 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4"/>
          <p:cNvGrpSpPr/>
          <p:nvPr/>
        </p:nvGrpSpPr>
        <p:grpSpPr>
          <a:xfrm>
            <a:off x="6742025" y="4212431"/>
            <a:ext cx="4314825" cy="3932625"/>
            <a:chOff x="0" y="-47625"/>
            <a:chExt cx="5753100" cy="5243500"/>
          </a:xfrm>
        </p:grpSpPr>
        <p:sp>
          <p:nvSpPr>
            <p:cNvPr id="128" name="Google Shape;128;p4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implementación de BI mejora el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desempeño organizacional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al optimizar las decisiones estratégicas, facilitando el acceso a información relevante y actualizada que impulsa la acción efectiva.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MEJORA DE DECISIONES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12495125" y="4212431"/>
            <a:ext cx="4314825" cy="3932625"/>
            <a:chOff x="0" y="-47625"/>
            <a:chExt cx="5753100" cy="5243500"/>
          </a:xfrm>
        </p:grpSpPr>
        <p:sp>
          <p:nvSpPr>
            <p:cNvPr id="131" name="Google Shape;131;p4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BI no es una única herramienta; abarca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datos, integración, almacenamiento, modelado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consumo de información, proporcionando un enfoque holístico para la analítica y los reportes dentro de la organización.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HERRAMIENTAS DE 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1863222" y="1048063"/>
            <a:ext cx="14561555" cy="8190875"/>
          </a:xfrm>
          <a:custGeom>
            <a:rect b="b" l="l" r="r" t="t"/>
            <a:pathLst>
              <a:path extrusionOk="0" h="8190875" w="14561555">
                <a:moveTo>
                  <a:pt x="0" y="0"/>
                </a:moveTo>
                <a:lnTo>
                  <a:pt x="14561556" y="0"/>
                </a:lnTo>
                <a:lnTo>
                  <a:pt x="14561556" y="8190874"/>
                </a:lnTo>
                <a:lnTo>
                  <a:pt x="0" y="819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c1e6175c13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63" y="1899963"/>
            <a:ext cx="16931275" cy="64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información para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6"/>
          <p:cNvGrpSpPr/>
          <p:nvPr/>
        </p:nvGrpSpPr>
        <p:grpSpPr>
          <a:xfrm>
            <a:off x="1158350" y="4212431"/>
            <a:ext cx="4314825" cy="3480375"/>
            <a:chOff x="0" y="-47625"/>
            <a:chExt cx="5753100" cy="4640500"/>
          </a:xfrm>
        </p:grpSpPr>
        <p:sp>
          <p:nvSpPr>
            <p:cNvPr id="149" name="Google Shape;149;p6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estructurada se presenta en tablas, como datos de ventas e inventario, lo que facilita su análisis y búsqueda mediante consultas SQL y herramientas analíticas.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6"/>
          <p:cNvGrpSpPr/>
          <p:nvPr/>
        </p:nvGrpSpPr>
        <p:grpSpPr>
          <a:xfrm>
            <a:off x="6911450" y="4212431"/>
            <a:ext cx="4314825" cy="3480375"/>
            <a:chOff x="0" y="-47625"/>
            <a:chExt cx="5753100" cy="4640500"/>
          </a:xfrm>
        </p:grpSpPr>
        <p:sp>
          <p:nvSpPr>
            <p:cNvPr id="152" name="Google Shape;152;p6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Los datos semi-estructurados, como JSON, XML y logs, contienen etiquetas y estructuras que permiten cierta organización, pero no tienen un esquema fijo, lo que complica su análisis directo.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SEMI-ESTRUCTURADA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6"/>
          <p:cNvGrpSpPr/>
          <p:nvPr/>
        </p:nvGrpSpPr>
        <p:grpSpPr>
          <a:xfrm>
            <a:off x="12664550" y="4212431"/>
            <a:ext cx="4314825" cy="3932625"/>
            <a:chOff x="0" y="-47625"/>
            <a:chExt cx="5753100" cy="5243500"/>
          </a:xfrm>
        </p:grpSpPr>
        <p:sp>
          <p:nvSpPr>
            <p:cNvPr id="155" name="Google Shape;155;p6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no estructurada incluye texto, imágenes, audio y correos, que carecen de un formato definido, requiriendo técnicas avanzadas de procesamiento para su análisis y extracción de insights.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 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lemento visual decorativo abstracto" id="157" name="Google Shape;157;p6"/>
          <p:cNvSpPr/>
          <p:nvPr/>
        </p:nvSpPr>
        <p:spPr>
          <a:xfrm>
            <a:off x="14763750" y="381000"/>
            <a:ext cx="2667000" cy="2667000"/>
          </a:xfrm>
          <a:custGeom>
            <a:rect b="b" l="l" r="r" t="t"/>
            <a:pathLst>
              <a:path extrusionOk="0" h="2667000" w="2667000">
                <a:moveTo>
                  <a:pt x="0" y="0"/>
                </a:moveTo>
                <a:lnTo>
                  <a:pt x="2667000" y="0"/>
                </a:lnTo>
                <a:lnTo>
                  <a:pt x="26670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999"/>
            </a:blip>
            <a:stretch>
              <a:fillRect b="-7634" l="0" r="0" t="-7635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datos a conocimiento (DIKW)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7"/>
          <p:cNvGrpSpPr/>
          <p:nvPr/>
        </p:nvGrpSpPr>
        <p:grpSpPr>
          <a:xfrm>
            <a:off x="1233488" y="4212431"/>
            <a:ext cx="4314825" cy="3480375"/>
            <a:chOff x="0" y="-47625"/>
            <a:chExt cx="5753100" cy="4640500"/>
          </a:xfrm>
        </p:grpSpPr>
        <p:sp>
          <p:nvSpPr>
            <p:cNvPr id="164" name="Google Shape;164;p7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Los datos son hechos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sin contexto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que, por sí solos, carecen de significado y no permiten tomar decisiones informadas, sirviendo como base para análisis posteriores.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7"/>
          <p:cNvGrpSpPr/>
          <p:nvPr/>
        </p:nvGrpSpPr>
        <p:grpSpPr>
          <a:xfrm>
            <a:off x="6986588" y="4212431"/>
            <a:ext cx="4314825" cy="3480375"/>
            <a:chOff x="0" y="-47625"/>
            <a:chExt cx="5753100" cy="4640500"/>
          </a:xfrm>
        </p:grpSpPr>
        <p:sp>
          <p:nvSpPr>
            <p:cNvPr id="167" name="Google Shape;167;p7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surge cuando los datos son organizados y estructurados, permitiendo a los analistas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extraer significado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facilitar la comprensión de las tendencias y patrones relevantes.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7"/>
          <p:cNvGrpSpPr/>
          <p:nvPr/>
        </p:nvGrpSpPr>
        <p:grpSpPr>
          <a:xfrm>
            <a:off x="12739688" y="4212431"/>
            <a:ext cx="4314825" cy="3932625"/>
            <a:chOff x="0" y="-47625"/>
            <a:chExt cx="5753100" cy="5243500"/>
          </a:xfrm>
        </p:grpSpPr>
        <p:sp>
          <p:nvSpPr>
            <p:cNvPr id="170" name="Google Shape;170;p7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El conocimiento se forma a través de la interpretación de la información, combinando datos con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experiencia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para guiar acciones y decisiones estratégicas en el contexto adecuado.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CONOCIMIENTO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705701" y="354765"/>
            <a:ext cx="16876598" cy="9577469"/>
          </a:xfrm>
          <a:custGeom>
            <a:rect b="b" l="l" r="r" t="t"/>
            <a:pathLst>
              <a:path extrusionOk="0" h="9577469" w="16876598">
                <a:moveTo>
                  <a:pt x="0" y="0"/>
                </a:moveTo>
                <a:lnTo>
                  <a:pt x="16876598" y="0"/>
                </a:lnTo>
                <a:lnTo>
                  <a:pt x="16876598" y="9577470"/>
                </a:lnTo>
                <a:lnTo>
                  <a:pt x="0" y="9577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para la Toma de Decisiones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9"/>
          <p:cNvGrpSpPr/>
          <p:nvPr/>
        </p:nvGrpSpPr>
        <p:grpSpPr>
          <a:xfrm>
            <a:off x="1233488" y="4198406"/>
            <a:ext cx="4314825" cy="3480375"/>
            <a:chOff x="0" y="-47625"/>
            <a:chExt cx="5753100" cy="4640500"/>
          </a:xfrm>
        </p:grpSpPr>
        <p:sp>
          <p:nvSpPr>
            <p:cNvPr id="183" name="Google Shape;183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calidad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 refiere a su exactitud, completitud, consistencia y oportunidad, asegurando que la información utilizada para decisiones sea confiable y útil.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9"/>
          <p:cNvGrpSpPr/>
          <p:nvPr/>
        </p:nvGrpSpPr>
        <p:grpSpPr>
          <a:xfrm>
            <a:off x="6986588" y="4198406"/>
            <a:ext cx="4314825" cy="3480375"/>
            <a:chOff x="0" y="-47625"/>
            <a:chExt cx="5753100" cy="4640500"/>
          </a:xfrm>
        </p:grpSpPr>
        <p:sp>
          <p:nvSpPr>
            <p:cNvPr id="186" name="Google Shape;186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trazabilidad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implica conocer el origen de la información y las transformaciones que ha sufrido, lo cual es crucial para mantener la integridad de los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TRAZABILIDAD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9"/>
          <p:cNvGrpSpPr/>
          <p:nvPr/>
        </p:nvGrpSpPr>
        <p:grpSpPr>
          <a:xfrm>
            <a:off x="12739688" y="4198406"/>
            <a:ext cx="4314825" cy="3480375"/>
            <a:chOff x="0" y="-47625"/>
            <a:chExt cx="5753100" cy="4640500"/>
          </a:xfrm>
        </p:grpSpPr>
        <p:sp>
          <p:nvSpPr>
            <p:cNvPr id="189" name="Google Shape;189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gobernanza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 centra en establecer roles, reglas y un catálogo de métricas, lo cual es fundamental para gestionar y asegurar que los datos cumplan con estándares de calidad.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GOBERNANZA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1863222" y="1048063"/>
            <a:ext cx="14561555" cy="8190875"/>
          </a:xfrm>
          <a:custGeom>
            <a:rect b="b" l="l" r="r" t="t"/>
            <a:pathLst>
              <a:path extrusionOk="0" h="8190875" w="14561555">
                <a:moveTo>
                  <a:pt x="0" y="0"/>
                </a:moveTo>
                <a:lnTo>
                  <a:pt x="14561556" y="0"/>
                </a:lnTo>
                <a:lnTo>
                  <a:pt x="14561556" y="8190874"/>
                </a:lnTo>
                <a:lnTo>
                  <a:pt x="0" y="819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0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Geo"/>
                <a:ea typeface="Geo"/>
                <a:cs typeface="Geo"/>
                <a:sym typeface="Geo"/>
              </a:rPr>
              <a:t>¿Qué es Business Intelligence?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/>
          <p:nvPr/>
        </p:nvSpPr>
        <p:spPr>
          <a:xfrm>
            <a:off x="666750" y="1737800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Niveles de madurez analítica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1"/>
          <p:cNvGrpSpPr/>
          <p:nvPr/>
        </p:nvGrpSpPr>
        <p:grpSpPr>
          <a:xfrm>
            <a:off x="1233488" y="4212431"/>
            <a:ext cx="4314825" cy="3027900"/>
            <a:chOff x="0" y="-47625"/>
            <a:chExt cx="5753100" cy="4037200"/>
          </a:xfrm>
        </p:grpSpPr>
        <p:sp>
          <p:nvSpPr>
            <p:cNvPr id="203" name="Google Shape;203;p11"/>
            <p:cNvSpPr txBox="1"/>
            <p:nvPr/>
          </p:nvSpPr>
          <p:spPr>
            <a:xfrm>
              <a:off x="0" y="1146175"/>
              <a:ext cx="5753100" cy="28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Este nivel responde a la pregunta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pasó?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 través de reportes y tableros, proporcionando una visión clara de los indicadores clave de rendimiento (KPI).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DESCRIPTIVO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11"/>
          <p:cNvGrpSpPr/>
          <p:nvPr/>
        </p:nvGrpSpPr>
        <p:grpSpPr>
          <a:xfrm>
            <a:off x="6986588" y="4212431"/>
            <a:ext cx="4314825" cy="3480375"/>
            <a:chOff x="0" y="-47625"/>
            <a:chExt cx="5753100" cy="4640500"/>
          </a:xfrm>
        </p:grpSpPr>
        <p:sp>
          <p:nvSpPr>
            <p:cNvPr id="206" name="Google Shape;206;p11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 este segundo nivel, se investiga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¿por qué pasó?, analizando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causas y realizando segmentaciones, permitiendo a las organizaciones entender mejor los eventos y tendencias pasadas.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DIAGNÓSTICO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11"/>
          <p:cNvGrpSpPr/>
          <p:nvPr/>
        </p:nvGrpSpPr>
        <p:grpSpPr>
          <a:xfrm>
            <a:off x="12739688" y="4212431"/>
            <a:ext cx="4314825" cy="3480375"/>
            <a:chOff x="0" y="-47625"/>
            <a:chExt cx="5753100" cy="4640500"/>
          </a:xfrm>
        </p:grpSpPr>
        <p:sp>
          <p:nvSpPr>
            <p:cNvPr id="209" name="Google Shape;209;p11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Aquí se formula la pregunta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podría pasar?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, utilizando modelos de pronósticos y análisis de tendencias para anticipar futuros comportamientos y resultados en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PREDICTIVO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2093053" y="287160"/>
            <a:ext cx="14101894" cy="9712680"/>
          </a:xfrm>
          <a:custGeom>
            <a:rect b="b" l="l" r="r" t="t"/>
            <a:pathLst>
              <a:path extrusionOk="0" h="9712680" w="14101894">
                <a:moveTo>
                  <a:pt x="0" y="0"/>
                </a:moveTo>
                <a:lnTo>
                  <a:pt x="14101894" y="0"/>
                </a:lnTo>
                <a:lnTo>
                  <a:pt x="14101894" y="9712680"/>
                </a:lnTo>
                <a:lnTo>
                  <a:pt x="0" y="9712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OLAP y su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3"/>
          <p:cNvGrpSpPr/>
          <p:nvPr/>
        </p:nvGrpSpPr>
        <p:grpSpPr>
          <a:xfrm>
            <a:off x="666750" y="4212431"/>
            <a:ext cx="4314825" cy="3427711"/>
            <a:chOff x="0" y="-47625"/>
            <a:chExt cx="5753100" cy="4570281"/>
          </a:xfrm>
        </p:grpSpPr>
        <p:sp>
          <p:nvSpPr>
            <p:cNvPr id="222" name="Google Shape;222;p13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OLAP (Procesamiento Analítico en Línea) permite realizar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consultas complejas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sobre grandes volúmenes de datos, habilitando análisis multidimensionales que son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altamente eficientes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rápidos.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ES OLAP?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13"/>
          <p:cNvGrpSpPr/>
          <p:nvPr/>
        </p:nvGrpSpPr>
        <p:grpSpPr>
          <a:xfrm>
            <a:off x="6419850" y="4212431"/>
            <a:ext cx="4314825" cy="3063428"/>
            <a:chOff x="0" y="-47625"/>
            <a:chExt cx="5753100" cy="4084570"/>
          </a:xfrm>
        </p:grpSpPr>
        <p:sp>
          <p:nvSpPr>
            <p:cNvPr id="225" name="Google Shape;225;p13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 OLAP, los datos se organizan como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cubos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 integran dimensiones y medidas, permitiendo a los usuarios explorar información de manera intuitiva y dinámica.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MODELO DE CUBO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3"/>
          <p:cNvGrpSpPr/>
          <p:nvPr/>
        </p:nvGrpSpPr>
        <p:grpSpPr>
          <a:xfrm>
            <a:off x="12172950" y="4212431"/>
            <a:ext cx="4314825" cy="3063428"/>
            <a:chOff x="0" y="-47625"/>
            <a:chExt cx="5753100" cy="4084570"/>
          </a:xfrm>
        </p:grpSpPr>
        <p:sp>
          <p:nvSpPr>
            <p:cNvPr id="228" name="Google Shape;228;p13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Las dimensiones en OLAP, como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Tiempo, Región y Producto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, permiten realizar análisis detallados mediante jerarquías, facilitando 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navegación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comprensión de los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DIMENSIONES CLAVE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>
            <a:off x="0" y="0"/>
            <a:ext cx="18301056" cy="11506789"/>
          </a:xfrm>
          <a:custGeom>
            <a:rect b="b" l="l" r="r" t="t"/>
            <a:pathLst>
              <a:path extrusionOk="0" h="11506789" w="18301056">
                <a:moveTo>
                  <a:pt x="0" y="0"/>
                </a:moveTo>
                <a:lnTo>
                  <a:pt x="18301056" y="0"/>
                </a:lnTo>
                <a:lnTo>
                  <a:pt x="18301056" y="11506789"/>
                </a:lnTo>
                <a:lnTo>
                  <a:pt x="0" y="11506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/>
          <p:nvPr/>
        </p:nvSpPr>
        <p:spPr>
          <a:xfrm>
            <a:off x="875995" y="2467610"/>
            <a:ext cx="7511100" cy="5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33"/>
              <a:buFont typeface="Arial"/>
              <a:buNone/>
            </a:pPr>
            <a:r>
              <a:rPr b="0" i="0" lang="en-US" sz="78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multidimensional y operaciones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9463796" y="3393276"/>
            <a:ext cx="719137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 hechos son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métricas clave</a:t>
            </a: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representan datos cuantificables, como ventas, que se utilizan para medir el desempeño de una empresa en diferentes dimensiones.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9463796" y="2563966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HECHOS Y MÉTRICAS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9463796" y="6351344"/>
            <a:ext cx="7191375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Las dimensiones, como tiempo, tienda, producto y cliente, permiten un análisis profundo y estructurado, facilitando la exploración de datos desde múltiples perspectivas y niveles de detalle.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9463796" y="5518768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DIMENSIONES Y ANÁLISIS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5331589" y="0"/>
            <a:ext cx="7624823" cy="10287000"/>
          </a:xfrm>
          <a:custGeom>
            <a:rect b="b" l="l" r="r" t="t"/>
            <a:pathLst>
              <a:path extrusionOk="0" h="10287000" w="7624823">
                <a:moveTo>
                  <a:pt x="0" y="0"/>
                </a:moveTo>
                <a:lnTo>
                  <a:pt x="7624822" y="0"/>
                </a:lnTo>
                <a:lnTo>
                  <a:pt x="7624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666750" y="733425"/>
            <a:ext cx="15821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del análisis multidimensional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17"/>
          <p:cNvGrpSpPr/>
          <p:nvPr/>
        </p:nvGrpSpPr>
        <p:grpSpPr>
          <a:xfrm>
            <a:off x="666750" y="4212431"/>
            <a:ext cx="4314825" cy="3063428"/>
            <a:chOff x="0" y="-47625"/>
            <a:chExt cx="5753100" cy="4084570"/>
          </a:xfrm>
        </p:grpSpPr>
        <p:sp>
          <p:nvSpPr>
            <p:cNvPr id="255" name="Google Shape;255;p17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Las estructuras optimizadas y las pre-agregaciones permiten consultas más rápidas, reduciendo el tiempo de respuesta y mejorando la experiencia del usuario en el análisis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RAPIDEZ EN ANÁLISIS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17"/>
          <p:cNvGrpSpPr/>
          <p:nvPr/>
        </p:nvGrpSpPr>
        <p:grpSpPr>
          <a:xfrm>
            <a:off x="6419850" y="4212431"/>
            <a:ext cx="4314825" cy="3427711"/>
            <a:chOff x="0" y="-47625"/>
            <a:chExt cx="5753100" cy="4570281"/>
          </a:xfrm>
        </p:grpSpPr>
        <p:sp>
          <p:nvSpPr>
            <p:cNvPr id="258" name="Google Shape;258;p17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capacidad de navegar por jerarquías mediante operaciones como drill-down y roll-up facilita el desglose y resumen de datos, permitiendo a los usuarios explorar información de manera dinámica.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NAVEGACIÓN EFICIENTE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12172950" y="4212431"/>
            <a:ext cx="4314825" cy="3063428"/>
            <a:chOff x="0" y="-47625"/>
            <a:chExt cx="5753100" cy="4084570"/>
          </a:xfrm>
        </p:grpSpPr>
        <p:sp>
          <p:nvSpPr>
            <p:cNvPr id="261" name="Google Shape;261;p17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implementación de una capa semántica asegura que los KPI sean consistentes en toda la organización, proporcionando una visión clara y unificada que ayuda en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CONSISTENCIA EN KPI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Cierre: Checklist para Iniciativas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8"/>
          <p:cNvGrpSpPr/>
          <p:nvPr/>
        </p:nvGrpSpPr>
        <p:grpSpPr>
          <a:xfrm>
            <a:off x="666750" y="4212431"/>
            <a:ext cx="4314825" cy="3063428"/>
            <a:chOff x="0" y="-47625"/>
            <a:chExt cx="5753100" cy="4084570"/>
          </a:xfrm>
        </p:grpSpPr>
        <p:sp>
          <p:nvSpPr>
            <p:cNvPr id="269" name="Google Shape;269;p18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Antes de diseñar reportes, es crucial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definir preguntas de negocio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los KPI relevantes. Esto asegura que los informes sean útiles y alineados con los objetivos estratégicos.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8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DEFINICIÓN DE KPI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8"/>
          <p:cNvGrpSpPr/>
          <p:nvPr/>
        </p:nvGrpSpPr>
        <p:grpSpPr>
          <a:xfrm>
            <a:off x="6419850" y="4212431"/>
            <a:ext cx="4314825" cy="3884911"/>
            <a:chOff x="0" y="-47625"/>
            <a:chExt cx="5753100" cy="5179881"/>
          </a:xfrm>
        </p:grpSpPr>
        <p:sp>
          <p:nvSpPr>
            <p:cNvPr id="272" name="Google Shape;272;p18"/>
            <p:cNvSpPr txBox="1"/>
            <p:nvPr/>
          </p:nvSpPr>
          <p:spPr>
            <a:xfrm>
              <a:off x="0" y="17557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Garantizar la calidad de los datos es esencial. Esto incluye 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creación de un catálogo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la definición de métricas estándar para proporcionar datos consistentes y confiables en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0" y="-47625"/>
              <a:ext cx="5753100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ASEGURAMIENTO DE CALIDAD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8"/>
          <p:cNvGrpSpPr/>
          <p:nvPr/>
        </p:nvGrpSpPr>
        <p:grpSpPr>
          <a:xfrm>
            <a:off x="12172950" y="4212431"/>
            <a:ext cx="4314825" cy="3520628"/>
            <a:chOff x="0" y="-47625"/>
            <a:chExt cx="5753100" cy="4694170"/>
          </a:xfrm>
        </p:grpSpPr>
        <p:sp>
          <p:nvSpPr>
            <p:cNvPr id="275" name="Google Shape;275;p18"/>
            <p:cNvSpPr txBox="1"/>
            <p:nvPr/>
          </p:nvSpPr>
          <p:spPr>
            <a:xfrm>
              <a:off x="0" y="17557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 modelar dimensiones y jerarquías, es importante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pensar en el usuario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final. Esto facilita la comprensión y el uso de los datos, mejorando la experiencia de análisis y la efectividad de BI.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8"/>
            <p:cNvSpPr txBox="1"/>
            <p:nvPr/>
          </p:nvSpPr>
          <p:spPr>
            <a:xfrm>
              <a:off x="0" y="-47625"/>
              <a:ext cx="5753100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MODELADO DE DIMENSIONES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10734675" y="0"/>
            <a:ext cx="7553325" cy="10287000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" l="0" r="0" t="-204"/>
            </a:stretch>
          </a:blipFill>
          <a:ln>
            <a:noFill/>
          </a:ln>
        </p:spPr>
      </p:sp>
      <p:grpSp>
        <p:nvGrpSpPr>
          <p:cNvPr id="282" name="Google Shape;282;p19"/>
          <p:cNvGrpSpPr/>
          <p:nvPr/>
        </p:nvGrpSpPr>
        <p:grpSpPr>
          <a:xfrm>
            <a:off x="3543300" y="7793831"/>
            <a:ext cx="5448300" cy="1754079"/>
            <a:chOff x="0" y="-47625"/>
            <a:chExt cx="7264400" cy="2338772"/>
          </a:xfrm>
        </p:grpSpPr>
        <p:sp>
          <p:nvSpPr>
            <p:cNvPr id="283" name="Google Shape;283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9"/>
          <p:cNvGrpSpPr/>
          <p:nvPr/>
        </p:nvGrpSpPr>
        <p:grpSpPr>
          <a:xfrm>
            <a:off x="3543300" y="6003131"/>
            <a:ext cx="5448300" cy="1754079"/>
            <a:chOff x="0" y="-47625"/>
            <a:chExt cx="7264400" cy="2338772"/>
          </a:xfrm>
        </p:grpSpPr>
        <p:sp>
          <p:nvSpPr>
            <p:cNvPr id="286" name="Google Shape;286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9"/>
          <p:cNvGrpSpPr/>
          <p:nvPr/>
        </p:nvGrpSpPr>
        <p:grpSpPr>
          <a:xfrm>
            <a:off x="3543300" y="4212431"/>
            <a:ext cx="5448300" cy="1754079"/>
            <a:chOff x="0" y="-47625"/>
            <a:chExt cx="7264400" cy="2338772"/>
          </a:xfrm>
        </p:grpSpPr>
        <p:sp>
          <p:nvSpPr>
            <p:cNvPr id="289" name="Google Shape;289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9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/>
          <p:nvPr/>
        </p:nvSpPr>
        <p:spPr>
          <a:xfrm>
            <a:off x="12915922" y="4391572"/>
            <a:ext cx="4866728" cy="4866728"/>
          </a:xfrm>
          <a:custGeom>
            <a:rect b="b" l="l" r="r" t="t"/>
            <a:pathLst>
              <a:path extrusionOk="0" h="4866728" w="4866728">
                <a:moveTo>
                  <a:pt x="0" y="0"/>
                </a:moveTo>
                <a:lnTo>
                  <a:pt x="4866728" y="0"/>
                </a:lnTo>
                <a:lnTo>
                  <a:pt x="4866728" y="4866728"/>
                </a:lnTo>
                <a:lnTo>
                  <a:pt x="0" y="4866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0"/>
          <p:cNvSpPr/>
          <p:nvPr/>
        </p:nvSpPr>
        <p:spPr>
          <a:xfrm>
            <a:off x="1028700" y="5009671"/>
            <a:ext cx="11301259" cy="3630529"/>
          </a:xfrm>
          <a:custGeom>
            <a:rect b="b" l="l" r="r" t="t"/>
            <a:pathLst>
              <a:path extrusionOk="0" h="3630529" w="11301259">
                <a:moveTo>
                  <a:pt x="0" y="0"/>
                </a:moveTo>
                <a:lnTo>
                  <a:pt x="11301259" y="0"/>
                </a:lnTo>
                <a:lnTo>
                  <a:pt x="11301259" y="3630530"/>
                </a:lnTo>
                <a:lnTo>
                  <a:pt x="0" y="3630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20"/>
          <p:cNvSpPr txBox="1"/>
          <p:nvPr/>
        </p:nvSpPr>
        <p:spPr>
          <a:xfrm>
            <a:off x="1028700" y="1658462"/>
            <a:ext cx="13332314" cy="1276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2"/>
              <a:buFont typeface="Arial"/>
              <a:buNone/>
            </a:pPr>
            <a:r>
              <a:rPr b="0" i="0" lang="en-US" sz="8972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Descanso de 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1e6175c13_0_30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 de enseñanza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c1e6175c13_0_30"/>
          <p:cNvSpPr txBox="1"/>
          <p:nvPr/>
        </p:nvSpPr>
        <p:spPr>
          <a:xfrm>
            <a:off x="1350150" y="3010232"/>
            <a:ext cx="155877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Yo hago, tú miras. </a:t>
            </a:r>
            <a:endParaRPr b="1" i="0" sz="7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Tú haces, yo miro. </a:t>
            </a:r>
            <a:endParaRPr b="1" i="0" sz="7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Tú haces.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1"/>
          <p:cNvGrpSpPr/>
          <p:nvPr/>
        </p:nvGrpSpPr>
        <p:grpSpPr>
          <a:xfrm>
            <a:off x="518005" y="5493493"/>
            <a:ext cx="5727496" cy="4441132"/>
            <a:chOff x="0" y="-47625"/>
            <a:chExt cx="1508476" cy="1169681"/>
          </a:xfrm>
        </p:grpSpPr>
        <p:sp>
          <p:nvSpPr>
            <p:cNvPr id="310" name="Google Shape;310;p21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11" name="Google Shape;311;p21"/>
            <p:cNvSpPr txBox="1"/>
            <p:nvPr/>
          </p:nvSpPr>
          <p:spPr>
            <a:xfrm>
              <a:off x="0" y="-47625"/>
              <a:ext cx="1508476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21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3" name="Google Shape;313;p21"/>
          <p:cNvGrpSpPr/>
          <p:nvPr/>
        </p:nvGrpSpPr>
        <p:grpSpPr>
          <a:xfrm>
            <a:off x="10589457" y="1951810"/>
            <a:ext cx="7106185" cy="1051990"/>
            <a:chOff x="0" y="-47625"/>
            <a:chExt cx="1871588" cy="277067"/>
          </a:xfrm>
        </p:grpSpPr>
        <p:sp>
          <p:nvSpPr>
            <p:cNvPr id="314" name="Google Shape;314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15" name="Google Shape;315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10589457" y="2788232"/>
            <a:ext cx="7106185" cy="976041"/>
            <a:chOff x="0" y="-47625"/>
            <a:chExt cx="1871588" cy="257064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18" name="Google Shape;318;p2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" name="Google Shape;319;p21"/>
          <p:cNvCxnSpPr/>
          <p:nvPr/>
        </p:nvCxnSpPr>
        <p:spPr>
          <a:xfrm>
            <a:off x="13482182" y="2148133"/>
            <a:ext cx="0" cy="161614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0" name="Google Shape;320;p21"/>
          <p:cNvGrpSpPr/>
          <p:nvPr/>
        </p:nvGrpSpPr>
        <p:grpSpPr>
          <a:xfrm>
            <a:off x="10589457" y="3547789"/>
            <a:ext cx="7106185" cy="1051990"/>
            <a:chOff x="0" y="-47625"/>
            <a:chExt cx="1871588" cy="277067"/>
          </a:xfrm>
        </p:grpSpPr>
        <p:sp>
          <p:nvSpPr>
            <p:cNvPr id="321" name="Google Shape;321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22" name="Google Shape;322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3" name="Google Shape;323;p21"/>
          <p:cNvCxnSpPr/>
          <p:nvPr/>
        </p:nvCxnSpPr>
        <p:spPr>
          <a:xfrm>
            <a:off x="13482182" y="3744112"/>
            <a:ext cx="0" cy="85566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" name="Google Shape;324;p21"/>
          <p:cNvGrpSpPr/>
          <p:nvPr/>
        </p:nvGrpSpPr>
        <p:grpSpPr>
          <a:xfrm>
            <a:off x="518005" y="1616530"/>
            <a:ext cx="9296788" cy="1051990"/>
            <a:chOff x="0" y="-47625"/>
            <a:chExt cx="2448537" cy="277067"/>
          </a:xfrm>
        </p:grpSpPr>
        <p:sp>
          <p:nvSpPr>
            <p:cNvPr id="325" name="Google Shape;325;p21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26" name="Google Shape;326;p21"/>
            <p:cNvSpPr txBox="1"/>
            <p:nvPr/>
          </p:nvSpPr>
          <p:spPr>
            <a:xfrm>
              <a:off x="0" y="-47625"/>
              <a:ext cx="2448537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1"/>
          <p:cNvGrpSpPr/>
          <p:nvPr/>
        </p:nvGrpSpPr>
        <p:grpSpPr>
          <a:xfrm>
            <a:off x="518005" y="2455651"/>
            <a:ext cx="9296788" cy="976041"/>
            <a:chOff x="0" y="-47625"/>
            <a:chExt cx="2448537" cy="257064"/>
          </a:xfrm>
        </p:grpSpPr>
        <p:sp>
          <p:nvSpPr>
            <p:cNvPr id="328" name="Google Shape;328;p21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29" name="Google Shape;329;p21"/>
            <p:cNvSpPr txBox="1"/>
            <p:nvPr/>
          </p:nvSpPr>
          <p:spPr>
            <a:xfrm>
              <a:off x="0" y="-47625"/>
              <a:ext cx="2448537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0" name="Google Shape;330;p21"/>
          <p:cNvCxnSpPr/>
          <p:nvPr/>
        </p:nvCxnSpPr>
        <p:spPr>
          <a:xfrm flipH="1">
            <a:off x="4907814" y="1797356"/>
            <a:ext cx="4521" cy="83912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1" name="Google Shape;331;p21"/>
          <p:cNvGrpSpPr/>
          <p:nvPr/>
        </p:nvGrpSpPr>
        <p:grpSpPr>
          <a:xfrm>
            <a:off x="518005" y="3212509"/>
            <a:ext cx="9296788" cy="1387270"/>
            <a:chOff x="0" y="-47625"/>
            <a:chExt cx="2448537" cy="365372"/>
          </a:xfrm>
        </p:grpSpPr>
        <p:sp>
          <p:nvSpPr>
            <p:cNvPr id="332" name="Google Shape;332;p21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33" name="Google Shape;333;p21"/>
            <p:cNvSpPr txBox="1"/>
            <p:nvPr/>
          </p:nvSpPr>
          <p:spPr>
            <a:xfrm>
              <a:off x="0" y="-47625"/>
              <a:ext cx="2448537" cy="365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4" name="Google Shape;334;p21"/>
          <p:cNvCxnSpPr/>
          <p:nvPr/>
        </p:nvCxnSpPr>
        <p:spPr>
          <a:xfrm>
            <a:off x="4907814" y="3431692"/>
            <a:ext cx="4521" cy="116808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1"/>
          <p:cNvCxnSpPr/>
          <p:nvPr/>
        </p:nvCxnSpPr>
        <p:spPr>
          <a:xfrm flipH="1">
            <a:off x="4907814" y="2626616"/>
            <a:ext cx="4521" cy="80507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21"/>
          <p:cNvSpPr txBox="1"/>
          <p:nvPr/>
        </p:nvSpPr>
        <p:spPr>
          <a:xfrm>
            <a:off x="10767769" y="2272944"/>
            <a:ext cx="25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10939368" y="3071390"/>
            <a:ext cx="2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3482182" y="227294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13482182" y="3071390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10654436" y="3869048"/>
            <a:ext cx="275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13482182" y="3868922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588368" y="1931291"/>
            <a:ext cx="4165955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588368" y="2748334"/>
            <a:ext cx="41097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5208072" y="193766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5208072" y="2738809"/>
            <a:ext cx="2297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588368" y="3517417"/>
            <a:ext cx="4109728" cy="113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rPr b="1" i="0" lang="en-US" sz="218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t/>
            </a:r>
            <a:endParaRPr b="1" i="0" sz="2183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5121884" y="3740625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517999" y="4738300"/>
            <a:ext cx="171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588368" y="5776526"/>
            <a:ext cx="56061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JOSUE DANIEL SOLIS OSORIO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202001574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NAOMI RASHEL YOS CUJCUJ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202001814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EMILIO RIVERA YURRITA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 GUILLERMO ARREAGA BARRIENTOS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202004762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FREDY SAMUEL QUIJADA CEBALLOS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202004812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 LUCIA FLETES ORDOÑEZ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RAMIRO AGUSTÍN TÉLLES CARCUZ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202010044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SERGIO SEBASTIÁN SANDOVAL RUIZ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202010298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ANGELA MARÍA ESTHER ESCOBAR ALVAREZ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202100019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AIDA ALEJANDRA MANSILLA ORANTES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202100239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JOSE BLANCO GUZMAN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202100250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JOSUE SANTOS SALAZAR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202101007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p21"/>
          <p:cNvGrpSpPr/>
          <p:nvPr/>
        </p:nvGrpSpPr>
        <p:grpSpPr>
          <a:xfrm>
            <a:off x="6356860" y="5493493"/>
            <a:ext cx="5781937" cy="4441132"/>
            <a:chOff x="0" y="-47625"/>
            <a:chExt cx="1522815" cy="1169681"/>
          </a:xfrm>
        </p:grpSpPr>
        <p:sp>
          <p:nvSpPr>
            <p:cNvPr id="351" name="Google Shape;351;p21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52" name="Google Shape;352;p21"/>
            <p:cNvSpPr txBox="1"/>
            <p:nvPr/>
          </p:nvSpPr>
          <p:spPr>
            <a:xfrm>
              <a:off x="0" y="-47625"/>
              <a:ext cx="1522815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1"/>
          <p:cNvGrpSpPr/>
          <p:nvPr/>
        </p:nvGrpSpPr>
        <p:grpSpPr>
          <a:xfrm>
            <a:off x="12253100" y="5493499"/>
            <a:ext cx="5442479" cy="4441162"/>
            <a:chOff x="0" y="-47625"/>
            <a:chExt cx="1505027" cy="1169681"/>
          </a:xfrm>
        </p:grpSpPr>
        <p:sp>
          <p:nvSpPr>
            <p:cNvPr id="354" name="Google Shape;354;p21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55" name="Google Shape;355;p21"/>
            <p:cNvSpPr txBox="1"/>
            <p:nvPr/>
          </p:nvSpPr>
          <p:spPr>
            <a:xfrm>
              <a:off x="0" y="-47625"/>
              <a:ext cx="1505027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1"/>
          <p:cNvSpPr txBox="1"/>
          <p:nvPr/>
        </p:nvSpPr>
        <p:spPr>
          <a:xfrm>
            <a:off x="6446244" y="5776526"/>
            <a:ext cx="56061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JOSHUA ALEXANDER VASQUEZ DEL AGUILA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202102407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JORGE ALEJANDRO DE LEÓN BATRES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202111277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MELVIN ALEXANDER VALENCIA ESTRADA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202111556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JOSÉ DANIEL GUZMÁN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202111612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EDGAR JOSÍAS CÁN AJQUEJAY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202112012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DOMINIC JUAN PABLO RUANO PEREZ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202200075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ROBERTO MIGUEL GARCÍA SANTIZO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202201724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FERNANDO ENRIQUE LOPEZ GARCIA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202210108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FERNANDO GÓMEZ RENDÓN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201801391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PABLO DANIEL FERNÁNDEZ CHACÓN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201807411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12386447" y="5776526"/>
            <a:ext cx="56061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JUAN JOSÉ GERARDI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201900532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KEVIN EDUARDO CASTAÑEDA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201901801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CLAUDIA PAOLA ALONZO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201902246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JONATHÁN ALEXANDER SÁNCHEZ BARRIOS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201903022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ESTUARDO MONTERROSO SANTOS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201903767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LUIS RAFAEL MÉNDEZ LIVAR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201903887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RONY OMAR MIGUEL LOPEZ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201905750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MOISES CHAN PELICO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201906099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BYRON ESTUARDO SOLIS GONZALEZ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201906588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JAVIER ALEJANDRO MONTERROSO LÓPEZ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201700831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BYRON JOSUÉ PAR RANCHO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201701078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ESTUARDO SOTOJ GARCÍA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201710130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