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Lobster"/>
      <p:regular r:id="rId19"/>
    </p:embeddedFont>
    <p:embeddedFont>
      <p:font typeface="Corbel"/>
      <p:regular r:id="rId20"/>
      <p:bold r:id="rId21"/>
      <p:italic r:id="rId22"/>
      <p:boldItalic r:id="rId23"/>
    </p:embeddedFont>
    <p:embeddedFont>
      <p:font typeface="Pacifico"/>
      <p:regular r:id="rId24"/>
    </p:embeddedFont>
    <p:embeddedFont>
      <p:font typeface="Open Sans"/>
      <p:regular r:id="rId25"/>
      <p:bold r:id="rId26"/>
      <p:italic r:id="rId27"/>
      <p:boldItalic r:id="rId28"/>
    </p:embeddedFont>
    <p:embeddedFont>
      <p:font typeface="Century Gothic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cRbppzWRxjoR4JHe8gF3Q7SQE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regular.fntdata"/><Relationship Id="rId22" Type="http://schemas.openxmlformats.org/officeDocument/2006/relationships/font" Target="fonts/Corbel-italic.fntdata"/><Relationship Id="rId21" Type="http://schemas.openxmlformats.org/officeDocument/2006/relationships/font" Target="fonts/Corbel-bold.fntdata"/><Relationship Id="rId24" Type="http://schemas.openxmlformats.org/officeDocument/2006/relationships/font" Target="fonts/Pacifico-regular.fntdata"/><Relationship Id="rId23" Type="http://schemas.openxmlformats.org/officeDocument/2006/relationships/font" Target="fonts/Corbel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Gothic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Gothic-italic.fntdata"/><Relationship Id="rId30" Type="http://schemas.openxmlformats.org/officeDocument/2006/relationships/font" Target="fonts/CenturyGothic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CenturyGothic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obs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4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16427785" y="8800697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8"/>
          <p:cNvGrpSpPr/>
          <p:nvPr/>
        </p:nvGrpSpPr>
        <p:grpSpPr>
          <a:xfrm>
            <a:off x="819150" y="-7144"/>
            <a:ext cx="7522368" cy="10294145"/>
            <a:chOff x="2928938" y="-4763"/>
            <a:chExt cx="5014912" cy="6862763"/>
          </a:xfrm>
        </p:grpSpPr>
        <p:sp>
          <p:nvSpPr>
            <p:cNvPr id="30" name="Google Shape;30;p38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1" name="Google Shape;31;p38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2" name="Google Shape;32;p38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33" name="Google Shape;33;p38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34" name="Google Shape;34;p38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35" name="Google Shape;35;p38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6" name="Google Shape;36;p38"/>
          <p:cNvSpPr txBox="1"/>
          <p:nvPr>
            <p:ph type="ctrTitle"/>
          </p:nvPr>
        </p:nvSpPr>
        <p:spPr>
          <a:xfrm>
            <a:off x="4392602" y="2070103"/>
            <a:ext cx="12861933" cy="3924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orbel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" type="subTitle"/>
          </p:nvPr>
        </p:nvSpPr>
        <p:spPr>
          <a:xfrm>
            <a:off x="6773066" y="5994401"/>
            <a:ext cx="10481468" cy="208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4568"/>
              <a:buNone/>
              <a:defRPr sz="315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435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045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38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1" type="ftr"/>
          </p:nvPr>
        </p:nvSpPr>
        <p:spPr>
          <a:xfrm>
            <a:off x="7998618" y="8824913"/>
            <a:ext cx="64860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type="title"/>
          </p:nvPr>
        </p:nvSpPr>
        <p:spPr>
          <a:xfrm>
            <a:off x="3858419" y="4000498"/>
            <a:ext cx="13396121" cy="3165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sz="6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" type="body"/>
          </p:nvPr>
        </p:nvSpPr>
        <p:spPr>
          <a:xfrm>
            <a:off x="3858417" y="7166072"/>
            <a:ext cx="13396122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39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" type="body"/>
          </p:nvPr>
        </p:nvSpPr>
        <p:spPr>
          <a:xfrm>
            <a:off x="2226469" y="4000499"/>
            <a:ext cx="7342583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50" name="Google Shape;50;p40"/>
          <p:cNvSpPr txBox="1"/>
          <p:nvPr>
            <p:ph idx="2" type="body"/>
          </p:nvPr>
        </p:nvSpPr>
        <p:spPr>
          <a:xfrm>
            <a:off x="9911951" y="4000500"/>
            <a:ext cx="7342584" cy="4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2658269" y="3987800"/>
            <a:ext cx="6910782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4350"/>
              <a:buNone/>
              <a:defRPr b="1" sz="3000"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None/>
              <a:defRPr b="1" sz="2700"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480"/>
              <a:buNone/>
              <a:defRPr b="1" sz="24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2226467" y="5003006"/>
            <a:ext cx="7342584" cy="368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58" name="Google Shape;58;p41"/>
          <p:cNvSpPr txBox="1"/>
          <p:nvPr>
            <p:ph idx="3" type="body"/>
          </p:nvPr>
        </p:nvSpPr>
        <p:spPr>
          <a:xfrm>
            <a:off x="10320731" y="4000500"/>
            <a:ext cx="6933806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4350"/>
              <a:buNone/>
              <a:defRPr b="1" sz="3000"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None/>
              <a:defRPr b="1" sz="2700"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480"/>
              <a:buNone/>
              <a:defRPr b="1" sz="2400"/>
            </a:lvl9pPr>
          </a:lstStyle>
          <a:p/>
        </p:txBody>
      </p:sp>
      <p:sp>
        <p:nvSpPr>
          <p:cNvPr id="59" name="Google Shape;59;p41"/>
          <p:cNvSpPr txBox="1"/>
          <p:nvPr>
            <p:ph idx="4" type="body"/>
          </p:nvPr>
        </p:nvSpPr>
        <p:spPr>
          <a:xfrm>
            <a:off x="9911951" y="5003006"/>
            <a:ext cx="7342584" cy="368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60" name="Google Shape;60;p41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2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2226469" y="2400300"/>
            <a:ext cx="532368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>
            <a:off x="7893050" y="1028699"/>
            <a:ext cx="9361485" cy="7658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04825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50"/>
              <a:buChar char="•"/>
              <a:defRPr sz="3000"/>
            </a:lvl1pPr>
            <a:lvl2pPr indent="-477202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Char char="•"/>
              <a:defRPr sz="2700"/>
            </a:lvl2pPr>
            <a:lvl3pPr indent="-44958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3pPr>
            <a:lvl4pPr indent="-421957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4pPr>
            <a:lvl5pPr indent="-421957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5pPr>
            <a:lvl6pPr indent="-421957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6pPr>
            <a:lvl7pPr indent="-421957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7pPr>
            <a:lvl8pPr indent="-421957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8pPr>
            <a:lvl9pPr indent="-421957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045"/>
              <a:buChar char="•"/>
              <a:defRPr sz="2100"/>
            </a:lvl9pPr>
          </a:lstStyle>
          <a:p/>
        </p:txBody>
      </p:sp>
      <p:sp>
        <p:nvSpPr>
          <p:cNvPr id="71" name="Google Shape;71;p43"/>
          <p:cNvSpPr txBox="1"/>
          <p:nvPr>
            <p:ph idx="2" type="body"/>
          </p:nvPr>
        </p:nvSpPr>
        <p:spPr>
          <a:xfrm>
            <a:off x="2226469" y="4457700"/>
            <a:ext cx="5323682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72" name="Google Shape;72;p43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4"/>
          <p:cNvSpPr txBox="1"/>
          <p:nvPr>
            <p:ph type="title"/>
          </p:nvPr>
        </p:nvSpPr>
        <p:spPr>
          <a:xfrm>
            <a:off x="2224086" y="2628899"/>
            <a:ext cx="813923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rbel"/>
              <a:buNone/>
              <a:defRPr b="0"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/>
          <p:nvPr>
            <p:ph idx="2" type="pic"/>
          </p:nvPr>
        </p:nvSpPr>
        <p:spPr>
          <a:xfrm>
            <a:off x="11392023" y="1371600"/>
            <a:ext cx="4921461" cy="6858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4"/>
          <p:cNvSpPr txBox="1"/>
          <p:nvPr>
            <p:ph idx="1" type="body"/>
          </p:nvPr>
        </p:nvSpPr>
        <p:spPr>
          <a:xfrm>
            <a:off x="2224086" y="4686299"/>
            <a:ext cx="8139237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3915"/>
              <a:buNone/>
              <a:defRPr sz="27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79" name="Google Shape;79;p44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5"/>
          <p:cNvSpPr txBox="1"/>
          <p:nvPr>
            <p:ph type="title"/>
          </p:nvPr>
        </p:nvSpPr>
        <p:spPr>
          <a:xfrm>
            <a:off x="2226467" y="7099298"/>
            <a:ext cx="15028067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5"/>
          <p:cNvSpPr/>
          <p:nvPr>
            <p:ph idx="2" type="pic"/>
          </p:nvPr>
        </p:nvSpPr>
        <p:spPr>
          <a:xfrm>
            <a:off x="3579018" y="1398168"/>
            <a:ext cx="12338916" cy="4747464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5"/>
          <p:cNvSpPr txBox="1"/>
          <p:nvPr>
            <p:ph idx="1" type="body"/>
          </p:nvPr>
        </p:nvSpPr>
        <p:spPr>
          <a:xfrm>
            <a:off x="2226467" y="7949405"/>
            <a:ext cx="15028067" cy="740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86" name="Google Shape;86;p45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5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6"/>
          <p:cNvSpPr txBox="1"/>
          <p:nvPr>
            <p:ph type="title"/>
          </p:nvPr>
        </p:nvSpPr>
        <p:spPr>
          <a:xfrm>
            <a:off x="2226469" y="1028700"/>
            <a:ext cx="1502806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6"/>
          <p:cNvSpPr txBox="1"/>
          <p:nvPr>
            <p:ph idx="1" type="body"/>
          </p:nvPr>
        </p:nvSpPr>
        <p:spPr>
          <a:xfrm>
            <a:off x="2226469" y="6515100"/>
            <a:ext cx="1502807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2" name="Google Shape;92;p46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6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6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7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i="0" lang="en-US" sz="1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7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i="0" lang="en-US" sz="1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7"/>
          <p:cNvSpPr txBox="1"/>
          <p:nvPr>
            <p:ph type="title"/>
          </p:nvPr>
        </p:nvSpPr>
        <p:spPr>
          <a:xfrm>
            <a:off x="3312318" y="1028701"/>
            <a:ext cx="13485018" cy="411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7"/>
          <p:cNvSpPr txBox="1"/>
          <p:nvPr>
            <p:ph idx="1" type="body"/>
          </p:nvPr>
        </p:nvSpPr>
        <p:spPr>
          <a:xfrm>
            <a:off x="3655217" y="5143499"/>
            <a:ext cx="1279922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3915"/>
              <a:buFont typeface="Corbel"/>
              <a:buNone/>
              <a:defRPr sz="27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435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0" name="Google Shape;100;p47"/>
          <p:cNvSpPr txBox="1"/>
          <p:nvPr>
            <p:ph idx="2" type="body"/>
          </p:nvPr>
        </p:nvSpPr>
        <p:spPr>
          <a:xfrm>
            <a:off x="2226467" y="6515100"/>
            <a:ext cx="15028067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47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7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7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8"/>
          <p:cNvSpPr txBox="1"/>
          <p:nvPr>
            <p:ph type="title"/>
          </p:nvPr>
        </p:nvSpPr>
        <p:spPr>
          <a:xfrm>
            <a:off x="2226470" y="4962872"/>
            <a:ext cx="15028064" cy="220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8"/>
          <p:cNvSpPr txBox="1"/>
          <p:nvPr>
            <p:ph idx="1" type="body"/>
          </p:nvPr>
        </p:nvSpPr>
        <p:spPr>
          <a:xfrm>
            <a:off x="2226468" y="7166072"/>
            <a:ext cx="15028065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48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8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8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9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i="0" lang="en-US" sz="1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9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i="0" lang="en-US" sz="1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9"/>
          <p:cNvSpPr txBox="1"/>
          <p:nvPr>
            <p:ph type="title"/>
          </p:nvPr>
        </p:nvSpPr>
        <p:spPr>
          <a:xfrm>
            <a:off x="3312318" y="1028701"/>
            <a:ext cx="13485018" cy="411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idx="1" type="body"/>
          </p:nvPr>
        </p:nvSpPr>
        <p:spPr>
          <a:xfrm>
            <a:off x="2226470" y="5829300"/>
            <a:ext cx="1502806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5220"/>
              <a:buNone/>
              <a:defRPr b="0" sz="36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5" name="Google Shape;115;p49"/>
          <p:cNvSpPr txBox="1"/>
          <p:nvPr>
            <p:ph idx="2" type="body"/>
          </p:nvPr>
        </p:nvSpPr>
        <p:spPr>
          <a:xfrm>
            <a:off x="2226468" y="7162800"/>
            <a:ext cx="1502806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391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49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9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9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0"/>
          <p:cNvSpPr txBox="1"/>
          <p:nvPr>
            <p:ph type="title"/>
          </p:nvPr>
        </p:nvSpPr>
        <p:spPr>
          <a:xfrm>
            <a:off x="2226470" y="1028701"/>
            <a:ext cx="15028068" cy="409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0"/>
          <p:cNvSpPr txBox="1"/>
          <p:nvPr>
            <p:ph idx="1" type="body"/>
          </p:nvPr>
        </p:nvSpPr>
        <p:spPr>
          <a:xfrm>
            <a:off x="2226469" y="5257800"/>
            <a:ext cx="1502807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2" name="Google Shape;122;p50"/>
          <p:cNvSpPr txBox="1"/>
          <p:nvPr>
            <p:ph idx="2" type="body"/>
          </p:nvPr>
        </p:nvSpPr>
        <p:spPr>
          <a:xfrm>
            <a:off x="2226467" y="6515100"/>
            <a:ext cx="1502807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391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50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0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0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1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1"/>
          <p:cNvSpPr txBox="1"/>
          <p:nvPr>
            <p:ph idx="1" type="body"/>
          </p:nvPr>
        </p:nvSpPr>
        <p:spPr>
          <a:xfrm rot="5400000">
            <a:off x="7397350" y="-1170385"/>
            <a:ext cx="4686302" cy="15028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51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1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1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2"/>
          <p:cNvSpPr txBox="1"/>
          <p:nvPr>
            <p:ph type="title"/>
          </p:nvPr>
        </p:nvSpPr>
        <p:spPr>
          <a:xfrm rot="5400000">
            <a:off x="12097710" y="3529973"/>
            <a:ext cx="7658100" cy="2655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>
            <p:ph idx="1" type="body"/>
          </p:nvPr>
        </p:nvSpPr>
        <p:spPr>
          <a:xfrm rot="5400000">
            <a:off x="4412225" y="-1157057"/>
            <a:ext cx="7658100" cy="12029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5" name="Google Shape;135;p52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2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2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7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2" type="sldNum"/>
          </p:nvPr>
        </p:nvSpPr>
        <p:spPr>
          <a:xfrm>
            <a:off x="16427785" y="8800697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3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7" name="Google Shape;7;p3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Google Shape;8;p3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9" name="Google Shape;9;p3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0" name="Google Shape;10;p3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1" name="Google Shape;11;p3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2" name="Google Shape;12;p3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3" name="Google Shape;13;p33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6007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504825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435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77202" lvl="2" marL="1371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915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449580" lvl="3" marL="1828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421957" lvl="4" marL="228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421957" lvl="5" marL="2743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421957" lvl="6" marL="3200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421957" lvl="7" marL="3657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421957" lvl="8" marL="4114800" marR="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33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33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33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35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140" name="Google Shape;140;p3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1" name="Google Shape;141;p3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  <p:sp>
          <p:nvSpPr>
            <p:cNvPr id="142" name="Google Shape;142;p3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  <p:sp>
          <p:nvSpPr>
            <p:cNvPr id="143" name="Google Shape;143;p3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44" name="Google Shape;144;p3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45" name="Google Shape;145;p3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</p:grpSp>
      <p:sp>
        <p:nvSpPr>
          <p:cNvPr id="146" name="Google Shape;146;p35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0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5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6007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Arial"/>
              <a:buChar char="•"/>
              <a:defRPr b="0" i="0" sz="3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504825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4350"/>
              <a:buFont typeface="Arial"/>
              <a:buChar char="•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77202" lvl="2" marL="1371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915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449580" lvl="3" marL="1828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421957" lvl="4" marL="228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421957" lvl="5" marL="2743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421957" lvl="6" marL="3200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421957" lvl="7" marL="3657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421957" lvl="8" marL="4114800" marR="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8" name="Google Shape;148;p35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9" name="Google Shape;149;p35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0" name="Google Shape;150;p35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mputer and tablet with graphs and charts&#10;&#10;AI-generated content may be incorrect." id="161" name="Google Shape;1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482" y="5715865"/>
            <a:ext cx="8160517" cy="457113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"/>
          <p:cNvSpPr txBox="1"/>
          <p:nvPr/>
        </p:nvSpPr>
        <p:spPr>
          <a:xfrm>
            <a:off x="809303" y="7107850"/>
            <a:ext cx="858869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Open Sans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Seminario de Sistemas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155441" y="1512847"/>
            <a:ext cx="152146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9200"/>
              <a:buFont typeface="Open Sans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Bases modernas y arquitectura Microsoft BI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3146103" y="8185068"/>
            <a:ext cx="6981379" cy="161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two logos with text&#10;&#10;AI-generated content may be incorrect." id="165" name="Google Shape;16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5699" y="0"/>
            <a:ext cx="69723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"/>
          <p:cNvGrpSpPr/>
          <p:nvPr/>
        </p:nvGrpSpPr>
        <p:grpSpPr>
          <a:xfrm>
            <a:off x="1568376" y="5074884"/>
            <a:ext cx="4030103" cy="845385"/>
            <a:chOff x="0" y="-38655"/>
            <a:chExt cx="1964221" cy="359923"/>
          </a:xfrm>
        </p:grpSpPr>
        <p:sp>
          <p:nvSpPr>
            <p:cNvPr id="171" name="Google Shape;17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2" name="Google Shape;172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 a SSIS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73" name="Google Shape;173;p2"/>
          <p:cNvSpPr/>
          <p:nvPr/>
        </p:nvSpPr>
        <p:spPr>
          <a:xfrm>
            <a:off x="1684278" y="523382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74" name="Google Shape;174;p2"/>
          <p:cNvGrpSpPr/>
          <p:nvPr/>
        </p:nvGrpSpPr>
        <p:grpSpPr>
          <a:xfrm>
            <a:off x="2713402" y="3863800"/>
            <a:ext cx="4115190" cy="1267162"/>
            <a:chOff x="0" y="-36600"/>
            <a:chExt cx="1083836" cy="409938"/>
          </a:xfrm>
        </p:grpSpPr>
        <p:sp>
          <p:nvSpPr>
            <p:cNvPr id="175" name="Google Shape;17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" name="Google Shape;176;p2"/>
            <p:cNvSpPr txBox="1"/>
            <p:nvPr/>
          </p:nvSpPr>
          <p:spPr>
            <a:xfrm>
              <a:off x="0" y="-366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77" name="Google Shape;177;p2"/>
          <p:cNvSpPr/>
          <p:nvPr/>
        </p:nvSpPr>
        <p:spPr>
          <a:xfrm>
            <a:off x="1760876" y="4052276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2216562" y="442037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Pacifico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800" u="none" cap="none" strike="noStrike">
              <a:solidFill>
                <a:schemeClr val="dk1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Lobster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8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80" name="Google Shape;180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81" name="Google Shape;181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2" name="Google Shape;182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3" name="Google Shape;183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84" name="Google Shape;184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5" name="Google Shape;185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6" name="Google Shape;186;p2"/>
          <p:cNvGrpSpPr/>
          <p:nvPr/>
        </p:nvGrpSpPr>
        <p:grpSpPr>
          <a:xfrm>
            <a:off x="1452477" y="5810834"/>
            <a:ext cx="6718129" cy="845385"/>
            <a:chOff x="0" y="-38655"/>
            <a:chExt cx="1964221" cy="359923"/>
          </a:xfrm>
        </p:grpSpPr>
        <p:sp>
          <p:nvSpPr>
            <p:cNvPr id="187" name="Google Shape;18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" name="Google Shape;188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Virtualización y federación de datos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89" name="Google Shape;189;p2"/>
          <p:cNvSpPr/>
          <p:nvPr/>
        </p:nvSpPr>
        <p:spPr>
          <a:xfrm>
            <a:off x="1568377" y="596977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0" name="Google Shape;190;p2"/>
          <p:cNvGrpSpPr/>
          <p:nvPr/>
        </p:nvGrpSpPr>
        <p:grpSpPr>
          <a:xfrm>
            <a:off x="1307519" y="6520243"/>
            <a:ext cx="5087090" cy="845385"/>
            <a:chOff x="0" y="-38655"/>
            <a:chExt cx="1964221" cy="359923"/>
          </a:xfrm>
        </p:grpSpPr>
        <p:sp>
          <p:nvSpPr>
            <p:cNvPr id="191" name="Google Shape;19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IAAS, PAAS, SAAS en BI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3" name="Google Shape;193;p2"/>
          <p:cNvSpPr/>
          <p:nvPr/>
        </p:nvSpPr>
        <p:spPr>
          <a:xfrm>
            <a:off x="1423418" y="667917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4" name="Google Shape;194;p2"/>
          <p:cNvGrpSpPr/>
          <p:nvPr/>
        </p:nvGrpSpPr>
        <p:grpSpPr>
          <a:xfrm>
            <a:off x="1191618" y="7247487"/>
            <a:ext cx="4406862" cy="845385"/>
            <a:chOff x="0" y="-38655"/>
            <a:chExt cx="1964221" cy="359923"/>
          </a:xfrm>
        </p:grpSpPr>
        <p:sp>
          <p:nvSpPr>
            <p:cNvPr id="195" name="Google Shape;1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6" name="Google Shape;196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Seguridad en la nube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7" name="Google Shape;197;p2"/>
          <p:cNvSpPr/>
          <p:nvPr/>
        </p:nvSpPr>
        <p:spPr>
          <a:xfrm>
            <a:off x="1307518" y="740642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8" name="Google Shape;198;p2"/>
          <p:cNvGrpSpPr/>
          <p:nvPr/>
        </p:nvGrpSpPr>
        <p:grpSpPr>
          <a:xfrm>
            <a:off x="1929162" y="7962643"/>
            <a:ext cx="5356542" cy="845385"/>
            <a:chOff x="0" y="-38655"/>
            <a:chExt cx="1964221" cy="359923"/>
          </a:xfrm>
        </p:grpSpPr>
        <p:sp>
          <p:nvSpPr>
            <p:cNvPr id="199" name="Google Shape;19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Nubes híbridas y monitoreo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01" name="Google Shape;201;p2"/>
          <p:cNvSpPr/>
          <p:nvPr/>
        </p:nvSpPr>
        <p:spPr>
          <a:xfrm>
            <a:off x="2045061" y="812157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7" name="Google Shape;207;p22"/>
          <p:cNvGrpSpPr/>
          <p:nvPr/>
        </p:nvGrpSpPr>
        <p:grpSpPr>
          <a:xfrm flipH="1">
            <a:off x="9789314" y="0"/>
            <a:ext cx="7522369" cy="10294145"/>
            <a:chOff x="2928938" y="-4763"/>
            <a:chExt cx="5014912" cy="6862763"/>
          </a:xfrm>
        </p:grpSpPr>
        <p:sp>
          <p:nvSpPr>
            <p:cNvPr id="208" name="Google Shape;208;p2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4" name="Google Shape;214;p22"/>
          <p:cNvSpPr txBox="1"/>
          <p:nvPr>
            <p:ph type="title"/>
          </p:nvPr>
        </p:nvSpPr>
        <p:spPr>
          <a:xfrm>
            <a:off x="1527286" y="1028700"/>
            <a:ext cx="11117738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/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1527285" y="4000497"/>
            <a:ext cx="10865404" cy="5792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1960" lvl="0" marL="428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0"/>
              <a:buChar char="•"/>
            </a:pPr>
            <a:r>
              <a:rPr lang="en-US" sz="4800">
                <a:latin typeface="Open Sans"/>
                <a:ea typeface="Open Sans"/>
                <a:cs typeface="Open Sans"/>
                <a:sym typeface="Open Sans"/>
              </a:rPr>
              <a:t>Integra soluciones BI con bases de datos modernas y servicios en la nube usando tecnologías como SSIS, SSAS y servicios IAAS/PAAS considerando aspectos de seguridad, virtualización y arquitectura de datos distribuida </a:t>
            </a:r>
            <a:endParaRPr sz="4800"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1" name="Google Shape;221;p23"/>
          <p:cNvSpPr txBox="1"/>
          <p:nvPr>
            <p:ph type="title"/>
          </p:nvPr>
        </p:nvSpPr>
        <p:spPr>
          <a:xfrm>
            <a:off x="5781676" y="1028700"/>
            <a:ext cx="11472860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¿Qué es SSIS?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0" y="0"/>
            <a:ext cx="5109589" cy="10287000"/>
          </a:xfrm>
          <a:prstGeom prst="rect">
            <a:avLst/>
          </a:prstGeom>
          <a:gradFill>
            <a:gsLst>
              <a:gs pos="0">
                <a:srgbClr val="159FE7"/>
              </a:gs>
              <a:gs pos="23000">
                <a:srgbClr val="159FE7"/>
              </a:gs>
              <a:gs pos="69000">
                <a:srgbClr val="1186C3"/>
              </a:gs>
              <a:gs pos="97000">
                <a:srgbClr val="107DB6"/>
              </a:gs>
              <a:gs pos="100000">
                <a:srgbClr val="107DB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742849" y="1"/>
            <a:ext cx="1288326" cy="4171436"/>
          </a:xfrm>
          <a:custGeom>
            <a:rect b="b" l="l" r="r" t="t"/>
            <a:pathLst>
              <a:path extrusionOk="0" h="1753" w="670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212136" y="1"/>
            <a:ext cx="1253715" cy="4007243"/>
          </a:xfrm>
          <a:custGeom>
            <a:rect b="b" l="l" r="r" t="t"/>
            <a:pathLst>
              <a:path extrusionOk="0" h="1684" w="652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212136" y="3878745"/>
            <a:ext cx="3263119" cy="6408256"/>
          </a:xfrm>
          <a:custGeom>
            <a:rect b="b" l="l" r="r" t="t"/>
            <a:pathLst>
              <a:path extrusionOk="0" h="2693" w="1697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748617" y="4042938"/>
            <a:ext cx="4036114" cy="6244063"/>
          </a:xfrm>
          <a:custGeom>
            <a:rect b="b" l="l" r="r" t="t"/>
            <a:pathLst>
              <a:path extrusionOk="0" h="2624" w="2099">
                <a:moveTo>
                  <a:pt x="2099" y="2624"/>
                </a:moveTo>
                <a:lnTo>
                  <a:pt x="0" y="0"/>
                </a:lnTo>
                <a:lnTo>
                  <a:pt x="2021" y="2624"/>
                </a:lnTo>
                <a:lnTo>
                  <a:pt x="2099" y="2624"/>
                </a:lnTo>
                <a:close/>
              </a:path>
            </a:pathLst>
          </a:custGeom>
          <a:solidFill>
            <a:srgbClr val="0B59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42849" y="4035798"/>
            <a:ext cx="4356480" cy="6251203"/>
          </a:xfrm>
          <a:custGeom>
            <a:rect b="b" l="l" r="r" t="t"/>
            <a:pathLst>
              <a:path extrusionOk="0" h="4167469" w="2904320">
                <a:moveTo>
                  <a:pt x="0" y="0"/>
                </a:moveTo>
                <a:lnTo>
                  <a:pt x="288431" y="90425"/>
                </a:lnTo>
                <a:lnTo>
                  <a:pt x="2904320" y="3220465"/>
                </a:lnTo>
                <a:lnTo>
                  <a:pt x="2904320" y="4167469"/>
                </a:lnTo>
                <a:lnTo>
                  <a:pt x="2694589" y="4167469"/>
                </a:lnTo>
                <a:lnTo>
                  <a:pt x="3846" y="4759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212136" y="3871606"/>
            <a:ext cx="4341852" cy="6415395"/>
          </a:xfrm>
          <a:custGeom>
            <a:rect b="b" l="l" r="r" t="t"/>
            <a:pathLst>
              <a:path extrusionOk="0" h="2696" w="2258">
                <a:moveTo>
                  <a:pt x="2258" y="2696"/>
                </a:moveTo>
                <a:lnTo>
                  <a:pt x="264" y="111"/>
                </a:lnTo>
                <a:lnTo>
                  <a:pt x="228" y="60"/>
                </a:lnTo>
                <a:lnTo>
                  <a:pt x="225" y="57"/>
                </a:lnTo>
                <a:lnTo>
                  <a:pt x="0" y="0"/>
                </a:lnTo>
                <a:lnTo>
                  <a:pt x="0" y="3"/>
                </a:lnTo>
                <a:lnTo>
                  <a:pt x="1697" y="2696"/>
                </a:lnTo>
                <a:lnTo>
                  <a:pt x="2258" y="269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5781676" y="4000498"/>
            <a:ext cx="11472858" cy="4686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0"/>
              <a:buChar char="•"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Es una herramienta de Microsoft para la integración de datos y automatización de flujos de trabajo en SQL Server.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5" name="Google Shape;235;p24"/>
          <p:cNvSpPr txBox="1"/>
          <p:nvPr>
            <p:ph type="title"/>
          </p:nvPr>
        </p:nvSpPr>
        <p:spPr>
          <a:xfrm>
            <a:off x="5781676" y="1028700"/>
            <a:ext cx="11472860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Instalación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0" y="0"/>
            <a:ext cx="5109589" cy="10287000"/>
          </a:xfrm>
          <a:prstGeom prst="rect">
            <a:avLst/>
          </a:prstGeom>
          <a:gradFill>
            <a:gsLst>
              <a:gs pos="0">
                <a:srgbClr val="159FE7"/>
              </a:gs>
              <a:gs pos="23000">
                <a:srgbClr val="159FE7"/>
              </a:gs>
              <a:gs pos="69000">
                <a:srgbClr val="1186C3"/>
              </a:gs>
              <a:gs pos="97000">
                <a:srgbClr val="107DB6"/>
              </a:gs>
              <a:gs pos="100000">
                <a:srgbClr val="107DB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742849" y="1"/>
            <a:ext cx="1288326" cy="4171436"/>
          </a:xfrm>
          <a:custGeom>
            <a:rect b="b" l="l" r="r" t="t"/>
            <a:pathLst>
              <a:path extrusionOk="0" h="1753" w="670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212136" y="1"/>
            <a:ext cx="1253715" cy="4007243"/>
          </a:xfrm>
          <a:custGeom>
            <a:rect b="b" l="l" r="r" t="t"/>
            <a:pathLst>
              <a:path extrusionOk="0" h="1684" w="652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212136" y="3878745"/>
            <a:ext cx="3263119" cy="6408256"/>
          </a:xfrm>
          <a:custGeom>
            <a:rect b="b" l="l" r="r" t="t"/>
            <a:pathLst>
              <a:path extrusionOk="0" h="2693" w="1697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748617" y="4042938"/>
            <a:ext cx="4036114" cy="6244063"/>
          </a:xfrm>
          <a:custGeom>
            <a:rect b="b" l="l" r="r" t="t"/>
            <a:pathLst>
              <a:path extrusionOk="0" h="2624" w="2099">
                <a:moveTo>
                  <a:pt x="2099" y="2624"/>
                </a:moveTo>
                <a:lnTo>
                  <a:pt x="0" y="0"/>
                </a:lnTo>
                <a:lnTo>
                  <a:pt x="2021" y="2624"/>
                </a:lnTo>
                <a:lnTo>
                  <a:pt x="2099" y="2624"/>
                </a:lnTo>
                <a:close/>
              </a:path>
            </a:pathLst>
          </a:custGeom>
          <a:solidFill>
            <a:srgbClr val="0B59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742849" y="4035798"/>
            <a:ext cx="4356480" cy="6251203"/>
          </a:xfrm>
          <a:custGeom>
            <a:rect b="b" l="l" r="r" t="t"/>
            <a:pathLst>
              <a:path extrusionOk="0" h="4167469" w="2904320">
                <a:moveTo>
                  <a:pt x="0" y="0"/>
                </a:moveTo>
                <a:lnTo>
                  <a:pt x="288431" y="90425"/>
                </a:lnTo>
                <a:lnTo>
                  <a:pt x="2904320" y="3220465"/>
                </a:lnTo>
                <a:lnTo>
                  <a:pt x="2904320" y="4167469"/>
                </a:lnTo>
                <a:lnTo>
                  <a:pt x="2694589" y="4167469"/>
                </a:lnTo>
                <a:lnTo>
                  <a:pt x="3846" y="4759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212136" y="3871606"/>
            <a:ext cx="4341852" cy="6415395"/>
          </a:xfrm>
          <a:custGeom>
            <a:rect b="b" l="l" r="r" t="t"/>
            <a:pathLst>
              <a:path extrusionOk="0" h="2696" w="2258">
                <a:moveTo>
                  <a:pt x="2258" y="2696"/>
                </a:moveTo>
                <a:lnTo>
                  <a:pt x="264" y="111"/>
                </a:lnTo>
                <a:lnTo>
                  <a:pt x="228" y="60"/>
                </a:lnTo>
                <a:lnTo>
                  <a:pt x="225" y="57"/>
                </a:lnTo>
                <a:lnTo>
                  <a:pt x="0" y="0"/>
                </a:lnTo>
                <a:lnTo>
                  <a:pt x="0" y="3"/>
                </a:lnTo>
                <a:lnTo>
                  <a:pt x="1697" y="2696"/>
                </a:lnTo>
                <a:lnTo>
                  <a:pt x="2258" y="269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5781676" y="4000498"/>
            <a:ext cx="11472858" cy="4686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28625" lvl="0" marL="428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Requisitos previos</a:t>
            </a:r>
            <a:endParaRPr/>
          </a:p>
          <a:p>
            <a:pPr indent="-428625" lvl="1" marL="1114425" rtl="0" algn="l">
              <a:lnSpc>
                <a:spcPct val="100000"/>
              </a:lnSpc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SQL Server y SQL Server Management Studio (SSMS) instalados.</a:t>
            </a:r>
            <a:endParaRPr/>
          </a:p>
          <a:p>
            <a:pPr indent="-428625" lvl="1" marL="1114425" rtl="0" algn="l">
              <a:lnSpc>
                <a:spcPct val="100000"/>
              </a:lnSpc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Visual Studio (preferiblemente versión 2019 o superior).</a:t>
            </a:r>
            <a:endParaRPr/>
          </a:p>
          <a:p>
            <a:pPr indent="-428625" lvl="1" marL="1114425" rtl="0" algn="l">
              <a:lnSpc>
                <a:spcPct val="100000"/>
              </a:lnSpc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Instalación del complemento "SQL Server Data Tools (SSDT)" para habilitar SSIS en Visual Studio.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9" name="Google Shape;249;p25"/>
          <p:cNvSpPr txBox="1"/>
          <p:nvPr>
            <p:ph type="title"/>
          </p:nvPr>
        </p:nvSpPr>
        <p:spPr>
          <a:xfrm>
            <a:off x="5781676" y="1028700"/>
            <a:ext cx="11472860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Instalación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0" y="0"/>
            <a:ext cx="5109589" cy="10287000"/>
          </a:xfrm>
          <a:prstGeom prst="rect">
            <a:avLst/>
          </a:prstGeom>
          <a:gradFill>
            <a:gsLst>
              <a:gs pos="0">
                <a:srgbClr val="159FE7"/>
              </a:gs>
              <a:gs pos="23000">
                <a:srgbClr val="159FE7"/>
              </a:gs>
              <a:gs pos="69000">
                <a:srgbClr val="1186C3"/>
              </a:gs>
              <a:gs pos="97000">
                <a:srgbClr val="107DB6"/>
              </a:gs>
              <a:gs pos="100000">
                <a:srgbClr val="107DB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742849" y="1"/>
            <a:ext cx="1288326" cy="4171436"/>
          </a:xfrm>
          <a:custGeom>
            <a:rect b="b" l="l" r="r" t="t"/>
            <a:pathLst>
              <a:path extrusionOk="0" h="1753" w="670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212136" y="1"/>
            <a:ext cx="1253715" cy="4007243"/>
          </a:xfrm>
          <a:custGeom>
            <a:rect b="b" l="l" r="r" t="t"/>
            <a:pathLst>
              <a:path extrusionOk="0" h="1684" w="652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212136" y="3878745"/>
            <a:ext cx="3263119" cy="6408256"/>
          </a:xfrm>
          <a:custGeom>
            <a:rect b="b" l="l" r="r" t="t"/>
            <a:pathLst>
              <a:path extrusionOk="0" h="2693" w="1697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748617" y="4042938"/>
            <a:ext cx="4036114" cy="6244063"/>
          </a:xfrm>
          <a:custGeom>
            <a:rect b="b" l="l" r="r" t="t"/>
            <a:pathLst>
              <a:path extrusionOk="0" h="2624" w="2099">
                <a:moveTo>
                  <a:pt x="2099" y="2624"/>
                </a:moveTo>
                <a:lnTo>
                  <a:pt x="0" y="0"/>
                </a:lnTo>
                <a:lnTo>
                  <a:pt x="2021" y="2624"/>
                </a:lnTo>
                <a:lnTo>
                  <a:pt x="2099" y="2624"/>
                </a:lnTo>
                <a:close/>
              </a:path>
            </a:pathLst>
          </a:custGeom>
          <a:solidFill>
            <a:srgbClr val="0B59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742849" y="4035798"/>
            <a:ext cx="4356480" cy="6251203"/>
          </a:xfrm>
          <a:custGeom>
            <a:rect b="b" l="l" r="r" t="t"/>
            <a:pathLst>
              <a:path extrusionOk="0" h="4167469" w="2904320">
                <a:moveTo>
                  <a:pt x="0" y="0"/>
                </a:moveTo>
                <a:lnTo>
                  <a:pt x="288431" y="90425"/>
                </a:lnTo>
                <a:lnTo>
                  <a:pt x="2904320" y="3220465"/>
                </a:lnTo>
                <a:lnTo>
                  <a:pt x="2904320" y="4167469"/>
                </a:lnTo>
                <a:lnTo>
                  <a:pt x="2694589" y="4167469"/>
                </a:lnTo>
                <a:lnTo>
                  <a:pt x="3846" y="4759"/>
                </a:lnTo>
                <a:close/>
              </a:path>
            </a:pathLst>
          </a:custGeom>
          <a:solidFill>
            <a:srgbClr val="1186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212136" y="3871606"/>
            <a:ext cx="4341852" cy="6415395"/>
          </a:xfrm>
          <a:custGeom>
            <a:rect b="b" l="l" r="r" t="t"/>
            <a:pathLst>
              <a:path extrusionOk="0" h="2696" w="2258">
                <a:moveTo>
                  <a:pt x="2258" y="2696"/>
                </a:moveTo>
                <a:lnTo>
                  <a:pt x="264" y="111"/>
                </a:lnTo>
                <a:lnTo>
                  <a:pt x="228" y="60"/>
                </a:lnTo>
                <a:lnTo>
                  <a:pt x="225" y="57"/>
                </a:lnTo>
                <a:lnTo>
                  <a:pt x="0" y="0"/>
                </a:lnTo>
                <a:lnTo>
                  <a:pt x="0" y="3"/>
                </a:lnTo>
                <a:lnTo>
                  <a:pt x="1697" y="2696"/>
                </a:lnTo>
                <a:lnTo>
                  <a:pt x="2258" y="269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7" name="Google Shape;257;p25"/>
          <p:cNvSpPr txBox="1"/>
          <p:nvPr>
            <p:ph idx="1" type="body"/>
          </p:nvPr>
        </p:nvSpPr>
        <p:spPr>
          <a:xfrm>
            <a:off x="5781676" y="4000498"/>
            <a:ext cx="11472858" cy="4686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28625" lvl="0" marL="428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Pasos de instalación</a:t>
            </a:r>
            <a:endParaRPr/>
          </a:p>
          <a:p>
            <a:pPr indent="-428625" lvl="1" marL="1114425" rtl="0" algn="l">
              <a:lnSpc>
                <a:spcPct val="100000"/>
              </a:lnSpc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Abrir Visual Studio Installer y buscar "Data Storage and Processing".</a:t>
            </a:r>
            <a:endParaRPr/>
          </a:p>
          <a:p>
            <a:pPr indent="-428625" lvl="1" marL="1114425" rtl="0" algn="l">
              <a:lnSpc>
                <a:spcPct val="100000"/>
              </a:lnSpc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Asegurarse de seleccionar "SQL Server Integration Services".</a:t>
            </a:r>
            <a:endParaRPr/>
          </a:p>
          <a:p>
            <a:pPr indent="-428625" lvl="1" marL="1114425" rtl="0" algn="l">
              <a:lnSpc>
                <a:spcPct val="100000"/>
              </a:lnSpc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Completar la instalación y reiniciar Visual Studio.</a:t>
            </a:r>
            <a:endParaRPr/>
          </a:p>
          <a:p>
            <a:pPr indent="-428625" lvl="1" marL="1114425" rtl="0" algn="l">
              <a:lnSpc>
                <a:spcPct val="100000"/>
              </a:lnSpc>
              <a:spcBef>
                <a:spcPts val="1603"/>
              </a:spcBef>
              <a:spcAft>
                <a:spcPts val="0"/>
              </a:spcAft>
              <a:buSzPct val="145000"/>
              <a:buChar char="•"/>
            </a:pPr>
            <a:r>
              <a:rPr lang="en-US" sz="3800">
                <a:latin typeface="Open Sans"/>
                <a:ea typeface="Open Sans"/>
                <a:cs typeface="Open Sans"/>
                <a:sym typeface="Open Sans"/>
              </a:rPr>
              <a:t>Validar la instalación creando un nuevo proyecto SSIS.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3" name="Google Shape;263;p26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Fuentes y destinos de datos en SSIS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65" name="Google Shape;265;p26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266" name="Google Shape;266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72" name="Google Shape;272;p26"/>
          <p:cNvGrpSpPr/>
          <p:nvPr/>
        </p:nvGrpSpPr>
        <p:grpSpPr>
          <a:xfrm>
            <a:off x="7515225" y="1029634"/>
            <a:ext cx="9739312" cy="7656230"/>
            <a:chOff x="0" y="934"/>
            <a:chExt cx="9739312" cy="7656230"/>
          </a:xfrm>
        </p:grpSpPr>
        <p:sp>
          <p:nvSpPr>
            <p:cNvPr id="273" name="Google Shape;273;p26"/>
            <p:cNvSpPr/>
            <p:nvPr/>
          </p:nvSpPr>
          <p:spPr>
            <a:xfrm>
              <a:off x="0" y="934"/>
              <a:ext cx="9739312" cy="218749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661717" y="493121"/>
              <a:ext cx="1203121" cy="120312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2526556" y="934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6"/>
            <p:cNvSpPr txBox="1"/>
            <p:nvPr/>
          </p:nvSpPr>
          <p:spPr>
            <a:xfrm>
              <a:off x="2526556" y="934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Fuentes de datos (Data Sources)</a:t>
              </a:r>
              <a:endParaRPr b="0" i="0" sz="2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909246" y="934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6"/>
            <p:cNvSpPr txBox="1"/>
            <p:nvPr/>
          </p:nvSpPr>
          <p:spPr>
            <a:xfrm>
              <a:off x="6909246" y="934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SQL Server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Oracle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MySQL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Archivos (CSV, Excel, XML, JSON)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Servicios Web (API, OData)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0" y="2735302"/>
              <a:ext cx="9739312" cy="218749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661717" y="3227489"/>
              <a:ext cx="1203121" cy="120312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2526556" y="2735302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6"/>
            <p:cNvSpPr txBox="1"/>
            <p:nvPr/>
          </p:nvSpPr>
          <p:spPr>
            <a:xfrm>
              <a:off x="2526556" y="2735302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Destinos de datos (Data Destinations)</a:t>
              </a:r>
              <a:endParaRPr b="0" i="0" sz="2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6909246" y="2735302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6"/>
            <p:cNvSpPr txBox="1"/>
            <p:nvPr/>
          </p:nvSpPr>
          <p:spPr>
            <a:xfrm>
              <a:off x="6909246" y="2735302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Bases de datos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Archivos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Cubos OLAP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Aplicaciones externas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0" y="5469670"/>
              <a:ext cx="9739312" cy="218749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661717" y="5961857"/>
              <a:ext cx="1203121" cy="120312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526556" y="5469670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6"/>
            <p:cNvSpPr txBox="1"/>
            <p:nvPr/>
          </p:nvSpPr>
          <p:spPr>
            <a:xfrm>
              <a:off x="2526556" y="5469670"/>
              <a:ext cx="4382690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Configuración de conexiones:</a:t>
              </a:r>
              <a:endParaRPr b="0" i="0" sz="2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6909246" y="5469670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6"/>
            <p:cNvSpPr txBox="1"/>
            <p:nvPr/>
          </p:nvSpPr>
          <p:spPr>
            <a:xfrm>
              <a:off x="6909246" y="5469670"/>
              <a:ext cx="2830065" cy="218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1500" lIns="231500" spcFirstLastPara="1" rIns="231500" wrap="square" tIns="2315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definen en la pestaña Connection Managers dentro de SSIS.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rbe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pueden reutilizar en diferentes tareas del flujo de datos.</a:t>
              </a:r>
              <a:endPara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6" name="Google Shape;296;p29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7" name="Google Shape;297;p29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mpact"/>
              <a:buNone/>
            </a:pPr>
            <a:r>
              <a:rPr i="0" lang="en-US" sz="3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Transformaciones comunes</a:t>
            </a:r>
            <a:endParaRPr sz="3800">
              <a:solidFill>
                <a:srgbClr val="FFFFFF"/>
              </a:solidFill>
            </a:endParaRPr>
          </a:p>
        </p:txBody>
      </p:sp>
      <p:grpSp>
        <p:nvGrpSpPr>
          <p:cNvPr id="298" name="Google Shape;298;p29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299" name="Google Shape;299;p29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0" name="Google Shape;300;p29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1" name="Google Shape;301;p29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2" name="Google Shape;302;p29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05" name="Google Shape;305;p29"/>
          <p:cNvGrpSpPr/>
          <p:nvPr/>
        </p:nvGrpSpPr>
        <p:grpSpPr>
          <a:xfrm>
            <a:off x="7515225" y="1066485"/>
            <a:ext cx="9739312" cy="7582528"/>
            <a:chOff x="0" y="37785"/>
            <a:chExt cx="9739312" cy="7582528"/>
          </a:xfrm>
        </p:grpSpPr>
        <p:sp>
          <p:nvSpPr>
            <p:cNvPr id="306" name="Google Shape;306;p29"/>
            <p:cNvSpPr/>
            <p:nvPr/>
          </p:nvSpPr>
          <p:spPr>
            <a:xfrm>
              <a:off x="0" y="37785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9"/>
            <p:cNvSpPr txBox="1"/>
            <p:nvPr/>
          </p:nvSpPr>
          <p:spPr>
            <a:xfrm>
              <a:off x="58177" y="95962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Transformaciones comunes:</a:t>
              </a:r>
              <a:endPara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8" name="Google Shape;308;p29"/>
            <p:cNvSpPr/>
            <p:nvPr/>
          </p:nvSpPr>
          <p:spPr>
            <a:xfrm>
              <a:off x="0" y="1315940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rgbClr val="E19D3C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9"/>
            <p:cNvSpPr txBox="1"/>
            <p:nvPr/>
          </p:nvSpPr>
          <p:spPr>
            <a:xfrm>
              <a:off x="58177" y="1374117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Derived Column:</a:t>
              </a:r>
              <a:r>
                <a:rPr b="0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Agregar o modificar columnas en tiempo de ejecución.</a:t>
              </a:r>
              <a:endPara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0" name="Google Shape;310;p29"/>
            <p:cNvSpPr/>
            <p:nvPr/>
          </p:nvSpPr>
          <p:spPr>
            <a:xfrm>
              <a:off x="0" y="2594095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rgbClr val="D54839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9"/>
            <p:cNvSpPr txBox="1"/>
            <p:nvPr/>
          </p:nvSpPr>
          <p:spPr>
            <a:xfrm>
              <a:off x="58177" y="2652272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Data Conversion:</a:t>
              </a:r>
              <a:r>
                <a:rPr b="0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Convertir tipos de datos.</a:t>
              </a:r>
              <a:endPara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0" y="3872250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rgbClr val="D64487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9"/>
            <p:cNvSpPr txBox="1"/>
            <p:nvPr/>
          </p:nvSpPr>
          <p:spPr>
            <a:xfrm>
              <a:off x="58177" y="3930427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Aggregate:</a:t>
              </a:r>
              <a:r>
                <a:rPr b="0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Agrupar datos (SUM, COUNT, AVG).</a:t>
              </a:r>
              <a:endPara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>
              <a:off x="0" y="5150404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rgbClr val="A465D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9"/>
            <p:cNvSpPr txBox="1"/>
            <p:nvPr/>
          </p:nvSpPr>
          <p:spPr>
            <a:xfrm>
              <a:off x="58177" y="5208581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Sort:</a:t>
              </a:r>
              <a:r>
                <a:rPr b="0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Ordenar registros.</a:t>
              </a:r>
              <a:endPara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6" name="Google Shape;316;p29"/>
            <p:cNvSpPr/>
            <p:nvPr/>
          </p:nvSpPr>
          <p:spPr>
            <a:xfrm>
              <a:off x="0" y="6428559"/>
              <a:ext cx="9739312" cy="1191754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9"/>
            <p:cNvSpPr txBox="1"/>
            <p:nvPr/>
          </p:nvSpPr>
          <p:spPr>
            <a:xfrm>
              <a:off x="58177" y="6486736"/>
              <a:ext cx="9622958" cy="10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Lookup:</a:t>
              </a:r>
              <a:r>
                <a:rPr b="0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Buscar valores en otra tabla y combinar datos.</a:t>
              </a:r>
              <a:endPara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3" name="Google Shape;323;p30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4" name="Google Shape;324;p30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Impact"/>
              <a:buNone/>
            </a:pPr>
            <a:r>
              <a:rPr i="0" lang="en-US" sz="5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5600">
              <a:solidFill>
                <a:srgbClr val="FFFFFF"/>
              </a:solidFill>
            </a:endParaRPr>
          </a:p>
        </p:txBody>
      </p:sp>
      <p:grpSp>
        <p:nvGrpSpPr>
          <p:cNvPr id="325" name="Google Shape;325;p30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326" name="Google Shape;326;p30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32" name="Google Shape;332;p30"/>
          <p:cNvGrpSpPr/>
          <p:nvPr/>
        </p:nvGrpSpPr>
        <p:grpSpPr>
          <a:xfrm>
            <a:off x="7515225" y="1090221"/>
            <a:ext cx="9739312" cy="8419957"/>
            <a:chOff x="0" y="61522"/>
            <a:chExt cx="9739312" cy="8419957"/>
          </a:xfrm>
        </p:grpSpPr>
        <p:sp>
          <p:nvSpPr>
            <p:cNvPr id="333" name="Google Shape;333;p30"/>
            <p:cNvSpPr/>
            <p:nvPr/>
          </p:nvSpPr>
          <p:spPr>
            <a:xfrm>
              <a:off x="0" y="61522"/>
              <a:ext cx="9739312" cy="2766332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0"/>
            <p:cNvSpPr txBox="1"/>
            <p:nvPr/>
          </p:nvSpPr>
          <p:spPr>
            <a:xfrm>
              <a:off x="135041" y="196563"/>
              <a:ext cx="9469230" cy="249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Open Sans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Es una herramienta de Microsoft para la integración de datos y automatización de flujos de trabajo en SQL Server.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0" y="2888335"/>
              <a:ext cx="9739312" cy="2766332"/>
            </a:xfrm>
            <a:prstGeom prst="roundRect">
              <a:avLst>
                <a:gd fmla="val 16667" name="adj"/>
              </a:avLst>
            </a:prstGeom>
            <a:solidFill>
              <a:srgbClr val="C6D24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0"/>
            <p:cNvSpPr txBox="1"/>
            <p:nvPr/>
          </p:nvSpPr>
          <p:spPr>
            <a:xfrm>
              <a:off x="135041" y="3023376"/>
              <a:ext cx="9469230" cy="249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SQL Server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Oracle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MySQL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Archivos (CSV, Excel, XML, JSON)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Servicios Web (API, OData)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0" y="5715147"/>
              <a:ext cx="9739312" cy="2766332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0"/>
            <p:cNvSpPr txBox="1"/>
            <p:nvPr/>
          </p:nvSpPr>
          <p:spPr>
            <a:xfrm>
              <a:off x="135041" y="5850188"/>
              <a:ext cx="9469230" cy="249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Transformaciones comunes: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Derived Column: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Agregar o modificar columnas en tiempo de ejecución.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Data Conversion: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Convertir tipos de datos.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Aggregate: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Agrupar datos (SUM, COUNT, AVG).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Sort: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Ordenar registros.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Lookup: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Buscar valores en otra tabla y combinar datos.</a:t>
              </a:r>
              <a:endPara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4" name="Google Shape;344;p31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5" name="Google Shape;345;p31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VALOR y ACTITUD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346" name="Google Shape;346;p31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347" name="Google Shape;347;p3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8" name="Google Shape;348;p3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9" name="Google Shape;349;p3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0" name="Google Shape;350;p3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2" name="Google Shape;352;p3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53" name="Google Shape;353;p31"/>
          <p:cNvGrpSpPr/>
          <p:nvPr/>
        </p:nvGrpSpPr>
        <p:grpSpPr>
          <a:xfrm>
            <a:off x="7515225" y="1063169"/>
            <a:ext cx="9739312" cy="7589160"/>
            <a:chOff x="0" y="34469"/>
            <a:chExt cx="9739312" cy="7589160"/>
          </a:xfrm>
        </p:grpSpPr>
        <p:sp>
          <p:nvSpPr>
            <p:cNvPr id="354" name="Google Shape;354;p31"/>
            <p:cNvSpPr/>
            <p:nvPr/>
          </p:nvSpPr>
          <p:spPr>
            <a:xfrm>
              <a:off x="0" y="388709"/>
              <a:ext cx="9739312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1"/>
            <p:cNvSpPr txBox="1"/>
            <p:nvPr/>
          </p:nvSpPr>
          <p:spPr>
            <a:xfrm>
              <a:off x="0" y="388709"/>
              <a:ext cx="9739312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refuerza al discutir buenas prácticas para proteger datos en la nube y configurar servicios BI de manera segura.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486965" y="34469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1"/>
            <p:cNvSpPr txBox="1"/>
            <p:nvPr/>
          </p:nvSpPr>
          <p:spPr>
            <a:xfrm>
              <a:off x="521550" y="69054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Seguridad y ética profesional</a:t>
              </a:r>
              <a:endPara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8" name="Google Shape;358;p31"/>
            <p:cNvSpPr/>
            <p:nvPr/>
          </p:nvSpPr>
          <p:spPr>
            <a:xfrm>
              <a:off x="0" y="2233349"/>
              <a:ext cx="9739312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ABCD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 txBox="1"/>
            <p:nvPr/>
          </p:nvSpPr>
          <p:spPr>
            <a:xfrm>
              <a:off x="0" y="2233349"/>
              <a:ext cx="9739312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trabaja al implementar virtualización, control de acceso y monitoreo en arquitecturas BI reales.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486965" y="1879110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rgbClr val="ABCD48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1"/>
            <p:cNvSpPr txBox="1"/>
            <p:nvPr/>
          </p:nvSpPr>
          <p:spPr>
            <a:xfrm>
              <a:off x="521550" y="1913695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Responsabilidad</a:t>
              </a:r>
              <a:endPara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0" y="4077989"/>
              <a:ext cx="9739312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D7C9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1"/>
            <p:cNvSpPr txBox="1"/>
            <p:nvPr/>
          </p:nvSpPr>
          <p:spPr>
            <a:xfrm>
              <a:off x="0" y="4077989"/>
              <a:ext cx="9739312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aplica al evaluar las diferencias y relaciones entre SSIS, SSAS y SSRS como componentes de una solución integrada.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486965" y="3723749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rgbClr val="D7C94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1"/>
            <p:cNvSpPr txBox="1"/>
            <p:nvPr/>
          </p:nvSpPr>
          <p:spPr>
            <a:xfrm>
              <a:off x="521550" y="3758334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Pensamiento analítico</a:t>
              </a:r>
              <a:endPara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0" y="5922629"/>
              <a:ext cx="9739312" cy="1701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E19C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1"/>
            <p:cNvSpPr txBox="1"/>
            <p:nvPr/>
          </p:nvSpPr>
          <p:spPr>
            <a:xfrm>
              <a:off x="0" y="5922629"/>
              <a:ext cx="9739312" cy="17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promueve al usar herramientas modernas y modelos de nube híbrida para ampliar el alcance de las soluciones empresariales.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486965" y="5568390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1"/>
            <p:cNvSpPr txBox="1"/>
            <p:nvPr/>
          </p:nvSpPr>
          <p:spPr>
            <a:xfrm>
              <a:off x="521550" y="5602975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Innovación tecnológica</a:t>
              </a:r>
              <a:endPara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00"/>
              <a:buFont typeface="Impact"/>
              <a:buNone/>
            </a:pPr>
            <a:r>
              <a:rPr i="0" lang="en-US" sz="6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/>
          </a:p>
        </p:txBody>
      </p:sp>
      <p:grpSp>
        <p:nvGrpSpPr>
          <p:cNvPr id="375" name="Google Shape;375;p32"/>
          <p:cNvGrpSpPr/>
          <p:nvPr/>
        </p:nvGrpSpPr>
        <p:grpSpPr>
          <a:xfrm>
            <a:off x="2226466" y="4081054"/>
            <a:ext cx="15028070" cy="4291148"/>
            <a:chOff x="0" y="1033054"/>
            <a:chExt cx="15028070" cy="4291148"/>
          </a:xfrm>
        </p:grpSpPr>
        <p:sp>
          <p:nvSpPr>
            <p:cNvPr id="376" name="Google Shape;376;p32"/>
            <p:cNvSpPr/>
            <p:nvPr/>
          </p:nvSpPr>
          <p:spPr>
            <a:xfrm>
              <a:off x="0" y="1033054"/>
              <a:ext cx="15028070" cy="1907177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576921" y="1462169"/>
              <a:ext cx="1048947" cy="104894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2202789" y="1033054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2"/>
            <p:cNvSpPr txBox="1"/>
            <p:nvPr/>
          </p:nvSpPr>
          <p:spPr>
            <a:xfrm>
              <a:off x="2202789" y="1033054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1825" lIns="201825" spcFirstLastPara="1" rIns="201825" wrap="square" tIns="20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Chugugrace. (s. f.). SQL Server Integration Services - SQL Server Integration Services (SSIS). Microsoft Learn. https://learn.microsoft.com/es-es/sql/integration-services/sql-server-integration-services?view=sql-server-ver17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2"/>
            <p:cNvSpPr/>
            <p:nvPr/>
          </p:nvSpPr>
          <p:spPr>
            <a:xfrm>
              <a:off x="0" y="3417025"/>
              <a:ext cx="15028070" cy="1907177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576921" y="3846140"/>
              <a:ext cx="1048947" cy="104894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2202789" y="3417025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2"/>
            <p:cNvSpPr txBox="1"/>
            <p:nvPr/>
          </p:nvSpPr>
          <p:spPr>
            <a:xfrm>
              <a:off x="2202789" y="3417025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1825" lIns="201825" spcFirstLastPara="1" rIns="201825" wrap="square" tIns="20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SQL Server Integration Services Projects 2022 - Visual Studio Marketplace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. (s. f.). https://marketplace.visualstudio.com/items?itemName=SSIS.MicrosoftDataToolsIntegrationServices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 txBox="1"/>
          <p:nvPr/>
        </p:nvSpPr>
        <p:spPr>
          <a:xfrm>
            <a:off x="4437795" y="3389104"/>
            <a:ext cx="8658900" cy="2928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9"/>
              <a:buFont typeface="Impact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9"/>
              <a:buFont typeface="Corbe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