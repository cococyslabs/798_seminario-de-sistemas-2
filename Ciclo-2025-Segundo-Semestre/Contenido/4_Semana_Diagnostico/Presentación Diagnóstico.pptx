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iAQWqBPxkRtROMduL2aezCvBn1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9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6f3ab3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9f6f3ab37c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f6f3ab37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9f6f3ab37c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6f3ab37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9f6f3ab37c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f6f3ab37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9f6f3ab37c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f6f3ab37c_0_25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f6f3ab37c_0_2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13" name="Google Shape;13;g39f6f3ab37c_0_25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9f6f3ab37c_0_25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9f6f3ab37c_0_25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9f6f3ab37c_0_25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9f6f3ab37c_0_215"/>
          <p:cNvCxnSpPr/>
          <p:nvPr/>
        </p:nvCxnSpPr>
        <p:spPr>
          <a:xfrm>
            <a:off x="8556600" y="5502325"/>
            <a:ext cx="1174800" cy="0"/>
          </a:xfrm>
          <a:prstGeom prst="straightConnector1">
            <a:avLst/>
          </a:prstGeom>
          <a:noFill/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g39f6f3ab37c_0_215"/>
          <p:cNvSpPr txBox="1"/>
          <p:nvPr>
            <p:ph type="ctrTitle"/>
          </p:nvPr>
        </p:nvSpPr>
        <p:spPr>
          <a:xfrm>
            <a:off x="623400" y="1191950"/>
            <a:ext cx="17041200" cy="39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9pPr>
          </a:lstStyle>
          <a:p/>
        </p:txBody>
      </p:sp>
      <p:sp>
        <p:nvSpPr>
          <p:cNvPr id="20" name="Google Shape;20;g39f6f3ab37c_0_215"/>
          <p:cNvSpPr txBox="1"/>
          <p:nvPr>
            <p:ph idx="1" type="subTitle"/>
          </p:nvPr>
        </p:nvSpPr>
        <p:spPr>
          <a:xfrm>
            <a:off x="623400" y="6331646"/>
            <a:ext cx="17041200" cy="1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g39f6f3ab37c_0_2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9f6f3ab37c_0_220"/>
          <p:cNvSpPr txBox="1"/>
          <p:nvPr>
            <p:ph type="title"/>
          </p:nvPr>
        </p:nvSpPr>
        <p:spPr>
          <a:xfrm>
            <a:off x="623400" y="4961100"/>
            <a:ext cx="16228800" cy="48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600"/>
              <a:buNone/>
              <a:defRPr sz="1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9f6f3ab37c_0_2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f6f3ab37c_0_2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27" name="Google Shape;27;g39f6f3ab37c_0_2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8" name="Google Shape;28;g39f6f3ab37c_0_2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9f6f3ab37c_0_22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1" name="Google Shape;31;g39f6f3ab37c_0_227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" name="Google Shape;32;g39f6f3ab37c_0_227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3" name="Google Shape;33;g39f6f3ab37c_0_22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9f6f3ab37c_0_23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6" name="Google Shape;36;g39f6f3ab37c_0_23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9f6f3ab37c_0_235"/>
          <p:cNvSpPr txBox="1"/>
          <p:nvPr>
            <p:ph type="title"/>
          </p:nvPr>
        </p:nvSpPr>
        <p:spPr>
          <a:xfrm>
            <a:off x="623400" y="12636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g39f6f3ab37c_0_235"/>
          <p:cNvSpPr txBox="1"/>
          <p:nvPr>
            <p:ph idx="1" type="body"/>
          </p:nvPr>
        </p:nvSpPr>
        <p:spPr>
          <a:xfrm>
            <a:off x="623400" y="2981750"/>
            <a:ext cx="5616000" cy="6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0" name="Google Shape;40;g39f6f3ab37c_0_23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f6f3ab37c_0_239"/>
          <p:cNvSpPr txBox="1"/>
          <p:nvPr>
            <p:ph type="title"/>
          </p:nvPr>
        </p:nvSpPr>
        <p:spPr>
          <a:xfrm>
            <a:off x="980500" y="1052700"/>
            <a:ext cx="11367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39f6f3ab37c_0_23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f6f3ab37c_0_242"/>
          <p:cNvSpPr/>
          <p:nvPr/>
        </p:nvSpPr>
        <p:spPr>
          <a:xfrm>
            <a:off x="9144000" y="200"/>
            <a:ext cx="91440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g39f6f3ab37c_0_242"/>
          <p:cNvCxnSpPr/>
          <p:nvPr/>
        </p:nvCxnSpPr>
        <p:spPr>
          <a:xfrm>
            <a:off x="10059350" y="8991000"/>
            <a:ext cx="936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g39f6f3ab37c_0_242"/>
          <p:cNvSpPr txBox="1"/>
          <p:nvPr>
            <p:ph type="title"/>
          </p:nvPr>
        </p:nvSpPr>
        <p:spPr>
          <a:xfrm>
            <a:off x="531000" y="2751199"/>
            <a:ext cx="80904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48" name="Google Shape;48;g39f6f3ab37c_0_242"/>
          <p:cNvSpPr txBox="1"/>
          <p:nvPr>
            <p:ph idx="1" type="subTitle"/>
          </p:nvPr>
        </p:nvSpPr>
        <p:spPr>
          <a:xfrm>
            <a:off x="531000" y="5962251"/>
            <a:ext cx="8090400" cy="2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g39f6f3ab37c_0_242"/>
          <p:cNvSpPr txBox="1"/>
          <p:nvPr>
            <p:ph idx="2" type="body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g39f6f3ab37c_0_24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f6f3ab37c_0_249"/>
          <p:cNvSpPr txBox="1"/>
          <p:nvPr>
            <p:ph idx="1" type="body"/>
          </p:nvPr>
        </p:nvSpPr>
        <p:spPr>
          <a:xfrm>
            <a:off x="639000" y="8467450"/>
            <a:ext cx="119976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53" name="Google Shape;53;g39f6f3ab37c_0_24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f6f3ab37c_0_252"/>
          <p:cNvSpPr txBox="1"/>
          <p:nvPr>
            <p:ph hasCustomPrompt="1" type="title"/>
          </p:nvPr>
        </p:nvSpPr>
        <p:spPr>
          <a:xfrm>
            <a:off x="623400" y="2335850"/>
            <a:ext cx="170412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0"/>
              <a:buNone/>
              <a:defRPr sz="2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9f6f3ab37c_0_252"/>
          <p:cNvSpPr txBox="1"/>
          <p:nvPr>
            <p:ph idx="1" type="body"/>
          </p:nvPr>
        </p:nvSpPr>
        <p:spPr>
          <a:xfrm>
            <a:off x="623400" y="6448500"/>
            <a:ext cx="170412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7" name="Google Shape;57;g39f6f3ab37c_0_25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f6f3ab37c_0_2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lfa Slab One"/>
              <a:buNone/>
              <a:defRPr b="0" i="0" sz="6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g39f6f3ab37c_0_2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roxima Nova"/>
              <a:buChar char="●"/>
              <a:defRPr b="0" i="0" sz="36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○"/>
              <a:defRPr b="0" i="0" sz="2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■"/>
              <a:defRPr b="0" i="0" sz="2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●"/>
              <a:defRPr b="0" i="0" sz="2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○"/>
              <a:defRPr b="0" i="0" sz="2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■"/>
              <a:defRPr b="0" i="0" sz="2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●"/>
              <a:defRPr b="0" i="0" sz="2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○"/>
              <a:defRPr b="0" i="0" sz="2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xima Nova"/>
              <a:buChar char="■"/>
              <a:defRPr b="0" i="0" sz="2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g39f6f3ab37c_0_2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1"/>
          <p:cNvSpPr txBox="1"/>
          <p:nvPr/>
        </p:nvSpPr>
        <p:spPr>
          <a:xfrm>
            <a:off x="3701125" y="2623174"/>
            <a:ext cx="103773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Seminario de Sistemas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12979268" y="7426039"/>
            <a:ext cx="328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0" y="8575200"/>
            <a:ext cx="10899900" cy="17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221279" y="401302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1" name="Google Shape;71;p2"/>
          <p:cNvGrpSpPr/>
          <p:nvPr/>
        </p:nvGrpSpPr>
        <p:grpSpPr>
          <a:xfrm>
            <a:off x="651749" y="-320625"/>
            <a:ext cx="7093217" cy="3120475"/>
            <a:chOff x="0" y="-95250"/>
            <a:chExt cx="8187000" cy="4160633"/>
          </a:xfrm>
        </p:grpSpPr>
        <p:sp>
          <p:nvSpPr>
            <p:cNvPr id="72" name="Google Shape;72;p2"/>
            <p:cNvSpPr txBox="1"/>
            <p:nvPr/>
          </p:nvSpPr>
          <p:spPr>
            <a:xfrm>
              <a:off x="0" y="986783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2"/>
          <p:cNvSpPr/>
          <p:nvPr/>
        </p:nvSpPr>
        <p:spPr>
          <a:xfrm>
            <a:off x="1956273" y="6660316"/>
            <a:ext cx="6168280" cy="666409"/>
          </a:xfrm>
          <a:custGeom>
            <a:rect b="b" l="l" r="r" t="t"/>
            <a:pathLst>
              <a:path extrusionOk="0" h="283723" w="2626141">
                <a:moveTo>
                  <a:pt x="2422941" y="0"/>
                </a:moveTo>
                <a:lnTo>
                  <a:pt x="0" y="0"/>
                </a:lnTo>
                <a:lnTo>
                  <a:pt x="0" y="283723"/>
                </a:lnTo>
                <a:lnTo>
                  <a:pt x="2422941" y="283723"/>
                </a:lnTo>
                <a:lnTo>
                  <a:pt x="2626141" y="141862"/>
                </a:lnTo>
                <a:lnTo>
                  <a:pt x="24229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5" name="Google Shape;75;p2"/>
          <p:cNvSpPr/>
          <p:nvPr/>
        </p:nvSpPr>
        <p:spPr>
          <a:xfrm>
            <a:off x="1866989" y="7660660"/>
            <a:ext cx="2514689" cy="666407"/>
          </a:xfrm>
          <a:custGeom>
            <a:rect b="b" l="l" r="r" t="t"/>
            <a:pathLst>
              <a:path extrusionOk="0" h="283723" w="1070630">
                <a:moveTo>
                  <a:pt x="867430" y="0"/>
                </a:moveTo>
                <a:lnTo>
                  <a:pt x="0" y="0"/>
                </a:lnTo>
                <a:lnTo>
                  <a:pt x="0" y="283723"/>
                </a:lnTo>
                <a:lnTo>
                  <a:pt x="867430" y="283723"/>
                </a:lnTo>
                <a:lnTo>
                  <a:pt x="1070630" y="141862"/>
                </a:lnTo>
                <a:lnTo>
                  <a:pt x="8674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6" name="Google Shape;76;p2"/>
          <p:cNvSpPr/>
          <p:nvPr/>
        </p:nvSpPr>
        <p:spPr>
          <a:xfrm>
            <a:off x="1221279" y="46261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" name="Google Shape;77;p2"/>
          <p:cNvSpPr/>
          <p:nvPr/>
        </p:nvSpPr>
        <p:spPr>
          <a:xfrm>
            <a:off x="1221279" y="52391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" name="Google Shape;78;p2"/>
          <p:cNvSpPr/>
          <p:nvPr/>
        </p:nvSpPr>
        <p:spPr>
          <a:xfrm>
            <a:off x="1221279" y="585224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" name="Google Shape;79;p2"/>
          <p:cNvSpPr/>
          <p:nvPr/>
        </p:nvSpPr>
        <p:spPr>
          <a:xfrm>
            <a:off x="1221279" y="646529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" name="Google Shape;80;p2"/>
          <p:cNvSpPr txBox="1"/>
          <p:nvPr/>
        </p:nvSpPr>
        <p:spPr>
          <a:xfrm>
            <a:off x="1674625" y="3911875"/>
            <a:ext cx="10908000" cy="4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del tutor del curso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Censo de horarios de calificación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del programa del laboratorio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 de conocimientos del curso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Despedida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221279" y="707836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2" name="Google Shape;82;p2"/>
          <p:cNvSpPr/>
          <p:nvPr/>
        </p:nvSpPr>
        <p:spPr>
          <a:xfrm>
            <a:off x="1221279" y="769142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/>
          <p:nvPr/>
        </p:nvSpPr>
        <p:spPr>
          <a:xfrm>
            <a:off x="15305988" y="24205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/>
          <p:nvPr>
            <p:ph type="title"/>
          </p:nvPr>
        </p:nvSpPr>
        <p:spPr>
          <a:xfrm>
            <a:off x="457200" y="274650"/>
            <a:ext cx="1744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5000"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 b="1"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>
            <p:ph idx="1" type="body"/>
          </p:nvPr>
        </p:nvSpPr>
        <p:spPr>
          <a:xfrm>
            <a:off x="457200" y="1600200"/>
            <a:ext cx="17283000" cy="8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5000"/>
              <a:buFont typeface="Arial"/>
              <a:buChar char="●"/>
            </a:pPr>
            <a:r>
              <a:rPr lang="en-US" sz="5000">
                <a:latin typeface="Arial"/>
                <a:ea typeface="Arial"/>
                <a:cs typeface="Arial"/>
                <a:sym typeface="Arial"/>
              </a:rPr>
              <a:t>Nombre: nombre del tutor de turno</a:t>
            </a:r>
            <a:endParaRPr sz="5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0"/>
              <a:buFont typeface="Arial"/>
              <a:buChar char="●"/>
            </a:pPr>
            <a:r>
              <a:rPr lang="en-US" sz="5000">
                <a:latin typeface="Arial"/>
                <a:ea typeface="Arial"/>
                <a:cs typeface="Arial"/>
                <a:sym typeface="Arial"/>
              </a:rPr>
              <a:t>Curiosidades: algo para atraer la atención</a:t>
            </a:r>
            <a:endParaRPr sz="5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0"/>
              <a:buFont typeface="Arial"/>
              <a:buChar char="●"/>
            </a:pPr>
            <a:r>
              <a:rPr lang="en-US" sz="5000">
                <a:latin typeface="Arial"/>
                <a:ea typeface="Arial"/>
                <a:cs typeface="Arial"/>
                <a:sym typeface="Arial"/>
              </a:rPr>
              <a:t>Foto:</a:t>
            </a:r>
            <a:endParaRPr sz="5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2400"/>
              </a:spcAft>
              <a:buSzPts val="1800"/>
              <a:buNone/>
            </a:pPr>
            <a:r>
              <a:t/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4050" y="3904150"/>
            <a:ext cx="5829300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5000"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1"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4500">
                <a:latin typeface="Arial"/>
                <a:ea typeface="Arial"/>
                <a:cs typeface="Arial"/>
                <a:sym typeface="Arial"/>
              </a:rPr>
              <a:t>Instrucciones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3100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No utilizar inteligencia artificial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Tomarse el tiempo para responder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El resultado no tiene ponderación en el curso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2400"/>
              </a:spcAft>
              <a:buSzPts val="1800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Recomendación (Realizarlo en UEDI para tener estadísticas)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5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450" y="6963200"/>
            <a:ext cx="5191099" cy="32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6f3ab37c_0_10"/>
          <p:cNvSpPr txBox="1"/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5000"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1"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9f6f3ab37c_0_10"/>
          <p:cNvSpPr txBox="1"/>
          <p:nvPr>
            <p:ph idx="1" type="body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4500">
                <a:latin typeface="Arial"/>
                <a:ea typeface="Arial"/>
                <a:cs typeface="Arial"/>
                <a:sym typeface="Arial"/>
              </a:rPr>
              <a:t>Algunas preguntas…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¿Qué esperas del curso?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¿Qué otros cursos estás llevando?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¿Trabajas?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¿Eres tutor?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g39f6f3ab37c_0_10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1362" y="4405800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6f3ab37c_0_22"/>
          <p:cNvSpPr txBox="1"/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5000">
                <a:latin typeface="Arial"/>
                <a:ea typeface="Arial"/>
                <a:cs typeface="Arial"/>
                <a:sym typeface="Arial"/>
              </a:rPr>
              <a:t>Horarios de calificación</a:t>
            </a:r>
            <a:endParaRPr b="1"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9f6f3ab37c_0_22"/>
          <p:cNvSpPr txBox="1"/>
          <p:nvPr>
            <p:ph idx="1" type="body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4500">
                <a:latin typeface="Arial"/>
                <a:ea typeface="Arial"/>
                <a:cs typeface="Arial"/>
                <a:sym typeface="Arial"/>
              </a:rPr>
              <a:t>Trataremos de resolver y coincidir…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Horarios y traslapes con otros cursos y laboratorios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Horarios laborales tanto del tutor como de los estudiantes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Calificación presencial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9f6f3ab37c_0_22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953" y="6211925"/>
            <a:ext cx="6540549" cy="407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9f6f3ab37c_0_22" title="fram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3625" y="5341650"/>
            <a:ext cx="4628550" cy="46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6f3ab37c_0_29"/>
          <p:cNvSpPr txBox="1"/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5000">
                <a:latin typeface="Arial"/>
                <a:ea typeface="Arial"/>
                <a:cs typeface="Arial"/>
                <a:sym typeface="Arial"/>
              </a:rPr>
              <a:t>Programa del curso</a:t>
            </a:r>
            <a:endParaRPr b="1"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9f6f3ab37c_0_29"/>
          <p:cNvSpPr txBox="1"/>
          <p:nvPr>
            <p:ph idx="1" type="body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4500">
                <a:latin typeface="Arial"/>
                <a:ea typeface="Arial"/>
                <a:cs typeface="Arial"/>
                <a:sym typeface="Arial"/>
              </a:rPr>
              <a:t>Primer semestre 2026 …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Contenido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Puntuaciones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Arial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Fechas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9f6f3ab37c_0_29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8251" y="4581200"/>
            <a:ext cx="8126049" cy="50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6f3ab37c_0_37"/>
          <p:cNvSpPr txBox="1"/>
          <p:nvPr>
            <p:ph type="title"/>
          </p:nvPr>
        </p:nvSpPr>
        <p:spPr>
          <a:xfrm>
            <a:off x="457200" y="274650"/>
            <a:ext cx="17417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5000">
                <a:latin typeface="Arial"/>
                <a:ea typeface="Arial"/>
                <a:cs typeface="Arial"/>
                <a:sym typeface="Arial"/>
              </a:rPr>
              <a:t>Evaluación de conocimientos del curso</a:t>
            </a:r>
            <a:endParaRPr b="1"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f6f3ab37c_0_37"/>
          <p:cNvSpPr txBox="1"/>
          <p:nvPr>
            <p:ph idx="1" type="body"/>
          </p:nvPr>
        </p:nvSpPr>
        <p:spPr>
          <a:xfrm>
            <a:off x="457200" y="1600200"/>
            <a:ext cx="17417100" cy="8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4500">
                <a:latin typeface="Arial"/>
                <a:ea typeface="Arial"/>
                <a:cs typeface="Arial"/>
                <a:sym typeface="Arial"/>
              </a:rPr>
              <a:t>Instrucciones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3100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No utilizar inteligencia artificial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Tomarse el tiempo para responder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El resultado no tiene ponderación en el curso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2400"/>
              </a:spcAft>
              <a:buSzPts val="1800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Recomendación (Realizarlo en UEDI para tener estadísticas)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9f6f3ab37c_0_37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450" y="6963200"/>
            <a:ext cx="5191099" cy="32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757499" y="829250"/>
            <a:ext cx="167730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791489" y="9009078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917552" y="1942889"/>
            <a:ext cx="4659783" cy="6401222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