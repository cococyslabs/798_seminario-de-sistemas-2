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Lobster"/>
      <p:regular r:id="rId29"/>
    </p:embeddedFont>
    <p:embeddedFont>
      <p:font typeface="Corbel"/>
      <p:regular r:id="rId30"/>
      <p:bold r:id="rId31"/>
      <p:italic r:id="rId32"/>
      <p:boldItalic r:id="rId33"/>
    </p:embeddedFont>
    <p:embeddedFont>
      <p:font typeface="Pacifico"/>
      <p:regular r:id="rId34"/>
    </p:embeddedFont>
    <p:embeddedFont>
      <p:font typeface="Open Sans"/>
      <p:regular r:id="rId35"/>
      <p:bold r:id="rId36"/>
      <p:italic r:id="rId37"/>
      <p:boldItalic r:id="rId38"/>
    </p:embeddedFont>
    <p:embeddedFont>
      <p:font typeface="Century Gothic"/>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3" roundtripDataSignature="AMtx7mjOxAD/jxB0GHQoY22UCTrIoqCU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bold.fntdata"/><Relationship Id="rId20" Type="http://schemas.openxmlformats.org/officeDocument/2006/relationships/slide" Target="slides/slide14.xml"/><Relationship Id="rId42" Type="http://schemas.openxmlformats.org/officeDocument/2006/relationships/font" Target="fonts/CenturyGothic-boldItalic.fntdata"/><Relationship Id="rId41" Type="http://schemas.openxmlformats.org/officeDocument/2006/relationships/font" Target="fonts/CenturyGothic-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obster-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orbel-bold.fntdata"/><Relationship Id="rId30" Type="http://schemas.openxmlformats.org/officeDocument/2006/relationships/font" Target="fonts/Corbel-regular.fntdata"/><Relationship Id="rId11" Type="http://schemas.openxmlformats.org/officeDocument/2006/relationships/slide" Target="slides/slide5.xml"/><Relationship Id="rId33" Type="http://schemas.openxmlformats.org/officeDocument/2006/relationships/font" Target="fonts/Corbel-boldItalic.fntdata"/><Relationship Id="rId10" Type="http://schemas.openxmlformats.org/officeDocument/2006/relationships/slide" Target="slides/slide4.xml"/><Relationship Id="rId32" Type="http://schemas.openxmlformats.org/officeDocument/2006/relationships/font" Target="fonts/Corbel-italic.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Pacifico-regular.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39" Type="http://schemas.openxmlformats.org/officeDocument/2006/relationships/font" Target="fonts/CenturyGothic-regular.fnt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2" name="Google Shape;47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4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4"/>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4"/>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25" name="Google Shape;25;p4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4"/>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8" name="Shape 28"/>
        <p:cNvGrpSpPr/>
        <p:nvPr/>
      </p:nvGrpSpPr>
      <p:grpSpPr>
        <a:xfrm>
          <a:off x="0" y="0"/>
          <a:ext cx="0" cy="0"/>
          <a:chOff x="0" y="0"/>
          <a:chExt cx="0" cy="0"/>
        </a:xfrm>
      </p:grpSpPr>
      <p:grpSp>
        <p:nvGrpSpPr>
          <p:cNvPr id="29" name="Google Shape;29;p46"/>
          <p:cNvGrpSpPr/>
          <p:nvPr/>
        </p:nvGrpSpPr>
        <p:grpSpPr>
          <a:xfrm>
            <a:off x="819150" y="-7144"/>
            <a:ext cx="7522368" cy="10294145"/>
            <a:chOff x="2928938" y="-4763"/>
            <a:chExt cx="5014912" cy="6862763"/>
          </a:xfrm>
        </p:grpSpPr>
        <p:sp>
          <p:nvSpPr>
            <p:cNvPr id="30" name="Google Shape;30;p46"/>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31" name="Google Shape;31;p46"/>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32" name="Google Shape;32;p46"/>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33" name="Google Shape;33;p46"/>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34" name="Google Shape;34;p46"/>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35" name="Google Shape;35;p46"/>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6" name="Google Shape;36;p46"/>
          <p:cNvSpPr txBox="1"/>
          <p:nvPr>
            <p:ph type="ctrTitle"/>
          </p:nvPr>
        </p:nvSpPr>
        <p:spPr>
          <a:xfrm>
            <a:off x="4392602" y="2070103"/>
            <a:ext cx="12861933" cy="3924299"/>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9000"/>
              <a:buFont typeface="Corbel"/>
              <a:buNone/>
              <a:defRPr sz="9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6"/>
          <p:cNvSpPr txBox="1"/>
          <p:nvPr>
            <p:ph idx="1" type="subTitle"/>
          </p:nvPr>
        </p:nvSpPr>
        <p:spPr>
          <a:xfrm>
            <a:off x="6773066" y="5994401"/>
            <a:ext cx="10481468" cy="2082801"/>
          </a:xfrm>
          <a:prstGeom prst="rect">
            <a:avLst/>
          </a:prstGeom>
          <a:noFill/>
          <a:ln>
            <a:noFill/>
          </a:ln>
        </p:spPr>
        <p:txBody>
          <a:bodyPr anchorCtr="0" anchor="t" bIns="45700" lIns="91425" spcFirstLastPara="1" rIns="91425" wrap="square" tIns="45700">
            <a:normAutofit/>
          </a:bodyPr>
          <a:lstStyle>
            <a:lvl1pPr lvl="0" algn="r">
              <a:spcBef>
                <a:spcPts val="630"/>
              </a:spcBef>
              <a:spcAft>
                <a:spcPts val="0"/>
              </a:spcAft>
              <a:buSzPts val="4568"/>
              <a:buNone/>
              <a:defRPr sz="3150">
                <a:solidFill>
                  <a:schemeClr val="dk1"/>
                </a:solidFill>
              </a:defRPr>
            </a:lvl1pPr>
            <a:lvl2pPr lvl="1" algn="ctr">
              <a:spcBef>
                <a:spcPts val="900"/>
              </a:spcBef>
              <a:spcAft>
                <a:spcPts val="0"/>
              </a:spcAft>
              <a:buSzPts val="4350"/>
              <a:buNone/>
              <a:defRPr>
                <a:solidFill>
                  <a:srgbClr val="888888"/>
                </a:solidFill>
              </a:defRPr>
            </a:lvl2pPr>
            <a:lvl3pPr lvl="2" algn="ctr">
              <a:spcBef>
                <a:spcPts val="900"/>
              </a:spcBef>
              <a:spcAft>
                <a:spcPts val="0"/>
              </a:spcAft>
              <a:buSzPts val="3915"/>
              <a:buNone/>
              <a:defRPr>
                <a:solidFill>
                  <a:srgbClr val="888888"/>
                </a:solidFill>
              </a:defRPr>
            </a:lvl3pPr>
            <a:lvl4pPr lvl="3" algn="ctr">
              <a:spcBef>
                <a:spcPts val="900"/>
              </a:spcBef>
              <a:spcAft>
                <a:spcPts val="0"/>
              </a:spcAft>
              <a:buSzPts val="3480"/>
              <a:buNone/>
              <a:defRPr>
                <a:solidFill>
                  <a:srgbClr val="888888"/>
                </a:solidFill>
              </a:defRPr>
            </a:lvl4pPr>
            <a:lvl5pPr lvl="4" algn="ctr">
              <a:spcBef>
                <a:spcPts val="900"/>
              </a:spcBef>
              <a:spcAft>
                <a:spcPts val="0"/>
              </a:spcAft>
              <a:buSzPts val="3045"/>
              <a:buNone/>
              <a:defRPr>
                <a:solidFill>
                  <a:srgbClr val="888888"/>
                </a:solidFill>
              </a:defRPr>
            </a:lvl5pPr>
            <a:lvl6pPr lvl="5" algn="ctr">
              <a:spcBef>
                <a:spcPts val="900"/>
              </a:spcBef>
              <a:spcAft>
                <a:spcPts val="0"/>
              </a:spcAft>
              <a:buSzPts val="3045"/>
              <a:buNone/>
              <a:defRPr>
                <a:solidFill>
                  <a:srgbClr val="888888"/>
                </a:solidFill>
              </a:defRPr>
            </a:lvl6pPr>
            <a:lvl7pPr lvl="6" algn="ctr">
              <a:spcBef>
                <a:spcPts val="900"/>
              </a:spcBef>
              <a:spcAft>
                <a:spcPts val="0"/>
              </a:spcAft>
              <a:buSzPts val="3045"/>
              <a:buNone/>
              <a:defRPr>
                <a:solidFill>
                  <a:srgbClr val="888888"/>
                </a:solidFill>
              </a:defRPr>
            </a:lvl7pPr>
            <a:lvl8pPr lvl="7" algn="ctr">
              <a:spcBef>
                <a:spcPts val="900"/>
              </a:spcBef>
              <a:spcAft>
                <a:spcPts val="0"/>
              </a:spcAft>
              <a:buSzPts val="3045"/>
              <a:buNone/>
              <a:defRPr>
                <a:solidFill>
                  <a:srgbClr val="888888"/>
                </a:solidFill>
              </a:defRPr>
            </a:lvl8pPr>
            <a:lvl9pPr lvl="8" algn="ctr">
              <a:spcBef>
                <a:spcPts val="900"/>
              </a:spcBef>
              <a:spcAft>
                <a:spcPts val="900"/>
              </a:spcAft>
              <a:buSzPts val="3045"/>
              <a:buNone/>
              <a:defRPr>
                <a:solidFill>
                  <a:srgbClr val="888888"/>
                </a:solidFill>
              </a:defRPr>
            </a:lvl9pPr>
          </a:lstStyle>
          <a:p/>
        </p:txBody>
      </p:sp>
      <p:sp>
        <p:nvSpPr>
          <p:cNvPr id="38" name="Google Shape;38;p4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6"/>
          <p:cNvSpPr txBox="1"/>
          <p:nvPr>
            <p:ph idx="11" type="ftr"/>
          </p:nvPr>
        </p:nvSpPr>
        <p:spPr>
          <a:xfrm>
            <a:off x="7998618" y="8824913"/>
            <a:ext cx="64860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47"/>
          <p:cNvSpPr txBox="1"/>
          <p:nvPr>
            <p:ph type="title"/>
          </p:nvPr>
        </p:nvSpPr>
        <p:spPr>
          <a:xfrm>
            <a:off x="3858419" y="4000498"/>
            <a:ext cx="13396121" cy="3165573"/>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6000"/>
              <a:buFont typeface="Corbel"/>
              <a:buNone/>
              <a:defRPr b="0" sz="6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7"/>
          <p:cNvSpPr txBox="1"/>
          <p:nvPr>
            <p:ph idx="1" type="body"/>
          </p:nvPr>
        </p:nvSpPr>
        <p:spPr>
          <a:xfrm>
            <a:off x="3858417" y="7166072"/>
            <a:ext cx="13396122"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44" name="Google Shape;44;p4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48"/>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8"/>
          <p:cNvSpPr txBox="1"/>
          <p:nvPr>
            <p:ph idx="1" type="body"/>
          </p:nvPr>
        </p:nvSpPr>
        <p:spPr>
          <a:xfrm>
            <a:off x="2226469" y="4000499"/>
            <a:ext cx="7342583" cy="4686302"/>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0" name="Google Shape;50;p48"/>
          <p:cNvSpPr txBox="1"/>
          <p:nvPr>
            <p:ph idx="2" type="body"/>
          </p:nvPr>
        </p:nvSpPr>
        <p:spPr>
          <a:xfrm>
            <a:off x="9911951" y="4000500"/>
            <a:ext cx="7342584" cy="4686300"/>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1" name="Google Shape;51;p4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4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9"/>
          <p:cNvSpPr txBox="1"/>
          <p:nvPr>
            <p:ph idx="1" type="body"/>
          </p:nvPr>
        </p:nvSpPr>
        <p:spPr>
          <a:xfrm>
            <a:off x="2658269" y="3987800"/>
            <a:ext cx="6910782"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7" name="Google Shape;57;p49"/>
          <p:cNvSpPr txBox="1"/>
          <p:nvPr>
            <p:ph idx="2" type="body"/>
          </p:nvPr>
        </p:nvSpPr>
        <p:spPr>
          <a:xfrm>
            <a:off x="2226467"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8" name="Google Shape;58;p49"/>
          <p:cNvSpPr txBox="1"/>
          <p:nvPr>
            <p:ph idx="3" type="body"/>
          </p:nvPr>
        </p:nvSpPr>
        <p:spPr>
          <a:xfrm>
            <a:off x="10320731" y="4000500"/>
            <a:ext cx="6933806"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9" name="Google Shape;59;p49"/>
          <p:cNvSpPr txBox="1"/>
          <p:nvPr>
            <p:ph idx="4" type="body"/>
          </p:nvPr>
        </p:nvSpPr>
        <p:spPr>
          <a:xfrm>
            <a:off x="9911951"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60" name="Google Shape;60;p4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5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51"/>
          <p:cNvSpPr txBox="1"/>
          <p:nvPr>
            <p:ph type="title"/>
          </p:nvPr>
        </p:nvSpPr>
        <p:spPr>
          <a:xfrm>
            <a:off x="2226469" y="2400300"/>
            <a:ext cx="5323682"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1"/>
          <p:cNvSpPr txBox="1"/>
          <p:nvPr>
            <p:ph idx="1" type="body"/>
          </p:nvPr>
        </p:nvSpPr>
        <p:spPr>
          <a:xfrm>
            <a:off x="7893050" y="1028699"/>
            <a:ext cx="9361485" cy="7658102"/>
          </a:xfrm>
          <a:prstGeom prst="rect">
            <a:avLst/>
          </a:prstGeom>
          <a:noFill/>
          <a:ln>
            <a:noFill/>
          </a:ln>
        </p:spPr>
        <p:txBody>
          <a:bodyPr anchorCtr="0" anchor="ctr" bIns="45700" lIns="91425" spcFirstLastPara="1" rIns="91425" wrap="square" tIns="45700">
            <a:normAutofit/>
          </a:bodyPr>
          <a:lstStyle>
            <a:lvl1pPr indent="-504825" lvl="0" marL="457200" algn="l">
              <a:spcBef>
                <a:spcPts val="600"/>
              </a:spcBef>
              <a:spcAft>
                <a:spcPts val="0"/>
              </a:spcAft>
              <a:buSzPts val="4350"/>
              <a:buChar char="•"/>
              <a:defRPr sz="3000"/>
            </a:lvl1pPr>
            <a:lvl2pPr indent="-477202" lvl="1" marL="914400" algn="l">
              <a:spcBef>
                <a:spcPts val="900"/>
              </a:spcBef>
              <a:spcAft>
                <a:spcPts val="0"/>
              </a:spcAft>
              <a:buSzPts val="3915"/>
              <a:buChar char="•"/>
              <a:defRPr sz="2700"/>
            </a:lvl2pPr>
            <a:lvl3pPr indent="-449580" lvl="2" marL="1371600" algn="l">
              <a:spcBef>
                <a:spcPts val="900"/>
              </a:spcBef>
              <a:spcAft>
                <a:spcPts val="0"/>
              </a:spcAft>
              <a:buSzPts val="3480"/>
              <a:buChar char="•"/>
              <a:defRPr sz="2400"/>
            </a:lvl3pPr>
            <a:lvl4pPr indent="-421957" lvl="3" marL="1828800" algn="l">
              <a:spcBef>
                <a:spcPts val="900"/>
              </a:spcBef>
              <a:spcAft>
                <a:spcPts val="0"/>
              </a:spcAft>
              <a:buSzPts val="3045"/>
              <a:buChar char="•"/>
              <a:defRPr sz="2100"/>
            </a:lvl4pPr>
            <a:lvl5pPr indent="-421957" lvl="4" marL="2286000" algn="l">
              <a:spcBef>
                <a:spcPts val="900"/>
              </a:spcBef>
              <a:spcAft>
                <a:spcPts val="0"/>
              </a:spcAft>
              <a:buSzPts val="3045"/>
              <a:buChar char="•"/>
              <a:defRPr sz="2100"/>
            </a:lvl5pPr>
            <a:lvl6pPr indent="-421957" lvl="5" marL="2743200" algn="l">
              <a:spcBef>
                <a:spcPts val="900"/>
              </a:spcBef>
              <a:spcAft>
                <a:spcPts val="0"/>
              </a:spcAft>
              <a:buSzPts val="3045"/>
              <a:buChar char="•"/>
              <a:defRPr sz="2100"/>
            </a:lvl6pPr>
            <a:lvl7pPr indent="-421957" lvl="6" marL="3200400" algn="l">
              <a:spcBef>
                <a:spcPts val="900"/>
              </a:spcBef>
              <a:spcAft>
                <a:spcPts val="0"/>
              </a:spcAft>
              <a:buSzPts val="3045"/>
              <a:buChar char="•"/>
              <a:defRPr sz="2100"/>
            </a:lvl7pPr>
            <a:lvl8pPr indent="-421957" lvl="7" marL="3657600" algn="l">
              <a:spcBef>
                <a:spcPts val="900"/>
              </a:spcBef>
              <a:spcAft>
                <a:spcPts val="0"/>
              </a:spcAft>
              <a:buSzPts val="3045"/>
              <a:buChar char="•"/>
              <a:defRPr sz="2100"/>
            </a:lvl8pPr>
            <a:lvl9pPr indent="-421957" lvl="8" marL="4114800" algn="l">
              <a:spcBef>
                <a:spcPts val="900"/>
              </a:spcBef>
              <a:spcAft>
                <a:spcPts val="900"/>
              </a:spcAft>
              <a:buSzPts val="3045"/>
              <a:buChar char="•"/>
              <a:defRPr sz="2100"/>
            </a:lvl9pPr>
          </a:lstStyle>
          <a:p/>
        </p:txBody>
      </p:sp>
      <p:sp>
        <p:nvSpPr>
          <p:cNvPr id="71" name="Google Shape;71;p51"/>
          <p:cNvSpPr txBox="1"/>
          <p:nvPr>
            <p:ph idx="2" type="body"/>
          </p:nvPr>
        </p:nvSpPr>
        <p:spPr>
          <a:xfrm>
            <a:off x="2226469" y="4457700"/>
            <a:ext cx="5323682"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3480"/>
              <a:buNone/>
              <a:defRPr sz="24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2" name="Google Shape;72;p5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52"/>
          <p:cNvSpPr txBox="1"/>
          <p:nvPr>
            <p:ph type="title"/>
          </p:nvPr>
        </p:nvSpPr>
        <p:spPr>
          <a:xfrm>
            <a:off x="2224086" y="2628899"/>
            <a:ext cx="8139237"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200"/>
              <a:buFont typeface="Corbel"/>
              <a:buNone/>
              <a:defRPr b="0"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2"/>
          <p:cNvSpPr/>
          <p:nvPr>
            <p:ph idx="2" type="pic"/>
          </p:nvPr>
        </p:nvSpPr>
        <p:spPr>
          <a:xfrm>
            <a:off x="11392023" y="1371600"/>
            <a:ext cx="4921461" cy="6858000"/>
          </a:xfrm>
          <a:prstGeom prst="roundRect">
            <a:avLst>
              <a:gd fmla="val 4280" name="adj"/>
            </a:avLst>
          </a:prstGeom>
          <a:noFill/>
          <a:ln cap="flat" cmpd="sng" w="38100">
            <a:solidFill>
              <a:schemeClr val="lt2"/>
            </a:solidFill>
            <a:prstDash val="solid"/>
            <a:round/>
            <a:headEnd len="sm" w="sm" type="none"/>
            <a:tailEnd len="sm" w="sm" type="none"/>
          </a:ln>
        </p:spPr>
      </p:sp>
      <p:sp>
        <p:nvSpPr>
          <p:cNvPr id="78" name="Google Shape;78;p52"/>
          <p:cNvSpPr txBox="1"/>
          <p:nvPr>
            <p:ph idx="1" type="body"/>
          </p:nvPr>
        </p:nvSpPr>
        <p:spPr>
          <a:xfrm>
            <a:off x="2224086" y="4686299"/>
            <a:ext cx="8139237"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540"/>
              </a:spcBef>
              <a:spcAft>
                <a:spcPts val="0"/>
              </a:spcAft>
              <a:buSzPts val="3915"/>
              <a:buNone/>
              <a:defRPr sz="27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9" name="Google Shape;79;p5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sp>
        <p:nvSpPr>
          <p:cNvPr id="83" name="Google Shape;83;p53"/>
          <p:cNvSpPr txBox="1"/>
          <p:nvPr>
            <p:ph type="title"/>
          </p:nvPr>
        </p:nvSpPr>
        <p:spPr>
          <a:xfrm>
            <a:off x="2226467" y="7099298"/>
            <a:ext cx="15028067" cy="850107"/>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3"/>
          <p:cNvSpPr/>
          <p:nvPr>
            <p:ph idx="2" type="pic"/>
          </p:nvPr>
        </p:nvSpPr>
        <p:spPr>
          <a:xfrm>
            <a:off x="3579018" y="1398168"/>
            <a:ext cx="12338916" cy="4747464"/>
          </a:xfrm>
          <a:prstGeom prst="roundRect">
            <a:avLst>
              <a:gd fmla="val 4380" name="adj"/>
            </a:avLst>
          </a:prstGeom>
          <a:noFill/>
          <a:ln cap="flat" cmpd="sng" w="38100">
            <a:solidFill>
              <a:schemeClr val="lt2"/>
            </a:solidFill>
            <a:prstDash val="solid"/>
            <a:round/>
            <a:headEnd len="sm" w="sm" type="none"/>
            <a:tailEnd len="sm" w="sm" type="none"/>
          </a:ln>
        </p:spPr>
      </p:sp>
      <p:sp>
        <p:nvSpPr>
          <p:cNvPr id="85" name="Google Shape;85;p53"/>
          <p:cNvSpPr txBox="1"/>
          <p:nvPr>
            <p:ph idx="1" type="body"/>
          </p:nvPr>
        </p:nvSpPr>
        <p:spPr>
          <a:xfrm>
            <a:off x="2226467" y="7949405"/>
            <a:ext cx="15028067" cy="740568"/>
          </a:xfrm>
          <a:prstGeom prst="rect">
            <a:avLst/>
          </a:prstGeom>
          <a:noFill/>
          <a:ln>
            <a:noFill/>
          </a:ln>
        </p:spPr>
        <p:txBody>
          <a:bodyPr anchorCtr="0" anchor="ctr" bIns="45700" lIns="91425" spcFirstLastPara="1" rIns="91425" wrap="square" tIns="45700">
            <a:normAutofit/>
          </a:bodyPr>
          <a:lstStyle>
            <a:lvl1pPr indent="-228600" lvl="0" marL="457200" algn="ctr">
              <a:spcBef>
                <a:spcPts val="420"/>
              </a:spcBef>
              <a:spcAft>
                <a:spcPts val="0"/>
              </a:spcAft>
              <a:buSzPts val="3045"/>
              <a:buNone/>
              <a:defRPr sz="21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86" name="Google Shape;86;p5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9" name="Shape 89"/>
        <p:cNvGrpSpPr/>
        <p:nvPr/>
      </p:nvGrpSpPr>
      <p:grpSpPr>
        <a:xfrm>
          <a:off x="0" y="0"/>
          <a:ext cx="0" cy="0"/>
          <a:chOff x="0" y="0"/>
          <a:chExt cx="0" cy="0"/>
        </a:xfrm>
      </p:grpSpPr>
      <p:sp>
        <p:nvSpPr>
          <p:cNvPr id="90" name="Google Shape;90;p54"/>
          <p:cNvSpPr txBox="1"/>
          <p:nvPr>
            <p:ph type="title"/>
          </p:nvPr>
        </p:nvSpPr>
        <p:spPr>
          <a:xfrm>
            <a:off x="2226469" y="1028700"/>
            <a:ext cx="15028067" cy="457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4"/>
          <p:cNvSpPr txBox="1"/>
          <p:nvPr>
            <p:ph idx="1" type="body"/>
          </p:nvPr>
        </p:nvSpPr>
        <p:spPr>
          <a:xfrm>
            <a:off x="2226469" y="6515100"/>
            <a:ext cx="15028070"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92" name="Google Shape;92;p5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sp>
        <p:nvSpPr>
          <p:cNvPr id="96" name="Google Shape;96;p55"/>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7" name="Google Shape;97;p55"/>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8" name="Google Shape;98;p55"/>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5"/>
          <p:cNvSpPr txBox="1"/>
          <p:nvPr>
            <p:ph idx="1" type="body"/>
          </p:nvPr>
        </p:nvSpPr>
        <p:spPr>
          <a:xfrm>
            <a:off x="3655217" y="5143499"/>
            <a:ext cx="12799223" cy="571500"/>
          </a:xfrm>
          <a:prstGeom prst="rect">
            <a:avLst/>
          </a:prstGeom>
          <a:noFill/>
          <a:ln>
            <a:noFill/>
          </a:ln>
        </p:spPr>
        <p:txBody>
          <a:bodyPr anchorCtr="0" anchor="ctr" bIns="45700" lIns="91425" spcFirstLastPara="1" rIns="91425" wrap="square" tIns="45700">
            <a:normAutofit/>
          </a:bodyPr>
          <a:lstStyle>
            <a:lvl1pPr indent="-228600" lvl="0" marL="457200" algn="l">
              <a:spcBef>
                <a:spcPts val="540"/>
              </a:spcBef>
              <a:spcAft>
                <a:spcPts val="0"/>
              </a:spcAft>
              <a:buSzPts val="3915"/>
              <a:buFont typeface="Corbel"/>
              <a:buNone/>
              <a:defRPr sz="2700"/>
            </a:lvl1pPr>
            <a:lvl2pPr indent="-228600" lvl="1" marL="914400" algn="l">
              <a:spcBef>
                <a:spcPts val="900"/>
              </a:spcBef>
              <a:spcAft>
                <a:spcPts val="0"/>
              </a:spcAft>
              <a:buSzPts val="4350"/>
              <a:buFont typeface="Corbel"/>
              <a:buNone/>
              <a:defRPr/>
            </a:lvl2pPr>
            <a:lvl3pPr indent="-228600" lvl="2" marL="1371600" algn="l">
              <a:spcBef>
                <a:spcPts val="900"/>
              </a:spcBef>
              <a:spcAft>
                <a:spcPts val="0"/>
              </a:spcAft>
              <a:buSzPts val="3915"/>
              <a:buFont typeface="Corbel"/>
              <a:buNone/>
              <a:defRPr/>
            </a:lvl3pPr>
            <a:lvl4pPr indent="-228600" lvl="3" marL="1828800" algn="l">
              <a:spcBef>
                <a:spcPts val="900"/>
              </a:spcBef>
              <a:spcAft>
                <a:spcPts val="0"/>
              </a:spcAft>
              <a:buSzPts val="3480"/>
              <a:buFont typeface="Corbel"/>
              <a:buNone/>
              <a:defRPr/>
            </a:lvl4pPr>
            <a:lvl5pPr indent="-228600" lvl="4" marL="2286000" algn="l">
              <a:spcBef>
                <a:spcPts val="900"/>
              </a:spcBef>
              <a:spcAft>
                <a:spcPts val="0"/>
              </a:spcAft>
              <a:buSzPts val="3045"/>
              <a:buFont typeface="Corbel"/>
              <a:buNone/>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00" name="Google Shape;100;p55"/>
          <p:cNvSpPr txBox="1"/>
          <p:nvPr>
            <p:ph idx="2" type="body"/>
          </p:nvPr>
        </p:nvSpPr>
        <p:spPr>
          <a:xfrm>
            <a:off x="2226467" y="6515100"/>
            <a:ext cx="15028067"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1" name="Google Shape;101;p5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5"/>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4" name="Shape 104"/>
        <p:cNvGrpSpPr/>
        <p:nvPr/>
      </p:nvGrpSpPr>
      <p:grpSpPr>
        <a:xfrm>
          <a:off x="0" y="0"/>
          <a:ext cx="0" cy="0"/>
          <a:chOff x="0" y="0"/>
          <a:chExt cx="0" cy="0"/>
        </a:xfrm>
      </p:grpSpPr>
      <p:sp>
        <p:nvSpPr>
          <p:cNvPr id="105" name="Google Shape;105;p56"/>
          <p:cNvSpPr txBox="1"/>
          <p:nvPr>
            <p:ph type="title"/>
          </p:nvPr>
        </p:nvSpPr>
        <p:spPr>
          <a:xfrm>
            <a:off x="2226470" y="4962872"/>
            <a:ext cx="15028064" cy="22032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6"/>
          <p:cNvSpPr txBox="1"/>
          <p:nvPr>
            <p:ph idx="1" type="body"/>
          </p:nvPr>
        </p:nvSpPr>
        <p:spPr>
          <a:xfrm>
            <a:off x="2226468" y="7166072"/>
            <a:ext cx="15028065"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7" name="Google Shape;107;p5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0" name="Shape 110"/>
        <p:cNvGrpSpPr/>
        <p:nvPr/>
      </p:nvGrpSpPr>
      <p:grpSpPr>
        <a:xfrm>
          <a:off x="0" y="0"/>
          <a:ext cx="0" cy="0"/>
          <a:chOff x="0" y="0"/>
          <a:chExt cx="0" cy="0"/>
        </a:xfrm>
      </p:grpSpPr>
      <p:sp>
        <p:nvSpPr>
          <p:cNvPr id="111" name="Google Shape;111;p57"/>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2" name="Google Shape;112;p57"/>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3" name="Google Shape;113;p57"/>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57"/>
          <p:cNvSpPr txBox="1"/>
          <p:nvPr>
            <p:ph idx="1" type="body"/>
          </p:nvPr>
        </p:nvSpPr>
        <p:spPr>
          <a:xfrm>
            <a:off x="2226470" y="5829300"/>
            <a:ext cx="15028065" cy="1333500"/>
          </a:xfrm>
          <a:prstGeom prst="rect">
            <a:avLst/>
          </a:prstGeom>
          <a:noFill/>
          <a:ln>
            <a:noFill/>
          </a:ln>
        </p:spPr>
        <p:txBody>
          <a:bodyPr anchorCtr="0" anchor="b" bIns="45700" lIns="91425" spcFirstLastPara="1" rIns="91425" wrap="square" tIns="45700">
            <a:normAutofit/>
          </a:bodyPr>
          <a:lstStyle>
            <a:lvl1pPr indent="-228600" lvl="0" marL="457200" algn="r">
              <a:spcBef>
                <a:spcPts val="720"/>
              </a:spcBef>
              <a:spcAft>
                <a:spcPts val="0"/>
              </a:spcAft>
              <a:buSzPts val="5220"/>
              <a:buNone/>
              <a:defRPr b="0" sz="36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15" name="Google Shape;115;p57"/>
          <p:cNvSpPr txBox="1"/>
          <p:nvPr>
            <p:ph idx="2" type="body"/>
          </p:nvPr>
        </p:nvSpPr>
        <p:spPr>
          <a:xfrm>
            <a:off x="2226468" y="7162800"/>
            <a:ext cx="15028065" cy="1524000"/>
          </a:xfrm>
          <a:prstGeom prst="rect">
            <a:avLst/>
          </a:prstGeom>
          <a:noFill/>
          <a:ln>
            <a:noFill/>
          </a:ln>
        </p:spPr>
        <p:txBody>
          <a:bodyPr anchorCtr="0" anchor="t" bIns="45700" lIns="91425" spcFirstLastPara="1" rIns="91425" wrap="square" tIns="45700">
            <a:normAutofit/>
          </a:bodyPr>
          <a:lstStyle>
            <a:lvl1pPr indent="-228600" lvl="0" marL="457200" algn="r">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16" name="Google Shape;116;p5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9" name="Shape 119"/>
        <p:cNvGrpSpPr/>
        <p:nvPr/>
      </p:nvGrpSpPr>
      <p:grpSpPr>
        <a:xfrm>
          <a:off x="0" y="0"/>
          <a:ext cx="0" cy="0"/>
          <a:chOff x="0" y="0"/>
          <a:chExt cx="0" cy="0"/>
        </a:xfrm>
      </p:grpSpPr>
      <p:sp>
        <p:nvSpPr>
          <p:cNvPr id="120" name="Google Shape;120;p58"/>
          <p:cNvSpPr txBox="1"/>
          <p:nvPr>
            <p:ph type="title"/>
          </p:nvPr>
        </p:nvSpPr>
        <p:spPr>
          <a:xfrm>
            <a:off x="2226470" y="1028701"/>
            <a:ext cx="15028068" cy="409098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8"/>
          <p:cNvSpPr txBox="1"/>
          <p:nvPr>
            <p:ph idx="1" type="body"/>
          </p:nvPr>
        </p:nvSpPr>
        <p:spPr>
          <a:xfrm>
            <a:off x="2226469" y="5257800"/>
            <a:ext cx="15028070" cy="1257300"/>
          </a:xfrm>
          <a:prstGeom prst="rect">
            <a:avLst/>
          </a:prstGeom>
          <a:noFill/>
          <a:ln>
            <a:noFill/>
          </a:ln>
        </p:spPr>
        <p:txBody>
          <a:bodyPr anchorCtr="0" anchor="b" bIns="45700" lIns="91425" spcFirstLastPara="1" rIns="91425" wrap="square" tIns="45700">
            <a:normAutofit/>
          </a:bodyPr>
          <a:lstStyle>
            <a:lvl1pPr indent="-228600" lvl="0" marL="457200" algn="l">
              <a:spcBef>
                <a:spcPts val="840"/>
              </a:spcBef>
              <a:spcAft>
                <a:spcPts val="0"/>
              </a:spcAft>
              <a:buSzPts val="6090"/>
              <a:buNone/>
              <a:defRPr b="0" sz="42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2" name="Google Shape;122;p58"/>
          <p:cNvSpPr txBox="1"/>
          <p:nvPr>
            <p:ph idx="2" type="body"/>
          </p:nvPr>
        </p:nvSpPr>
        <p:spPr>
          <a:xfrm>
            <a:off x="2226467" y="6515100"/>
            <a:ext cx="15028070" cy="2171700"/>
          </a:xfrm>
          <a:prstGeom prst="rect">
            <a:avLst/>
          </a:prstGeom>
          <a:noFill/>
          <a:ln>
            <a:noFill/>
          </a:ln>
        </p:spPr>
        <p:txBody>
          <a:bodyPr anchorCtr="0" anchor="t" bIns="45700" lIns="91425" spcFirstLastPara="1" rIns="91425" wrap="square" tIns="45700">
            <a:normAutofit/>
          </a:bodyPr>
          <a:lstStyle>
            <a:lvl1pPr indent="-228600" lvl="0" marL="457200" algn="l">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23" name="Google Shape;123;p5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sp>
        <p:nvSpPr>
          <p:cNvPr id="127" name="Google Shape;127;p5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9"/>
          <p:cNvSpPr txBox="1"/>
          <p:nvPr>
            <p:ph idx="1" type="body"/>
          </p:nvPr>
        </p:nvSpPr>
        <p:spPr>
          <a:xfrm rot="5400000">
            <a:off x="7397350" y="-1170385"/>
            <a:ext cx="4686302" cy="1502807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9" name="Google Shape;129;p5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60"/>
          <p:cNvSpPr txBox="1"/>
          <p:nvPr>
            <p:ph type="title"/>
          </p:nvPr>
        </p:nvSpPr>
        <p:spPr>
          <a:xfrm rot="5400000">
            <a:off x="12097710" y="3529973"/>
            <a:ext cx="7658100" cy="2655554"/>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60"/>
          <p:cNvSpPr txBox="1"/>
          <p:nvPr>
            <p:ph idx="1" type="body"/>
          </p:nvPr>
        </p:nvSpPr>
        <p:spPr>
          <a:xfrm rot="5400000">
            <a:off x="4412225" y="-1157057"/>
            <a:ext cx="7658100" cy="1202961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35" name="Google Shape;135;p6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6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6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1" name="Shape 151"/>
        <p:cNvGrpSpPr/>
        <p:nvPr/>
      </p:nvGrpSpPr>
      <p:grpSpPr>
        <a:xfrm>
          <a:off x="0" y="0"/>
          <a:ext cx="0" cy="0"/>
          <a:chOff x="0" y="0"/>
          <a:chExt cx="0" cy="0"/>
        </a:xfrm>
      </p:grpSpPr>
      <p:sp>
        <p:nvSpPr>
          <p:cNvPr id="152" name="Google Shape;152;p45"/>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5"/>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54" name="Google Shape;154;p4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45"/>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lt1"/>
              </a:buClr>
              <a:buSzPts val="1500"/>
              <a:buFont typeface="Corbel"/>
              <a:buNone/>
              <a:defRPr/>
            </a:lvl1pPr>
            <a:lvl2pPr indent="0" lvl="1" marL="0" algn="r">
              <a:spcBef>
                <a:spcPts val="0"/>
              </a:spcBef>
              <a:spcAft>
                <a:spcPts val="0"/>
              </a:spcAft>
              <a:buClr>
                <a:schemeClr val="lt1"/>
              </a:buClr>
              <a:buSzPts val="1500"/>
              <a:buFont typeface="Corbel"/>
              <a:buNone/>
              <a:defRPr/>
            </a:lvl2pPr>
            <a:lvl3pPr indent="0" lvl="2" marL="0" algn="r">
              <a:spcBef>
                <a:spcPts val="0"/>
              </a:spcBef>
              <a:spcAft>
                <a:spcPts val="0"/>
              </a:spcAft>
              <a:buClr>
                <a:schemeClr val="lt1"/>
              </a:buClr>
              <a:buSzPts val="1500"/>
              <a:buFont typeface="Corbel"/>
              <a:buNone/>
              <a:defRPr/>
            </a:lvl3pPr>
            <a:lvl4pPr indent="0" lvl="3" marL="0" algn="r">
              <a:spcBef>
                <a:spcPts val="0"/>
              </a:spcBef>
              <a:spcAft>
                <a:spcPts val="0"/>
              </a:spcAft>
              <a:buClr>
                <a:schemeClr val="lt1"/>
              </a:buClr>
              <a:buSzPts val="1500"/>
              <a:buFont typeface="Corbel"/>
              <a:buNone/>
              <a:defRPr/>
            </a:lvl4pPr>
            <a:lvl5pPr indent="0" lvl="4" marL="0" algn="r">
              <a:spcBef>
                <a:spcPts val="0"/>
              </a:spcBef>
              <a:spcAft>
                <a:spcPts val="0"/>
              </a:spcAft>
              <a:buClr>
                <a:schemeClr val="lt1"/>
              </a:buClr>
              <a:buSzPts val="1500"/>
              <a:buFont typeface="Corbel"/>
              <a:buNone/>
              <a:defRPr/>
            </a:lvl5pPr>
            <a:lvl6pPr indent="0" lvl="5" marL="0" algn="r">
              <a:spcBef>
                <a:spcPts val="0"/>
              </a:spcBef>
              <a:spcAft>
                <a:spcPts val="0"/>
              </a:spcAft>
              <a:buClr>
                <a:schemeClr val="lt1"/>
              </a:buClr>
              <a:buSzPts val="1500"/>
              <a:buFont typeface="Corbel"/>
              <a:buNone/>
              <a:defRPr/>
            </a:lvl6pPr>
            <a:lvl7pPr indent="0" lvl="6" marL="0" algn="r">
              <a:spcBef>
                <a:spcPts val="0"/>
              </a:spcBef>
              <a:spcAft>
                <a:spcPts val="0"/>
              </a:spcAft>
              <a:buClr>
                <a:schemeClr val="lt1"/>
              </a:buClr>
              <a:buSzPts val="1500"/>
              <a:buFont typeface="Corbel"/>
              <a:buNone/>
              <a:defRPr/>
            </a:lvl7pPr>
            <a:lvl8pPr indent="0" lvl="7" marL="0" algn="r">
              <a:spcBef>
                <a:spcPts val="0"/>
              </a:spcBef>
              <a:spcAft>
                <a:spcPts val="0"/>
              </a:spcAft>
              <a:buClr>
                <a:schemeClr val="lt1"/>
              </a:buClr>
              <a:buSzPts val="1500"/>
              <a:buFont typeface="Corbel"/>
              <a:buNone/>
              <a:defRPr/>
            </a:lvl8pPr>
            <a:lvl9pPr indent="0" lvl="8" marL="0" algn="r">
              <a:spcBef>
                <a:spcPts val="0"/>
              </a:spcBef>
              <a:spcAft>
                <a:spcPts val="0"/>
              </a:spcAft>
              <a:buClr>
                <a:schemeClr val="lt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3.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8.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41"/>
          <p:cNvGrpSpPr/>
          <p:nvPr/>
        </p:nvGrpSpPr>
        <p:grpSpPr>
          <a:xfrm>
            <a:off x="226219" y="1"/>
            <a:ext cx="3655220" cy="10287002"/>
            <a:chOff x="1320800" y="0"/>
            <a:chExt cx="2436813" cy="6858001"/>
          </a:xfrm>
        </p:grpSpPr>
        <p:sp>
          <p:nvSpPr>
            <p:cNvPr id="7" name="Google Shape;7;p41"/>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8" name="Google Shape;8;p41"/>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9" name="Google Shape;9;p41"/>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0" name="Google Shape;10;p41"/>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1" name="Google Shape;11;p41"/>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2" name="Google Shape;12;p41"/>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3" name="Google Shape;13;p4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6000"/>
              <a:buFont typeface="Corbel"/>
              <a:buNone/>
              <a:defRPr b="0" i="0" sz="6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 name="Google Shape;14;p41"/>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dk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dk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dk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dk1"/>
                </a:solidFill>
                <a:latin typeface="Corbel"/>
                <a:ea typeface="Corbel"/>
                <a:cs typeface="Corbel"/>
                <a:sym typeface="Corbel"/>
              </a:defRPr>
            </a:lvl9pPr>
          </a:lstStyle>
          <a:p/>
        </p:txBody>
      </p:sp>
      <p:sp>
        <p:nvSpPr>
          <p:cNvPr id="15" name="Google Shape;15;p4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4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7" name="Google Shape;17;p4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1pPr>
            <a:lvl2pPr indent="0" lvl="1"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2pPr>
            <a:lvl3pPr indent="0" lvl="2"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3pPr>
            <a:lvl4pPr indent="0" lvl="3"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4pPr>
            <a:lvl5pPr indent="0" lvl="4"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5pPr>
            <a:lvl6pPr indent="0" lvl="5"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6pPr>
            <a:lvl7pPr indent="0" lvl="6"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7pPr>
            <a:lvl8pPr indent="0" lvl="7"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8pPr>
            <a:lvl9pPr indent="0" lvl="8"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8" name="Shape 138"/>
        <p:cNvGrpSpPr/>
        <p:nvPr/>
      </p:nvGrpSpPr>
      <p:grpSpPr>
        <a:xfrm>
          <a:off x="0" y="0"/>
          <a:ext cx="0" cy="0"/>
          <a:chOff x="0" y="0"/>
          <a:chExt cx="0" cy="0"/>
        </a:xfrm>
      </p:grpSpPr>
      <p:grpSp>
        <p:nvGrpSpPr>
          <p:cNvPr id="139" name="Google Shape;139;p43"/>
          <p:cNvGrpSpPr/>
          <p:nvPr/>
        </p:nvGrpSpPr>
        <p:grpSpPr>
          <a:xfrm>
            <a:off x="226219" y="1"/>
            <a:ext cx="3655220" cy="10287002"/>
            <a:chOff x="1320800" y="0"/>
            <a:chExt cx="2436813" cy="6858001"/>
          </a:xfrm>
        </p:grpSpPr>
        <p:sp>
          <p:nvSpPr>
            <p:cNvPr id="140" name="Google Shape;140;p43"/>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41" name="Google Shape;141;p43"/>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FEFEFE"/>
            </a:solidFill>
            <a:ln>
              <a:noFill/>
            </a:ln>
          </p:spPr>
        </p:sp>
        <p:sp>
          <p:nvSpPr>
            <p:cNvPr id="142" name="Google Shape;142;p43"/>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FEFEFE"/>
            </a:solidFill>
            <a:ln>
              <a:noFill/>
            </a:ln>
          </p:spPr>
        </p:sp>
        <p:sp>
          <p:nvSpPr>
            <p:cNvPr id="143" name="Google Shape;143;p43"/>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44" name="Google Shape;144;p43"/>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45" name="Google Shape;145;p43"/>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FEFEFE"/>
            </a:solidFill>
            <a:ln>
              <a:noFill/>
            </a:ln>
          </p:spPr>
        </p:sp>
      </p:grpSp>
      <p:sp>
        <p:nvSpPr>
          <p:cNvPr id="146" name="Google Shape;146;p43"/>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6000"/>
              <a:buFont typeface="Corbel"/>
              <a:buNone/>
              <a:defRPr b="0" i="0" sz="60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47" name="Google Shape;147;p43"/>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lt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lt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lt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lt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lt1"/>
                </a:solidFill>
                <a:latin typeface="Corbel"/>
                <a:ea typeface="Corbel"/>
                <a:cs typeface="Corbel"/>
                <a:sym typeface="Corbel"/>
              </a:defRPr>
            </a:lvl9pPr>
          </a:lstStyle>
          <a:p/>
        </p:txBody>
      </p:sp>
      <p:sp>
        <p:nvSpPr>
          <p:cNvPr id="148" name="Google Shape;148;p4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9" name="Google Shape;149;p4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50" name="Google Shape;150;p4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1pPr>
            <a:lvl2pPr indent="0" lvl="1"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2pPr>
            <a:lvl3pPr indent="0" lvl="2"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3pPr>
            <a:lvl4pPr indent="0" lvl="3"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4pPr>
            <a:lvl5pPr indent="0" lvl="4"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5pPr>
            <a:lvl6pPr indent="0" lvl="5"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6pPr>
            <a:lvl7pPr indent="0" lvl="6"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7pPr>
            <a:lvl8pPr indent="0" lvl="7"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8pPr>
            <a:lvl9pPr indent="0" lvl="8"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5.png"/><Relationship Id="rId6"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A computer and tablet with graphs and charts&#10;&#10;AI-generated content may be incorrect." id="161" name="Google Shape;161;p1"/>
          <p:cNvPicPr preferRelativeResize="0"/>
          <p:nvPr/>
        </p:nvPicPr>
        <p:blipFill rotWithShape="1">
          <a:blip r:embed="rId3">
            <a:alphaModFix/>
          </a:blip>
          <a:srcRect b="0" l="0" r="0" t="0"/>
          <a:stretch/>
        </p:blipFill>
        <p:spPr>
          <a:xfrm>
            <a:off x="10127482" y="5715865"/>
            <a:ext cx="8160517" cy="4571135"/>
          </a:xfrm>
          <a:prstGeom prst="rect">
            <a:avLst/>
          </a:prstGeom>
          <a:noFill/>
          <a:ln>
            <a:noFill/>
          </a:ln>
        </p:spPr>
      </p:pic>
      <p:sp>
        <p:nvSpPr>
          <p:cNvPr id="162" name="Google Shape;162;p1"/>
          <p:cNvSpPr txBox="1"/>
          <p:nvPr/>
        </p:nvSpPr>
        <p:spPr>
          <a:xfrm>
            <a:off x="809303" y="7107850"/>
            <a:ext cx="8588697"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Seminario de Sistemas 2</a:t>
            </a:r>
            <a:endParaRPr b="1" i="0" sz="5000" u="none" cap="none" strike="noStrike">
              <a:solidFill>
                <a:srgbClr val="131416"/>
              </a:solidFill>
              <a:latin typeface="Open Sans"/>
              <a:ea typeface="Open Sans"/>
              <a:cs typeface="Open Sans"/>
              <a:sym typeface="Open Sans"/>
            </a:endParaRPr>
          </a:p>
        </p:txBody>
      </p:sp>
      <p:sp>
        <p:nvSpPr>
          <p:cNvPr id="163" name="Google Shape;163;p1"/>
          <p:cNvSpPr txBox="1"/>
          <p:nvPr/>
        </p:nvSpPr>
        <p:spPr>
          <a:xfrm>
            <a:off x="2155441" y="1512847"/>
            <a:ext cx="15214600" cy="594624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Modelado multidimensional y KPIs con SSAS</a:t>
            </a:r>
            <a:endParaRPr b="0" i="0" sz="1800" u="none" cap="none" strike="noStrike">
              <a:solidFill>
                <a:schemeClr val="dk1"/>
              </a:solidFill>
              <a:latin typeface="Corbel"/>
              <a:ea typeface="Corbel"/>
              <a:cs typeface="Corbel"/>
              <a:sym typeface="Corbel"/>
            </a:endParaRPr>
          </a:p>
        </p:txBody>
      </p:sp>
      <p:sp>
        <p:nvSpPr>
          <p:cNvPr id="164" name="Google Shape;164;p1"/>
          <p:cNvSpPr txBox="1"/>
          <p:nvPr/>
        </p:nvSpPr>
        <p:spPr>
          <a:xfrm>
            <a:off x="3146103" y="8185068"/>
            <a:ext cx="6981379" cy="16152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Ingenieria de Ciencias Y Sistemas</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b="1" i="0" sz="2499" u="none" cap="none" strike="noStrike">
              <a:solidFill>
                <a:srgbClr val="131416"/>
              </a:solidFill>
              <a:latin typeface="Open Sans"/>
              <a:ea typeface="Open Sans"/>
              <a:cs typeface="Open Sans"/>
              <a:sym typeface="Open Sans"/>
            </a:endParaRPr>
          </a:p>
        </p:txBody>
      </p:sp>
      <p:pic>
        <p:nvPicPr>
          <p:cNvPr descr="A two logos with text&#10;&#10;AI-generated content may be incorrect." id="165" name="Google Shape;165;p1"/>
          <p:cNvPicPr preferRelativeResize="0"/>
          <p:nvPr/>
        </p:nvPicPr>
        <p:blipFill rotWithShape="1">
          <a:blip r:embed="rId4">
            <a:alphaModFix/>
          </a:blip>
          <a:srcRect b="0" l="0" r="0" t="0"/>
          <a:stretch/>
        </p:blipFill>
        <p:spPr>
          <a:xfrm>
            <a:off x="11315699" y="0"/>
            <a:ext cx="6972300" cy="1847850"/>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
          <p:cNvGrpSpPr/>
          <p:nvPr/>
        </p:nvGrpSpPr>
        <p:grpSpPr>
          <a:xfrm>
            <a:off x="1568376" y="5074884"/>
            <a:ext cx="6602230" cy="845385"/>
            <a:chOff x="0" y="-38655"/>
            <a:chExt cx="1964221" cy="359923"/>
          </a:xfrm>
        </p:grpSpPr>
        <p:sp>
          <p:nvSpPr>
            <p:cNvPr id="171" name="Google Shape;17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2" name="Google Shape;17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Diseño de cubos OLAP con KPI’s</a:t>
              </a:r>
              <a:endParaRPr sz="1800">
                <a:solidFill>
                  <a:schemeClr val="dk1"/>
                </a:solidFill>
                <a:latin typeface="Corbel"/>
                <a:ea typeface="Corbel"/>
                <a:cs typeface="Corbel"/>
                <a:sym typeface="Corbel"/>
              </a:endParaRPr>
            </a:p>
          </p:txBody>
        </p:sp>
      </p:grpSp>
      <p:sp>
        <p:nvSpPr>
          <p:cNvPr id="173" name="Google Shape;173;p2"/>
          <p:cNvSpPr/>
          <p:nvPr/>
        </p:nvSpPr>
        <p:spPr>
          <a:xfrm>
            <a:off x="1684278" y="523382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74" name="Google Shape;174;p2"/>
          <p:cNvGrpSpPr/>
          <p:nvPr/>
        </p:nvGrpSpPr>
        <p:grpSpPr>
          <a:xfrm>
            <a:off x="2713402" y="3863800"/>
            <a:ext cx="4115190" cy="1267162"/>
            <a:chOff x="0" y="-36600"/>
            <a:chExt cx="1083836" cy="409938"/>
          </a:xfrm>
        </p:grpSpPr>
        <p:sp>
          <p:nvSpPr>
            <p:cNvPr id="175" name="Google Shape;17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6" name="Google Shape;176;p2"/>
            <p:cNvSpPr txBox="1"/>
            <p:nvPr/>
          </p:nvSpPr>
          <p:spPr>
            <a:xfrm>
              <a:off x="0" y="-366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Corbel"/>
                <a:ea typeface="Corbel"/>
                <a:cs typeface="Corbel"/>
                <a:sym typeface="Corbel"/>
              </a:endParaRPr>
            </a:p>
          </p:txBody>
        </p:sp>
      </p:grpSp>
      <p:sp>
        <p:nvSpPr>
          <p:cNvPr id="177" name="Google Shape;177;p2"/>
          <p:cNvSpPr/>
          <p:nvPr/>
        </p:nvSpPr>
        <p:spPr>
          <a:xfrm>
            <a:off x="1760876" y="4052276"/>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8" name="Google Shape;178;p2"/>
          <p:cNvSpPr txBox="1"/>
          <p:nvPr/>
        </p:nvSpPr>
        <p:spPr>
          <a:xfrm>
            <a:off x="2216562" y="442037"/>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Pacifico"/>
              <a:buNone/>
            </a:pPr>
            <a:r>
              <a:rPr i="0" lang="en-US" sz="15000" u="none" cap="none" strike="noStrike">
                <a:solidFill>
                  <a:srgbClr val="131416"/>
                </a:solidFill>
                <a:latin typeface="Pacifico"/>
                <a:ea typeface="Pacifico"/>
                <a:cs typeface="Pacifico"/>
                <a:sym typeface="Pacifico"/>
              </a:rPr>
              <a:t>Agenda</a:t>
            </a:r>
            <a:endParaRPr sz="1800">
              <a:solidFill>
                <a:schemeClr val="dk1"/>
              </a:solidFill>
              <a:latin typeface="Pacifico"/>
              <a:ea typeface="Pacifico"/>
              <a:cs typeface="Pacifico"/>
              <a:sym typeface="Pacifico"/>
            </a:endParaRPr>
          </a:p>
        </p:txBody>
      </p:sp>
      <p:sp>
        <p:nvSpPr>
          <p:cNvPr id="179" name="Google Shape;179;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Lobster"/>
              <a:buNone/>
            </a:pPr>
            <a:r>
              <a:rPr i="0" lang="en-US" sz="15000" u="none" cap="none" strike="noStrike">
                <a:solidFill>
                  <a:srgbClr val="131416"/>
                </a:solidFill>
                <a:latin typeface="Lobster"/>
                <a:ea typeface="Lobster"/>
                <a:cs typeface="Lobster"/>
                <a:sym typeface="Lobster"/>
              </a:rPr>
              <a:t>Recursos</a:t>
            </a:r>
            <a:endParaRPr sz="1800">
              <a:solidFill>
                <a:schemeClr val="dk1"/>
              </a:solidFill>
              <a:latin typeface="Lobster"/>
              <a:ea typeface="Lobster"/>
              <a:cs typeface="Lobster"/>
              <a:sym typeface="Lobster"/>
            </a:endParaRPr>
          </a:p>
        </p:txBody>
      </p:sp>
      <p:grpSp>
        <p:nvGrpSpPr>
          <p:cNvPr id="180" name="Google Shape;180;p2"/>
          <p:cNvGrpSpPr/>
          <p:nvPr/>
        </p:nvGrpSpPr>
        <p:grpSpPr>
          <a:xfrm>
            <a:off x="11739805" y="2798634"/>
            <a:ext cx="5353646" cy="1701145"/>
            <a:chOff x="0" y="-114300"/>
            <a:chExt cx="1410014" cy="448038"/>
          </a:xfrm>
        </p:grpSpPr>
        <p:sp>
          <p:nvSpPr>
            <p:cNvPr id="181" name="Google Shape;181;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2" name="Google Shape;182;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sz="1800">
                <a:solidFill>
                  <a:schemeClr val="dk1"/>
                </a:solidFill>
                <a:latin typeface="Corbel"/>
                <a:ea typeface="Corbel"/>
                <a:cs typeface="Corbel"/>
                <a:sym typeface="Corbel"/>
              </a:endParaRPr>
            </a:p>
          </p:txBody>
        </p:sp>
      </p:grpSp>
      <p:grpSp>
        <p:nvGrpSpPr>
          <p:cNvPr id="183" name="Google Shape;183;p2"/>
          <p:cNvGrpSpPr/>
          <p:nvPr/>
        </p:nvGrpSpPr>
        <p:grpSpPr>
          <a:xfrm>
            <a:off x="11739805" y="4598683"/>
            <a:ext cx="5353646" cy="1701145"/>
            <a:chOff x="0" y="-114300"/>
            <a:chExt cx="1410014" cy="448038"/>
          </a:xfrm>
        </p:grpSpPr>
        <p:sp>
          <p:nvSpPr>
            <p:cNvPr id="184" name="Google Shape;184;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5" name="Google Shape;185;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a:t>
              </a:r>
              <a:r>
                <a:rPr lang="en-US" sz="4499">
                  <a:solidFill>
                    <a:srgbClr val="000000"/>
                  </a:solidFill>
                  <a:latin typeface="Arial"/>
                  <a:ea typeface="Arial"/>
                  <a:cs typeface="Arial"/>
                  <a:sym typeface="Arial"/>
                </a:rPr>
                <a:t>Quiz</a:t>
              </a:r>
              <a:endParaRPr sz="1800">
                <a:solidFill>
                  <a:schemeClr val="dk1"/>
                </a:solidFill>
                <a:latin typeface="Corbel"/>
                <a:ea typeface="Corbel"/>
                <a:cs typeface="Corbel"/>
                <a:sym typeface="Corbel"/>
              </a:endParaRPr>
            </a:p>
          </p:txBody>
        </p:sp>
      </p:grpSp>
      <p:grpSp>
        <p:nvGrpSpPr>
          <p:cNvPr id="186" name="Google Shape;186;p2"/>
          <p:cNvGrpSpPr/>
          <p:nvPr/>
        </p:nvGrpSpPr>
        <p:grpSpPr>
          <a:xfrm>
            <a:off x="1452477" y="5810834"/>
            <a:ext cx="3889563" cy="845385"/>
            <a:chOff x="0" y="-38655"/>
            <a:chExt cx="1964221" cy="359923"/>
          </a:xfrm>
        </p:grpSpPr>
        <p:sp>
          <p:nvSpPr>
            <p:cNvPr id="187" name="Google Shape;18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8" name="Google Shape;188;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Modelos tabulares</a:t>
              </a:r>
              <a:endParaRPr sz="1800">
                <a:solidFill>
                  <a:schemeClr val="dk1"/>
                </a:solidFill>
                <a:latin typeface="Corbel"/>
                <a:ea typeface="Corbel"/>
                <a:cs typeface="Corbel"/>
                <a:sym typeface="Corbel"/>
              </a:endParaRPr>
            </a:p>
          </p:txBody>
        </p:sp>
      </p:grpSp>
      <p:sp>
        <p:nvSpPr>
          <p:cNvPr id="189" name="Google Shape;189;p2"/>
          <p:cNvSpPr/>
          <p:nvPr/>
        </p:nvSpPr>
        <p:spPr>
          <a:xfrm>
            <a:off x="1568377" y="596977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0" name="Google Shape;190;p2"/>
          <p:cNvGrpSpPr/>
          <p:nvPr/>
        </p:nvGrpSpPr>
        <p:grpSpPr>
          <a:xfrm>
            <a:off x="1307519" y="6520243"/>
            <a:ext cx="5285010" cy="845385"/>
            <a:chOff x="0" y="-38655"/>
            <a:chExt cx="1964221" cy="359923"/>
          </a:xfrm>
        </p:grpSpPr>
        <p:sp>
          <p:nvSpPr>
            <p:cNvPr id="191" name="Google Shape;19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2" name="Google Shape;19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Consultas con MDX y DAX</a:t>
              </a:r>
              <a:endParaRPr sz="1800">
                <a:solidFill>
                  <a:schemeClr val="dk1"/>
                </a:solidFill>
                <a:latin typeface="Corbel"/>
                <a:ea typeface="Corbel"/>
                <a:cs typeface="Corbel"/>
                <a:sym typeface="Corbel"/>
              </a:endParaRPr>
            </a:p>
          </p:txBody>
        </p:sp>
      </p:grpSp>
      <p:sp>
        <p:nvSpPr>
          <p:cNvPr id="193" name="Google Shape;193;p2"/>
          <p:cNvSpPr/>
          <p:nvPr/>
        </p:nvSpPr>
        <p:spPr>
          <a:xfrm>
            <a:off x="1423418" y="66791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4" name="Google Shape;194;p2"/>
          <p:cNvGrpSpPr/>
          <p:nvPr/>
        </p:nvGrpSpPr>
        <p:grpSpPr>
          <a:xfrm>
            <a:off x="1191617" y="7247487"/>
            <a:ext cx="7710301" cy="845385"/>
            <a:chOff x="0" y="-38655"/>
            <a:chExt cx="1964221" cy="359923"/>
          </a:xfrm>
        </p:grpSpPr>
        <p:sp>
          <p:nvSpPr>
            <p:cNvPr id="195" name="Google Shape;1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6" name="Google Shape;196;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Rolling Forecast y análisis presupuestario</a:t>
              </a:r>
              <a:endParaRPr sz="1800">
                <a:solidFill>
                  <a:schemeClr val="dk1"/>
                </a:solidFill>
                <a:latin typeface="Corbel"/>
                <a:ea typeface="Corbel"/>
                <a:cs typeface="Corbel"/>
                <a:sym typeface="Corbel"/>
              </a:endParaRPr>
            </a:p>
          </p:txBody>
        </p:sp>
      </p:grpSp>
      <p:sp>
        <p:nvSpPr>
          <p:cNvPr id="197" name="Google Shape;197;p2"/>
          <p:cNvSpPr/>
          <p:nvPr/>
        </p:nvSpPr>
        <p:spPr>
          <a:xfrm>
            <a:off x="1307518" y="740642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8" name="Google Shape;198;p2"/>
          <p:cNvGrpSpPr/>
          <p:nvPr/>
        </p:nvGrpSpPr>
        <p:grpSpPr>
          <a:xfrm>
            <a:off x="1929162" y="7962643"/>
            <a:ext cx="6524086" cy="845385"/>
            <a:chOff x="0" y="-38655"/>
            <a:chExt cx="1964221" cy="359923"/>
          </a:xfrm>
        </p:grpSpPr>
        <p:sp>
          <p:nvSpPr>
            <p:cNvPr id="199" name="Google Shape;19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0" name="Google Shape;200;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Reportes con parámetros y filtros</a:t>
              </a:r>
              <a:endParaRPr sz="1800">
                <a:solidFill>
                  <a:schemeClr val="dk1"/>
                </a:solidFill>
                <a:latin typeface="Corbel"/>
                <a:ea typeface="Corbel"/>
                <a:cs typeface="Corbel"/>
                <a:sym typeface="Corbel"/>
              </a:endParaRPr>
            </a:p>
          </p:txBody>
        </p:sp>
      </p:grpSp>
      <p:sp>
        <p:nvSpPr>
          <p:cNvPr id="201" name="Google Shape;201;p2"/>
          <p:cNvSpPr/>
          <p:nvPr/>
        </p:nvSpPr>
        <p:spPr>
          <a:xfrm>
            <a:off x="2045061" y="81215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202" name="Google Shape;202;p2"/>
          <p:cNvGrpSpPr/>
          <p:nvPr/>
        </p:nvGrpSpPr>
        <p:grpSpPr>
          <a:xfrm>
            <a:off x="3022946" y="8671673"/>
            <a:ext cx="7935106" cy="845385"/>
            <a:chOff x="0" y="-38655"/>
            <a:chExt cx="1964221" cy="359923"/>
          </a:xfrm>
        </p:grpSpPr>
        <p:sp>
          <p:nvSpPr>
            <p:cNvPr id="203" name="Google Shape;20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4" name="Google Shape;204;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Semáforos y visualizaciones condicionales</a:t>
              </a:r>
              <a:endParaRPr sz="1800">
                <a:solidFill>
                  <a:schemeClr val="dk1"/>
                </a:solidFill>
                <a:latin typeface="Corbel"/>
                <a:ea typeface="Corbel"/>
                <a:cs typeface="Corbel"/>
                <a:sym typeface="Corbel"/>
              </a:endParaRPr>
            </a:p>
          </p:txBody>
        </p:sp>
      </p:grpSp>
      <p:sp>
        <p:nvSpPr>
          <p:cNvPr id="205" name="Google Shape;205;p2"/>
          <p:cNvSpPr/>
          <p:nvPr/>
        </p:nvSpPr>
        <p:spPr>
          <a:xfrm>
            <a:off x="3138845" y="883060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206" name="Google Shape;206;p2"/>
          <p:cNvGrpSpPr/>
          <p:nvPr/>
        </p:nvGrpSpPr>
        <p:grpSpPr>
          <a:xfrm>
            <a:off x="3737087" y="9388077"/>
            <a:ext cx="7745492" cy="845385"/>
            <a:chOff x="0" y="-38655"/>
            <a:chExt cx="1964221" cy="359923"/>
          </a:xfrm>
        </p:grpSpPr>
        <p:sp>
          <p:nvSpPr>
            <p:cNvPr id="207" name="Google Shape;20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8" name="Google Shape;208;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Balance Scorecard con SSRS o Power BI</a:t>
              </a:r>
              <a:endParaRPr sz="1800">
                <a:solidFill>
                  <a:schemeClr val="dk1"/>
                </a:solidFill>
                <a:latin typeface="Corbel"/>
                <a:ea typeface="Corbel"/>
                <a:cs typeface="Corbel"/>
                <a:sym typeface="Corbel"/>
              </a:endParaRPr>
            </a:p>
          </p:txBody>
        </p:sp>
      </p:grpSp>
      <p:sp>
        <p:nvSpPr>
          <p:cNvPr id="209" name="Google Shape;209;p2"/>
          <p:cNvSpPr/>
          <p:nvPr/>
        </p:nvSpPr>
        <p:spPr>
          <a:xfrm>
            <a:off x="3852986" y="954701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3" name="Shape 213"/>
        <p:cNvGrpSpPr/>
        <p:nvPr/>
      </p:nvGrpSpPr>
      <p:grpSpPr>
        <a:xfrm>
          <a:off x="0" y="0"/>
          <a:ext cx="0" cy="0"/>
          <a:chOff x="0" y="0"/>
          <a:chExt cx="0" cy="0"/>
        </a:xfrm>
      </p:grpSpPr>
      <p:sp>
        <p:nvSpPr>
          <p:cNvPr id="214" name="Google Shape;214;p22"/>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215" name="Google Shape;215;p22"/>
          <p:cNvGrpSpPr/>
          <p:nvPr/>
        </p:nvGrpSpPr>
        <p:grpSpPr>
          <a:xfrm flipH="1">
            <a:off x="9789314" y="0"/>
            <a:ext cx="7522369" cy="10294145"/>
            <a:chOff x="2928938" y="-4763"/>
            <a:chExt cx="5014912" cy="6862763"/>
          </a:xfrm>
        </p:grpSpPr>
        <p:sp>
          <p:nvSpPr>
            <p:cNvPr id="216" name="Google Shape;216;p2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7" name="Google Shape;217;p2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8" name="Google Shape;218;p2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9" name="Google Shape;219;p2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20" name="Google Shape;220;p2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21" name="Google Shape;221;p2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222" name="Google Shape;222;p22"/>
          <p:cNvSpPr txBox="1"/>
          <p:nvPr>
            <p:ph type="title"/>
          </p:nvPr>
        </p:nvSpPr>
        <p:spPr>
          <a:xfrm>
            <a:off x="1527286" y="1028700"/>
            <a:ext cx="11117738" cy="262889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6000"/>
              <a:buFont typeface="Impact"/>
              <a:buNone/>
            </a:pPr>
            <a:r>
              <a:rPr i="0" lang="en-US" u="none" cap="none" strike="noStrike">
                <a:latin typeface="Impact"/>
                <a:ea typeface="Impact"/>
                <a:cs typeface="Impact"/>
                <a:sym typeface="Impact"/>
              </a:rPr>
              <a:t>COMPETENCIA(S) QUE DESARROLLAREMOS</a:t>
            </a:r>
            <a:endParaRPr/>
          </a:p>
        </p:txBody>
      </p:sp>
      <p:sp>
        <p:nvSpPr>
          <p:cNvPr id="223" name="Google Shape;223;p22"/>
          <p:cNvSpPr txBox="1"/>
          <p:nvPr>
            <p:ph idx="1" type="body"/>
          </p:nvPr>
        </p:nvSpPr>
        <p:spPr>
          <a:xfrm>
            <a:off x="1527285" y="4000497"/>
            <a:ext cx="10865404" cy="5792431"/>
          </a:xfrm>
          <a:prstGeom prst="rect">
            <a:avLst/>
          </a:prstGeom>
          <a:noFill/>
          <a:ln>
            <a:noFill/>
          </a:ln>
        </p:spPr>
        <p:txBody>
          <a:bodyPr anchorCtr="0" anchor="t" bIns="45700" lIns="91425" spcFirstLastPara="1" rIns="91425" wrap="square" tIns="45700">
            <a:noAutofit/>
          </a:bodyPr>
          <a:lstStyle/>
          <a:p>
            <a:pPr indent="-441960" lvl="0" marL="428625" rtl="0" algn="l">
              <a:spcBef>
                <a:spcPts val="0"/>
              </a:spcBef>
              <a:spcAft>
                <a:spcPts val="0"/>
              </a:spcAft>
              <a:buSzPts val="6960"/>
              <a:buChar char="•"/>
            </a:pPr>
            <a:r>
              <a:rPr lang="en-US" sz="4800">
                <a:latin typeface="Open Sans"/>
                <a:ea typeface="Open Sans"/>
                <a:cs typeface="Open Sans"/>
                <a:sym typeface="Open Sans"/>
              </a:rPr>
              <a:t>Desarrolla tableros e indicadores estratégicos mediante SSAS, SSRS y Power BI para reflejar proyecciones, KPI’s y análisis presupuestario conforme a un modelo de Balanced Scorecard </a:t>
            </a:r>
            <a:endParaRPr sz="48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23"/>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29" name="Google Shape;229;p23"/>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¿Qué es </a:t>
            </a:r>
            <a:r>
              <a:rPr lang="en-US">
                <a:latin typeface="Impact"/>
                <a:ea typeface="Impact"/>
                <a:cs typeface="Impact"/>
                <a:sym typeface="Impact"/>
              </a:rPr>
              <a:t>KPI</a:t>
            </a:r>
            <a:r>
              <a:rPr i="0" lang="en-US" u="none" cap="none" strike="noStrike">
                <a:latin typeface="Impact"/>
                <a:ea typeface="Impact"/>
                <a:cs typeface="Impact"/>
                <a:sym typeface="Impact"/>
              </a:rPr>
              <a:t>?</a:t>
            </a:r>
            <a:endParaRPr/>
          </a:p>
        </p:txBody>
      </p:sp>
      <p:sp>
        <p:nvSpPr>
          <p:cNvPr id="230" name="Google Shape;230;p23"/>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1" name="Google Shape;231;p23"/>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2" name="Google Shape;232;p23"/>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3" name="Google Shape;233;p23"/>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4" name="Google Shape;234;p23"/>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5" name="Google Shape;235;p23"/>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6" name="Google Shape;236;p23"/>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7" name="Google Shape;237;p23"/>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lnSpcReduction="10000"/>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Un KPI, sigla que proviene de la frase en inglés </a:t>
            </a:r>
            <a:r>
              <a:rPr b="1" lang="en-US" sz="4400">
                <a:latin typeface="Open Sans"/>
                <a:ea typeface="Open Sans"/>
                <a:cs typeface="Open Sans"/>
                <a:sym typeface="Open Sans"/>
              </a:rPr>
              <a:t>key performance indicator </a:t>
            </a:r>
            <a:r>
              <a:rPr lang="en-US" sz="4400">
                <a:latin typeface="Open Sans"/>
                <a:ea typeface="Open Sans"/>
                <a:cs typeface="Open Sans"/>
                <a:sym typeface="Open Sans"/>
              </a:rPr>
              <a:t>(indicador clave de rendimiento), es una métrica cuantitativa que muestra cómo tu equipo o empresa progresa hacia tus objetivos empresariales más importantes.</a:t>
            </a:r>
            <a:endParaRPr/>
          </a:p>
          <a:p>
            <a:pPr indent="-23495" lvl="0" marL="428625" rtl="0" algn="l">
              <a:spcBef>
                <a:spcPts val="1780"/>
              </a:spcBef>
              <a:spcAft>
                <a:spcPts val="0"/>
              </a:spcAft>
              <a:buSzPts val="6380"/>
              <a:buNone/>
            </a:pPr>
            <a:r>
              <a:t/>
            </a:r>
            <a:endParaRPr sz="4400">
              <a:latin typeface="Open Sans"/>
              <a:ea typeface="Open Sans"/>
              <a:cs typeface="Open Sans"/>
              <a:sym typeface="Open Sans"/>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1" name="Shape 241"/>
        <p:cNvGrpSpPr/>
        <p:nvPr/>
      </p:nvGrpSpPr>
      <p:grpSpPr>
        <a:xfrm>
          <a:off x="0" y="0"/>
          <a:ext cx="0" cy="0"/>
          <a:chOff x="0" y="0"/>
          <a:chExt cx="0" cy="0"/>
        </a:xfrm>
      </p:grpSpPr>
      <p:sp>
        <p:nvSpPr>
          <p:cNvPr id="242" name="Google Shape;242;p24"/>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43" name="Google Shape;243;p24"/>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¿Qué es </a:t>
            </a:r>
            <a:r>
              <a:rPr lang="en-US">
                <a:latin typeface="Impact"/>
                <a:ea typeface="Impact"/>
                <a:cs typeface="Impact"/>
                <a:sym typeface="Impact"/>
              </a:rPr>
              <a:t>KPI</a:t>
            </a:r>
            <a:r>
              <a:rPr i="0" lang="en-US" u="none" cap="none" strike="noStrike">
                <a:latin typeface="Impact"/>
                <a:ea typeface="Impact"/>
                <a:cs typeface="Impact"/>
                <a:sym typeface="Impact"/>
              </a:rPr>
              <a:t>?</a:t>
            </a:r>
            <a:endParaRPr/>
          </a:p>
        </p:txBody>
      </p:sp>
      <p:sp>
        <p:nvSpPr>
          <p:cNvPr id="244" name="Google Shape;244;p24"/>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45" name="Google Shape;245;p24"/>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6" name="Google Shape;246;p24"/>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7" name="Google Shape;247;p24"/>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8" name="Google Shape;248;p24"/>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9" name="Google Shape;249;p24"/>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0" name="Google Shape;250;p24"/>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1" name="Google Shape;251;p24"/>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lnSpcReduction="2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Las empresas usan KPI en varios niveles. Se puede establecer KPI para toda la empresa, específicos del equipo o individuales, dependiendo de las métricas a las que se quiere dar seguimiento. Un buen KPI puede dar una idea de si se va por el camino correcto para alcanzar los objetivos estratégicos.</a:t>
            </a:r>
            <a:endParaRPr/>
          </a:p>
          <a:p>
            <a:pPr indent="-53879" lvl="0" marL="428625" rtl="0" algn="l">
              <a:spcBef>
                <a:spcPts val="1714"/>
              </a:spcBef>
              <a:spcAft>
                <a:spcPts val="0"/>
              </a:spcAft>
              <a:buSzPct val="145000"/>
              <a:buNone/>
            </a:pPr>
            <a:r>
              <a:t/>
            </a:r>
            <a:endParaRPr sz="4400">
              <a:latin typeface="Open Sans"/>
              <a:ea typeface="Open Sans"/>
              <a:cs typeface="Open Sans"/>
              <a:sym typeface="Open Sans"/>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5"/>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Un buen KPI</a:t>
            </a:r>
            <a:endParaRPr/>
          </a:p>
        </p:txBody>
      </p:sp>
      <p:sp>
        <p:nvSpPr>
          <p:cNvPr id="257" name="Google Shape;257;p25"/>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lnSpcReduction="10000"/>
          </a:bodyPr>
          <a:lstStyle/>
          <a:p>
            <a:pPr indent="-428625" lvl="0" marL="428625" rtl="0" algn="l">
              <a:spcBef>
                <a:spcPts val="0"/>
              </a:spcBef>
              <a:spcAft>
                <a:spcPts val="0"/>
              </a:spcAft>
              <a:buSzPts val="5220"/>
              <a:buChar char="•"/>
            </a:pPr>
            <a:r>
              <a:rPr lang="en-US">
                <a:latin typeface="Open Sans"/>
                <a:ea typeface="Open Sans"/>
                <a:cs typeface="Open Sans"/>
                <a:sym typeface="Open Sans"/>
              </a:rPr>
              <a:t>A</a:t>
            </a:r>
            <a:r>
              <a:rPr lang="en-US" sz="3600">
                <a:latin typeface="Open Sans"/>
                <a:ea typeface="Open Sans"/>
                <a:cs typeface="Open Sans"/>
                <a:sym typeface="Open Sans"/>
              </a:rPr>
              <a:t>yuda a lograr los objetivos estratégicos</a:t>
            </a:r>
            <a:endParaRPr/>
          </a:p>
          <a:p>
            <a:pPr indent="-428625" lvl="0" marL="428625" rtl="0" algn="l">
              <a:spcBef>
                <a:spcPts val="1620"/>
              </a:spcBef>
              <a:spcAft>
                <a:spcPts val="0"/>
              </a:spcAft>
              <a:buSzPts val="5220"/>
              <a:buChar char="•"/>
            </a:pPr>
            <a:r>
              <a:rPr lang="en-US" sz="3600">
                <a:latin typeface="Open Sans"/>
                <a:ea typeface="Open Sans"/>
                <a:cs typeface="Open Sans"/>
                <a:sym typeface="Open Sans"/>
              </a:rPr>
              <a:t>Informa sobre la planificación de los recursos</a:t>
            </a:r>
            <a:endParaRPr/>
          </a:p>
          <a:p>
            <a:pPr indent="-428625" lvl="0" marL="428625" rtl="0" algn="l">
              <a:spcBef>
                <a:spcPts val="1620"/>
              </a:spcBef>
              <a:spcAft>
                <a:spcPts val="0"/>
              </a:spcAft>
              <a:buSzPts val="5220"/>
              <a:buChar char="•"/>
            </a:pPr>
            <a:r>
              <a:rPr lang="en-US" sz="3600">
                <a:latin typeface="Open Sans"/>
                <a:ea typeface="Open Sans"/>
                <a:cs typeface="Open Sans"/>
                <a:sym typeface="Open Sans"/>
              </a:rPr>
              <a:t>Puede medirse</a:t>
            </a:r>
            <a:endParaRPr/>
          </a:p>
          <a:p>
            <a:pPr indent="-428625" lvl="0" marL="428625" rtl="0" algn="l">
              <a:spcBef>
                <a:spcPts val="1620"/>
              </a:spcBef>
              <a:spcAft>
                <a:spcPts val="0"/>
              </a:spcAft>
              <a:buSzPts val="5220"/>
              <a:buChar char="•"/>
            </a:pPr>
            <a:r>
              <a:rPr lang="en-US" sz="3600">
                <a:latin typeface="Open Sans"/>
                <a:ea typeface="Open Sans"/>
                <a:cs typeface="Open Sans"/>
                <a:sym typeface="Open Sans"/>
              </a:rPr>
              <a:t>Hace un seguimiento de lo que se puede controlar e influir</a:t>
            </a:r>
            <a:endParaRPr/>
          </a:p>
          <a:p>
            <a:pPr indent="-428625" lvl="0" marL="428625" rtl="0" algn="l">
              <a:spcBef>
                <a:spcPts val="1620"/>
              </a:spcBef>
              <a:spcAft>
                <a:spcPts val="0"/>
              </a:spcAft>
              <a:buSzPts val="5220"/>
              <a:buChar char="•"/>
            </a:pPr>
            <a:r>
              <a:rPr lang="en-US" sz="3600">
                <a:latin typeface="Open Sans"/>
                <a:ea typeface="Open Sans"/>
                <a:cs typeface="Open Sans"/>
                <a:sym typeface="Open Sans"/>
              </a:rPr>
              <a:t>Conecta métricas con objetivos estratégicos </a:t>
            </a:r>
            <a:endParaRPr/>
          </a:p>
          <a:p>
            <a:pPr indent="-428625" lvl="0" marL="428625" rtl="0" algn="l">
              <a:spcBef>
                <a:spcPts val="1620"/>
              </a:spcBef>
              <a:spcAft>
                <a:spcPts val="0"/>
              </a:spcAft>
              <a:buSzPts val="5220"/>
              <a:buChar char="•"/>
            </a:pPr>
            <a:r>
              <a:rPr lang="en-US" sz="3600">
                <a:latin typeface="Open Sans"/>
                <a:ea typeface="Open Sans"/>
                <a:cs typeface="Open Sans"/>
                <a:sym typeface="Open Sans"/>
              </a:rPr>
              <a:t>Brinda a los miembros del equipo una idea clara de cómo sus proyectos contribuyen a los objetivos de la empresa</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6"/>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KPI vs. OKR (objetivos y resultados clave)</a:t>
            </a:r>
            <a:endParaRPr/>
          </a:p>
        </p:txBody>
      </p:sp>
      <p:sp>
        <p:nvSpPr>
          <p:cNvPr id="263" name="Google Shape;263;p26"/>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lnSpcReduction="10000"/>
          </a:bodyPr>
          <a:lstStyle/>
          <a:p>
            <a:pPr indent="-428625" lvl="0" marL="428625" rtl="0" algn="l">
              <a:spcBef>
                <a:spcPts val="0"/>
              </a:spcBef>
              <a:spcAft>
                <a:spcPts val="0"/>
              </a:spcAft>
              <a:buSzPts val="5220"/>
              <a:buChar char="•"/>
            </a:pPr>
            <a:r>
              <a:rPr b="1" lang="en-US">
                <a:latin typeface="Open Sans"/>
                <a:ea typeface="Open Sans"/>
                <a:cs typeface="Open Sans"/>
                <a:sym typeface="Open Sans"/>
              </a:rPr>
              <a:t>Indicador clave de rendimiento (KPI): </a:t>
            </a:r>
            <a:r>
              <a:rPr lang="en-US">
                <a:latin typeface="Open Sans"/>
                <a:ea typeface="Open Sans"/>
                <a:cs typeface="Open Sans"/>
                <a:sym typeface="Open Sans"/>
              </a:rPr>
              <a:t>Un KPI es una excelente manera de medir el rendimiento a lo largo de un periodo de tiempo. Un buen KPI debe dar seguimiento a un valor medible en el que la persona o el equipo puedan influir de manera oportuna. </a:t>
            </a:r>
            <a:endParaRPr/>
          </a:p>
          <a:p>
            <a:pPr indent="-428625" lvl="0" marL="428625" rtl="0" algn="l">
              <a:spcBef>
                <a:spcPts val="1620"/>
              </a:spcBef>
              <a:spcAft>
                <a:spcPts val="0"/>
              </a:spcAft>
              <a:buSzPts val="5220"/>
              <a:buChar char="•"/>
            </a:pPr>
            <a:r>
              <a:rPr b="1" lang="en-US">
                <a:latin typeface="Open Sans"/>
                <a:ea typeface="Open Sans"/>
                <a:cs typeface="Open Sans"/>
                <a:sym typeface="Open Sans"/>
              </a:rPr>
              <a:t>Objetivos y resultados clave (OKR): </a:t>
            </a:r>
            <a:r>
              <a:rPr lang="en-US">
                <a:latin typeface="Open Sans"/>
                <a:ea typeface="Open Sans"/>
                <a:cs typeface="Open Sans"/>
                <a:sym typeface="Open Sans"/>
              </a:rPr>
              <a:t>Los OKR usan la plantilla Realizar [objetivo] medido por [resultado clave]. En este caso, el objetivo representa la meta que se desea alcanzar y el resultado clave mide cómo estás progresando hacia el objetivo.</a:t>
            </a:r>
            <a:endParaRPr sz="3600">
              <a:latin typeface="Open Sans"/>
              <a:ea typeface="Open Sans"/>
              <a:cs typeface="Open Sans"/>
              <a:sym typeface="Open Sans"/>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7" name="Shape 267"/>
        <p:cNvGrpSpPr/>
        <p:nvPr/>
      </p:nvGrpSpPr>
      <p:grpSpPr>
        <a:xfrm>
          <a:off x="0" y="0"/>
          <a:ext cx="0" cy="0"/>
          <a:chOff x="0" y="0"/>
          <a:chExt cx="0" cy="0"/>
        </a:xfrm>
      </p:grpSpPr>
      <p:sp>
        <p:nvSpPr>
          <p:cNvPr id="268" name="Google Shape;268;p27"/>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69" name="Google Shape;269;p27"/>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Cubos OLAP y los KPI</a:t>
            </a:r>
            <a:endParaRPr/>
          </a:p>
        </p:txBody>
      </p:sp>
      <p:sp>
        <p:nvSpPr>
          <p:cNvPr id="270" name="Google Shape;270;p27"/>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71" name="Google Shape;271;p27"/>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2" name="Google Shape;272;p27"/>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3" name="Google Shape;273;p27"/>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4" name="Google Shape;274;p27"/>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5" name="Google Shape;275;p27"/>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6" name="Google Shape;276;p27"/>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7" name="Google Shape;277;p27"/>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220"/>
              <a:buChar char="•"/>
            </a:pPr>
            <a:r>
              <a:rPr lang="en-US">
                <a:latin typeface="Open Sans"/>
                <a:ea typeface="Open Sans"/>
                <a:cs typeface="Open Sans"/>
                <a:sym typeface="Open Sans"/>
              </a:rPr>
              <a:t>Los cubos OLAP representan un avance significativo en el análisis de datos empresariales. Estas estructuras permiten organizar y examinar información compleja desde múltiples dimensiones, ofreciendo una visión más completa que los sistemas tradicionales de reportes. Su capacidad para procesar grandes volúmenes de datos los hace particularmente útiles para el seguimiento y análisis de KPIs.</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sp>
        <p:nvSpPr>
          <p:cNvPr id="282" name="Google Shape;282;p28"/>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83" name="Google Shape;283;p28"/>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Cubos OLAP y los KPI</a:t>
            </a:r>
            <a:endParaRPr/>
          </a:p>
        </p:txBody>
      </p:sp>
      <p:sp>
        <p:nvSpPr>
          <p:cNvPr id="284" name="Google Shape;284;p28"/>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85" name="Google Shape;285;p28"/>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6" name="Google Shape;286;p28"/>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7" name="Google Shape;287;p28"/>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8" name="Google Shape;288;p28"/>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9" name="Google Shape;289;p28"/>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0" name="Google Shape;290;p28"/>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1" name="Google Shape;291;p28"/>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220"/>
              <a:buChar char="•"/>
            </a:pPr>
            <a:r>
              <a:rPr lang="en-US">
                <a:latin typeface="Open Sans"/>
                <a:ea typeface="Open Sans"/>
                <a:cs typeface="Open Sans"/>
                <a:sym typeface="Open Sans"/>
              </a:rPr>
              <a:t>La principal ventaja de los cubos OLAP es su flexibilidad analítica. Permiten reorganizar datos al instante para examinar diferentes perspectivas. Un mismo conjunto de información puede analizarse por región geográfica, línea de producto, período temporal o cualquier otra dimensión relevante. Esta capacidad es especialmente valiosa para KPIs que requieren seguimiento multidimensional, como los de desempeño comercial o eficiencia operativa.</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Modelos Tabulares</a:t>
            </a:r>
            <a:endParaRPr/>
          </a:p>
        </p:txBody>
      </p:sp>
      <p:sp>
        <p:nvSpPr>
          <p:cNvPr id="297" name="Google Shape;297;p29"/>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lang="en-US">
                <a:latin typeface="Open Sans"/>
                <a:ea typeface="Open Sans"/>
                <a:cs typeface="Open Sans"/>
                <a:sym typeface="Open Sans"/>
              </a:rPr>
              <a:t>Los modelos tabulares son un tipo de base de datos que organiza la información en filas y columnas, similar a una tabla de Excel o una hoja de cálculo. Estos modelos son eficientes para consultas basadas en columnas y ofrecen una forma más sencilla de desarrollo y administración comparados con los modelos multidimensionales. Se utilizan en sistemas de análisis de datos como Analysis Services y Power BI. </a:t>
            </a:r>
            <a:endParaRPr sz="3600">
              <a:latin typeface="Open Sans"/>
              <a:ea typeface="Open Sans"/>
              <a:cs typeface="Open Sans"/>
              <a:sym typeface="Open Sans"/>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Características Modelos Tabulares</a:t>
            </a:r>
            <a:endParaRPr/>
          </a:p>
        </p:txBody>
      </p:sp>
      <p:sp>
        <p:nvSpPr>
          <p:cNvPr id="303" name="Google Shape;303;p30"/>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b="1" lang="en-US">
                <a:latin typeface="Open Sans"/>
                <a:ea typeface="Open Sans"/>
                <a:cs typeface="Open Sans"/>
                <a:sym typeface="Open Sans"/>
              </a:rPr>
              <a:t>Organización en tablas</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Los datos se organizan en tablas con filas y columnas, donde las columnas pueden representar medidas o dimensiones, y las filas pueden almacenar registros o hechos individuales. </a:t>
            </a:r>
            <a:endParaRPr/>
          </a:p>
          <a:p>
            <a:pPr indent="-428625" lvl="0" marL="428625" rtl="0" algn="l">
              <a:spcBef>
                <a:spcPts val="1620"/>
              </a:spcBef>
              <a:spcAft>
                <a:spcPts val="0"/>
              </a:spcAft>
              <a:buSzPts val="5220"/>
              <a:buChar char="•"/>
            </a:pPr>
            <a:r>
              <a:rPr b="1" lang="en-US">
                <a:latin typeface="Open Sans"/>
                <a:ea typeface="Open Sans"/>
                <a:cs typeface="Open Sans"/>
                <a:sym typeface="Open Sans"/>
              </a:rPr>
              <a:t>Relaciones entre tablas</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Las tablas pueden estar relacionadas mediante claves o relaciones, lo que permite la consulta de datos de diferentes tablas de forma conjunta. </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Características Modelos Tabulares</a:t>
            </a:r>
            <a:endParaRPr/>
          </a:p>
        </p:txBody>
      </p:sp>
      <p:sp>
        <p:nvSpPr>
          <p:cNvPr id="309" name="Google Shape;309;p31"/>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b="1" lang="en-US">
                <a:latin typeface="Open Sans"/>
                <a:ea typeface="Open Sans"/>
                <a:cs typeface="Open Sans"/>
                <a:sym typeface="Open Sans"/>
              </a:rPr>
              <a:t>Almacenamiento en memoria o modo DirectQuery</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Los modelos tabulares de Analysis Services pueden almacenar los datos en memoria RAM para un acceso más rápido o conectarse a bases de datos relacionales en back-end a través de DirectQuery. </a:t>
            </a:r>
            <a:endParaRPr/>
          </a:p>
          <a:p>
            <a:pPr indent="-428625" lvl="0" marL="428625" rtl="0" algn="l">
              <a:spcBef>
                <a:spcPts val="1620"/>
              </a:spcBef>
              <a:spcAft>
                <a:spcPts val="0"/>
              </a:spcAft>
              <a:buSzPts val="5220"/>
              <a:buChar char="•"/>
            </a:pPr>
            <a:r>
              <a:rPr b="1" lang="en-US">
                <a:latin typeface="Open Sans"/>
                <a:ea typeface="Open Sans"/>
                <a:cs typeface="Open Sans"/>
                <a:sym typeface="Open Sans"/>
              </a:rPr>
              <a:t>Aprovechamiento del motor VertiPaq</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Este motor, utilizado en los modelos tabulares, permite una compresión y procesamiento paralelo de datos, lo que facilita el acceso rápido a los datos incluso con grandes volúmenes. </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Características Modelos Tabulares</a:t>
            </a:r>
            <a:endParaRPr/>
          </a:p>
        </p:txBody>
      </p:sp>
      <p:sp>
        <p:nvSpPr>
          <p:cNvPr id="315" name="Google Shape;315;p32"/>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b="1" lang="en-US">
                <a:latin typeface="Open Sans"/>
                <a:ea typeface="Open Sans"/>
                <a:cs typeface="Open Sans"/>
                <a:sym typeface="Open Sans"/>
              </a:rPr>
              <a:t>Lenguaje de definición de modelos tabulares (TMDL):</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Este lenguaje se utiliza para definir la estructura de los modelos tabulares de manera textual, facilitando la edición, la colaboración y la gestión de código fuente. </a:t>
            </a:r>
            <a:endParaRPr/>
          </a:p>
          <a:p>
            <a:pPr indent="-428625" lvl="0" marL="428625" rtl="0" algn="l">
              <a:spcBef>
                <a:spcPts val="1620"/>
              </a:spcBef>
              <a:spcAft>
                <a:spcPts val="0"/>
              </a:spcAft>
              <a:buSzPts val="5220"/>
              <a:buChar char="•"/>
            </a:pPr>
            <a:r>
              <a:rPr b="1" lang="en-US">
                <a:latin typeface="Open Sans"/>
                <a:ea typeface="Open Sans"/>
                <a:cs typeface="Open Sans"/>
                <a:sym typeface="Open Sans"/>
              </a:rPr>
              <a:t>Medidas</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Los modelos tabulares permiten definir medidas, que son cálculos basados en fórmulas DAX, para ser utilizadas en informes. </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3"/>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Características Modelos Tabulares</a:t>
            </a:r>
            <a:endParaRPr/>
          </a:p>
        </p:txBody>
      </p:sp>
      <p:sp>
        <p:nvSpPr>
          <p:cNvPr id="321" name="Google Shape;321;p33"/>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b="1" lang="en-US">
                <a:latin typeface="Open Sans"/>
                <a:ea typeface="Open Sans"/>
                <a:cs typeface="Open Sans"/>
                <a:sym typeface="Open Sans"/>
              </a:rPr>
              <a:t>Roles y seguridad de nivel de fila</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Se pueden definir roles y filtros de fila (seguridad de nivel de fila) para controlar el acceso a los datos en los modelos tabulares. </a:t>
            </a:r>
            <a:endParaRPr/>
          </a:p>
          <a:p>
            <a:pPr indent="-428625" lvl="0" marL="428625" rtl="0" algn="l">
              <a:spcBef>
                <a:spcPts val="1620"/>
              </a:spcBef>
              <a:spcAft>
                <a:spcPts val="0"/>
              </a:spcAft>
              <a:buSzPts val="5220"/>
              <a:buChar char="•"/>
            </a:pPr>
            <a:r>
              <a:rPr b="1" lang="en-US">
                <a:latin typeface="Open Sans"/>
                <a:ea typeface="Open Sans"/>
                <a:cs typeface="Open Sans"/>
                <a:sym typeface="Open Sans"/>
              </a:rPr>
              <a:t>Particiones</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Los modelos tabulares se pueden dividir en particiones para mejorar el rendimiento y la eficiencia en el almacenamiento y procesamiento de datos. </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5" name="Shape 325"/>
        <p:cNvGrpSpPr/>
        <p:nvPr/>
      </p:nvGrpSpPr>
      <p:grpSpPr>
        <a:xfrm>
          <a:off x="0" y="0"/>
          <a:ext cx="0" cy="0"/>
          <a:chOff x="0" y="0"/>
          <a:chExt cx="0" cy="0"/>
        </a:xfrm>
      </p:grpSpPr>
      <p:sp>
        <p:nvSpPr>
          <p:cNvPr id="326" name="Google Shape;326;p34"/>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27" name="Google Shape;327;p34"/>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MDX y DAX</a:t>
            </a:r>
            <a:endParaRPr/>
          </a:p>
        </p:txBody>
      </p:sp>
      <p:sp>
        <p:nvSpPr>
          <p:cNvPr id="328" name="Google Shape;328;p34"/>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329" name="Google Shape;329;p34"/>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0" name="Google Shape;330;p34"/>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1" name="Google Shape;331;p34"/>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2" name="Google Shape;332;p34"/>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3" name="Google Shape;333;p34"/>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4" name="Google Shape;334;p34"/>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5" name="Google Shape;335;p34"/>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220"/>
              <a:buChar char="•"/>
            </a:pPr>
            <a:r>
              <a:rPr lang="en-US">
                <a:latin typeface="Open Sans"/>
                <a:ea typeface="Open Sans"/>
                <a:cs typeface="Open Sans"/>
                <a:sym typeface="Open Sans"/>
              </a:rPr>
              <a:t>La elección entre MDX (MultiDimensional eXpressions) y DAX (Data Analysis Expressions) en el contexto de un cubo OLAP depende de la tecnología específica y los objetivos de análisis que se están persiguiendo.</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9" name="Shape 339"/>
        <p:cNvGrpSpPr/>
        <p:nvPr/>
      </p:nvGrpSpPr>
      <p:grpSpPr>
        <a:xfrm>
          <a:off x="0" y="0"/>
          <a:ext cx="0" cy="0"/>
          <a:chOff x="0" y="0"/>
          <a:chExt cx="0" cy="0"/>
        </a:xfrm>
      </p:grpSpPr>
      <p:sp>
        <p:nvSpPr>
          <p:cNvPr id="340" name="Google Shape;340;p35"/>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41" name="Google Shape;341;p35"/>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MDX</a:t>
            </a:r>
            <a:endParaRPr/>
          </a:p>
        </p:txBody>
      </p:sp>
      <p:sp>
        <p:nvSpPr>
          <p:cNvPr id="342" name="Google Shape;342;p35"/>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343" name="Google Shape;343;p35"/>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4" name="Google Shape;344;p35"/>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5" name="Google Shape;345;p35"/>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6" name="Google Shape;346;p35"/>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7" name="Google Shape;347;p35"/>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8" name="Google Shape;348;p35"/>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349" name="Google Shape;349;p35"/>
          <p:cNvGrpSpPr/>
          <p:nvPr/>
        </p:nvGrpSpPr>
        <p:grpSpPr>
          <a:xfrm>
            <a:off x="5781676" y="2803091"/>
            <a:ext cx="11472858" cy="7357648"/>
            <a:chOff x="0" y="898"/>
            <a:chExt cx="11472858" cy="7357648"/>
          </a:xfrm>
        </p:grpSpPr>
        <p:sp>
          <p:nvSpPr>
            <p:cNvPr id="350" name="Google Shape;350;p35"/>
            <p:cNvSpPr/>
            <p:nvPr/>
          </p:nvSpPr>
          <p:spPr>
            <a:xfrm>
              <a:off x="0" y="898"/>
              <a:ext cx="11472858" cy="2102185"/>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5"/>
            <p:cNvSpPr/>
            <p:nvPr/>
          </p:nvSpPr>
          <p:spPr>
            <a:xfrm>
              <a:off x="635911" y="473890"/>
              <a:ext cx="1156201" cy="1156201"/>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5"/>
            <p:cNvSpPr/>
            <p:nvPr/>
          </p:nvSpPr>
          <p:spPr>
            <a:xfrm>
              <a:off x="2428023" y="898"/>
              <a:ext cx="9044834" cy="210218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5"/>
            <p:cNvSpPr txBox="1"/>
            <p:nvPr/>
          </p:nvSpPr>
          <p:spPr>
            <a:xfrm>
              <a:off x="2428023" y="898"/>
              <a:ext cx="9044834" cy="2102185"/>
            </a:xfrm>
            <a:prstGeom prst="rect">
              <a:avLst/>
            </a:prstGeom>
            <a:noFill/>
            <a:ln>
              <a:noFill/>
            </a:ln>
          </p:spPr>
          <p:txBody>
            <a:bodyPr anchorCtr="0" anchor="ctr" bIns="222475" lIns="222475" spcFirstLastPara="1" rIns="222475" wrap="square" tIns="222475">
              <a:noAutofit/>
            </a:bodyPr>
            <a:lstStyle/>
            <a:p>
              <a:pPr indent="0" lvl="0" marL="0" marR="0" rtl="0" algn="l">
                <a:lnSpc>
                  <a:spcPct val="100000"/>
                </a:lnSpc>
                <a:spcBef>
                  <a:spcPts val="0"/>
                </a:spcBef>
                <a:spcAft>
                  <a:spcPts val="0"/>
                </a:spcAft>
                <a:buClr>
                  <a:schemeClr val="dk1"/>
                </a:buClr>
                <a:buSzPts val="2300"/>
                <a:buFont typeface="Corbel"/>
                <a:buNone/>
              </a:pPr>
              <a:r>
                <a:rPr b="1" lang="en-US" sz="2300">
                  <a:solidFill>
                    <a:schemeClr val="dk1"/>
                  </a:solidFill>
                  <a:latin typeface="Corbel"/>
                  <a:ea typeface="Corbel"/>
                  <a:cs typeface="Corbel"/>
                  <a:sym typeface="Corbel"/>
                </a:rPr>
                <a:t>Objetivo y Uso</a:t>
              </a:r>
              <a:r>
                <a:rPr lang="en-US" sz="2300">
                  <a:solidFill>
                    <a:schemeClr val="dk1"/>
                  </a:solidFill>
                  <a:latin typeface="Corbel"/>
                  <a:ea typeface="Corbel"/>
                  <a:cs typeface="Corbel"/>
                  <a:sym typeface="Corbel"/>
                </a:rPr>
                <a:t>: MDX es un lenguaje de consulta diseñado para trabajar con cubos OLAP. Es extremadamente poderoso para realizar consultas complejas en bases de datos multidimensionales, permitiendo analizar datos agregados desde múltiples perspectivas.</a:t>
              </a:r>
              <a:endParaRPr sz="2300">
                <a:solidFill>
                  <a:schemeClr val="dk1"/>
                </a:solidFill>
                <a:latin typeface="Corbel"/>
                <a:ea typeface="Corbel"/>
                <a:cs typeface="Corbel"/>
                <a:sym typeface="Corbel"/>
              </a:endParaRPr>
            </a:p>
          </p:txBody>
        </p:sp>
        <p:sp>
          <p:nvSpPr>
            <p:cNvPr id="354" name="Google Shape;354;p35"/>
            <p:cNvSpPr/>
            <p:nvPr/>
          </p:nvSpPr>
          <p:spPr>
            <a:xfrm>
              <a:off x="0" y="2628629"/>
              <a:ext cx="11472858" cy="2102185"/>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5"/>
            <p:cNvSpPr/>
            <p:nvPr/>
          </p:nvSpPr>
          <p:spPr>
            <a:xfrm>
              <a:off x="635911" y="3101621"/>
              <a:ext cx="1156201" cy="1156201"/>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5"/>
            <p:cNvSpPr/>
            <p:nvPr/>
          </p:nvSpPr>
          <p:spPr>
            <a:xfrm>
              <a:off x="2428023" y="2628629"/>
              <a:ext cx="9044834" cy="210218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nvSpPr>
          <p:spPr>
            <a:xfrm>
              <a:off x="2428023" y="2628629"/>
              <a:ext cx="9044834" cy="2102185"/>
            </a:xfrm>
            <a:prstGeom prst="rect">
              <a:avLst/>
            </a:prstGeom>
            <a:noFill/>
            <a:ln>
              <a:noFill/>
            </a:ln>
          </p:spPr>
          <p:txBody>
            <a:bodyPr anchorCtr="0" anchor="ctr" bIns="222475" lIns="222475" spcFirstLastPara="1" rIns="222475" wrap="square" tIns="222475">
              <a:noAutofit/>
            </a:bodyPr>
            <a:lstStyle/>
            <a:p>
              <a:pPr indent="0" lvl="0" marL="0" marR="0" rtl="0" algn="l">
                <a:lnSpc>
                  <a:spcPct val="100000"/>
                </a:lnSpc>
                <a:spcBef>
                  <a:spcPts val="0"/>
                </a:spcBef>
                <a:spcAft>
                  <a:spcPts val="0"/>
                </a:spcAft>
                <a:buClr>
                  <a:schemeClr val="dk1"/>
                </a:buClr>
                <a:buSzPts val="2300"/>
                <a:buFont typeface="Corbel"/>
                <a:buNone/>
              </a:pPr>
              <a:r>
                <a:rPr b="1" lang="en-US" sz="2300">
                  <a:solidFill>
                    <a:schemeClr val="dk1"/>
                  </a:solidFill>
                  <a:latin typeface="Corbel"/>
                  <a:ea typeface="Corbel"/>
                  <a:cs typeface="Corbel"/>
                  <a:sym typeface="Corbel"/>
                </a:rPr>
                <a:t>Características</a:t>
              </a:r>
              <a:r>
                <a:rPr lang="en-US" sz="2300">
                  <a:solidFill>
                    <a:schemeClr val="dk1"/>
                  </a:solidFill>
                  <a:latin typeface="Corbel"/>
                  <a:ea typeface="Corbel"/>
                  <a:cs typeface="Corbel"/>
                  <a:sym typeface="Corbel"/>
                </a:rPr>
                <a:t>: MDX permite la navegación por jerarquías y dimensiones de forma muy detallada. Puedes definir cálculos complicados que son evaluados en el servidor OLAP, lo que es eficiente para manejar grandes conjuntos de datos.</a:t>
              </a:r>
              <a:endParaRPr sz="2300">
                <a:solidFill>
                  <a:schemeClr val="dk1"/>
                </a:solidFill>
                <a:latin typeface="Corbel"/>
                <a:ea typeface="Corbel"/>
                <a:cs typeface="Corbel"/>
                <a:sym typeface="Corbel"/>
              </a:endParaRPr>
            </a:p>
          </p:txBody>
        </p:sp>
        <p:sp>
          <p:nvSpPr>
            <p:cNvPr id="358" name="Google Shape;358;p35"/>
            <p:cNvSpPr/>
            <p:nvPr/>
          </p:nvSpPr>
          <p:spPr>
            <a:xfrm>
              <a:off x="0" y="5256361"/>
              <a:ext cx="11472858" cy="2102185"/>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5"/>
            <p:cNvSpPr/>
            <p:nvPr/>
          </p:nvSpPr>
          <p:spPr>
            <a:xfrm>
              <a:off x="635911" y="5729353"/>
              <a:ext cx="1156201" cy="1156201"/>
            </a:xfrm>
            <a:prstGeom prst="rect">
              <a:avLst/>
            </a:prstGeom>
            <a:blipFill rotWithShape="1">
              <a:blip r:embed="rId6">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5"/>
            <p:cNvSpPr/>
            <p:nvPr/>
          </p:nvSpPr>
          <p:spPr>
            <a:xfrm>
              <a:off x="2428023" y="5256361"/>
              <a:ext cx="9044834" cy="210218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5"/>
            <p:cNvSpPr txBox="1"/>
            <p:nvPr/>
          </p:nvSpPr>
          <p:spPr>
            <a:xfrm>
              <a:off x="2428023" y="5256361"/>
              <a:ext cx="9044834" cy="2102185"/>
            </a:xfrm>
            <a:prstGeom prst="rect">
              <a:avLst/>
            </a:prstGeom>
            <a:noFill/>
            <a:ln>
              <a:noFill/>
            </a:ln>
          </p:spPr>
          <p:txBody>
            <a:bodyPr anchorCtr="0" anchor="ctr" bIns="222475" lIns="222475" spcFirstLastPara="1" rIns="222475" wrap="square" tIns="222475">
              <a:noAutofit/>
            </a:bodyPr>
            <a:lstStyle/>
            <a:p>
              <a:pPr indent="0" lvl="0" marL="0" marR="0" rtl="0" algn="l">
                <a:lnSpc>
                  <a:spcPct val="100000"/>
                </a:lnSpc>
                <a:spcBef>
                  <a:spcPts val="0"/>
                </a:spcBef>
                <a:spcAft>
                  <a:spcPts val="0"/>
                </a:spcAft>
                <a:buClr>
                  <a:schemeClr val="dk1"/>
                </a:buClr>
                <a:buSzPts val="2300"/>
                <a:buFont typeface="Corbel"/>
                <a:buNone/>
              </a:pPr>
              <a:r>
                <a:rPr b="1" lang="en-US" sz="2300">
                  <a:solidFill>
                    <a:schemeClr val="dk1"/>
                  </a:solidFill>
                  <a:latin typeface="Corbel"/>
                  <a:ea typeface="Corbel"/>
                  <a:cs typeface="Corbel"/>
                  <a:sym typeface="Corbel"/>
                </a:rPr>
                <a:t>Compatibilidad</a:t>
              </a:r>
              <a:r>
                <a:rPr lang="en-US" sz="2300">
                  <a:solidFill>
                    <a:schemeClr val="dk1"/>
                  </a:solidFill>
                  <a:latin typeface="Corbel"/>
                  <a:ea typeface="Corbel"/>
                  <a:cs typeface="Corbel"/>
                  <a:sym typeface="Corbel"/>
                </a:rPr>
                <a:t>: MDX es utilizado ampliamente en herramientas tradicionales de BI como Microsoft SQL Server Analysis Services (SSAS) en el modo multidimensional y otras plataformas OLAP.</a:t>
              </a:r>
              <a:endParaRPr sz="23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5" name="Shape 365"/>
        <p:cNvGrpSpPr/>
        <p:nvPr/>
      </p:nvGrpSpPr>
      <p:grpSpPr>
        <a:xfrm>
          <a:off x="0" y="0"/>
          <a:ext cx="0" cy="0"/>
          <a:chOff x="0" y="0"/>
          <a:chExt cx="0" cy="0"/>
        </a:xfrm>
      </p:grpSpPr>
      <p:sp>
        <p:nvSpPr>
          <p:cNvPr id="366" name="Google Shape;366;p36"/>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67" name="Google Shape;367;p36"/>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DAX</a:t>
            </a:r>
            <a:endParaRPr/>
          </a:p>
        </p:txBody>
      </p:sp>
      <p:sp>
        <p:nvSpPr>
          <p:cNvPr id="368" name="Google Shape;368;p36"/>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369" name="Google Shape;369;p36"/>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0" name="Google Shape;370;p36"/>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1" name="Google Shape;371;p36"/>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2" name="Google Shape;372;p36"/>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3" name="Google Shape;373;p36"/>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4" name="Google Shape;374;p36"/>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375" name="Google Shape;375;p36"/>
          <p:cNvGrpSpPr/>
          <p:nvPr/>
        </p:nvGrpSpPr>
        <p:grpSpPr>
          <a:xfrm>
            <a:off x="5427406" y="2744067"/>
            <a:ext cx="11827130" cy="7106987"/>
            <a:chOff x="0" y="867"/>
            <a:chExt cx="11827130" cy="7106987"/>
          </a:xfrm>
        </p:grpSpPr>
        <p:sp>
          <p:nvSpPr>
            <p:cNvPr id="376" name="Google Shape;376;p36"/>
            <p:cNvSpPr/>
            <p:nvPr/>
          </p:nvSpPr>
          <p:spPr>
            <a:xfrm>
              <a:off x="0" y="867"/>
              <a:ext cx="11827130" cy="2030567"/>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6"/>
            <p:cNvSpPr/>
            <p:nvPr/>
          </p:nvSpPr>
          <p:spPr>
            <a:xfrm>
              <a:off x="614246" y="457745"/>
              <a:ext cx="1116812" cy="1116812"/>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6"/>
            <p:cNvSpPr/>
            <p:nvPr/>
          </p:nvSpPr>
          <p:spPr>
            <a:xfrm>
              <a:off x="2345305" y="867"/>
              <a:ext cx="9481824" cy="20305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6"/>
            <p:cNvSpPr txBox="1"/>
            <p:nvPr/>
          </p:nvSpPr>
          <p:spPr>
            <a:xfrm>
              <a:off x="2345305" y="867"/>
              <a:ext cx="9481824" cy="2030567"/>
            </a:xfrm>
            <a:prstGeom prst="rect">
              <a:avLst/>
            </a:prstGeom>
            <a:noFill/>
            <a:ln>
              <a:noFill/>
            </a:ln>
          </p:spPr>
          <p:txBody>
            <a:bodyPr anchorCtr="0" anchor="ctr" bIns="214900" lIns="214900" spcFirstLastPara="1" rIns="214900" wrap="square" tIns="214900">
              <a:noAutofit/>
            </a:bodyPr>
            <a:lstStyle/>
            <a:p>
              <a:pPr indent="0" lvl="0" marL="0" marR="0" rtl="0" algn="l">
                <a:lnSpc>
                  <a:spcPct val="100000"/>
                </a:lnSpc>
                <a:spcBef>
                  <a:spcPts val="0"/>
                </a:spcBef>
                <a:spcAft>
                  <a:spcPts val="0"/>
                </a:spcAft>
                <a:buClr>
                  <a:schemeClr val="dk1"/>
                </a:buClr>
                <a:buSzPts val="2000"/>
                <a:buFont typeface="Corbel"/>
                <a:buNone/>
              </a:pPr>
              <a:r>
                <a:rPr b="1" lang="en-US" sz="2000">
                  <a:solidFill>
                    <a:schemeClr val="dk1"/>
                  </a:solidFill>
                  <a:latin typeface="Corbel"/>
                  <a:ea typeface="Corbel"/>
                  <a:cs typeface="Corbel"/>
                  <a:sym typeface="Corbel"/>
                </a:rPr>
                <a:t>Objetivo y Uso</a:t>
              </a:r>
              <a:r>
                <a:rPr lang="en-US" sz="2000">
                  <a:solidFill>
                    <a:schemeClr val="dk1"/>
                  </a:solidFill>
                  <a:latin typeface="Corbel"/>
                  <a:ea typeface="Corbel"/>
                  <a:cs typeface="Corbel"/>
                  <a:sym typeface="Corbel"/>
                </a:rPr>
                <a:t>: DAX es un lenguaje más reciente, desarrollado originalmente para PowerPivot en Excel. Ha sido extendido para usarse en Power BI y SSAS, pero en el modo tabular. DAX es ideal para modelos de datos relacionales extendidos, conocidos como modelos tabulares, donde los datos se almacenan en tablas en lugar de en estructuras multidimensionales tradicionales.</a:t>
              </a:r>
              <a:endParaRPr sz="2000">
                <a:solidFill>
                  <a:schemeClr val="dk1"/>
                </a:solidFill>
                <a:latin typeface="Corbel"/>
                <a:ea typeface="Corbel"/>
                <a:cs typeface="Corbel"/>
                <a:sym typeface="Corbel"/>
              </a:endParaRPr>
            </a:p>
          </p:txBody>
        </p:sp>
        <p:sp>
          <p:nvSpPr>
            <p:cNvPr id="380" name="Google Shape;380;p36"/>
            <p:cNvSpPr/>
            <p:nvPr/>
          </p:nvSpPr>
          <p:spPr>
            <a:xfrm>
              <a:off x="0" y="2539077"/>
              <a:ext cx="11827130" cy="2030567"/>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6"/>
            <p:cNvSpPr/>
            <p:nvPr/>
          </p:nvSpPr>
          <p:spPr>
            <a:xfrm>
              <a:off x="614246" y="2995955"/>
              <a:ext cx="1116812" cy="1116812"/>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6"/>
            <p:cNvSpPr/>
            <p:nvPr/>
          </p:nvSpPr>
          <p:spPr>
            <a:xfrm>
              <a:off x="2345305" y="2539077"/>
              <a:ext cx="9481824" cy="20305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6"/>
            <p:cNvSpPr txBox="1"/>
            <p:nvPr/>
          </p:nvSpPr>
          <p:spPr>
            <a:xfrm>
              <a:off x="2345305" y="2539077"/>
              <a:ext cx="9481824" cy="2030567"/>
            </a:xfrm>
            <a:prstGeom prst="rect">
              <a:avLst/>
            </a:prstGeom>
            <a:noFill/>
            <a:ln>
              <a:noFill/>
            </a:ln>
          </p:spPr>
          <p:txBody>
            <a:bodyPr anchorCtr="0" anchor="ctr" bIns="214900" lIns="214900" spcFirstLastPara="1" rIns="214900" wrap="square" tIns="214900">
              <a:noAutofit/>
            </a:bodyPr>
            <a:lstStyle/>
            <a:p>
              <a:pPr indent="0" lvl="0" marL="0" marR="0" rtl="0" algn="l">
                <a:lnSpc>
                  <a:spcPct val="100000"/>
                </a:lnSpc>
                <a:spcBef>
                  <a:spcPts val="0"/>
                </a:spcBef>
                <a:spcAft>
                  <a:spcPts val="0"/>
                </a:spcAft>
                <a:buClr>
                  <a:schemeClr val="dk1"/>
                </a:buClr>
                <a:buSzPts val="2000"/>
                <a:buFont typeface="Corbel"/>
                <a:buNone/>
              </a:pPr>
              <a:r>
                <a:rPr b="1" lang="en-US" sz="2000">
                  <a:solidFill>
                    <a:schemeClr val="dk1"/>
                  </a:solidFill>
                  <a:latin typeface="Corbel"/>
                  <a:ea typeface="Corbel"/>
                  <a:cs typeface="Corbel"/>
                  <a:sym typeface="Corbel"/>
                </a:rPr>
                <a:t>Características</a:t>
              </a:r>
              <a:r>
                <a:rPr lang="en-US" sz="2000">
                  <a:solidFill>
                    <a:schemeClr val="dk1"/>
                  </a:solidFill>
                  <a:latin typeface="Corbel"/>
                  <a:ea typeface="Corbel"/>
                  <a:cs typeface="Corbel"/>
                  <a:sym typeface="Corbel"/>
                </a:rPr>
                <a:t>: DAX es generalmente más sencillo de entender y usar que MDX, especialmente para aquellos que ya están familiarizados con fórmulas de Excel. DAX trabaja muy bien con cálculos y agregaciones rápidas sobre grandes volúmenes de datos en modelos tabulares.</a:t>
              </a:r>
              <a:endParaRPr sz="2000">
                <a:solidFill>
                  <a:schemeClr val="dk1"/>
                </a:solidFill>
                <a:latin typeface="Corbel"/>
                <a:ea typeface="Corbel"/>
                <a:cs typeface="Corbel"/>
                <a:sym typeface="Corbel"/>
              </a:endParaRPr>
            </a:p>
          </p:txBody>
        </p:sp>
        <p:sp>
          <p:nvSpPr>
            <p:cNvPr id="384" name="Google Shape;384;p36"/>
            <p:cNvSpPr/>
            <p:nvPr/>
          </p:nvSpPr>
          <p:spPr>
            <a:xfrm>
              <a:off x="0" y="5077287"/>
              <a:ext cx="11827130" cy="2030567"/>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6"/>
            <p:cNvSpPr/>
            <p:nvPr/>
          </p:nvSpPr>
          <p:spPr>
            <a:xfrm>
              <a:off x="614246" y="5534165"/>
              <a:ext cx="1116812" cy="1116812"/>
            </a:xfrm>
            <a:prstGeom prst="rect">
              <a:avLst/>
            </a:prstGeom>
            <a:blipFill rotWithShape="1">
              <a:blip r:embed="rId6">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6"/>
            <p:cNvSpPr/>
            <p:nvPr/>
          </p:nvSpPr>
          <p:spPr>
            <a:xfrm>
              <a:off x="2345305" y="5077287"/>
              <a:ext cx="9481824" cy="20305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6"/>
            <p:cNvSpPr txBox="1"/>
            <p:nvPr/>
          </p:nvSpPr>
          <p:spPr>
            <a:xfrm>
              <a:off x="2345305" y="5077287"/>
              <a:ext cx="9481824" cy="2030567"/>
            </a:xfrm>
            <a:prstGeom prst="rect">
              <a:avLst/>
            </a:prstGeom>
            <a:noFill/>
            <a:ln>
              <a:noFill/>
            </a:ln>
          </p:spPr>
          <p:txBody>
            <a:bodyPr anchorCtr="0" anchor="ctr" bIns="214900" lIns="214900" spcFirstLastPara="1" rIns="214900" wrap="square" tIns="214900">
              <a:noAutofit/>
            </a:bodyPr>
            <a:lstStyle/>
            <a:p>
              <a:pPr indent="0" lvl="0" marL="0" marR="0" rtl="0" algn="l">
                <a:lnSpc>
                  <a:spcPct val="100000"/>
                </a:lnSpc>
                <a:spcBef>
                  <a:spcPts val="0"/>
                </a:spcBef>
                <a:spcAft>
                  <a:spcPts val="0"/>
                </a:spcAft>
                <a:buClr>
                  <a:schemeClr val="dk1"/>
                </a:buClr>
                <a:buSzPts val="2000"/>
                <a:buFont typeface="Corbel"/>
                <a:buNone/>
              </a:pPr>
              <a:r>
                <a:rPr b="1" lang="en-US" sz="2000">
                  <a:solidFill>
                    <a:schemeClr val="dk1"/>
                  </a:solidFill>
                  <a:latin typeface="Corbel"/>
                  <a:ea typeface="Corbel"/>
                  <a:cs typeface="Corbel"/>
                  <a:sym typeface="Corbel"/>
                </a:rPr>
                <a:t>Compatibilidad</a:t>
              </a:r>
              <a:r>
                <a:rPr lang="en-US" sz="2000">
                  <a:solidFill>
                    <a:schemeClr val="dk1"/>
                  </a:solidFill>
                  <a:latin typeface="Corbel"/>
                  <a:ea typeface="Corbel"/>
                  <a:cs typeface="Corbel"/>
                  <a:sym typeface="Corbel"/>
                </a:rPr>
                <a:t>: DAX es ampliamente usado en Power BI y SSAS en el modo tabular. No es usado en cubos OLAP tradicionales (multidimensionales).</a:t>
              </a:r>
              <a:endParaRPr sz="20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7"/>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Características Modelos Tabulares</a:t>
            </a:r>
            <a:endParaRPr/>
          </a:p>
        </p:txBody>
      </p:sp>
      <p:sp>
        <p:nvSpPr>
          <p:cNvPr id="393" name="Google Shape;393;p37"/>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b="1" lang="en-US">
                <a:latin typeface="Open Sans"/>
                <a:ea typeface="Open Sans"/>
                <a:cs typeface="Open Sans"/>
                <a:sym typeface="Open Sans"/>
              </a:rPr>
              <a:t>Roles y seguridad de nivel de fila</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Se pueden definir roles y filtros de fila (seguridad de nivel de fila) para controlar el acceso a los datos en los modelos tabulares. </a:t>
            </a:r>
            <a:endParaRPr/>
          </a:p>
          <a:p>
            <a:pPr indent="-428625" lvl="0" marL="428625" rtl="0" algn="l">
              <a:spcBef>
                <a:spcPts val="1620"/>
              </a:spcBef>
              <a:spcAft>
                <a:spcPts val="0"/>
              </a:spcAft>
              <a:buSzPts val="5220"/>
              <a:buChar char="•"/>
            </a:pPr>
            <a:r>
              <a:rPr b="1" lang="en-US">
                <a:latin typeface="Open Sans"/>
                <a:ea typeface="Open Sans"/>
                <a:cs typeface="Open Sans"/>
                <a:sym typeface="Open Sans"/>
              </a:rPr>
              <a:t>Particiones</a:t>
            </a:r>
            <a:r>
              <a:rPr lang="en-US">
                <a:latin typeface="Open Sans"/>
                <a:ea typeface="Open Sans"/>
                <a:cs typeface="Open Sans"/>
                <a:sym typeface="Open Sans"/>
              </a:rPr>
              <a:t>:</a:t>
            </a:r>
            <a:endParaRPr/>
          </a:p>
          <a:p>
            <a:pPr indent="-428625" lvl="1" marL="1114425" rtl="0" algn="l">
              <a:spcBef>
                <a:spcPts val="1500"/>
              </a:spcBef>
              <a:spcAft>
                <a:spcPts val="0"/>
              </a:spcAft>
              <a:buSzPts val="4350"/>
              <a:buChar char="•"/>
            </a:pPr>
            <a:r>
              <a:rPr lang="en-US">
                <a:latin typeface="Open Sans"/>
                <a:ea typeface="Open Sans"/>
                <a:cs typeface="Open Sans"/>
                <a:sym typeface="Open Sans"/>
              </a:rPr>
              <a:t>Los modelos tabulares se pueden dividir en particiones para mejorar el rendimiento y la eficiencia en el almacenamiento y procesamiento de datos. </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397" name="Shape 397"/>
        <p:cNvGrpSpPr/>
        <p:nvPr/>
      </p:nvGrpSpPr>
      <p:grpSpPr>
        <a:xfrm>
          <a:off x="0" y="0"/>
          <a:ext cx="0" cy="0"/>
          <a:chOff x="0" y="0"/>
          <a:chExt cx="0" cy="0"/>
        </a:xfrm>
      </p:grpSpPr>
      <p:sp>
        <p:nvSpPr>
          <p:cNvPr id="398" name="Google Shape;398;p38"/>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99" name="Google Shape;399;p38"/>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00" name="Google Shape;400;p38"/>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5600"/>
              <a:buFont typeface="Impact"/>
              <a:buNone/>
            </a:pPr>
            <a:r>
              <a:rPr i="0" lang="en-US" sz="5600" u="none" cap="none" strike="noStrike">
                <a:solidFill>
                  <a:srgbClr val="FFFFFF"/>
                </a:solidFill>
                <a:latin typeface="Impact"/>
                <a:ea typeface="Impact"/>
                <a:cs typeface="Impact"/>
                <a:sym typeface="Impact"/>
              </a:rPr>
              <a:t>CONCEPTOS CLAVE APRENDIDOS </a:t>
            </a:r>
            <a:endParaRPr sz="5600">
              <a:solidFill>
                <a:srgbClr val="FFFFFF"/>
              </a:solidFill>
            </a:endParaRPr>
          </a:p>
        </p:txBody>
      </p:sp>
      <p:grpSp>
        <p:nvGrpSpPr>
          <p:cNvPr id="401" name="Google Shape;401;p38"/>
          <p:cNvGrpSpPr/>
          <p:nvPr/>
        </p:nvGrpSpPr>
        <p:grpSpPr>
          <a:xfrm>
            <a:off x="4972938" y="0"/>
            <a:ext cx="3655219" cy="10287002"/>
            <a:chOff x="1320800" y="0"/>
            <a:chExt cx="2436813" cy="6858001"/>
          </a:xfrm>
        </p:grpSpPr>
        <p:sp>
          <p:nvSpPr>
            <p:cNvPr id="402" name="Google Shape;402;p38"/>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3" name="Google Shape;403;p38"/>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4" name="Google Shape;404;p38"/>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5" name="Google Shape;405;p38"/>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6" name="Google Shape;406;p38"/>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7" name="Google Shape;407;p38"/>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08" name="Google Shape;408;p38"/>
          <p:cNvGrpSpPr/>
          <p:nvPr/>
        </p:nvGrpSpPr>
        <p:grpSpPr>
          <a:xfrm>
            <a:off x="7515225" y="1802991"/>
            <a:ext cx="9739312" cy="7709715"/>
            <a:chOff x="0" y="774292"/>
            <a:chExt cx="9739312" cy="7709715"/>
          </a:xfrm>
        </p:grpSpPr>
        <p:sp>
          <p:nvSpPr>
            <p:cNvPr id="409" name="Google Shape;409;p38"/>
            <p:cNvSpPr/>
            <p:nvPr/>
          </p:nvSpPr>
          <p:spPr>
            <a:xfrm>
              <a:off x="0" y="774292"/>
              <a:ext cx="9739312" cy="1899348"/>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8"/>
            <p:cNvSpPr txBox="1"/>
            <p:nvPr/>
          </p:nvSpPr>
          <p:spPr>
            <a:xfrm>
              <a:off x="92719" y="867011"/>
              <a:ext cx="9553874" cy="1713910"/>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Un KPI, sigla que proviene de la frase en inglés </a:t>
              </a:r>
              <a:r>
                <a:rPr b="1" lang="en-US" sz="1300">
                  <a:solidFill>
                    <a:schemeClr val="lt1"/>
                  </a:solidFill>
                  <a:latin typeface="Open Sans"/>
                  <a:ea typeface="Open Sans"/>
                  <a:cs typeface="Open Sans"/>
                  <a:sym typeface="Open Sans"/>
                </a:rPr>
                <a:t>key performance indicator </a:t>
              </a:r>
              <a:r>
                <a:rPr lang="en-US" sz="1300">
                  <a:solidFill>
                    <a:schemeClr val="lt1"/>
                  </a:solidFill>
                  <a:latin typeface="Open Sans"/>
                  <a:ea typeface="Open Sans"/>
                  <a:cs typeface="Open Sans"/>
                  <a:sym typeface="Open Sans"/>
                </a:rPr>
                <a:t>(indicador clave de rendimiento), es una métrica cuantitativa que muestra cómo tu equipo o empresa progresa hacia tus objetivos empresariales más importantes.</a:t>
              </a:r>
              <a:endParaRPr sz="1300">
                <a:solidFill>
                  <a:schemeClr val="lt1"/>
                </a:solidFill>
                <a:latin typeface="Corbel"/>
                <a:ea typeface="Corbel"/>
                <a:cs typeface="Corbel"/>
                <a:sym typeface="Corbel"/>
              </a:endParaRPr>
            </a:p>
          </p:txBody>
        </p:sp>
        <p:sp>
          <p:nvSpPr>
            <p:cNvPr id="411" name="Google Shape;411;p38"/>
            <p:cNvSpPr/>
            <p:nvPr/>
          </p:nvSpPr>
          <p:spPr>
            <a:xfrm>
              <a:off x="0" y="2711081"/>
              <a:ext cx="9739312" cy="1899348"/>
            </a:xfrm>
            <a:prstGeom prst="roundRect">
              <a:avLst>
                <a:gd fmla="val 16667" name="adj"/>
              </a:avLst>
            </a:prstGeom>
            <a:solidFill>
              <a:srgbClr val="ABCD48"/>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8"/>
            <p:cNvSpPr txBox="1"/>
            <p:nvPr/>
          </p:nvSpPr>
          <p:spPr>
            <a:xfrm>
              <a:off x="92719" y="2803800"/>
              <a:ext cx="9553874" cy="1713910"/>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Ayuda a lograr los objetivos estratégicos</a:t>
              </a:r>
              <a:endParaRPr/>
            </a:p>
            <a:p>
              <a:pPr indent="0" lvl="0" marL="0" marR="0" rtl="0" algn="l">
                <a:lnSpc>
                  <a:spcPct val="90000"/>
                </a:lnSpc>
                <a:spcBef>
                  <a:spcPts val="455"/>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Informa sobre la planificación de los recursos</a:t>
              </a:r>
              <a:endParaRPr/>
            </a:p>
            <a:p>
              <a:pPr indent="0" lvl="0" marL="0" marR="0" rtl="0" algn="l">
                <a:lnSpc>
                  <a:spcPct val="90000"/>
                </a:lnSpc>
                <a:spcBef>
                  <a:spcPts val="455"/>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Puede medirse</a:t>
              </a:r>
              <a:endParaRPr/>
            </a:p>
            <a:p>
              <a:pPr indent="0" lvl="0" marL="0" marR="0" rtl="0" algn="l">
                <a:lnSpc>
                  <a:spcPct val="90000"/>
                </a:lnSpc>
                <a:spcBef>
                  <a:spcPts val="455"/>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Hace un seguimiento de lo que se puede controlar e influir</a:t>
              </a:r>
              <a:endParaRPr/>
            </a:p>
            <a:p>
              <a:pPr indent="0" lvl="0" marL="0" marR="0" rtl="0" algn="l">
                <a:lnSpc>
                  <a:spcPct val="90000"/>
                </a:lnSpc>
                <a:spcBef>
                  <a:spcPts val="455"/>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Conecta métricas con objetivos estratégicos </a:t>
              </a:r>
              <a:endParaRPr/>
            </a:p>
            <a:p>
              <a:pPr indent="0" lvl="0" marL="0" marR="0" rtl="0" algn="l">
                <a:lnSpc>
                  <a:spcPct val="90000"/>
                </a:lnSpc>
                <a:spcBef>
                  <a:spcPts val="455"/>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Brinda a los miembros del equipo una idea clara de cómo sus proyectos contribuyen a los objetivos de la empresa</a:t>
              </a:r>
              <a:endParaRPr sz="1300">
                <a:solidFill>
                  <a:schemeClr val="lt1"/>
                </a:solidFill>
                <a:latin typeface="Corbel"/>
                <a:ea typeface="Corbel"/>
                <a:cs typeface="Corbel"/>
                <a:sym typeface="Corbel"/>
              </a:endParaRPr>
            </a:p>
          </p:txBody>
        </p:sp>
        <p:sp>
          <p:nvSpPr>
            <p:cNvPr id="413" name="Google Shape;413;p38"/>
            <p:cNvSpPr/>
            <p:nvPr/>
          </p:nvSpPr>
          <p:spPr>
            <a:xfrm>
              <a:off x="0" y="4647870"/>
              <a:ext cx="9739312" cy="1899348"/>
            </a:xfrm>
            <a:prstGeom prst="roundRect">
              <a:avLst>
                <a:gd fmla="val 16667" name="adj"/>
              </a:avLst>
            </a:prstGeom>
            <a:solidFill>
              <a:srgbClr val="D7C94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8"/>
            <p:cNvSpPr txBox="1"/>
            <p:nvPr/>
          </p:nvSpPr>
          <p:spPr>
            <a:xfrm>
              <a:off x="92719" y="4740589"/>
              <a:ext cx="9553874" cy="1713910"/>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Los cubos OLAP representan un avance significativo en el análisis de datos empresariales. Estas estructuras permiten organizar y examinar información compleja desde múltiples dimensiones, ofreciendo una visión más completa que los sistemas tradicionales de reportes. Su capacidad para procesar grandes volúmenes de datos los hace particularmente útiles para el seguimiento y análisis de KPIs.</a:t>
              </a:r>
              <a:endParaRPr sz="1300">
                <a:solidFill>
                  <a:schemeClr val="lt1"/>
                </a:solidFill>
                <a:latin typeface="Corbel"/>
                <a:ea typeface="Corbel"/>
                <a:cs typeface="Corbel"/>
                <a:sym typeface="Corbel"/>
              </a:endParaRPr>
            </a:p>
          </p:txBody>
        </p:sp>
        <p:sp>
          <p:nvSpPr>
            <p:cNvPr id="415" name="Google Shape;415;p38"/>
            <p:cNvSpPr/>
            <p:nvPr/>
          </p:nvSpPr>
          <p:spPr>
            <a:xfrm>
              <a:off x="0" y="6584659"/>
              <a:ext cx="9739312" cy="1899348"/>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8"/>
            <p:cNvSpPr txBox="1"/>
            <p:nvPr/>
          </p:nvSpPr>
          <p:spPr>
            <a:xfrm>
              <a:off x="92719" y="6677378"/>
              <a:ext cx="9553874" cy="1713910"/>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Open Sans"/>
                <a:buNone/>
              </a:pPr>
              <a:r>
                <a:rPr lang="en-US" sz="1300">
                  <a:solidFill>
                    <a:schemeClr val="lt1"/>
                  </a:solidFill>
                  <a:latin typeface="Open Sans"/>
                  <a:ea typeface="Open Sans"/>
                  <a:cs typeface="Open Sans"/>
                  <a:sym typeface="Open Sans"/>
                </a:rPr>
                <a:t>Los modelos tabulares son un tipo de base de datos que organiza la información en filas y columnas, similar a una tabla de Excel o una hoja de cálculo. Estos modelos son eficientes para consultas basadas en columnas y ofrecen una forma más sencilla de desarrollo y administración comparados con los modelos multidimensionales. Se utilizan en sistemas de análisis de datos como Analysis Services y Power BI. </a:t>
              </a:r>
              <a:endParaRPr sz="13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20" name="Shape 420"/>
        <p:cNvGrpSpPr/>
        <p:nvPr/>
      </p:nvGrpSpPr>
      <p:grpSpPr>
        <a:xfrm>
          <a:off x="0" y="0"/>
          <a:ext cx="0" cy="0"/>
          <a:chOff x="0" y="0"/>
          <a:chExt cx="0" cy="0"/>
        </a:xfrm>
      </p:grpSpPr>
      <p:sp>
        <p:nvSpPr>
          <p:cNvPr id="421" name="Google Shape;421;p39"/>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22" name="Google Shape;422;p39"/>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23" name="Google Shape;423;p39"/>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6000"/>
              <a:buFont typeface="Impact"/>
              <a:buNone/>
            </a:pPr>
            <a:r>
              <a:rPr i="0" lang="en-US" u="none" cap="none" strike="noStrike">
                <a:solidFill>
                  <a:srgbClr val="FFFFFF"/>
                </a:solidFill>
                <a:latin typeface="Impact"/>
                <a:ea typeface="Impact"/>
                <a:cs typeface="Impact"/>
                <a:sym typeface="Impact"/>
              </a:rPr>
              <a:t>VALOR y ACTITUD</a:t>
            </a:r>
            <a:endParaRPr>
              <a:solidFill>
                <a:srgbClr val="FFFFFF"/>
              </a:solidFill>
            </a:endParaRPr>
          </a:p>
        </p:txBody>
      </p:sp>
      <p:grpSp>
        <p:nvGrpSpPr>
          <p:cNvPr id="424" name="Google Shape;424;p39"/>
          <p:cNvGrpSpPr/>
          <p:nvPr/>
        </p:nvGrpSpPr>
        <p:grpSpPr>
          <a:xfrm>
            <a:off x="4972938" y="0"/>
            <a:ext cx="3655219" cy="10287002"/>
            <a:chOff x="1320800" y="0"/>
            <a:chExt cx="2436813" cy="6858001"/>
          </a:xfrm>
        </p:grpSpPr>
        <p:sp>
          <p:nvSpPr>
            <p:cNvPr id="425" name="Google Shape;425;p39"/>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6" name="Google Shape;426;p39"/>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7" name="Google Shape;427;p39"/>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8" name="Google Shape;428;p39"/>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9" name="Google Shape;429;p39"/>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0" name="Google Shape;430;p39"/>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31" name="Google Shape;431;p39"/>
          <p:cNvGrpSpPr/>
          <p:nvPr/>
        </p:nvGrpSpPr>
        <p:grpSpPr>
          <a:xfrm>
            <a:off x="7515225" y="1082249"/>
            <a:ext cx="9739312" cy="7551001"/>
            <a:chOff x="0" y="53549"/>
            <a:chExt cx="9739312" cy="7551001"/>
          </a:xfrm>
        </p:grpSpPr>
        <p:sp>
          <p:nvSpPr>
            <p:cNvPr id="432" name="Google Shape;432;p39"/>
            <p:cNvSpPr/>
            <p:nvPr/>
          </p:nvSpPr>
          <p:spPr>
            <a:xfrm>
              <a:off x="0" y="422549"/>
              <a:ext cx="9739312" cy="1417500"/>
            </a:xfrm>
            <a:prstGeom prst="rect">
              <a:avLst/>
            </a:prstGeom>
            <a:solidFill>
              <a:schemeClr val="lt1">
                <a:alpha val="89803"/>
              </a:schemeClr>
            </a:solidFill>
            <a:ln cap="rnd"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9"/>
            <p:cNvSpPr txBox="1"/>
            <p:nvPr/>
          </p:nvSpPr>
          <p:spPr>
            <a:xfrm>
              <a:off x="0" y="422549"/>
              <a:ext cx="9739312" cy="1417500"/>
            </a:xfrm>
            <a:prstGeom prst="rect">
              <a:avLst/>
            </a:prstGeom>
            <a:noFill/>
            <a:ln>
              <a:noFill/>
            </a:ln>
          </p:spPr>
          <p:txBody>
            <a:bodyPr anchorCtr="0" anchor="t" bIns="177800" lIns="755875" spcFirstLastPara="1" rIns="755875" wrap="square" tIns="520700">
              <a:noAutofit/>
            </a:bodyPr>
            <a:lstStyle/>
            <a:p>
              <a:pPr indent="-228600" lvl="1" marL="228600" marR="0" rtl="0" algn="l">
                <a:lnSpc>
                  <a:spcPct val="90000"/>
                </a:lnSpc>
                <a:spcBef>
                  <a:spcPts val="0"/>
                </a:spcBef>
                <a:spcAft>
                  <a:spcPts val="0"/>
                </a:spcAft>
                <a:buClr>
                  <a:schemeClr val="dk1"/>
                </a:buClr>
                <a:buSzPts val="2500"/>
                <a:buFont typeface="Corbel"/>
                <a:buChar char="•"/>
              </a:pPr>
              <a:r>
                <a:rPr b="0" i="0" lang="en-US" sz="2500" u="none" cap="none" strike="noStrike">
                  <a:solidFill>
                    <a:schemeClr val="dk1"/>
                  </a:solidFill>
                  <a:latin typeface="Corbel"/>
                  <a:ea typeface="Corbel"/>
                  <a:cs typeface="Corbel"/>
                  <a:sym typeface="Corbel"/>
                </a:rPr>
                <a:t>Se desarrolla al definir KPIs y estructuras de Scorecard que alinean los datos con objetivos de negocio.</a:t>
              </a:r>
              <a:endParaRPr b="0" i="0" sz="2500" u="none" cap="none" strike="noStrike">
                <a:solidFill>
                  <a:schemeClr val="dk1"/>
                </a:solidFill>
                <a:latin typeface="Corbel"/>
                <a:ea typeface="Corbel"/>
                <a:cs typeface="Corbel"/>
                <a:sym typeface="Corbel"/>
              </a:endParaRPr>
            </a:p>
          </p:txBody>
        </p:sp>
        <p:sp>
          <p:nvSpPr>
            <p:cNvPr id="434" name="Google Shape;434;p39"/>
            <p:cNvSpPr/>
            <p:nvPr/>
          </p:nvSpPr>
          <p:spPr>
            <a:xfrm>
              <a:off x="486965" y="53549"/>
              <a:ext cx="6817518" cy="73800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9"/>
            <p:cNvSpPr txBox="1"/>
            <p:nvPr/>
          </p:nvSpPr>
          <p:spPr>
            <a:xfrm>
              <a:off x="522991" y="89575"/>
              <a:ext cx="6745466" cy="665948"/>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500"/>
                <a:buFont typeface="Corbel"/>
                <a:buNone/>
              </a:pPr>
              <a:r>
                <a:rPr lang="en-US" sz="2500">
                  <a:solidFill>
                    <a:schemeClr val="lt1"/>
                  </a:solidFill>
                  <a:latin typeface="Corbel"/>
                  <a:ea typeface="Corbel"/>
                  <a:cs typeface="Corbel"/>
                  <a:sym typeface="Corbel"/>
                </a:rPr>
                <a:t>Pensamiento estratégicol</a:t>
              </a:r>
              <a:endParaRPr sz="2500">
                <a:solidFill>
                  <a:schemeClr val="lt1"/>
                </a:solidFill>
                <a:latin typeface="Corbel"/>
                <a:ea typeface="Corbel"/>
                <a:cs typeface="Corbel"/>
                <a:sym typeface="Corbel"/>
              </a:endParaRPr>
            </a:p>
          </p:txBody>
        </p:sp>
        <p:sp>
          <p:nvSpPr>
            <p:cNvPr id="436" name="Google Shape;436;p39"/>
            <p:cNvSpPr/>
            <p:nvPr/>
          </p:nvSpPr>
          <p:spPr>
            <a:xfrm>
              <a:off x="0" y="2344050"/>
              <a:ext cx="9739312" cy="1417500"/>
            </a:xfrm>
            <a:prstGeom prst="rect">
              <a:avLst/>
            </a:prstGeom>
            <a:solidFill>
              <a:schemeClr val="lt1">
                <a:alpha val="89803"/>
              </a:schemeClr>
            </a:solidFill>
            <a:ln cap="rnd" cmpd="sng" w="15875">
              <a:solidFill>
                <a:srgbClr val="ABC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9"/>
            <p:cNvSpPr txBox="1"/>
            <p:nvPr/>
          </p:nvSpPr>
          <p:spPr>
            <a:xfrm>
              <a:off x="0" y="2344050"/>
              <a:ext cx="9739312" cy="1417500"/>
            </a:xfrm>
            <a:prstGeom prst="rect">
              <a:avLst/>
            </a:prstGeom>
            <a:noFill/>
            <a:ln>
              <a:noFill/>
            </a:ln>
          </p:spPr>
          <p:txBody>
            <a:bodyPr anchorCtr="0" anchor="t" bIns="177800" lIns="755875" spcFirstLastPara="1" rIns="755875" wrap="square" tIns="520700">
              <a:noAutofit/>
            </a:bodyPr>
            <a:lstStyle/>
            <a:p>
              <a:pPr indent="-228600" lvl="1" marL="228600" marR="0" rtl="0" algn="l">
                <a:lnSpc>
                  <a:spcPct val="90000"/>
                </a:lnSpc>
                <a:spcBef>
                  <a:spcPts val="0"/>
                </a:spcBef>
                <a:spcAft>
                  <a:spcPts val="0"/>
                </a:spcAft>
                <a:buClr>
                  <a:schemeClr val="dk1"/>
                </a:buClr>
                <a:buSzPts val="2500"/>
                <a:buFont typeface="Corbel"/>
                <a:buChar char="•"/>
              </a:pPr>
              <a:r>
                <a:rPr b="0" i="0" lang="en-US" sz="2500" u="none" cap="none" strike="noStrike">
                  <a:solidFill>
                    <a:schemeClr val="dk1"/>
                  </a:solidFill>
                  <a:latin typeface="Corbel"/>
                  <a:ea typeface="Corbel"/>
                  <a:cs typeface="Corbel"/>
                  <a:sym typeface="Corbel"/>
                </a:rPr>
                <a:t>Se refuerza al crear reportes con DAX y MDX, donde cada fórmula debe ser lógica y precisa.</a:t>
              </a:r>
              <a:endParaRPr b="0" i="0" sz="2500" u="none" cap="none" strike="noStrike">
                <a:solidFill>
                  <a:schemeClr val="dk1"/>
                </a:solidFill>
                <a:latin typeface="Corbel"/>
                <a:ea typeface="Corbel"/>
                <a:cs typeface="Corbel"/>
                <a:sym typeface="Corbel"/>
              </a:endParaRPr>
            </a:p>
          </p:txBody>
        </p:sp>
        <p:sp>
          <p:nvSpPr>
            <p:cNvPr id="438" name="Google Shape;438;p39"/>
            <p:cNvSpPr/>
            <p:nvPr/>
          </p:nvSpPr>
          <p:spPr>
            <a:xfrm>
              <a:off x="486965" y="1975050"/>
              <a:ext cx="6817518" cy="738000"/>
            </a:xfrm>
            <a:prstGeom prst="roundRect">
              <a:avLst>
                <a:gd fmla="val 16667" name="adj"/>
              </a:avLst>
            </a:prstGeom>
            <a:solidFill>
              <a:srgbClr val="ABCD48"/>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9"/>
            <p:cNvSpPr txBox="1"/>
            <p:nvPr/>
          </p:nvSpPr>
          <p:spPr>
            <a:xfrm>
              <a:off x="522991" y="2011076"/>
              <a:ext cx="6745466" cy="665948"/>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500"/>
                <a:buFont typeface="Corbel"/>
                <a:buNone/>
              </a:pPr>
              <a:r>
                <a:rPr lang="en-US" sz="2500">
                  <a:solidFill>
                    <a:schemeClr val="lt1"/>
                  </a:solidFill>
                  <a:latin typeface="Corbel"/>
                  <a:ea typeface="Corbel"/>
                  <a:cs typeface="Corbel"/>
                  <a:sym typeface="Corbel"/>
                </a:rPr>
                <a:t>Rigor analítico</a:t>
              </a:r>
              <a:endParaRPr sz="2500">
                <a:solidFill>
                  <a:schemeClr val="lt1"/>
                </a:solidFill>
                <a:latin typeface="Corbel"/>
                <a:ea typeface="Corbel"/>
                <a:cs typeface="Corbel"/>
                <a:sym typeface="Corbel"/>
              </a:endParaRPr>
            </a:p>
          </p:txBody>
        </p:sp>
        <p:sp>
          <p:nvSpPr>
            <p:cNvPr id="440" name="Google Shape;440;p39"/>
            <p:cNvSpPr/>
            <p:nvPr/>
          </p:nvSpPr>
          <p:spPr>
            <a:xfrm>
              <a:off x="0" y="4265550"/>
              <a:ext cx="9739312" cy="1417500"/>
            </a:xfrm>
            <a:prstGeom prst="rect">
              <a:avLst/>
            </a:prstGeom>
            <a:solidFill>
              <a:schemeClr val="lt1">
                <a:alpha val="89803"/>
              </a:schemeClr>
            </a:solidFill>
            <a:ln cap="rnd" cmpd="sng" w="15875">
              <a:solidFill>
                <a:srgbClr val="D7C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9"/>
            <p:cNvSpPr txBox="1"/>
            <p:nvPr/>
          </p:nvSpPr>
          <p:spPr>
            <a:xfrm>
              <a:off x="0" y="4265550"/>
              <a:ext cx="9739312" cy="1417500"/>
            </a:xfrm>
            <a:prstGeom prst="rect">
              <a:avLst/>
            </a:prstGeom>
            <a:noFill/>
            <a:ln>
              <a:noFill/>
            </a:ln>
          </p:spPr>
          <p:txBody>
            <a:bodyPr anchorCtr="0" anchor="t" bIns="177800" lIns="755875" spcFirstLastPara="1" rIns="755875" wrap="square" tIns="520700">
              <a:noAutofit/>
            </a:bodyPr>
            <a:lstStyle/>
            <a:p>
              <a:pPr indent="-228600" lvl="1" marL="228600" marR="0" rtl="0" algn="l">
                <a:lnSpc>
                  <a:spcPct val="90000"/>
                </a:lnSpc>
                <a:spcBef>
                  <a:spcPts val="0"/>
                </a:spcBef>
                <a:spcAft>
                  <a:spcPts val="0"/>
                </a:spcAft>
                <a:buClr>
                  <a:schemeClr val="dk1"/>
                </a:buClr>
                <a:buSzPts val="2500"/>
                <a:buFont typeface="Corbel"/>
                <a:buChar char="•"/>
              </a:pPr>
              <a:r>
                <a:rPr b="0" i="0" lang="en-US" sz="2500" u="none" cap="none" strike="noStrike">
                  <a:solidFill>
                    <a:schemeClr val="dk1"/>
                  </a:solidFill>
                  <a:latin typeface="Corbel"/>
                  <a:ea typeface="Corbel"/>
                  <a:cs typeface="Corbel"/>
                  <a:sym typeface="Corbel"/>
                </a:rPr>
                <a:t>Se promueve al trabajar con información crítica como presupuestos, proyecciones y desempeño organizacional.</a:t>
              </a:r>
              <a:endParaRPr b="0" i="0" sz="2500" u="none" cap="none" strike="noStrike">
                <a:solidFill>
                  <a:schemeClr val="dk1"/>
                </a:solidFill>
                <a:latin typeface="Corbel"/>
                <a:ea typeface="Corbel"/>
                <a:cs typeface="Corbel"/>
                <a:sym typeface="Corbel"/>
              </a:endParaRPr>
            </a:p>
          </p:txBody>
        </p:sp>
        <p:sp>
          <p:nvSpPr>
            <p:cNvPr id="442" name="Google Shape;442;p39"/>
            <p:cNvSpPr/>
            <p:nvPr/>
          </p:nvSpPr>
          <p:spPr>
            <a:xfrm>
              <a:off x="486965" y="3896550"/>
              <a:ext cx="6817518" cy="738000"/>
            </a:xfrm>
            <a:prstGeom prst="roundRect">
              <a:avLst>
                <a:gd fmla="val 16667" name="adj"/>
              </a:avLst>
            </a:prstGeom>
            <a:solidFill>
              <a:srgbClr val="D7C94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9"/>
            <p:cNvSpPr txBox="1"/>
            <p:nvPr/>
          </p:nvSpPr>
          <p:spPr>
            <a:xfrm>
              <a:off x="522991" y="3932576"/>
              <a:ext cx="6745466" cy="665948"/>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500"/>
                <a:buFont typeface="Corbel"/>
                <a:buNone/>
              </a:pPr>
              <a:r>
                <a:rPr lang="en-US" sz="2500">
                  <a:solidFill>
                    <a:schemeClr val="lt1"/>
                  </a:solidFill>
                  <a:latin typeface="Corbel"/>
                  <a:ea typeface="Corbel"/>
                  <a:cs typeface="Corbel"/>
                  <a:sym typeface="Corbel"/>
                </a:rPr>
                <a:t>Responsabilidad</a:t>
              </a:r>
              <a:endParaRPr sz="2500">
                <a:solidFill>
                  <a:schemeClr val="lt1"/>
                </a:solidFill>
                <a:latin typeface="Corbel"/>
                <a:ea typeface="Corbel"/>
                <a:cs typeface="Corbel"/>
                <a:sym typeface="Corbel"/>
              </a:endParaRPr>
            </a:p>
          </p:txBody>
        </p:sp>
        <p:sp>
          <p:nvSpPr>
            <p:cNvPr id="444" name="Google Shape;444;p39"/>
            <p:cNvSpPr/>
            <p:nvPr/>
          </p:nvSpPr>
          <p:spPr>
            <a:xfrm>
              <a:off x="0" y="6187050"/>
              <a:ext cx="9739312" cy="1417500"/>
            </a:xfrm>
            <a:prstGeom prst="rect">
              <a:avLst/>
            </a:prstGeom>
            <a:solidFill>
              <a:schemeClr val="lt1">
                <a:alpha val="89803"/>
              </a:schemeClr>
            </a:solidFill>
            <a:ln cap="rnd" cmpd="sng" w="15875">
              <a:solidFill>
                <a:srgbClr val="E19C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9"/>
            <p:cNvSpPr txBox="1"/>
            <p:nvPr/>
          </p:nvSpPr>
          <p:spPr>
            <a:xfrm>
              <a:off x="0" y="6187050"/>
              <a:ext cx="9739312" cy="1417500"/>
            </a:xfrm>
            <a:prstGeom prst="rect">
              <a:avLst/>
            </a:prstGeom>
            <a:noFill/>
            <a:ln>
              <a:noFill/>
            </a:ln>
          </p:spPr>
          <p:txBody>
            <a:bodyPr anchorCtr="0" anchor="t" bIns="177800" lIns="755875" spcFirstLastPara="1" rIns="755875" wrap="square" tIns="520700">
              <a:noAutofit/>
            </a:bodyPr>
            <a:lstStyle/>
            <a:p>
              <a:pPr indent="-228600" lvl="1" marL="228600" marR="0" rtl="0" algn="l">
                <a:lnSpc>
                  <a:spcPct val="90000"/>
                </a:lnSpc>
                <a:spcBef>
                  <a:spcPts val="0"/>
                </a:spcBef>
                <a:spcAft>
                  <a:spcPts val="0"/>
                </a:spcAft>
                <a:buClr>
                  <a:schemeClr val="dk1"/>
                </a:buClr>
                <a:buSzPts val="2500"/>
                <a:buFont typeface="Corbel"/>
                <a:buChar char="•"/>
              </a:pPr>
              <a:r>
                <a:rPr b="0" i="0" lang="en-US" sz="2500" u="none" cap="none" strike="noStrike">
                  <a:solidFill>
                    <a:schemeClr val="dk1"/>
                  </a:solidFill>
                  <a:latin typeface="Corbel"/>
                  <a:ea typeface="Corbel"/>
                  <a:cs typeface="Corbel"/>
                  <a:sym typeface="Corbel"/>
                </a:rPr>
                <a:t>Se fomenta al automatizar reportes y visualizaciones, mostrando cómo optimizar el flujo de información ejecutiva.</a:t>
              </a:r>
              <a:endParaRPr b="0" i="0" sz="2500" u="none" cap="none" strike="noStrike">
                <a:solidFill>
                  <a:schemeClr val="dk1"/>
                </a:solidFill>
                <a:latin typeface="Corbel"/>
                <a:ea typeface="Corbel"/>
                <a:cs typeface="Corbel"/>
                <a:sym typeface="Corbel"/>
              </a:endParaRPr>
            </a:p>
          </p:txBody>
        </p:sp>
        <p:sp>
          <p:nvSpPr>
            <p:cNvPr id="446" name="Google Shape;446;p39"/>
            <p:cNvSpPr/>
            <p:nvPr/>
          </p:nvSpPr>
          <p:spPr>
            <a:xfrm>
              <a:off x="486965" y="5818050"/>
              <a:ext cx="6817518" cy="73800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9"/>
            <p:cNvSpPr txBox="1"/>
            <p:nvPr/>
          </p:nvSpPr>
          <p:spPr>
            <a:xfrm>
              <a:off x="522991" y="5854076"/>
              <a:ext cx="6745466" cy="665948"/>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500"/>
                <a:buFont typeface="Corbel"/>
                <a:buNone/>
              </a:pPr>
              <a:r>
                <a:rPr lang="en-US" sz="2500">
                  <a:solidFill>
                    <a:schemeClr val="lt1"/>
                  </a:solidFill>
                  <a:latin typeface="Corbel"/>
                  <a:ea typeface="Corbel"/>
                  <a:cs typeface="Corbel"/>
                  <a:sym typeface="Corbel"/>
                </a:rPr>
                <a:t>Innovación aplicada</a:t>
              </a:r>
              <a:endParaRPr sz="2500">
                <a:solidFill>
                  <a:schemeClr val="lt1"/>
                </a:solidFill>
                <a:latin typeface="Corbel"/>
                <a:ea typeface="Corbel"/>
                <a:cs typeface="Corbel"/>
                <a:sym typeface="Corbe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i="0" lang="en-US" sz="6000" u="none" cap="none" strike="noStrike">
                <a:solidFill>
                  <a:srgbClr val="131416"/>
                </a:solidFill>
                <a:latin typeface="Impact"/>
                <a:ea typeface="Impact"/>
                <a:cs typeface="Impact"/>
                <a:sym typeface="Impact"/>
              </a:rPr>
              <a:t>REFERENCIAS</a:t>
            </a:r>
            <a:endParaRPr/>
          </a:p>
        </p:txBody>
      </p:sp>
      <p:grpSp>
        <p:nvGrpSpPr>
          <p:cNvPr id="453" name="Google Shape;453;p40"/>
          <p:cNvGrpSpPr/>
          <p:nvPr/>
        </p:nvGrpSpPr>
        <p:grpSpPr>
          <a:xfrm>
            <a:off x="2226466" y="3050638"/>
            <a:ext cx="15028070" cy="6351979"/>
            <a:chOff x="0" y="2638"/>
            <a:chExt cx="15028070" cy="6351979"/>
          </a:xfrm>
        </p:grpSpPr>
        <p:sp>
          <p:nvSpPr>
            <p:cNvPr id="454" name="Google Shape;454;p40"/>
            <p:cNvSpPr/>
            <p:nvPr/>
          </p:nvSpPr>
          <p:spPr>
            <a:xfrm>
              <a:off x="0" y="2638"/>
              <a:ext cx="15028070" cy="1337258"/>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0"/>
            <p:cNvSpPr/>
            <p:nvPr/>
          </p:nvSpPr>
          <p:spPr>
            <a:xfrm>
              <a:off x="404520" y="303521"/>
              <a:ext cx="735492" cy="735492"/>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0"/>
            <p:cNvSpPr/>
            <p:nvPr/>
          </p:nvSpPr>
          <p:spPr>
            <a:xfrm>
              <a:off x="1544534" y="2638"/>
              <a:ext cx="13483535" cy="133725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0"/>
            <p:cNvSpPr txBox="1"/>
            <p:nvPr/>
          </p:nvSpPr>
          <p:spPr>
            <a:xfrm>
              <a:off x="1544534" y="2638"/>
              <a:ext cx="13483535" cy="1337258"/>
            </a:xfrm>
            <a:prstGeom prst="rect">
              <a:avLst/>
            </a:prstGeom>
            <a:noFill/>
            <a:ln>
              <a:noFill/>
            </a:ln>
          </p:spPr>
          <p:txBody>
            <a:bodyPr anchorCtr="0" anchor="ctr" bIns="141525" lIns="141525" spcFirstLastPara="1" rIns="141525" wrap="square" tIns="141525">
              <a:noAutofit/>
            </a:bodyPr>
            <a:lstStyle/>
            <a:p>
              <a:pPr indent="0" lvl="0" marL="0" marR="0" rtl="0" algn="l">
                <a:lnSpc>
                  <a:spcPct val="100000"/>
                </a:lnSpc>
                <a:spcBef>
                  <a:spcPts val="0"/>
                </a:spcBef>
                <a:spcAft>
                  <a:spcPts val="0"/>
                </a:spcAft>
                <a:buClr>
                  <a:schemeClr val="dk1"/>
                </a:buClr>
                <a:buSzPts val="2000"/>
                <a:buFont typeface="Corbel"/>
                <a:buNone/>
              </a:pPr>
              <a:r>
                <a:rPr i="1" lang="en-US" sz="2000">
                  <a:solidFill>
                    <a:schemeClr val="dk1"/>
                  </a:solidFill>
                  <a:latin typeface="Corbel"/>
                  <a:ea typeface="Corbel"/>
                  <a:cs typeface="Corbel"/>
                  <a:sym typeface="Corbel"/>
                </a:rPr>
                <a:t>IBM SPSS Modeler Subscription</a:t>
              </a:r>
              <a:r>
                <a:rPr lang="en-US" sz="2000">
                  <a:solidFill>
                    <a:schemeClr val="dk1"/>
                  </a:solidFill>
                  <a:latin typeface="Corbel"/>
                  <a:ea typeface="Corbel"/>
                  <a:cs typeface="Corbel"/>
                  <a:sym typeface="Corbel"/>
                </a:rPr>
                <a:t>. (s. f.). https://www.ibm.com/docs/es/spss-modeler/saas?topic=rules-tabular-versus-transactional-data</a:t>
              </a:r>
              <a:endParaRPr sz="2000">
                <a:solidFill>
                  <a:schemeClr val="dk1"/>
                </a:solidFill>
                <a:latin typeface="Corbel"/>
                <a:ea typeface="Corbel"/>
                <a:cs typeface="Corbel"/>
                <a:sym typeface="Corbel"/>
              </a:endParaRPr>
            </a:p>
          </p:txBody>
        </p:sp>
        <p:sp>
          <p:nvSpPr>
            <p:cNvPr id="458" name="Google Shape;458;p40"/>
            <p:cNvSpPr/>
            <p:nvPr/>
          </p:nvSpPr>
          <p:spPr>
            <a:xfrm>
              <a:off x="0" y="1674212"/>
              <a:ext cx="15028070" cy="1337258"/>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0"/>
            <p:cNvSpPr/>
            <p:nvPr/>
          </p:nvSpPr>
          <p:spPr>
            <a:xfrm>
              <a:off x="404520" y="1975095"/>
              <a:ext cx="735492" cy="735492"/>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0"/>
            <p:cNvSpPr/>
            <p:nvPr/>
          </p:nvSpPr>
          <p:spPr>
            <a:xfrm>
              <a:off x="1544534" y="1674212"/>
              <a:ext cx="13483535" cy="133725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0"/>
            <p:cNvSpPr txBox="1"/>
            <p:nvPr/>
          </p:nvSpPr>
          <p:spPr>
            <a:xfrm>
              <a:off x="1544534" y="1674212"/>
              <a:ext cx="13483535" cy="1337258"/>
            </a:xfrm>
            <a:prstGeom prst="rect">
              <a:avLst/>
            </a:prstGeom>
            <a:noFill/>
            <a:ln>
              <a:noFill/>
            </a:ln>
          </p:spPr>
          <p:txBody>
            <a:bodyPr anchorCtr="0" anchor="ctr" bIns="141525" lIns="141525" spcFirstLastPara="1" rIns="141525" wrap="square" tIns="141525">
              <a:noAutofit/>
            </a:bodyPr>
            <a:lstStyle/>
            <a:p>
              <a:pPr indent="0" lvl="0" marL="0" marR="0" rtl="0" algn="l">
                <a:lnSpc>
                  <a:spcPct val="100000"/>
                </a:lnSpc>
                <a:spcBef>
                  <a:spcPts val="0"/>
                </a:spcBef>
                <a:spcAft>
                  <a:spcPts val="0"/>
                </a:spcAft>
                <a:buClr>
                  <a:schemeClr val="dk1"/>
                </a:buClr>
                <a:buSzPts val="2000"/>
                <a:buFont typeface="Corbel"/>
                <a:buNone/>
              </a:pPr>
              <a:r>
                <a:rPr lang="en-US" sz="2000">
                  <a:solidFill>
                    <a:schemeClr val="dk1"/>
                  </a:solidFill>
                  <a:latin typeface="Corbel"/>
                  <a:ea typeface="Corbel"/>
                  <a:cs typeface="Corbel"/>
                  <a:sym typeface="Corbel"/>
                </a:rPr>
                <a:t>Lovera, K. I. (2025, 11 abril). </a:t>
              </a:r>
              <a:r>
                <a:rPr i="1" lang="en-US" sz="2000">
                  <a:solidFill>
                    <a:schemeClr val="dk1"/>
                  </a:solidFill>
                  <a:latin typeface="Corbel"/>
                  <a:ea typeface="Corbel"/>
                  <a:cs typeface="Corbel"/>
                  <a:sym typeface="Corbel"/>
                </a:rPr>
                <a:t>Cubos OLAP y los KPI</a:t>
              </a:r>
              <a:r>
                <a:rPr lang="en-US" sz="2000">
                  <a:solidFill>
                    <a:schemeClr val="dk1"/>
                  </a:solidFill>
                  <a:latin typeface="Corbel"/>
                  <a:ea typeface="Corbel"/>
                  <a:cs typeface="Corbel"/>
                  <a:sym typeface="Corbel"/>
                </a:rPr>
                <a:t>. https://es.linkedin.com/pulse/cubos-olap-y-los-kpi-keny-isaac-lovera-gf07e</a:t>
              </a:r>
              <a:endParaRPr sz="2000">
                <a:solidFill>
                  <a:schemeClr val="dk1"/>
                </a:solidFill>
                <a:latin typeface="Corbel"/>
                <a:ea typeface="Corbel"/>
                <a:cs typeface="Corbel"/>
                <a:sym typeface="Corbel"/>
              </a:endParaRPr>
            </a:p>
          </p:txBody>
        </p:sp>
        <p:sp>
          <p:nvSpPr>
            <p:cNvPr id="462" name="Google Shape;462;p40"/>
            <p:cNvSpPr/>
            <p:nvPr/>
          </p:nvSpPr>
          <p:spPr>
            <a:xfrm>
              <a:off x="0" y="3345785"/>
              <a:ext cx="15028070" cy="1337258"/>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0"/>
            <p:cNvSpPr/>
            <p:nvPr/>
          </p:nvSpPr>
          <p:spPr>
            <a:xfrm>
              <a:off x="404520" y="3646669"/>
              <a:ext cx="735492" cy="735492"/>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0"/>
            <p:cNvSpPr/>
            <p:nvPr/>
          </p:nvSpPr>
          <p:spPr>
            <a:xfrm>
              <a:off x="1544534" y="3345785"/>
              <a:ext cx="13483535" cy="133725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0"/>
            <p:cNvSpPr txBox="1"/>
            <p:nvPr/>
          </p:nvSpPr>
          <p:spPr>
            <a:xfrm>
              <a:off x="1544534" y="3345785"/>
              <a:ext cx="13483535" cy="1337258"/>
            </a:xfrm>
            <a:prstGeom prst="rect">
              <a:avLst/>
            </a:prstGeom>
            <a:noFill/>
            <a:ln>
              <a:noFill/>
            </a:ln>
          </p:spPr>
          <p:txBody>
            <a:bodyPr anchorCtr="0" anchor="ctr" bIns="141525" lIns="141525" spcFirstLastPara="1" rIns="141525" wrap="square" tIns="141525">
              <a:noAutofit/>
            </a:bodyPr>
            <a:lstStyle/>
            <a:p>
              <a:pPr indent="0" lvl="0" marL="0" marR="0" rtl="0" algn="l">
                <a:lnSpc>
                  <a:spcPct val="100000"/>
                </a:lnSpc>
                <a:spcBef>
                  <a:spcPts val="0"/>
                </a:spcBef>
                <a:spcAft>
                  <a:spcPts val="0"/>
                </a:spcAft>
                <a:buClr>
                  <a:schemeClr val="dk1"/>
                </a:buClr>
                <a:buSzPts val="2000"/>
                <a:buFont typeface="Corbel"/>
                <a:buNone/>
              </a:pPr>
              <a:r>
                <a:rPr lang="en-US" sz="2000">
                  <a:solidFill>
                    <a:schemeClr val="dk1"/>
                  </a:solidFill>
                  <a:latin typeface="Corbel"/>
                  <a:ea typeface="Corbel"/>
                  <a:cs typeface="Corbel"/>
                  <a:sym typeface="Corbel"/>
                </a:rPr>
                <a:t>Martins, J. (2024, 16 agosto). Qué es un KPI, para qué sirve y cómo utilizarlo en tu proyecto [2024] • Asana. </a:t>
              </a:r>
              <a:r>
                <a:rPr i="1" lang="en-US" sz="2000">
                  <a:solidFill>
                    <a:schemeClr val="dk1"/>
                  </a:solidFill>
                  <a:latin typeface="Corbel"/>
                  <a:ea typeface="Corbel"/>
                  <a:cs typeface="Corbel"/>
                  <a:sym typeface="Corbel"/>
                </a:rPr>
                <a:t>Asana</a:t>
              </a:r>
              <a:r>
                <a:rPr lang="en-US" sz="2000">
                  <a:solidFill>
                    <a:schemeClr val="dk1"/>
                  </a:solidFill>
                  <a:latin typeface="Corbel"/>
                  <a:ea typeface="Corbel"/>
                  <a:cs typeface="Corbel"/>
                  <a:sym typeface="Corbel"/>
                </a:rPr>
                <a:t>. https://asana.com/es/resources/key-performance-indicator-kpi</a:t>
              </a:r>
              <a:endParaRPr sz="2000">
                <a:solidFill>
                  <a:schemeClr val="dk1"/>
                </a:solidFill>
                <a:latin typeface="Corbel"/>
                <a:ea typeface="Corbel"/>
                <a:cs typeface="Corbel"/>
                <a:sym typeface="Corbel"/>
              </a:endParaRPr>
            </a:p>
          </p:txBody>
        </p:sp>
        <p:sp>
          <p:nvSpPr>
            <p:cNvPr id="466" name="Google Shape;466;p40"/>
            <p:cNvSpPr/>
            <p:nvPr/>
          </p:nvSpPr>
          <p:spPr>
            <a:xfrm>
              <a:off x="0" y="5017359"/>
              <a:ext cx="15028070" cy="1337258"/>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0"/>
            <p:cNvSpPr/>
            <p:nvPr/>
          </p:nvSpPr>
          <p:spPr>
            <a:xfrm>
              <a:off x="404520" y="5318242"/>
              <a:ext cx="735492" cy="735492"/>
            </a:xfrm>
            <a:prstGeom prst="rect">
              <a:avLst/>
            </a:prstGeom>
            <a:blipFill rotWithShape="1">
              <a:blip r:embed="rId6">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0"/>
            <p:cNvSpPr/>
            <p:nvPr/>
          </p:nvSpPr>
          <p:spPr>
            <a:xfrm>
              <a:off x="1544534" y="5017359"/>
              <a:ext cx="13483535" cy="133725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0"/>
            <p:cNvSpPr txBox="1"/>
            <p:nvPr/>
          </p:nvSpPr>
          <p:spPr>
            <a:xfrm>
              <a:off x="1544534" y="5017359"/>
              <a:ext cx="13483535" cy="1337258"/>
            </a:xfrm>
            <a:prstGeom prst="rect">
              <a:avLst/>
            </a:prstGeom>
            <a:noFill/>
            <a:ln>
              <a:noFill/>
            </a:ln>
          </p:spPr>
          <p:txBody>
            <a:bodyPr anchorCtr="0" anchor="ctr" bIns="141525" lIns="141525" spcFirstLastPara="1" rIns="141525" wrap="square" tIns="141525">
              <a:noAutofit/>
            </a:bodyPr>
            <a:lstStyle/>
            <a:p>
              <a:pPr indent="0" lvl="0" marL="0" marR="0" rtl="0" algn="l">
                <a:lnSpc>
                  <a:spcPct val="100000"/>
                </a:lnSpc>
                <a:spcBef>
                  <a:spcPts val="0"/>
                </a:spcBef>
                <a:spcAft>
                  <a:spcPts val="0"/>
                </a:spcAft>
                <a:buClr>
                  <a:schemeClr val="dk1"/>
                </a:buClr>
                <a:buSzPts val="2000"/>
                <a:buFont typeface="Corbel"/>
                <a:buNone/>
              </a:pPr>
              <a:r>
                <a:rPr lang="en-US" sz="2000">
                  <a:solidFill>
                    <a:schemeClr val="dk1"/>
                  </a:solidFill>
                  <a:latin typeface="Corbel"/>
                  <a:ea typeface="Corbel"/>
                  <a:cs typeface="Corbel"/>
                  <a:sym typeface="Corbel"/>
                </a:rPr>
                <a:t>Prada, M. A. N. (2024, 23 abril). </a:t>
              </a:r>
              <a:r>
                <a:rPr i="1" lang="en-US" sz="2000">
                  <a:solidFill>
                    <a:schemeClr val="dk1"/>
                  </a:solidFill>
                  <a:latin typeface="Corbel"/>
                  <a:ea typeface="Corbel"/>
                  <a:cs typeface="Corbel"/>
                  <a:sym typeface="Corbel"/>
                </a:rPr>
                <a:t>MDX vs DAX | Martin Alfonso Nieto Prada</a:t>
              </a:r>
              <a:r>
                <a:rPr lang="en-US" sz="2000">
                  <a:solidFill>
                    <a:schemeClr val="dk1"/>
                  </a:solidFill>
                  <a:latin typeface="Corbel"/>
                  <a:ea typeface="Corbel"/>
                  <a:cs typeface="Corbel"/>
                  <a:sym typeface="Corbel"/>
                </a:rPr>
                <a:t>. https://www.linkedin.com/posts/martin-alfonso-nieto-prada_mdx-vs-dax-activity-7188614255137501187-ciI6</a:t>
              </a:r>
              <a:endParaRPr sz="20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9"/>
          <p:cNvSpPr txBox="1"/>
          <p:nvPr/>
        </p:nvSpPr>
        <p:spPr>
          <a:xfrm>
            <a:off x="4437795" y="3389104"/>
            <a:ext cx="8658900" cy="2928494"/>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131416"/>
              </a:buClr>
              <a:buSzPts val="6099"/>
              <a:buFont typeface="Impact"/>
              <a:buNone/>
            </a:pPr>
            <a:r>
              <a:rPr i="0" lang="en-US" sz="6099" u="none" cap="none" strike="noStrike">
                <a:solidFill>
                  <a:srgbClr val="131416"/>
                </a:solidFill>
                <a:latin typeface="Impact"/>
                <a:ea typeface="Impact"/>
                <a:cs typeface="Impact"/>
                <a:sym typeface="Impact"/>
              </a:rPr>
              <a:t>¡GRACIAS POR SU  ATENCIÓN!</a:t>
            </a:r>
            <a:endParaRPr sz="1800">
              <a:solidFill>
                <a:schemeClr val="dk1"/>
              </a:solidFill>
              <a:latin typeface="Impact"/>
              <a:ea typeface="Impact"/>
              <a:cs typeface="Impact"/>
              <a:sym typeface="Impact"/>
            </a:endParaRPr>
          </a:p>
          <a:p>
            <a:pPr indent="0" lvl="0" marL="0" marR="0" rtl="0" algn="just">
              <a:lnSpc>
                <a:spcPct val="104000"/>
              </a:lnSpc>
              <a:spcBef>
                <a:spcPts val="0"/>
              </a:spcBef>
              <a:spcAft>
                <a:spcPts val="0"/>
              </a:spcAft>
              <a:buClr>
                <a:schemeClr val="dk1"/>
              </a:buClr>
              <a:buSzPts val="6099"/>
              <a:buFont typeface="Corbel"/>
              <a:buNone/>
            </a:pPr>
            <a:r>
              <a:t/>
            </a:r>
            <a:endParaRPr i="0" sz="6099" u="none" cap="none" strike="noStrike">
              <a:solidFill>
                <a:srgbClr val="131416"/>
              </a:solidFill>
              <a:latin typeface="Impact"/>
              <a:ea typeface="Impact"/>
              <a:cs typeface="Impact"/>
              <a:sym typeface="Impact"/>
            </a:endParaRPr>
          </a:p>
        </p:txBody>
      </p:sp>
      <p:sp>
        <p:nvSpPr>
          <p:cNvPr id="475" name="Google Shape;475;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Corbel"/>
              <a:ea typeface="Corbel"/>
              <a:cs typeface="Corbel"/>
              <a:sym typeface="Corbel"/>
            </a:endParaRPr>
          </a:p>
        </p:txBody>
      </p:sp>
      <p:sp>
        <p:nvSpPr>
          <p:cNvPr id="476" name="Google Shape;476;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77" name="Google Shape;477;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