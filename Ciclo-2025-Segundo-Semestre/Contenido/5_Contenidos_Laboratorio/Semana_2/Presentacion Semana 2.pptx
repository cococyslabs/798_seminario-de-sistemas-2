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10287000" cx="18288000"/>
  <p:notesSz cx="6858000" cy="9144000"/>
  <p:embeddedFontLst>
    <p:embeddedFont>
      <p:font typeface="Geo"/>
      <p:regular r:id="rId42"/>
      <p:italic r:id="rId43"/>
    </p:embeddedFont>
    <p:embeddedFont>
      <p:font typeface="DM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iSGAdR1zP3UtUhmJJaOs2Qu6N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Ge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DMSans-regular.fntdata"/><Relationship Id="rId21" Type="http://schemas.openxmlformats.org/officeDocument/2006/relationships/slide" Target="slides/slide16.xml"/><Relationship Id="rId43" Type="http://schemas.openxmlformats.org/officeDocument/2006/relationships/font" Target="fonts/Geo-italic.fntdata"/><Relationship Id="rId24" Type="http://schemas.openxmlformats.org/officeDocument/2006/relationships/slide" Target="slides/slide19.xml"/><Relationship Id="rId46" Type="http://schemas.openxmlformats.org/officeDocument/2006/relationships/font" Target="fonts/DMSans-italic.fntdata"/><Relationship Id="rId23" Type="http://schemas.openxmlformats.org/officeDocument/2006/relationships/slide" Target="slides/slide18.xml"/><Relationship Id="rId45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DM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409b5e18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c409b5e180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409b5e18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c409b5e180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409b5e18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c409b5e180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409b5e18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c409b5e180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409b5e18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c409b5e180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409b5e18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c409b5e180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409b5e18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c409b5e180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409b5e18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c409b5e180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409b5e18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c409b5e180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409b5e18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c409b5e18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409b5e18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c409b5e180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409b5e18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c409b5e180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409b5e18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c409b5e180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409b5e1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c409b5e18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409b5e18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c409b5e180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409b5e180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c409b5e180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409b5e180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c409b5e180_0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409b5e18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c409b5e180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409b5e18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c409b5e180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409b5e180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c409b5e180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409b5e18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c409b5e180_0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409b5e18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c409b5e180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409b5e180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c409b5e180_0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409b5e180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c409b5e180_0_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409b5e180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c409b5e180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409b5e18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c409b5e180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409b5e18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c409b5e180_0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409b5e180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c409b5e180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409b5e180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c409b5e180_0_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0813168" y="2130156"/>
            <a:ext cx="7106185" cy="1051990"/>
            <a:chOff x="0" y="-47625"/>
            <a:chExt cx="1871588" cy="277067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 txBox="1"/>
          <p:nvPr/>
        </p:nvSpPr>
        <p:spPr>
          <a:xfrm>
            <a:off x="1355851" y="4405750"/>
            <a:ext cx="15576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99"/>
              <a:buFont typeface="Arial"/>
              <a:buNone/>
            </a:pPr>
            <a:r>
              <a:rPr b="1" i="0" lang="en-US" sz="779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616001" y="5740550"/>
            <a:ext cx="1419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955017" y="2452078"/>
            <a:ext cx="195500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10813168" y="2966577"/>
            <a:ext cx="7106185" cy="976041"/>
            <a:chOff x="0" y="-47625"/>
            <a:chExt cx="1871588" cy="257064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1871588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0955017" y="3249736"/>
            <a:ext cx="259749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"/>
          <p:cNvCxnSpPr/>
          <p:nvPr/>
        </p:nvCxnSpPr>
        <p:spPr>
          <a:xfrm>
            <a:off x="13705893" y="2326478"/>
            <a:ext cx="0" cy="1554875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04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3705893" y="3249736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7359254" y="450000"/>
            <a:ext cx="9455400" cy="26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rPr lang="en-US" sz="15000">
                <a:solidFill>
                  <a:srgbClr val="FFFFFF"/>
                </a:solidFill>
              </a:rPr>
              <a:t>Anuncios</a:t>
            </a:r>
            <a:endParaRPr b="0" i="0" sz="1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t/>
            </a:r>
            <a:endParaRPr b="0" i="0" sz="3864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136768" y="4184800"/>
            <a:ext cx="6879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9"/>
              <a:buFont typeface="Arial"/>
              <a:buNone/>
            </a:pPr>
            <a:r>
              <a:rPr lang="en-US" sz="7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Asignación DTT</a:t>
            </a:r>
            <a:endParaRPr sz="7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9"/>
              <a:buFont typeface="Arial"/>
              <a:buNone/>
            </a:pPr>
            <a:r>
              <a:rPr lang="en-US" sz="7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Calificación HT1</a:t>
            </a:r>
            <a:endParaRPr sz="7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40532" r="24680" t="0"/>
          <a:stretch/>
        </p:blipFill>
        <p:spPr>
          <a:xfrm>
            <a:off x="0" y="0"/>
            <a:ext cx="66305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202255" y="1394248"/>
            <a:ext cx="575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6419225" y="2471675"/>
            <a:ext cx="10730700" cy="5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Definición de cubo multidimensional</a:t>
            </a:r>
            <a:endParaRPr sz="3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DM Sans"/>
              <a:buChar char="•"/>
            </a:pPr>
            <a:r>
              <a:rPr lang="en-US" sz="3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Modelos Estrella, Copo de Nieve, Constelación</a:t>
            </a:r>
            <a:endParaRPr sz="3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Dimensiones y jerarquías</a:t>
            </a:r>
            <a:endParaRPr sz="3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Grano</a:t>
            </a:r>
            <a:endParaRPr sz="3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Proceso recomendado para diseñar un cubo</a:t>
            </a:r>
            <a:endParaRPr sz="3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Modelado de cubo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HOJA DE TRABAJO </a:t>
            </a: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Definición de cubo multidimensional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236025" y="2635475"/>
            <a:ext cx="14956200" cy="5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 cubo multidimensional OLAP, en el enfoque de Ralph Kimball, es una estructura de análisis que organiza la información en medidas (valores numéricos de desempeño del negocio) y dimensiones (ejes descriptivos como producto, cliente, lugar y tiempo) para permitir consultas y análisis por múltiples perspectivas. 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 conceptualmente equivalente a un esquema estrella (tabla de hechos y tablas de dimensiones), pero implementado como “cubo” para facilitar el análisis y, a menudo, mejorar el rendimiento mediante agregaciones.</a:t>
            </a:r>
            <a:endParaRPr b="0" i="0" sz="3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954325" y="8624725"/>
            <a:ext cx="1523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Regla práctica: antes de pensar en herramientas, define la pregunta de negocio y la granularidad. 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Esto evita modelos sobredimensionados o medidas incoherentes.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409b5e180_0_80"/>
          <p:cNvSpPr txBox="1"/>
          <p:nvPr/>
        </p:nvSpPr>
        <p:spPr>
          <a:xfrm>
            <a:off x="535500" y="45277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Estrella, copo de nieve y constelación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500" y="2127663"/>
            <a:ext cx="12295000" cy="73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535500" y="3678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Estrella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c409b5e180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638" y="2446175"/>
            <a:ext cx="9168431" cy="75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c409b5e180_0_92"/>
          <p:cNvSpPr txBox="1"/>
          <p:nvPr/>
        </p:nvSpPr>
        <p:spPr>
          <a:xfrm>
            <a:off x="535500" y="3678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Copo de nieve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409b5e180_0_99"/>
          <p:cNvSpPr txBox="1"/>
          <p:nvPr/>
        </p:nvSpPr>
        <p:spPr>
          <a:xfrm>
            <a:off x="535500" y="3678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Constelación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c409b5e180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250" y="2432125"/>
            <a:ext cx="12931499" cy="7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409b5e180_0_116"/>
          <p:cNvSpPr txBox="1"/>
          <p:nvPr/>
        </p:nvSpPr>
        <p:spPr>
          <a:xfrm>
            <a:off x="1138100" y="1553600"/>
            <a:ext cx="782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¿Cuál es mejor?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c409b5e180_0_116"/>
          <p:cNvSpPr txBox="1"/>
          <p:nvPr/>
        </p:nvSpPr>
        <p:spPr>
          <a:xfrm>
            <a:off x="3324025" y="4548675"/>
            <a:ext cx="12285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20000">
                <a:solidFill>
                  <a:srgbClr val="FFFFFF"/>
                </a:solidFill>
              </a:rPr>
              <a:t>DEPENDE</a:t>
            </a:r>
            <a:endParaRPr b="0" i="0" sz="2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409b5e180_0_105"/>
          <p:cNvSpPr txBox="1"/>
          <p:nvPr/>
        </p:nvSpPr>
        <p:spPr>
          <a:xfrm>
            <a:off x="535500" y="10287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Diseño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c409b5e180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875" y="3079100"/>
            <a:ext cx="5210450" cy="52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c409b5e180_0_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9650" y="3148700"/>
            <a:ext cx="5071251" cy="507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409b5e180_0_124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Satisfacer Requerimientos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c409b5e180_0_124"/>
          <p:cNvSpPr txBox="1"/>
          <p:nvPr/>
        </p:nvSpPr>
        <p:spPr>
          <a:xfrm>
            <a:off x="622050" y="2210700"/>
            <a:ext cx="17130300" cy="7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8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Tipo de análisis esperado</a:t>
            </a:r>
            <a:endParaRPr sz="38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8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Volumen de datos</a:t>
            </a:r>
            <a:endParaRPr sz="38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8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Frecuencia de carga</a:t>
            </a:r>
            <a:endParaRPr sz="38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8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Nivel de detalle (grano)</a:t>
            </a:r>
            <a:endParaRPr sz="38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8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Herramientas BI</a:t>
            </a:r>
            <a:endParaRPr sz="38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8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Usuarios (negocio vs. técnicos) </a:t>
            </a:r>
            <a:endParaRPr sz="38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8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Mantenibilidad.</a:t>
            </a:r>
            <a:endParaRPr sz="38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t/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objetivo es equilibrar rendimiento, claridad y flexibilidad según lo que el cliente necesita.</a:t>
            </a:r>
            <a:endParaRPr b="0" i="0" sz="34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409b5e180_0_151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Modelo Estrella (Star Schema)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c409b5e180_0_151"/>
          <p:cNvSpPr txBox="1"/>
          <p:nvPr/>
        </p:nvSpPr>
        <p:spPr>
          <a:xfrm>
            <a:off x="535500" y="1977450"/>
            <a:ext cx="170715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Muy fácil de entender para negocio (modelo intuitivo).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Consultas más simples (menos joins) generalmente mejor rendimiento en BI.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Ideal para autoservicio y reportes frecuentes.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g3c409b5e180_0_151"/>
          <p:cNvSpPr txBox="1"/>
          <p:nvPr/>
        </p:nvSpPr>
        <p:spPr>
          <a:xfrm>
            <a:off x="535500" y="4896925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Desventajas: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requerir más control en ETL para mantener consistencia de atributos repetidos.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g3c409b5e180_0_151"/>
          <p:cNvSpPr txBox="1"/>
          <p:nvPr/>
        </p:nvSpPr>
        <p:spPr>
          <a:xfrm>
            <a:off x="535500" y="643760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el cliente prioriza simplicidad y velocidad de consulta.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Equipos BI que necesitan un modelo “amigable” para usuarios no técnicos.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g3c409b5e180_0_151"/>
          <p:cNvSpPr txBox="1"/>
          <p:nvPr/>
        </p:nvSpPr>
        <p:spPr>
          <a:xfrm>
            <a:off x="535500" y="8803725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evitarlo: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la duplicación de datos en dimensiones se vuelve un problema serio.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409b5e180_0_167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Modelo Copo de Nieve (Snowflake)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c409b5e180_0_167"/>
          <p:cNvSpPr txBox="1"/>
          <p:nvPr/>
        </p:nvSpPr>
        <p:spPr>
          <a:xfrm>
            <a:off x="535500" y="197745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Menos redundancia en dimensiones (mejor integridad y consistencia).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mejorar cargas/actualizaciones de atributos muy compartidos.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g3c409b5e180_0_167"/>
          <p:cNvSpPr txBox="1"/>
          <p:nvPr/>
        </p:nvSpPr>
        <p:spPr>
          <a:xfrm>
            <a:off x="535500" y="432415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Desventajas: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Más joins, consultas más complejas y potencialmente más lentas.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Menos amigable para usuarios de negocio (más difícil de explorar).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g3c409b5e180_0_167"/>
          <p:cNvSpPr txBox="1"/>
          <p:nvPr/>
        </p:nvSpPr>
        <p:spPr>
          <a:xfrm>
            <a:off x="535500" y="6704525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hay jerarquías complejas y catálogos grandes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g3c409b5e180_0_167"/>
          <p:cNvSpPr txBox="1"/>
          <p:nvPr/>
        </p:nvSpPr>
        <p:spPr>
          <a:xfrm>
            <a:off x="535500" y="839550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evitarlo: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el enfoque es autoservicio y rapidez de modelado/reportes.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las herramientas o el performance sufren por exceso de joins.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409b5e180_0_183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</a:rPr>
              <a:t>Modelo Constelación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c409b5e180_0_183"/>
          <p:cNvSpPr txBox="1"/>
          <p:nvPr/>
        </p:nvSpPr>
        <p:spPr>
          <a:xfrm>
            <a:off x="535500" y="197745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Permite análisis cruzado entre hechos con dimensiones consistentes.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Reduce duplicación de dimensiones entre “marts” separados.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g3c409b5e180_0_183"/>
          <p:cNvSpPr txBox="1"/>
          <p:nvPr/>
        </p:nvSpPr>
        <p:spPr>
          <a:xfrm>
            <a:off x="535500" y="4120038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Desventajas: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Requiere estandarizar dimensiones (conformed dimensions) y reglas claras.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complicar el ETL y el control de calidad de datos.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g3c409b5e180_0_183"/>
          <p:cNvSpPr txBox="1"/>
          <p:nvPr/>
        </p:nvSpPr>
        <p:spPr>
          <a:xfrm>
            <a:off x="457725" y="6257775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el cliente necesita integrar varias áreas y comparar procesos.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existen múltiples hechos con granos distintos pero dimensiones comunes.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g3c409b5e180_0_183"/>
          <p:cNvSpPr txBox="1"/>
          <p:nvPr/>
        </p:nvSpPr>
        <p:spPr>
          <a:xfrm>
            <a:off x="457725" y="8395500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evitarlo:</a:t>
            </a:r>
            <a:endParaRPr b="1"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el alcance es pequeño (un solo proceso)</a:t>
            </a:r>
            <a:endParaRPr sz="3199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409b5e180_0_24"/>
          <p:cNvSpPr txBox="1"/>
          <p:nvPr/>
        </p:nvSpPr>
        <p:spPr>
          <a:xfrm>
            <a:off x="666750" y="733425"/>
            <a:ext cx="369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Grano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192" name="Google Shape;192;g3c409b5e180_0_24"/>
          <p:cNvSpPr txBox="1"/>
          <p:nvPr/>
        </p:nvSpPr>
        <p:spPr>
          <a:xfrm>
            <a:off x="820800" y="2309375"/>
            <a:ext cx="166464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grano es la definición exacta de “qué representa una fila” en la tabla de hechos (y por extensión, el nivel base de detalle del cubo). En otras palabras: la unidad mínima de análisis que tu modelo asegura de forma consistente.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Ejemplo: “Una fila = una línea de factura (producto vendido) por tienda y por día”.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g3c409b5e180_0_24"/>
          <p:cNvSpPr txBox="1"/>
          <p:nvPr/>
        </p:nvSpPr>
        <p:spPr>
          <a:xfrm>
            <a:off x="666750" y="5214625"/>
            <a:ext cx="8064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Granularidad 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194" name="Google Shape;194;g3c409b5e180_0_24"/>
          <p:cNvSpPr txBox="1"/>
          <p:nvPr/>
        </p:nvSpPr>
        <p:spPr>
          <a:xfrm>
            <a:off x="820800" y="6967900"/>
            <a:ext cx="161967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granularidad es el nivel de detalle del grano. 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 expresa como “más granular” más detalle, más filas o “menos granular” más agregado, menos filas.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Ejemplo: por transacción → por día → por mes (va de más a menos granular).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409b5e180_0_45"/>
          <p:cNvSpPr txBox="1"/>
          <p:nvPr/>
        </p:nvSpPr>
        <p:spPr>
          <a:xfrm>
            <a:off x="666750" y="733425"/>
            <a:ext cx="18825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¿Por qué es crítico definir el grano?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00" name="Google Shape;200;g3c409b5e180_0_45"/>
          <p:cNvSpPr txBox="1"/>
          <p:nvPr/>
        </p:nvSpPr>
        <p:spPr>
          <a:xfrm>
            <a:off x="820800" y="2829000"/>
            <a:ext cx="16646400" cy="5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Evita errores de agregación: si el grano no está claro, aparecen totales duplicados, promedios incorrectos o conteos inflados.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Define el diseño del modelo estrella: qué dimensiones se conectan, qué llaves deben existir y qué medidas son válidas.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Impacta, rendimiento y almacenamiento: más granular = más filas = más costo de almacenamiento; menos granular = menos detalle para analizar.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409b5e180_0_57"/>
          <p:cNvSpPr txBox="1"/>
          <p:nvPr/>
        </p:nvSpPr>
        <p:spPr>
          <a:xfrm>
            <a:off x="272150" y="349900"/>
            <a:ext cx="132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Grano: 1 fila = Ventas agregadas por (Fecha, Producto, Tienda, Canal)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06" name="Google Shape;206;g3c409b5e180_0_57" title="Untitled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875" y="1218975"/>
            <a:ext cx="14810250" cy="906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409b5e180_0_66"/>
          <p:cNvSpPr txBox="1"/>
          <p:nvPr/>
        </p:nvSpPr>
        <p:spPr>
          <a:xfrm>
            <a:off x="272150" y="349900"/>
            <a:ext cx="180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Grano: 1 fila = Línea de ticket/factura (Producto) por transacción, Fecha Hora, Ticket, Producto, Tienda, Canal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12" name="Google Shape;212;g3c409b5e180_0_66" title="Untitled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150" y="1043925"/>
            <a:ext cx="13423699" cy="906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409b5e180_0_10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Dimensiones y jerarquías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18" name="Google Shape;218;g3c409b5e180_0_10"/>
          <p:cNvSpPr txBox="1"/>
          <p:nvPr/>
        </p:nvSpPr>
        <p:spPr>
          <a:xfrm>
            <a:off x="1665900" y="3020900"/>
            <a:ext cx="14956200" cy="3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Las dimensiones describen el contexto de un hecho. 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 diseño impacta directamente la experiencia de análisis: si la dimensión no refleja el lenguaje del negocio, el cubo será difícil de usar.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409b5e180_0_202"/>
          <p:cNvSpPr txBox="1"/>
          <p:nvPr/>
        </p:nvSpPr>
        <p:spPr>
          <a:xfrm>
            <a:off x="1055525" y="733425"/>
            <a:ext cx="15955200" cy="1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700">
                <a:solidFill>
                  <a:srgbClr val="FFFFFF"/>
                </a:solidFill>
              </a:rPr>
              <a:t>Dimensiones de Cambio Lento </a:t>
            </a:r>
            <a:endParaRPr sz="5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700">
                <a:solidFill>
                  <a:srgbClr val="FFFFFF"/>
                </a:solidFill>
              </a:rPr>
              <a:t>(SCD – Slowly Changing Dimensions)</a:t>
            </a:r>
            <a:endParaRPr sz="5700">
              <a:solidFill>
                <a:srgbClr val="FFFFFF"/>
              </a:solidFill>
            </a:endParaRPr>
          </a:p>
        </p:txBody>
      </p:sp>
      <p:sp>
        <p:nvSpPr>
          <p:cNvPr id="224" name="Google Shape;224;g3c409b5e180_0_202"/>
          <p:cNvSpPr txBox="1"/>
          <p:nvPr/>
        </p:nvSpPr>
        <p:spPr>
          <a:xfrm>
            <a:off x="1665900" y="4284425"/>
            <a:ext cx="149562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 un modelo estrella, las dimensiones de cambio lento describen cómo se gestionan los cambios en atributos de una dimensión a lo largo del tiempo (por ejemplo: dirección del cliente, categoría del producto, zona de la tienda). La decisión del tipo SCD depende de si el negocio necesita conservar el historial, reemplazar el valor o mezclar ambas cosas.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409b5e180_0_210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SCD Tipo 0 – “No se cambia”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30" name="Google Shape;230;g3c409b5e180_0_210"/>
          <p:cNvSpPr txBox="1"/>
          <p:nvPr/>
        </p:nvSpPr>
        <p:spPr>
          <a:xfrm>
            <a:off x="1185775" y="2651550"/>
            <a:ext cx="16270200" cy="5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El atributo queda fijo; no se actualiza aunque cambie en la fuente.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Identificadores o atributos “de referencia” que no deben cambiar en el DW (ej. fecha de nacimiento registrada, código interno inicial).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Consistencia total del dato histórico.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 refleja cambios reales.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3c409b5e180_0_277" title="Untitled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409b5e180_0_217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SCD Tipo 1 – “Sobrescribir”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41" name="Google Shape;241;g3c409b5e180_0_217"/>
          <p:cNvSpPr txBox="1"/>
          <p:nvPr/>
        </p:nvSpPr>
        <p:spPr>
          <a:xfrm>
            <a:off x="660900" y="3518400"/>
            <a:ext cx="169662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Actualiza el valor y pierde el historial (se reemplaza el anterior).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Correcciones de errores o datos que no requieren trazabilidad (ej. corrección de nombre mal escrito, email).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Simple y eficiente.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permite análisis histórico “como era antes”.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c409b5e180_0_283" title="Untitled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409b5e180_0_225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SCD Tipo 2 – “Historial completo”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52" name="Google Shape;252;g3c409b5e180_0_225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 un nuevo registro cuando cambia un atributo, manteniendo el anterior como histórico (con vigencia).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el negocio necesita ver el pasado tal como ocurrió (ej. cliente cambia de ciudad, producto cambia de categoría, tienda cambia de región).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Trazabilidad e historial real.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Aumenta filas y complejidad en ETL/consultas.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c409b5e180_0_287" title="Untitled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409b5e180_0_239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SCD Tipo 3 – “Historial limitado”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63" name="Google Shape;263;g3c409b5e180_0_239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Guarda el valor actual y uno anterior (o pocos) en columnas separadas.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ciudad_actual, ciudad_anterior.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solo interesa comparar “antes vs ahora” (ej. cambio de segmento reciente).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Fácil para ciertos reportes comparativos.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Historial muy limitado (no sirve para múltiples cambios).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c409b5e180_0_291" title="Untitled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409b5e180_0_252"/>
          <p:cNvSpPr txBox="1"/>
          <p:nvPr/>
        </p:nvSpPr>
        <p:spPr>
          <a:xfrm>
            <a:off x="472350" y="402950"/>
            <a:ext cx="17535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SCD Tipo 4 – “Histórico en tabla separada”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74" name="Google Shape;274;g3c409b5e180_0_252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dimensión principal conserva el dato actual y el histórico se guarda en una tabla histórica aparte.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se quiere aislar el histórico por tamaño/rendimiento, pero mantener la dimensión “limpia” para el uso diario.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Control del volumen y rendimiento.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 más complejo (más tablas, más ETL).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c409b5e180_0_295" title="Untitled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409b5e180_0_262"/>
          <p:cNvSpPr txBox="1"/>
          <p:nvPr/>
        </p:nvSpPr>
        <p:spPr>
          <a:xfrm>
            <a:off x="472350" y="402950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SCD Tipo 6 – “Híbrido (1 + 2 + 3)”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85" name="Google Shape;285;g3c409b5e180_0_262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Combina historial completo (Tipo 2) con columnas de “actual” (Tipo 1) y/o “anterior” (Tipo 3).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se necesita análisis histórico y, al mismo tiempo, acceso rápido al valor vigente sin joins complejos.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Muy flexible para BI.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Mayor complejidad y riesgo de inconsistencias si el ETL no es riguroso.</a:t>
            </a:r>
            <a:endParaRPr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g3c409b5e180_0_299" title="Untitled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409b5e180_0_318"/>
          <p:cNvSpPr txBox="1"/>
          <p:nvPr/>
        </p:nvSpPr>
        <p:spPr>
          <a:xfrm>
            <a:off x="660900" y="577900"/>
            <a:ext cx="17250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>
                <a:solidFill>
                  <a:srgbClr val="FFFFFF"/>
                </a:solidFill>
              </a:rPr>
              <a:t>Proceso recomendado para diseñar un cubo</a:t>
            </a:r>
            <a:endParaRPr sz="8000">
              <a:solidFill>
                <a:srgbClr val="FFFFFF"/>
              </a:solidFill>
            </a:endParaRPr>
          </a:p>
        </p:txBody>
      </p:sp>
      <p:sp>
        <p:nvSpPr>
          <p:cNvPr id="296" name="Google Shape;296;g3c409b5e180_0_318"/>
          <p:cNvSpPr txBox="1"/>
          <p:nvPr/>
        </p:nvSpPr>
        <p:spPr>
          <a:xfrm>
            <a:off x="660900" y="4257075"/>
            <a:ext cx="16966200" cy="4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Una secuencia práctica (de negocio a modelo):</a:t>
            </a:r>
            <a:endParaRPr b="1"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</a:t>
            </a:r>
            <a:r>
              <a:rPr b="1" lang="en-US" sz="319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Elegir el proceso de negocio (ventas, inventario, devoluciones) y su granularidad.</a:t>
            </a:r>
            <a:endParaRPr b="1"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</a:t>
            </a:r>
            <a:r>
              <a:rPr b="1" lang="en-US" sz="319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Definir preguntas de negocio (qué decisión se quiere apoyar).</a:t>
            </a:r>
            <a:endParaRPr b="1"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Diseñar la tabla de hechos (medidas atómicas) y asegurar claves a dimensiones.</a:t>
            </a:r>
            <a:endParaRPr b="1"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4. Diseñar dimensiones con atributos y jerarquías.</a:t>
            </a:r>
            <a:endParaRPr b="1"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lang="en-US" sz="3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5. Probar con consultas y ajustar el modelo.</a:t>
            </a:r>
            <a:endParaRPr b="1" sz="31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"/>
          <p:cNvSpPr/>
          <p:nvPr/>
        </p:nvSpPr>
        <p:spPr>
          <a:xfrm>
            <a:off x="10734675" y="0"/>
            <a:ext cx="7553693" cy="10287495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9" l="0" r="0" t="-199"/>
            </a:stretch>
          </a:blipFill>
          <a:ln>
            <a:noFill/>
          </a:ln>
        </p:spPr>
      </p:sp>
      <p:grpSp>
        <p:nvGrpSpPr>
          <p:cNvPr id="302" name="Google Shape;302;p19"/>
          <p:cNvGrpSpPr/>
          <p:nvPr/>
        </p:nvGrpSpPr>
        <p:grpSpPr>
          <a:xfrm>
            <a:off x="3543300" y="7793831"/>
            <a:ext cx="5448375" cy="1754134"/>
            <a:chOff x="0" y="-47625"/>
            <a:chExt cx="7264500" cy="2338845"/>
          </a:xfrm>
        </p:grpSpPr>
        <p:sp>
          <p:nvSpPr>
            <p:cNvPr id="303" name="Google Shape;303;p19"/>
            <p:cNvSpPr txBox="1"/>
            <p:nvPr/>
          </p:nvSpPr>
          <p:spPr>
            <a:xfrm>
              <a:off x="0" y="1343220"/>
              <a:ext cx="7264500" cy="9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9"/>
            <p:cNvSpPr txBox="1"/>
            <p:nvPr/>
          </p:nvSpPr>
          <p:spPr>
            <a:xfrm>
              <a:off x="0" y="-47625"/>
              <a:ext cx="7264500" cy="11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9"/>
          <p:cNvGrpSpPr/>
          <p:nvPr/>
        </p:nvGrpSpPr>
        <p:grpSpPr>
          <a:xfrm>
            <a:off x="3543300" y="6003131"/>
            <a:ext cx="5448375" cy="1754134"/>
            <a:chOff x="0" y="-47625"/>
            <a:chExt cx="7264500" cy="2338845"/>
          </a:xfrm>
        </p:grpSpPr>
        <p:sp>
          <p:nvSpPr>
            <p:cNvPr id="306" name="Google Shape;306;p19"/>
            <p:cNvSpPr txBox="1"/>
            <p:nvPr/>
          </p:nvSpPr>
          <p:spPr>
            <a:xfrm>
              <a:off x="0" y="1343220"/>
              <a:ext cx="7264500" cy="9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9"/>
            <p:cNvSpPr txBox="1"/>
            <p:nvPr/>
          </p:nvSpPr>
          <p:spPr>
            <a:xfrm>
              <a:off x="0" y="-47625"/>
              <a:ext cx="7264500" cy="11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9"/>
          <p:cNvGrpSpPr/>
          <p:nvPr/>
        </p:nvGrpSpPr>
        <p:grpSpPr>
          <a:xfrm>
            <a:off x="3543300" y="4212431"/>
            <a:ext cx="5448375" cy="1754134"/>
            <a:chOff x="0" y="-47625"/>
            <a:chExt cx="7264500" cy="2338845"/>
          </a:xfrm>
        </p:grpSpPr>
        <p:sp>
          <p:nvSpPr>
            <p:cNvPr id="309" name="Google Shape;309;p19"/>
            <p:cNvSpPr txBox="1"/>
            <p:nvPr/>
          </p:nvSpPr>
          <p:spPr>
            <a:xfrm>
              <a:off x="0" y="1343220"/>
              <a:ext cx="7264500" cy="9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9"/>
            <p:cNvSpPr txBox="1"/>
            <p:nvPr/>
          </p:nvSpPr>
          <p:spPr>
            <a:xfrm>
              <a:off x="0" y="-47625"/>
              <a:ext cx="7264500" cy="11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19"/>
          <p:cNvSpPr txBox="1"/>
          <p:nvPr/>
        </p:nvSpPr>
        <p:spPr>
          <a:xfrm>
            <a:off x="541203" y="4199453"/>
            <a:ext cx="976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409b5e180_0_325"/>
          <p:cNvSpPr/>
          <p:nvPr/>
        </p:nvSpPr>
        <p:spPr>
          <a:xfrm>
            <a:off x="10734675" y="0"/>
            <a:ext cx="7553693" cy="10287495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9" l="0" r="0" t="-199"/>
            </a:stretch>
          </a:blipFill>
          <a:ln>
            <a:noFill/>
          </a:ln>
        </p:spPr>
      </p:sp>
      <p:grpSp>
        <p:nvGrpSpPr>
          <p:cNvPr id="317" name="Google Shape;317;g3c409b5e180_0_325"/>
          <p:cNvGrpSpPr/>
          <p:nvPr/>
        </p:nvGrpSpPr>
        <p:grpSpPr>
          <a:xfrm>
            <a:off x="3543300" y="7793831"/>
            <a:ext cx="5448375" cy="1772584"/>
            <a:chOff x="0" y="-47625"/>
            <a:chExt cx="7264500" cy="2363445"/>
          </a:xfrm>
        </p:grpSpPr>
        <p:sp>
          <p:nvSpPr>
            <p:cNvPr id="318" name="Google Shape;318;g3c409b5e180_0_325"/>
            <p:cNvSpPr txBox="1"/>
            <p:nvPr/>
          </p:nvSpPr>
          <p:spPr>
            <a:xfrm>
              <a:off x="0" y="1343220"/>
              <a:ext cx="7264500" cy="9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g3c409b5e180_0_325"/>
            <p:cNvSpPr txBox="1"/>
            <p:nvPr/>
          </p:nvSpPr>
          <p:spPr>
            <a:xfrm>
              <a:off x="0" y="-47625"/>
              <a:ext cx="7264500" cy="11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g3c409b5e180_0_325"/>
          <p:cNvGrpSpPr/>
          <p:nvPr/>
        </p:nvGrpSpPr>
        <p:grpSpPr>
          <a:xfrm>
            <a:off x="3543300" y="6003131"/>
            <a:ext cx="5448375" cy="1772584"/>
            <a:chOff x="0" y="-47625"/>
            <a:chExt cx="7264500" cy="2363445"/>
          </a:xfrm>
        </p:grpSpPr>
        <p:sp>
          <p:nvSpPr>
            <p:cNvPr id="321" name="Google Shape;321;g3c409b5e180_0_325"/>
            <p:cNvSpPr txBox="1"/>
            <p:nvPr/>
          </p:nvSpPr>
          <p:spPr>
            <a:xfrm>
              <a:off x="0" y="1343220"/>
              <a:ext cx="7264500" cy="9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g3c409b5e180_0_325"/>
            <p:cNvSpPr txBox="1"/>
            <p:nvPr/>
          </p:nvSpPr>
          <p:spPr>
            <a:xfrm>
              <a:off x="0" y="-47625"/>
              <a:ext cx="7264500" cy="11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g3c409b5e180_0_325"/>
          <p:cNvGrpSpPr/>
          <p:nvPr/>
        </p:nvGrpSpPr>
        <p:grpSpPr>
          <a:xfrm>
            <a:off x="3543300" y="4212431"/>
            <a:ext cx="5448375" cy="1772584"/>
            <a:chOff x="0" y="-47625"/>
            <a:chExt cx="7264500" cy="2363445"/>
          </a:xfrm>
        </p:grpSpPr>
        <p:sp>
          <p:nvSpPr>
            <p:cNvPr id="324" name="Google Shape;324;g3c409b5e180_0_325"/>
            <p:cNvSpPr txBox="1"/>
            <p:nvPr/>
          </p:nvSpPr>
          <p:spPr>
            <a:xfrm>
              <a:off x="0" y="1343220"/>
              <a:ext cx="7264500" cy="9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g3c409b5e180_0_325"/>
            <p:cNvSpPr txBox="1"/>
            <p:nvPr/>
          </p:nvSpPr>
          <p:spPr>
            <a:xfrm>
              <a:off x="0" y="-47625"/>
              <a:ext cx="7264500" cy="11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g3c409b5e180_0_325"/>
          <p:cNvSpPr txBox="1"/>
          <p:nvPr/>
        </p:nvSpPr>
        <p:spPr>
          <a:xfrm>
            <a:off x="541203" y="4199453"/>
            <a:ext cx="976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>
                <a:solidFill>
                  <a:srgbClr val="FFFFFF"/>
                </a:solidFill>
              </a:rPr>
              <a:t>Receso de 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21"/>
          <p:cNvGrpSpPr/>
          <p:nvPr/>
        </p:nvGrpSpPr>
        <p:grpSpPr>
          <a:xfrm>
            <a:off x="518005" y="5493493"/>
            <a:ext cx="5727496" cy="4441132"/>
            <a:chOff x="0" y="-47625"/>
            <a:chExt cx="1508476" cy="1169681"/>
          </a:xfrm>
        </p:grpSpPr>
        <p:sp>
          <p:nvSpPr>
            <p:cNvPr id="332" name="Google Shape;332;p21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3" name="Google Shape;333;p21"/>
            <p:cNvSpPr txBox="1"/>
            <p:nvPr/>
          </p:nvSpPr>
          <p:spPr>
            <a:xfrm>
              <a:off x="0" y="-47625"/>
              <a:ext cx="1508476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21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5" name="Google Shape;335;p21"/>
          <p:cNvGrpSpPr/>
          <p:nvPr/>
        </p:nvGrpSpPr>
        <p:grpSpPr>
          <a:xfrm>
            <a:off x="10589457" y="1951810"/>
            <a:ext cx="7106185" cy="1051990"/>
            <a:chOff x="0" y="-47625"/>
            <a:chExt cx="1871588" cy="277067"/>
          </a:xfrm>
        </p:grpSpPr>
        <p:sp>
          <p:nvSpPr>
            <p:cNvPr id="336" name="Google Shape;336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7" name="Google Shape;337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21"/>
          <p:cNvGrpSpPr/>
          <p:nvPr/>
        </p:nvGrpSpPr>
        <p:grpSpPr>
          <a:xfrm>
            <a:off x="10589457" y="2788232"/>
            <a:ext cx="7106185" cy="976041"/>
            <a:chOff x="0" y="-47625"/>
            <a:chExt cx="1871588" cy="257064"/>
          </a:xfrm>
        </p:grpSpPr>
        <p:sp>
          <p:nvSpPr>
            <p:cNvPr id="339" name="Google Shape;339;p21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0" name="Google Shape;340;p21"/>
            <p:cNvSpPr txBox="1"/>
            <p:nvPr/>
          </p:nvSpPr>
          <p:spPr>
            <a:xfrm>
              <a:off x="0" y="-47625"/>
              <a:ext cx="1871588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1" name="Google Shape;341;p21"/>
          <p:cNvCxnSpPr/>
          <p:nvPr/>
        </p:nvCxnSpPr>
        <p:spPr>
          <a:xfrm>
            <a:off x="13482182" y="2148133"/>
            <a:ext cx="0" cy="161614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2" name="Google Shape;342;p21"/>
          <p:cNvGrpSpPr/>
          <p:nvPr/>
        </p:nvGrpSpPr>
        <p:grpSpPr>
          <a:xfrm>
            <a:off x="10589457" y="3547789"/>
            <a:ext cx="7106185" cy="1051990"/>
            <a:chOff x="0" y="-47625"/>
            <a:chExt cx="1871588" cy="277067"/>
          </a:xfrm>
        </p:grpSpPr>
        <p:sp>
          <p:nvSpPr>
            <p:cNvPr id="343" name="Google Shape;343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4" name="Google Shape;344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5" name="Google Shape;345;p21"/>
          <p:cNvCxnSpPr/>
          <p:nvPr/>
        </p:nvCxnSpPr>
        <p:spPr>
          <a:xfrm>
            <a:off x="13482182" y="3744112"/>
            <a:ext cx="0" cy="85566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6" name="Google Shape;346;p21"/>
          <p:cNvGrpSpPr/>
          <p:nvPr/>
        </p:nvGrpSpPr>
        <p:grpSpPr>
          <a:xfrm>
            <a:off x="518005" y="1616530"/>
            <a:ext cx="9296788" cy="1051990"/>
            <a:chOff x="0" y="-47625"/>
            <a:chExt cx="2448537" cy="277067"/>
          </a:xfrm>
        </p:grpSpPr>
        <p:sp>
          <p:nvSpPr>
            <p:cNvPr id="347" name="Google Shape;347;p21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8" name="Google Shape;348;p21"/>
            <p:cNvSpPr txBox="1"/>
            <p:nvPr/>
          </p:nvSpPr>
          <p:spPr>
            <a:xfrm>
              <a:off x="0" y="-47625"/>
              <a:ext cx="2448537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21"/>
          <p:cNvGrpSpPr/>
          <p:nvPr/>
        </p:nvGrpSpPr>
        <p:grpSpPr>
          <a:xfrm>
            <a:off x="518005" y="2455651"/>
            <a:ext cx="9296788" cy="976041"/>
            <a:chOff x="0" y="-47625"/>
            <a:chExt cx="2448537" cy="257064"/>
          </a:xfrm>
        </p:grpSpPr>
        <p:sp>
          <p:nvSpPr>
            <p:cNvPr id="350" name="Google Shape;350;p21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1" name="Google Shape;351;p21"/>
            <p:cNvSpPr txBox="1"/>
            <p:nvPr/>
          </p:nvSpPr>
          <p:spPr>
            <a:xfrm>
              <a:off x="0" y="-47625"/>
              <a:ext cx="2448537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52" name="Google Shape;352;p21"/>
          <p:cNvCxnSpPr/>
          <p:nvPr/>
        </p:nvCxnSpPr>
        <p:spPr>
          <a:xfrm flipH="1">
            <a:off x="4907814" y="1797356"/>
            <a:ext cx="4521" cy="83912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3" name="Google Shape;353;p21"/>
          <p:cNvGrpSpPr/>
          <p:nvPr/>
        </p:nvGrpSpPr>
        <p:grpSpPr>
          <a:xfrm>
            <a:off x="518005" y="3212509"/>
            <a:ext cx="9296788" cy="1387270"/>
            <a:chOff x="0" y="-47625"/>
            <a:chExt cx="2448537" cy="365372"/>
          </a:xfrm>
        </p:grpSpPr>
        <p:sp>
          <p:nvSpPr>
            <p:cNvPr id="354" name="Google Shape;354;p21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5" name="Google Shape;355;p21"/>
            <p:cNvSpPr txBox="1"/>
            <p:nvPr/>
          </p:nvSpPr>
          <p:spPr>
            <a:xfrm>
              <a:off x="0" y="-47625"/>
              <a:ext cx="2448537" cy="365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56" name="Google Shape;356;p21"/>
          <p:cNvCxnSpPr/>
          <p:nvPr/>
        </p:nvCxnSpPr>
        <p:spPr>
          <a:xfrm>
            <a:off x="4907814" y="3431692"/>
            <a:ext cx="4521" cy="116808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1"/>
          <p:cNvCxnSpPr/>
          <p:nvPr/>
        </p:nvCxnSpPr>
        <p:spPr>
          <a:xfrm flipH="1">
            <a:off x="4907814" y="2626616"/>
            <a:ext cx="4521" cy="80507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21"/>
          <p:cNvSpPr txBox="1"/>
          <p:nvPr/>
        </p:nvSpPr>
        <p:spPr>
          <a:xfrm>
            <a:off x="10767769" y="2272944"/>
            <a:ext cx="25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10939368" y="3071390"/>
            <a:ext cx="2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13482182" y="227294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13482182" y="3071390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10654436" y="3869048"/>
            <a:ext cx="275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13482182" y="3868922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588368" y="1931291"/>
            <a:ext cx="4165955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588368" y="2748334"/>
            <a:ext cx="41097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5208072" y="1937664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Hoja de trabajo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5208072" y="2738809"/>
            <a:ext cx="22975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588368" y="3517417"/>
            <a:ext cx="4109728" cy="113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rPr b="1" i="0" lang="en-US" sz="218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t/>
            </a:r>
            <a:endParaRPr b="1" i="0" sz="2183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5121884" y="3740625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517999" y="4738300"/>
            <a:ext cx="171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588368" y="5776526"/>
            <a:ext cx="56061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JOSUE DANIEL SOLIS OSORIO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202001574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NAOMI RASHEL YOS CUJCUJ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202001814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EMILIO RIVERA YURRITA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 GUILLERMO ARREAGA BARRIENTOS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202004762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FREDY SAMUEL QUIJADA CEBALLOS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202004812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 LUCIA FLETES ORDOÑEZ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RAMIRO AGUSTÍN TÉLLES CARCUZ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202010044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SERGIO SEBASTIÁN SANDOVAL RUIZ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202010298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ANGELA MARÍA ESTHER ESCOBAR ALVAREZ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202100019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AIDA ALEJANDRA MANSILLA ORANTES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202100239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JOSE BLANCO GUZMAN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202100250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JOSUE SANTOS SALAZAR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202101007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21"/>
          <p:cNvGrpSpPr/>
          <p:nvPr/>
        </p:nvGrpSpPr>
        <p:grpSpPr>
          <a:xfrm>
            <a:off x="6356860" y="5493493"/>
            <a:ext cx="5781937" cy="4441132"/>
            <a:chOff x="0" y="-47625"/>
            <a:chExt cx="1522815" cy="1169681"/>
          </a:xfrm>
        </p:grpSpPr>
        <p:sp>
          <p:nvSpPr>
            <p:cNvPr id="373" name="Google Shape;373;p21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4" name="Google Shape;374;p21"/>
            <p:cNvSpPr txBox="1"/>
            <p:nvPr/>
          </p:nvSpPr>
          <p:spPr>
            <a:xfrm>
              <a:off x="0" y="-47625"/>
              <a:ext cx="1522815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21"/>
          <p:cNvGrpSpPr/>
          <p:nvPr/>
        </p:nvGrpSpPr>
        <p:grpSpPr>
          <a:xfrm>
            <a:off x="12253100" y="5493499"/>
            <a:ext cx="5442479" cy="4441162"/>
            <a:chOff x="0" y="-47625"/>
            <a:chExt cx="1505027" cy="1169681"/>
          </a:xfrm>
        </p:grpSpPr>
        <p:sp>
          <p:nvSpPr>
            <p:cNvPr id="376" name="Google Shape;376;p21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7" name="Google Shape;377;p21"/>
            <p:cNvSpPr txBox="1"/>
            <p:nvPr/>
          </p:nvSpPr>
          <p:spPr>
            <a:xfrm>
              <a:off x="0" y="-47625"/>
              <a:ext cx="1505027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21"/>
          <p:cNvSpPr txBox="1"/>
          <p:nvPr/>
        </p:nvSpPr>
        <p:spPr>
          <a:xfrm>
            <a:off x="6446244" y="5776526"/>
            <a:ext cx="56061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JOSHUA ALEXANDER VASQUEZ DEL AGUILA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202102407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JORGE ALEJANDRO DE LEÓN BATRES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202111277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MELVIN ALEXANDER VALENCIA ESTRADA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202111556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JOSÉ DANIEL GUZMÁN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202111612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EDGAR JOSÍAS CÁN AJQUEJAY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202112012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DOMINIC JUAN PABLO RUANO PEREZ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202200075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ROBERTO MIGUEL GARCÍA SANTIZO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202201724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CARLOS FERNANDO ENRIQUE LOPEZ GARCIA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202210108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FERNANDO GÓMEZ RENDÓN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201801391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PABLO DANIEL FERNÁNDEZ CHACÓN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201807411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12386447" y="5776526"/>
            <a:ext cx="56061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JUAN JOSÉ GERARDI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201900532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KEVIN EDUARDO CASTAÑEDA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201901801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CLAUDIA PAOLA ALONZO HERNÁNDEZ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201902246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JONATHÁN ALEXANDER SÁNCHEZ BARRIOS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201903022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CARLOS ESTUARDO MONTERROSO SANTOS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201903767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LUIS RAFAEL MÉNDEZ LIVAR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201903887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RONY OMAR MIGUEL LOPEZ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201905750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 MOISES CHAN PELICO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201906099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BYRON ESTUARDO SOLIS GONZALEZ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201906588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JAVIER ALEJANDRO MONTERROSO LÓPEZ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201700831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BYRON JOSUÉ PAR RANCHO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201701078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KEVIN ESTUARDO SOTOJ GARCÍA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201710130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