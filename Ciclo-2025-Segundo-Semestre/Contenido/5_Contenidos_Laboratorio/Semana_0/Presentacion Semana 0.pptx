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Afj7ZXTrXHKMM1pp1hz1ul+qe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CEB216-63D1-4118-91FF-1B99F98B4C90}">
  <a:tblStyle styleId="{92CEB216-63D1-4118-91FF-1B99F98B4C9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2e20997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92e20997e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61abf9b6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b61abf9b60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21.jpg"/><Relationship Id="rId5" Type="http://schemas.openxmlformats.org/officeDocument/2006/relationships/image" Target="../media/image9.jpg"/><Relationship Id="rId6" Type="http://schemas.openxmlformats.org/officeDocument/2006/relationships/image" Target="../media/image13.jpg"/><Relationship Id="rId7" Type="http://schemas.openxmlformats.org/officeDocument/2006/relationships/image" Target="../media/image2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2e20997e8_0_0"/>
          <p:cNvSpPr txBox="1"/>
          <p:nvPr/>
        </p:nvSpPr>
        <p:spPr>
          <a:xfrm>
            <a:off x="3454660" y="3525000"/>
            <a:ext cx="11378700" cy="3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9">
                <a:solidFill>
                  <a:srgbClr val="FFFFFF"/>
                </a:solidFill>
              </a:rPr>
              <a:t>Esperamos 10 minutos</a:t>
            </a:r>
            <a:endParaRPr sz="8309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9">
                <a:solidFill>
                  <a:srgbClr val="FFFFFF"/>
                </a:solidFill>
              </a:rPr>
              <a:t>Para que entren todos</a:t>
            </a:r>
            <a:endParaRPr sz="8309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22944" r="22943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"/>
          <p:cNvGrpSpPr/>
          <p:nvPr/>
        </p:nvGrpSpPr>
        <p:grpSpPr>
          <a:xfrm>
            <a:off x="1469165" y="1016189"/>
            <a:ext cx="3871741" cy="593172"/>
            <a:chOff x="0" y="-24342"/>
            <a:chExt cx="5162322" cy="790895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769351" cy="766553"/>
            </a:xfrm>
            <a:custGeom>
              <a:rect b="b" l="l" r="r" t="t"/>
              <a:pathLst>
                <a:path extrusionOk="0" h="766553" w="769351">
                  <a:moveTo>
                    <a:pt x="0" y="0"/>
                  </a:moveTo>
                  <a:lnTo>
                    <a:pt x="769351" y="0"/>
                  </a:lnTo>
                  <a:lnTo>
                    <a:pt x="769351" y="766553"/>
                  </a:lnTo>
                  <a:lnTo>
                    <a:pt x="0" y="7665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1106760" y="-24342"/>
              <a:ext cx="4055562" cy="736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Semana 0</a:t>
              </a:r>
              <a:endParaRPr/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1469165" y="3439644"/>
            <a:ext cx="6808912" cy="2312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Seminario de Sistemas 2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469165" y="6400470"/>
            <a:ext cx="6808912" cy="1105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4615" r="4615" t="0"/>
          <a:stretch/>
        </p:blipFill>
        <p:spPr>
          <a:xfrm>
            <a:off x="1132685" y="2471125"/>
            <a:ext cx="3836920" cy="427531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2"/>
          <p:cNvGraphicFramePr/>
          <p:nvPr/>
        </p:nvGraphicFramePr>
        <p:xfrm>
          <a:off x="1070152" y="10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{92CEB216-63D1-4118-91FF-1B99F98B4C90}</a:tableStyleId>
              </a:tblPr>
              <a:tblGrid>
                <a:gridCol w="1176125"/>
                <a:gridCol w="15013025"/>
              </a:tblGrid>
              <a:tr h="87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¿Quién Soy?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grpSp>
        <p:nvGrpSpPr>
          <p:cNvPr id="101" name="Google Shape;101;p2"/>
          <p:cNvGrpSpPr/>
          <p:nvPr/>
        </p:nvGrpSpPr>
        <p:grpSpPr>
          <a:xfrm>
            <a:off x="14788026" y="2471125"/>
            <a:ext cx="1064606" cy="1064606"/>
            <a:chOff x="0" y="0"/>
            <a:chExt cx="812800" cy="81280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D2BF5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9620603" y="2471125"/>
            <a:ext cx="1064606" cy="1064606"/>
            <a:chOff x="0" y="0"/>
            <a:chExt cx="812800" cy="81280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D2BF5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15014043" y="2706317"/>
            <a:ext cx="612572" cy="612572"/>
          </a:xfrm>
          <a:custGeom>
            <a:rect b="b" l="l" r="r" t="t"/>
            <a:pathLst>
              <a:path extrusionOk="0" h="612572" w="612572">
                <a:moveTo>
                  <a:pt x="0" y="0"/>
                </a:moveTo>
                <a:lnTo>
                  <a:pt x="612572" y="0"/>
                </a:lnTo>
                <a:lnTo>
                  <a:pt x="612572" y="612571"/>
                </a:lnTo>
                <a:lnTo>
                  <a:pt x="0" y="612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9907749" y="2706317"/>
            <a:ext cx="490314" cy="545897"/>
          </a:xfrm>
          <a:custGeom>
            <a:rect b="b" l="l" r="r" t="t"/>
            <a:pathLst>
              <a:path extrusionOk="0" h="545897" w="490314">
                <a:moveTo>
                  <a:pt x="0" y="0"/>
                </a:moveTo>
                <a:lnTo>
                  <a:pt x="490314" y="0"/>
                </a:lnTo>
                <a:lnTo>
                  <a:pt x="490314" y="545896"/>
                </a:lnTo>
                <a:lnTo>
                  <a:pt x="0" y="5458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/>
          <p:nvPr/>
        </p:nvSpPr>
        <p:spPr>
          <a:xfrm>
            <a:off x="9373555" y="5648950"/>
            <a:ext cx="1558701" cy="1558701"/>
          </a:xfrm>
          <a:custGeom>
            <a:rect b="b" l="l" r="r" t="t"/>
            <a:pathLst>
              <a:path extrusionOk="0" h="1558701" w="1558701">
                <a:moveTo>
                  <a:pt x="0" y="0"/>
                </a:moveTo>
                <a:lnTo>
                  <a:pt x="1558702" y="0"/>
                </a:lnTo>
                <a:lnTo>
                  <a:pt x="1558702" y="1558701"/>
                </a:lnTo>
                <a:lnTo>
                  <a:pt x="0" y="1558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13796114" y="5779428"/>
            <a:ext cx="3048431" cy="1297746"/>
          </a:xfrm>
          <a:custGeom>
            <a:rect b="b" l="l" r="r" t="t"/>
            <a:pathLst>
              <a:path extrusionOk="0" h="1297746" w="3048431">
                <a:moveTo>
                  <a:pt x="0" y="0"/>
                </a:moveTo>
                <a:lnTo>
                  <a:pt x="3048431" y="0"/>
                </a:lnTo>
                <a:lnTo>
                  <a:pt x="3048431" y="1297746"/>
                </a:lnTo>
                <a:lnTo>
                  <a:pt x="0" y="1297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 txBox="1"/>
          <p:nvPr/>
        </p:nvSpPr>
        <p:spPr>
          <a:xfrm>
            <a:off x="8298482" y="3757038"/>
            <a:ext cx="4152378" cy="74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Primer semestre siendo auxiliar</a:t>
            </a:r>
            <a:endParaRPr/>
          </a:p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Seminario de Sistemas 2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3059076" y="3938013"/>
            <a:ext cx="4200224" cy="38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Estudiante de 10mo semestre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8298482" y="7428958"/>
            <a:ext cx="4152378" cy="38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Ingeniero de datos Junior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3427552" y="7428958"/>
            <a:ext cx="3785554" cy="38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Consultor BI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132685" y="6993022"/>
            <a:ext cx="3785554" cy="38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Javier Valdez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132685" y="7524843"/>
            <a:ext cx="6551545" cy="38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Correo: 2991917610101@ingenieria.usac.edu.gt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3"/>
          <p:cNvGraphicFramePr/>
          <p:nvPr/>
        </p:nvGraphicFramePr>
        <p:xfrm>
          <a:off x="1070152" y="10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{92CEB216-63D1-4118-91FF-1B99F98B4C90}</a:tableStyleId>
              </a:tblPr>
              <a:tblGrid>
                <a:gridCol w="1176125"/>
                <a:gridCol w="15013025"/>
              </a:tblGrid>
              <a:tr h="87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 redes sociales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3"/>
          <p:cNvSpPr/>
          <p:nvPr/>
        </p:nvSpPr>
        <p:spPr>
          <a:xfrm>
            <a:off x="1316107" y="3811099"/>
            <a:ext cx="3589835" cy="3589835"/>
          </a:xfrm>
          <a:custGeom>
            <a:rect b="b" l="l" r="r" t="t"/>
            <a:pathLst>
              <a:path extrusionOk="0" h="3589835" w="3589835">
                <a:moveTo>
                  <a:pt x="0" y="0"/>
                </a:moveTo>
                <a:lnTo>
                  <a:pt x="3589835" y="0"/>
                </a:lnTo>
                <a:lnTo>
                  <a:pt x="3589835" y="3589835"/>
                </a:lnTo>
                <a:lnTo>
                  <a:pt x="0" y="3589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3" name="Google Shape;123;p3"/>
          <p:cNvGrpSpPr/>
          <p:nvPr/>
        </p:nvGrpSpPr>
        <p:grpSpPr>
          <a:xfrm>
            <a:off x="9565540" y="3901692"/>
            <a:ext cx="3582740" cy="3582740"/>
            <a:chOff x="0" y="0"/>
            <a:chExt cx="812800" cy="812800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3"/>
          <p:cNvSpPr/>
          <p:nvPr/>
        </p:nvSpPr>
        <p:spPr>
          <a:xfrm>
            <a:off x="5473109" y="3898144"/>
            <a:ext cx="3589835" cy="3589835"/>
          </a:xfrm>
          <a:custGeom>
            <a:rect b="b" l="l" r="r" t="t"/>
            <a:pathLst>
              <a:path extrusionOk="0" h="3589835" w="3589835">
                <a:moveTo>
                  <a:pt x="0" y="0"/>
                </a:moveTo>
                <a:lnTo>
                  <a:pt x="3589835" y="0"/>
                </a:lnTo>
                <a:lnTo>
                  <a:pt x="3589835" y="3589835"/>
                </a:lnTo>
                <a:lnTo>
                  <a:pt x="0" y="3589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3"/>
          <p:cNvSpPr/>
          <p:nvPr/>
        </p:nvSpPr>
        <p:spPr>
          <a:xfrm>
            <a:off x="9518470" y="3854622"/>
            <a:ext cx="3676880" cy="3676880"/>
          </a:xfrm>
          <a:custGeom>
            <a:rect b="b" l="l" r="r" t="t"/>
            <a:pathLst>
              <a:path extrusionOk="0" h="3676880" w="3676880">
                <a:moveTo>
                  <a:pt x="0" y="0"/>
                </a:moveTo>
                <a:lnTo>
                  <a:pt x="3676880" y="0"/>
                </a:lnTo>
                <a:lnTo>
                  <a:pt x="3676880" y="3676880"/>
                </a:lnTo>
                <a:lnTo>
                  <a:pt x="0" y="3676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3"/>
          <p:cNvSpPr/>
          <p:nvPr/>
        </p:nvSpPr>
        <p:spPr>
          <a:xfrm>
            <a:off x="13389153" y="3948762"/>
            <a:ext cx="3582740" cy="3582740"/>
          </a:xfrm>
          <a:custGeom>
            <a:rect b="b" l="l" r="r" t="t"/>
            <a:pathLst>
              <a:path extrusionOk="0" h="3582740" w="3582740">
                <a:moveTo>
                  <a:pt x="0" y="0"/>
                </a:moveTo>
                <a:lnTo>
                  <a:pt x="3582740" y="0"/>
                </a:lnTo>
                <a:lnTo>
                  <a:pt x="3582740" y="3582740"/>
                </a:lnTo>
                <a:lnTo>
                  <a:pt x="0" y="3582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4"/>
          <p:cNvGrpSpPr/>
          <p:nvPr/>
        </p:nvGrpSpPr>
        <p:grpSpPr>
          <a:xfrm>
            <a:off x="8448701" y="3420950"/>
            <a:ext cx="1723867" cy="1723867"/>
            <a:chOff x="0" y="0"/>
            <a:chExt cx="812800" cy="812800"/>
          </a:xfrm>
        </p:grpSpPr>
        <p:sp>
          <p:nvSpPr>
            <p:cNvPr id="134" name="Google Shape;134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D2BF5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4"/>
          <p:cNvGrpSpPr/>
          <p:nvPr/>
        </p:nvGrpSpPr>
        <p:grpSpPr>
          <a:xfrm>
            <a:off x="2885306" y="3420950"/>
            <a:ext cx="1723867" cy="1723867"/>
            <a:chOff x="0" y="0"/>
            <a:chExt cx="812800" cy="812800"/>
          </a:xfrm>
        </p:grpSpPr>
        <p:sp>
          <p:nvSpPr>
            <p:cNvPr id="137" name="Google Shape;137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D2BF5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4"/>
          <p:cNvGrpSpPr/>
          <p:nvPr/>
        </p:nvGrpSpPr>
        <p:grpSpPr>
          <a:xfrm>
            <a:off x="14012095" y="3420950"/>
            <a:ext cx="1723867" cy="1723867"/>
            <a:chOff x="0" y="0"/>
            <a:chExt cx="812800" cy="812800"/>
          </a:xfrm>
        </p:grpSpPr>
        <p:sp>
          <p:nvSpPr>
            <p:cNvPr id="140" name="Google Shape;140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D2BF5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4"/>
          <p:cNvSpPr txBox="1"/>
          <p:nvPr/>
        </p:nvSpPr>
        <p:spPr>
          <a:xfrm>
            <a:off x="1618481" y="5460571"/>
            <a:ext cx="4257517" cy="38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Aprender sobre BI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1618481" y="6377803"/>
            <a:ext cx="4257517" cy="182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Crear y diseñar soluciones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procesar enormes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cantidades de datos y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crear modelos adecuados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partir de estos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7192887" y="5460571"/>
            <a:ext cx="4235493" cy="38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Usar herramientas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7192887" y="6377803"/>
            <a:ext cx="4235493" cy="2191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Aprender a usar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herramientas BI con el fin de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transformar datos en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información útil para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apoyar la toma de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decisiones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12837246" y="5460571"/>
            <a:ext cx="4073565" cy="74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Aprender sobre ETL y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Datamarts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2837246" y="6377803"/>
            <a:ext cx="4073565" cy="2553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Aprender sobre el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 de ETL,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Datamarts y esquemas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crear modelos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prácticos y funcionales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el manejo de grandes</a:t>
            </a:r>
            <a:endParaRPr/>
          </a:p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cantidades de información</a:t>
            </a:r>
            <a:endParaRPr/>
          </a:p>
        </p:txBody>
      </p:sp>
      <p:graphicFrame>
        <p:nvGraphicFramePr>
          <p:cNvPr id="148" name="Google Shape;148;p4"/>
          <p:cNvGraphicFramePr/>
          <p:nvPr/>
        </p:nvGraphicFramePr>
        <p:xfrm>
          <a:off x="1070152" y="10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{92CEB216-63D1-4118-91FF-1B99F98B4C90}</a:tableStyleId>
              </a:tblPr>
              <a:tblGrid>
                <a:gridCol w="1176125"/>
                <a:gridCol w="15013025"/>
              </a:tblGrid>
              <a:tr h="87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OBJETIVOS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4"/>
          <p:cNvSpPr/>
          <p:nvPr/>
        </p:nvSpPr>
        <p:spPr>
          <a:xfrm>
            <a:off x="3397755" y="3862561"/>
            <a:ext cx="698969" cy="799236"/>
          </a:xfrm>
          <a:custGeom>
            <a:rect b="b" l="l" r="r" t="t"/>
            <a:pathLst>
              <a:path extrusionOk="0" h="799236" w="698969">
                <a:moveTo>
                  <a:pt x="0" y="0"/>
                </a:moveTo>
                <a:lnTo>
                  <a:pt x="698969" y="0"/>
                </a:lnTo>
                <a:lnTo>
                  <a:pt x="698969" y="799237"/>
                </a:lnTo>
                <a:lnTo>
                  <a:pt x="0" y="799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4"/>
          <p:cNvSpPr/>
          <p:nvPr/>
        </p:nvSpPr>
        <p:spPr>
          <a:xfrm>
            <a:off x="8916102" y="3883266"/>
            <a:ext cx="789064" cy="799236"/>
          </a:xfrm>
          <a:custGeom>
            <a:rect b="b" l="l" r="r" t="t"/>
            <a:pathLst>
              <a:path extrusionOk="0" h="799236" w="789064">
                <a:moveTo>
                  <a:pt x="0" y="0"/>
                </a:moveTo>
                <a:lnTo>
                  <a:pt x="789064" y="0"/>
                </a:lnTo>
                <a:lnTo>
                  <a:pt x="789064" y="799236"/>
                </a:lnTo>
                <a:lnTo>
                  <a:pt x="0" y="799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4"/>
          <p:cNvSpPr/>
          <p:nvPr/>
        </p:nvSpPr>
        <p:spPr>
          <a:xfrm>
            <a:off x="14388765" y="3862561"/>
            <a:ext cx="970526" cy="970526"/>
          </a:xfrm>
          <a:custGeom>
            <a:rect b="b" l="l" r="r" t="t"/>
            <a:pathLst>
              <a:path extrusionOk="0" h="970526" w="970526">
                <a:moveTo>
                  <a:pt x="0" y="0"/>
                </a:moveTo>
                <a:lnTo>
                  <a:pt x="970527" y="0"/>
                </a:lnTo>
                <a:lnTo>
                  <a:pt x="970527" y="970526"/>
                </a:lnTo>
                <a:lnTo>
                  <a:pt x="0" y="970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Google Shape;156;p5"/>
          <p:cNvGraphicFramePr/>
          <p:nvPr/>
        </p:nvGraphicFramePr>
        <p:xfrm>
          <a:off x="1070152" y="10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{92CEB216-63D1-4118-91FF-1B99F98B4C90}</a:tableStyleId>
              </a:tblPr>
              <a:tblGrid>
                <a:gridCol w="1176125"/>
                <a:gridCol w="15013025"/>
              </a:tblGrid>
              <a:tr h="87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¿Porque BI?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5"/>
          <p:cNvSpPr/>
          <p:nvPr/>
        </p:nvSpPr>
        <p:spPr>
          <a:xfrm>
            <a:off x="9507950" y="2549525"/>
            <a:ext cx="7751352" cy="6749187"/>
          </a:xfrm>
          <a:custGeom>
            <a:rect b="b" l="l" r="r" t="t"/>
            <a:pathLst>
              <a:path extrusionOk="0" h="6458552" w="6127551">
                <a:moveTo>
                  <a:pt x="0" y="0"/>
                </a:moveTo>
                <a:lnTo>
                  <a:pt x="6127551" y="0"/>
                </a:lnTo>
                <a:lnTo>
                  <a:pt x="6127551" y="6458552"/>
                </a:lnTo>
                <a:lnTo>
                  <a:pt x="0" y="6458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5"/>
          <p:cNvSpPr txBox="1"/>
          <p:nvPr/>
        </p:nvSpPr>
        <p:spPr>
          <a:xfrm>
            <a:off x="1029150" y="2693400"/>
            <a:ext cx="7085700" cy="6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un mundo impulsado por la</a:t>
            </a:r>
            <a:endParaRPr/>
          </a:p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IA, la diferencia entre</a:t>
            </a:r>
            <a:endParaRPr/>
          </a:p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reaccionar y liderar reside en</a:t>
            </a:r>
            <a:endParaRPr/>
          </a:p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rapidez con la que se</a:t>
            </a:r>
            <a:endParaRPr/>
          </a:p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convierten los datos en</a:t>
            </a:r>
            <a:endParaRPr/>
          </a:p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decisiones.</a:t>
            </a:r>
            <a:endParaRPr/>
          </a:p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eso es fundamental</a:t>
            </a:r>
            <a:endParaRPr/>
          </a:p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seleccionar la solución</a:t>
            </a:r>
            <a:endParaRPr/>
          </a:p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adecuada para sus</a:t>
            </a:r>
            <a:endParaRPr/>
          </a:p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necesidades de inteligencia</a:t>
            </a:r>
            <a:endParaRPr/>
          </a:p>
          <a:p>
            <a:pPr indent="0" lvl="0" marL="0" marR="0" rtl="0" algn="just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empresarial y análisis.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6"/>
          <p:cNvGrpSpPr/>
          <p:nvPr/>
        </p:nvGrpSpPr>
        <p:grpSpPr>
          <a:xfrm>
            <a:off x="4664303" y="3380973"/>
            <a:ext cx="2212910" cy="2212910"/>
            <a:chOff x="0" y="0"/>
            <a:chExt cx="812800" cy="812800"/>
          </a:xfrm>
        </p:grpSpPr>
        <p:sp>
          <p:nvSpPr>
            <p:cNvPr id="164" name="Google Shape;164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D2BF5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6"/>
          <p:cNvSpPr/>
          <p:nvPr/>
        </p:nvSpPr>
        <p:spPr>
          <a:xfrm>
            <a:off x="4802560" y="3519233"/>
            <a:ext cx="1936395" cy="1936388"/>
          </a:xfrm>
          <a:custGeom>
            <a:rect b="b" l="l" r="r" t="t"/>
            <a:pathLst>
              <a:path extrusionOk="0" h="6349974" w="635000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5186" l="-53470" r="-43531" t="-4051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6"/>
          <p:cNvGrpSpPr/>
          <p:nvPr/>
        </p:nvGrpSpPr>
        <p:grpSpPr>
          <a:xfrm>
            <a:off x="8083541" y="3380973"/>
            <a:ext cx="2212910" cy="2212910"/>
            <a:chOff x="0" y="0"/>
            <a:chExt cx="812800" cy="812800"/>
          </a:xfrm>
        </p:grpSpPr>
        <p:sp>
          <p:nvSpPr>
            <p:cNvPr id="168" name="Google Shape;168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D2BF5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6"/>
          <p:cNvGrpSpPr/>
          <p:nvPr/>
        </p:nvGrpSpPr>
        <p:grpSpPr>
          <a:xfrm>
            <a:off x="11502779" y="3380973"/>
            <a:ext cx="2212910" cy="2212910"/>
            <a:chOff x="0" y="0"/>
            <a:chExt cx="812800" cy="812800"/>
          </a:xfrm>
        </p:grpSpPr>
        <p:sp>
          <p:nvSpPr>
            <p:cNvPr id="171" name="Google Shape;171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D2BF5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14922017" y="3380973"/>
            <a:ext cx="2212910" cy="2212910"/>
            <a:chOff x="0" y="0"/>
            <a:chExt cx="812800" cy="812800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D2BF5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6"/>
          <p:cNvSpPr/>
          <p:nvPr/>
        </p:nvSpPr>
        <p:spPr>
          <a:xfrm>
            <a:off x="8221822" y="3519233"/>
            <a:ext cx="1936395" cy="1936388"/>
          </a:xfrm>
          <a:custGeom>
            <a:rect b="b" l="l" r="r" t="t"/>
            <a:pathLst>
              <a:path extrusionOk="0" h="6349974" w="635000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60438" l="-54227" r="-52290" t="-4953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11641060" y="3519233"/>
            <a:ext cx="1936395" cy="1936388"/>
          </a:xfrm>
          <a:custGeom>
            <a:rect b="b" l="l" r="r" t="t"/>
            <a:pathLst>
              <a:path extrusionOk="0" h="6349974" w="635000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9632" l="-22473" r="-21106" t="-2573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15060322" y="3519233"/>
            <a:ext cx="1936395" cy="1936388"/>
          </a:xfrm>
          <a:custGeom>
            <a:rect b="b" l="l" r="r" t="t"/>
            <a:pathLst>
              <a:path extrusionOk="0" h="6349974" w="635000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70965" l="-145328" r="-36195" t="-1659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6"/>
          <p:cNvGrpSpPr/>
          <p:nvPr/>
        </p:nvGrpSpPr>
        <p:grpSpPr>
          <a:xfrm>
            <a:off x="1245065" y="3380973"/>
            <a:ext cx="2212910" cy="2212910"/>
            <a:chOff x="0" y="0"/>
            <a:chExt cx="812800" cy="812800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D2BF5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6"/>
          <p:cNvSpPr/>
          <p:nvPr/>
        </p:nvSpPr>
        <p:spPr>
          <a:xfrm>
            <a:off x="1383322" y="3519233"/>
            <a:ext cx="1936395" cy="1936388"/>
          </a:xfrm>
          <a:custGeom>
            <a:rect b="b" l="l" r="r" t="t"/>
            <a:pathLst>
              <a:path extrusionOk="0" h="6349974" w="635000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36473" l="-53965" r="-20856" t="-25924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3" name="Google Shape;183;p6"/>
          <p:cNvGraphicFramePr/>
          <p:nvPr/>
        </p:nvGraphicFramePr>
        <p:xfrm>
          <a:off x="1070152" y="10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{92CEB216-63D1-4118-91FF-1B99F98B4C90}</a:tableStyleId>
              </a:tblPr>
              <a:tblGrid>
                <a:gridCol w="1176125"/>
                <a:gridCol w="15013025"/>
              </a:tblGrid>
              <a:tr h="1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6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Presentación de estudiantes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4" name="Google Shape;184;p6"/>
          <p:cNvGraphicFramePr/>
          <p:nvPr/>
        </p:nvGraphicFramePr>
        <p:xfrm>
          <a:off x="1473752" y="64017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{92CEB216-63D1-4118-91FF-1B99F98B4C90}</a:tableStyleId>
              </a:tblPr>
              <a:tblGrid>
                <a:gridCol w="1755550"/>
              </a:tblGrid>
              <a:tr h="210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38" u="none" cap="none" strike="noStrike">
                          <a:solidFill>
                            <a:srgbClr val="101E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u="none" cap="none" strike="noStrike"/>
                    </a:p>
                  </a:txBody>
                  <a:tcPr marT="57125" marB="57125" marR="57125" marL="57125" anchor="ctr">
                    <a:lnL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" name="Google Shape;185;p6"/>
          <p:cNvGraphicFramePr/>
          <p:nvPr/>
        </p:nvGraphicFramePr>
        <p:xfrm>
          <a:off x="4892987" y="64017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{92CEB216-63D1-4118-91FF-1B99F98B4C90}</a:tableStyleId>
              </a:tblPr>
              <a:tblGrid>
                <a:gridCol w="1755550"/>
              </a:tblGrid>
              <a:tr h="210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38" u="none" cap="none" strike="noStrike">
                          <a:solidFill>
                            <a:srgbClr val="101E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u="none" cap="none" strike="noStrike"/>
                    </a:p>
                  </a:txBody>
                  <a:tcPr marT="57125" marB="57125" marR="57125" marL="57125" anchor="ctr">
                    <a:lnL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6" name="Google Shape;186;p6"/>
          <p:cNvGraphicFramePr/>
          <p:nvPr/>
        </p:nvGraphicFramePr>
        <p:xfrm>
          <a:off x="8266216" y="64017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{92CEB216-63D1-4118-91FF-1B99F98B4C90}</a:tableStyleId>
              </a:tblPr>
              <a:tblGrid>
                <a:gridCol w="1755550"/>
              </a:tblGrid>
              <a:tr h="210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38" u="none" cap="none" strike="noStrike">
                          <a:solidFill>
                            <a:srgbClr val="101E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u="none" cap="none" strike="noStrike"/>
                    </a:p>
                  </a:txBody>
                  <a:tcPr marT="57125" marB="57125" marR="57125" marL="57125" anchor="ctr">
                    <a:lnL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7" name="Google Shape;187;p6"/>
          <p:cNvGraphicFramePr/>
          <p:nvPr/>
        </p:nvGraphicFramePr>
        <p:xfrm>
          <a:off x="11731468" y="64017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{92CEB216-63D1-4118-91FF-1B99F98B4C90}</a:tableStyleId>
              </a:tblPr>
              <a:tblGrid>
                <a:gridCol w="1755550"/>
              </a:tblGrid>
              <a:tr h="210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38" u="none" cap="none" strike="noStrike">
                          <a:solidFill>
                            <a:srgbClr val="101E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u="none" cap="none" strike="noStrike"/>
                    </a:p>
                  </a:txBody>
                  <a:tcPr marT="57125" marB="57125" marR="57125" marL="57125" anchor="ctr">
                    <a:lnL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" name="Google Shape;188;p6"/>
          <p:cNvGraphicFramePr/>
          <p:nvPr/>
        </p:nvGraphicFramePr>
        <p:xfrm>
          <a:off x="15150720" y="64017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{92CEB216-63D1-4118-91FF-1B99F98B4C90}</a:tableStyleId>
              </a:tblPr>
              <a:tblGrid>
                <a:gridCol w="1755550"/>
              </a:tblGrid>
              <a:tr h="210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38" u="none" cap="none" strike="noStrike">
                          <a:solidFill>
                            <a:srgbClr val="101E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endParaRPr sz="1100" u="none" cap="none" strike="noStrike"/>
                    </a:p>
                  </a:txBody>
                  <a:tcPr marT="57125" marB="57125" marR="57125" marL="57125" anchor="ctr">
                    <a:lnL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28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/>
        </p:nvSpPr>
        <p:spPr>
          <a:xfrm>
            <a:off x="3454660" y="3525000"/>
            <a:ext cx="11378679" cy="2989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del programa del curso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 txBox="1"/>
          <p:nvPr/>
        </p:nvSpPr>
        <p:spPr>
          <a:xfrm>
            <a:off x="3454660" y="2786812"/>
            <a:ext cx="11378679" cy="4465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Diagnóstico de conocimientos previos del curso anterior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/>
          <p:nvPr/>
        </p:nvSpPr>
        <p:spPr>
          <a:xfrm>
            <a:off x="3454660" y="3525000"/>
            <a:ext cx="11378679" cy="2989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Diagnóstico del  laboratorio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61abf9b60_0_3"/>
          <p:cNvSpPr txBox="1"/>
          <p:nvPr/>
        </p:nvSpPr>
        <p:spPr>
          <a:xfrm>
            <a:off x="1110596" y="693850"/>
            <a:ext cx="16066800" cy="3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9">
                <a:solidFill>
                  <a:srgbClr val="FFFFFF"/>
                </a:solidFill>
              </a:rPr>
              <a:t>Software necesario para las actividades de clase:</a:t>
            </a:r>
            <a:endParaRPr/>
          </a:p>
        </p:txBody>
      </p:sp>
      <p:pic>
        <p:nvPicPr>
          <p:cNvPr id="209" name="Google Shape;209;g3b61abf9b60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875" y="5234775"/>
            <a:ext cx="9753600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b61abf9b60_0_3" title="qr-code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26100" y="4879025"/>
            <a:ext cx="4266625" cy="426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10"/>
          <p:cNvGraphicFramePr/>
          <p:nvPr/>
        </p:nvGraphicFramePr>
        <p:xfrm>
          <a:off x="7317072" y="3830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{92CEB216-63D1-4118-91FF-1B99F98B4C90}</a:tableStyleId>
              </a:tblPr>
              <a:tblGrid>
                <a:gridCol w="2761775"/>
                <a:gridCol w="7045375"/>
              </a:tblGrid>
              <a:tr h="908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101E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sz="1100" u="none" cap="none" strike="noStrike"/>
                    </a:p>
                  </a:txBody>
                  <a:tcPr marT="123825" marB="123825" marR="123825" marL="123825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2991917610101@ingenieria.usac.edu.gt</a:t>
                      </a:r>
                      <a:endParaRPr sz="1100" u="none" cap="none" strike="noStrike"/>
                    </a:p>
                  </a:txBody>
                  <a:tcPr marT="123825" marB="123825" marR="123825" marL="123825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E2E"/>
                    </a:solidFill>
                  </a:tcPr>
                </a:tc>
              </a:tr>
              <a:tr h="908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101E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Teléfono</a:t>
                      </a:r>
                      <a:endParaRPr sz="1100" u="none" cap="none" strike="noStrike"/>
                    </a:p>
                  </a:txBody>
                  <a:tcPr marT="123825" marB="123825" marR="123825" marL="123825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BF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40120007</a:t>
                      </a:r>
                      <a:endParaRPr sz="1100" u="none" cap="none" strike="noStrike"/>
                    </a:p>
                  </a:txBody>
                  <a:tcPr marT="123825" marB="123825" marR="123825" marL="123825" anchor="ctr">
                    <a:lnL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2BF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1E2E"/>
                    </a:solidFill>
                  </a:tcPr>
                </a:tc>
              </a:tr>
            </a:tbl>
          </a:graphicData>
        </a:graphic>
      </p:graphicFrame>
      <p:grpSp>
        <p:nvGrpSpPr>
          <p:cNvPr id="216" name="Google Shape;216;p10"/>
          <p:cNvGrpSpPr/>
          <p:nvPr/>
        </p:nvGrpSpPr>
        <p:grpSpPr>
          <a:xfrm>
            <a:off x="1163773" y="3606475"/>
            <a:ext cx="5605200" cy="3007832"/>
            <a:chOff x="-18" y="-85727"/>
            <a:chExt cx="7473600" cy="4010443"/>
          </a:xfrm>
        </p:grpSpPr>
        <p:sp>
          <p:nvSpPr>
            <p:cNvPr id="217" name="Google Shape;217;p10"/>
            <p:cNvSpPr txBox="1"/>
            <p:nvPr/>
          </p:nvSpPr>
          <p:spPr>
            <a:xfrm>
              <a:off x="-18" y="-85727"/>
              <a:ext cx="7473600" cy="356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887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¿Tienes dudas?</a:t>
              </a:r>
              <a:endParaRPr/>
            </a:p>
          </p:txBody>
        </p:sp>
        <p:sp>
          <p:nvSpPr>
            <p:cNvPr id="218" name="Google Shape;218;p10"/>
            <p:cNvSpPr txBox="1"/>
            <p:nvPr/>
          </p:nvSpPr>
          <p:spPr>
            <a:xfrm>
              <a:off x="65377" y="3274774"/>
              <a:ext cx="6080704" cy="649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13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E2E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1"/>
          <p:cNvPicPr preferRelativeResize="0"/>
          <p:nvPr/>
        </p:nvPicPr>
        <p:blipFill rotWithShape="1">
          <a:blip r:embed="rId3">
            <a:alphaModFix/>
          </a:blip>
          <a:srcRect b="0" l="22944" r="22943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11"/>
          <p:cNvGrpSpPr/>
          <p:nvPr/>
        </p:nvGrpSpPr>
        <p:grpSpPr>
          <a:xfrm>
            <a:off x="1469165" y="1016189"/>
            <a:ext cx="3871741" cy="593172"/>
            <a:chOff x="0" y="-24342"/>
            <a:chExt cx="5162322" cy="790895"/>
          </a:xfrm>
        </p:grpSpPr>
        <p:sp>
          <p:nvSpPr>
            <p:cNvPr id="225" name="Google Shape;225;p11"/>
            <p:cNvSpPr/>
            <p:nvPr/>
          </p:nvSpPr>
          <p:spPr>
            <a:xfrm>
              <a:off x="0" y="0"/>
              <a:ext cx="769351" cy="766553"/>
            </a:xfrm>
            <a:custGeom>
              <a:rect b="b" l="l" r="r" t="t"/>
              <a:pathLst>
                <a:path extrusionOk="0" h="766553" w="769351">
                  <a:moveTo>
                    <a:pt x="0" y="0"/>
                  </a:moveTo>
                  <a:lnTo>
                    <a:pt x="769351" y="0"/>
                  </a:lnTo>
                  <a:lnTo>
                    <a:pt x="769351" y="766553"/>
                  </a:lnTo>
                  <a:lnTo>
                    <a:pt x="0" y="7665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6" name="Google Shape;226;p11"/>
            <p:cNvSpPr txBox="1"/>
            <p:nvPr/>
          </p:nvSpPr>
          <p:spPr>
            <a:xfrm>
              <a:off x="1106760" y="-24342"/>
              <a:ext cx="4055562" cy="736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9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Semana 0</a:t>
              </a:r>
              <a:endParaRPr/>
            </a:p>
          </p:txBody>
        </p:sp>
      </p:grpSp>
      <p:sp>
        <p:nvSpPr>
          <p:cNvPr id="227" name="Google Shape;227;p11"/>
          <p:cNvSpPr txBox="1"/>
          <p:nvPr/>
        </p:nvSpPr>
        <p:spPr>
          <a:xfrm>
            <a:off x="1267933" y="4592224"/>
            <a:ext cx="6739014" cy="1643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7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