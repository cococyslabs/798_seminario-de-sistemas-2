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10287000" cx="18288000"/>
  <p:notesSz cx="18288000" cy="10287000"/>
  <p:embeddedFontLst>
    <p:embeddedFont>
      <p:font typeface="Geo"/>
      <p:regular r:id="rId37"/>
      <p:italic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Century Gothic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hwDHuZ3o26nfCTRQ/tHpCyPgBD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5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7.xml"/><Relationship Id="rId44" Type="http://schemas.openxmlformats.org/officeDocument/2006/relationships/font" Target="fonts/CenturyGothic-bold.fntdata"/><Relationship Id="rId21" Type="http://schemas.openxmlformats.org/officeDocument/2006/relationships/slide" Target="slides/slide16.xml"/><Relationship Id="rId43" Type="http://schemas.openxmlformats.org/officeDocument/2006/relationships/font" Target="fonts/CenturyGothic-regular.fntdata"/><Relationship Id="rId24" Type="http://schemas.openxmlformats.org/officeDocument/2006/relationships/slide" Target="slides/slide19.xml"/><Relationship Id="rId46" Type="http://schemas.openxmlformats.org/officeDocument/2006/relationships/font" Target="fonts/CenturyGothic-boldItalic.fntdata"/><Relationship Id="rId23" Type="http://schemas.openxmlformats.org/officeDocument/2006/relationships/slide" Target="slides/slide18.xml"/><Relationship Id="rId45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e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DMSans-regular.fntdata"/><Relationship Id="rId16" Type="http://schemas.openxmlformats.org/officeDocument/2006/relationships/slide" Target="slides/slide11.xml"/><Relationship Id="rId38" Type="http://schemas.openxmlformats.org/officeDocument/2006/relationships/font" Target="fonts/Ge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b31bc88e5_0_1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0" name="Google Shape;60;g3cb31bc88e5_0_15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b31bc88e5_0_14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cb31bc88e5_0_14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b31bc88e5_0_13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cb31bc88e5_0_13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b31bc88e5_0_16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cb31bc88e5_0_16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2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" type="body"/>
          </p:nvPr>
        </p:nvSpPr>
        <p:spPr>
          <a:xfrm>
            <a:off x="9592665" y="3633595"/>
            <a:ext cx="7780019" cy="535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3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5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cb31bc88e5_0_126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4" name="Google Shape;44;g3cb31bc88e5_0_126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" name="Google Shape;45;g3cb31bc88e5_0_126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9592665" y="3633595"/>
            <a:ext cx="7780019" cy="535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3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51" name="Google Shape;51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1"/>
            <p:cNvSpPr/>
            <p:nvPr/>
          </p:nvSpPr>
          <p:spPr>
            <a:xfrm>
              <a:off x="905966" y="8300091"/>
              <a:ext cx="8787765" cy="0"/>
            </a:xfrm>
            <a:custGeom>
              <a:rect b="b" l="l" r="r" t="t"/>
              <a:pathLst>
                <a:path extrusionOk="0" h="120000" w="8787765">
                  <a:moveTo>
                    <a:pt x="87873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1"/>
          <p:cNvSpPr txBox="1"/>
          <p:nvPr/>
        </p:nvSpPr>
        <p:spPr>
          <a:xfrm>
            <a:off x="16223090" y="561158"/>
            <a:ext cx="1159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7F7F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25/2/2026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905976" y="557958"/>
            <a:ext cx="18992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7F7F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JAVIER ANDRÉS V.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55" name="Google Shape;55;p1"/>
          <p:cNvSpPr txBox="1"/>
          <p:nvPr>
            <p:ph type="title"/>
          </p:nvPr>
        </p:nvSpPr>
        <p:spPr>
          <a:xfrm>
            <a:off x="905902" y="1023400"/>
            <a:ext cx="113712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24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>
                <a:solidFill>
                  <a:srgbClr val="F7F7F7"/>
                </a:solidFill>
              </a:rPr>
              <a:t>Herramientas ETL/ELT y</a:t>
            </a:r>
            <a:endParaRPr sz="11800"/>
          </a:p>
        </p:txBody>
      </p:sp>
      <p:sp>
        <p:nvSpPr>
          <p:cNvPr id="56" name="Google Shape;56;p1"/>
          <p:cNvSpPr txBox="1"/>
          <p:nvPr/>
        </p:nvSpPr>
        <p:spPr>
          <a:xfrm>
            <a:off x="905900" y="4410950"/>
            <a:ext cx="110097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24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>
                <a:solidFill>
                  <a:srgbClr val="F7F7F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tendencias modernas</a:t>
            </a:r>
            <a:endParaRPr sz="1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905975" y="8601009"/>
            <a:ext cx="6890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Panorama actual y criterios de selección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b31bc88e5_0_15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15000">
                <a:solidFill>
                  <a:srgbClr val="FFFFFF"/>
                </a:solidFill>
              </a:rPr>
              <a:t>Anuncios</a:t>
            </a:r>
            <a:endParaRPr b="0" i="0" sz="1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63" name="Google Shape;63;g3cb31bc88e5_0_15"/>
          <p:cNvSpPr txBox="1"/>
          <p:nvPr/>
        </p:nvSpPr>
        <p:spPr>
          <a:xfrm>
            <a:off x="8136743" y="4184800"/>
            <a:ext cx="9618600" cy="4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Horarios</a:t>
            </a:r>
            <a:endParaRPr sz="7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Hoja de calificación</a:t>
            </a:r>
            <a:endParaRPr sz="7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Tarea 1</a:t>
            </a:r>
            <a:endParaRPr sz="7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4" name="Google Shape;64;g3cb31bc88e5_0_15"/>
          <p:cNvPicPr preferRelativeResize="0"/>
          <p:nvPr/>
        </p:nvPicPr>
        <p:blipFill rotWithShape="1">
          <a:blip r:embed="rId3">
            <a:alphaModFix/>
          </a:blip>
          <a:srcRect b="0" l="40532" r="24680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9" name="Google Shape;69;p2"/>
          <p:cNvSpPr txBox="1"/>
          <p:nvPr>
            <p:ph type="title"/>
          </p:nvPr>
        </p:nvSpPr>
        <p:spPr>
          <a:xfrm>
            <a:off x="9600579" y="2975739"/>
            <a:ext cx="7272655" cy="90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70205" lvl="0" marL="38227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4191A"/>
                </a:solidFill>
              </a:rPr>
              <a:t>1. Introducción y evolución del ecosistema ETL/ELT</a:t>
            </a:r>
            <a:endParaRPr sz="2900"/>
          </a:p>
        </p:txBody>
      </p:sp>
      <p:sp>
        <p:nvSpPr>
          <p:cNvPr id="70" name="Google Shape;70;p2"/>
          <p:cNvSpPr txBox="1"/>
          <p:nvPr/>
        </p:nvSpPr>
        <p:spPr>
          <a:xfrm>
            <a:off x="9482356" y="4113786"/>
            <a:ext cx="7455534" cy="457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66725" lvl="0" marL="499109" marR="792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lang="en-US" sz="29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	herramientas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72440" lvl="0" marL="499109" marR="30861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lang="en-US" sz="29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de selección y tendencias del 	mercado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78155" lvl="0" marL="499109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lang="en-US" sz="29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80059" lvl="0" marL="499109" marR="508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lang="en-US" sz="29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Airﬂow: orquestación y ejemplos 	prácticos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87044" lvl="0" marL="499744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4191A"/>
              </a:buClr>
              <a:buSzPts val="2900"/>
              <a:buFont typeface="Century Gothic"/>
              <a:buAutoNum type="arabicPeriod" startAt="2"/>
            </a:pPr>
            <a:r>
              <a:rPr lang="en-US" sz="29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Lecturas recomendadas y conclusiones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17225674" y="562607"/>
            <a:ext cx="1574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905901" y="7671300"/>
            <a:ext cx="47544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7" name="Google Shape;77;p3"/>
          <p:cNvSpPr txBox="1"/>
          <p:nvPr>
            <p:ph type="title"/>
          </p:nvPr>
        </p:nvSpPr>
        <p:spPr>
          <a:xfrm>
            <a:off x="905904" y="6744201"/>
            <a:ext cx="12865100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evolución del ecosistema ETL/ELT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7220477" y="563767"/>
            <a:ext cx="1606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/>
        </p:nvSpPr>
        <p:spPr>
          <a:xfrm>
            <a:off x="905904" y="1606411"/>
            <a:ext cx="7345680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al ecosistema ETL/ELT</a:t>
            </a:r>
            <a:endParaRPr sz="4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9592675" y="1638800"/>
            <a:ext cx="76512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Ecosistema ETL/ELT: un mapa diverso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Existen múltiples familias de herramientas especializadas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9592667" y="2966671"/>
            <a:ext cx="7651200" cy="47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377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Combinación de herramientas en proyectos reales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Normalmente,</a:t>
            </a: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 se integran conectores, motores de transformación y orquestadores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Criterios para elegir un stack de datos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Se consideran conectividad, escalabilidad, costos y operación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Justificación de decisiones tecnológicas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La selección depende del contexto y necesidades del negocio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905904" y="561158"/>
            <a:ext cx="60344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EVOLUCIÓN DEL ECOSISTEMA ETL/ELT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17216742" y="561158"/>
            <a:ext cx="1644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9605381" y="7766943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94" name="Google Shape;94;p5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Evolución del mercado de ETL</a:t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9516690" y="4159122"/>
            <a:ext cx="7747000" cy="3501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64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Diversidad de enfoques: ETL, ELT, iPaaS, streaming y CDC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Cada enfoque resuelve necesidades distintas: desde cargas batch hasta integración en tiempo real.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Importancia de la selección híbrida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3144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En proyectos reales, se combinan varias herramientas para cubrir todo el ciclo de vida del pipeline.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905866" y="4159122"/>
            <a:ext cx="7743825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728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De soluciones monolíticas a ecosistemas modulares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71691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El mercado evolucionó de suites únicas a combinaciones de herramientas especializadas.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Clasificación por función y valor en el ﬂujo de datos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419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Herramientas se agrupan según conectividad, transformación, orquestación, calidad y operación.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17215944" y="561158"/>
            <a:ext cx="1651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8" name="Google Shape;98;p5"/>
          <p:cNvGrpSpPr/>
          <p:nvPr/>
        </p:nvGrpSpPr>
        <p:grpSpPr>
          <a:xfrm>
            <a:off x="9143442" y="4227066"/>
            <a:ext cx="0" cy="3890885"/>
            <a:chOff x="9143442" y="4227066"/>
            <a:chExt cx="0" cy="3890885"/>
          </a:xfrm>
        </p:grpSpPr>
        <p:sp>
          <p:nvSpPr>
            <p:cNvPr id="99" name="Google Shape;99;p5"/>
            <p:cNvSpPr/>
            <p:nvPr/>
          </p:nvSpPr>
          <p:spPr>
            <a:xfrm>
              <a:off x="9143442" y="64269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9143442" y="422706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5"/>
          <p:cNvSpPr txBox="1"/>
          <p:nvPr/>
        </p:nvSpPr>
        <p:spPr>
          <a:xfrm>
            <a:off x="905866" y="561158"/>
            <a:ext cx="60344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EVOLUCIÓN DEL ECOSISTEMA ETL/ELT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b31bc88e5_0_142"/>
          <p:cNvSpPr txBox="1"/>
          <p:nvPr/>
        </p:nvSpPr>
        <p:spPr>
          <a:xfrm>
            <a:off x="17215944" y="561158"/>
            <a:ext cx="165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7" name="Google Shape;107;g3cb31bc88e5_0_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200" y="739163"/>
            <a:ext cx="14131575" cy="880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12" name="Google Shape;112;p6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Modos de consumo de herramientas</a:t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6646415" y="6579981"/>
            <a:ext cx="4304030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Combinación híbrida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La mayoría de los proyectos integran varias opciones según necesidad.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905866" y="6579981"/>
            <a:ext cx="4979670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Open source autogestionado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68326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Flexibilidad y control, requiere mayor capacidad técnica interna.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12386965" y="4380103"/>
            <a:ext cx="3828415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816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Herramientas SaaS especializadas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Conectores listos para usar, mantenimiento por el proveedor.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6646415" y="4380103"/>
            <a:ext cx="479996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Servicios cloud gestionados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6545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Despliegue administrado, integración nativa y escalabilidad.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905866" y="4380103"/>
            <a:ext cx="488759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Suites enterprise instalables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Pensadas para grandes empresas, control centralizado y seguridad.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17211826" y="561158"/>
            <a:ext cx="1695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19" name="Google Shape;119;p6"/>
          <p:cNvGrpSpPr/>
          <p:nvPr/>
        </p:nvGrpSpPr>
        <p:grpSpPr>
          <a:xfrm>
            <a:off x="6273142" y="4448046"/>
            <a:ext cx="5740599" cy="3448925"/>
            <a:chOff x="6273142" y="4448046"/>
            <a:chExt cx="5740599" cy="3448925"/>
          </a:xfrm>
        </p:grpSpPr>
        <p:sp>
          <p:nvSpPr>
            <p:cNvPr id="120" name="Google Shape;120;p6"/>
            <p:cNvSpPr/>
            <p:nvPr/>
          </p:nvSpPr>
          <p:spPr>
            <a:xfrm>
              <a:off x="12013741" y="6647926"/>
              <a:ext cx="0" cy="1249045"/>
            </a:xfrm>
            <a:custGeom>
              <a:rect b="b" l="l" r="r" t="t"/>
              <a:pathLst>
                <a:path extrusionOk="0" h="1249045" w="120000">
                  <a:moveTo>
                    <a:pt x="0" y="124842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6273142" y="6647926"/>
              <a:ext cx="0" cy="1249045"/>
            </a:xfrm>
            <a:custGeom>
              <a:rect b="b" l="l" r="r" t="t"/>
              <a:pathLst>
                <a:path extrusionOk="0" h="1249045" w="120000">
                  <a:moveTo>
                    <a:pt x="0" y="124842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12013741" y="44480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6273142" y="44480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6"/>
          <p:cNvSpPr txBox="1"/>
          <p:nvPr/>
        </p:nvSpPr>
        <p:spPr>
          <a:xfrm>
            <a:off x="905866" y="561158"/>
            <a:ext cx="60344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EVOLUCIÓN DEL ECOSISTEMA ETL/ELT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29" name="Google Shape;129;p7"/>
          <p:cNvSpPr txBox="1"/>
          <p:nvPr>
            <p:ph type="title"/>
          </p:nvPr>
        </p:nvSpPr>
        <p:spPr>
          <a:xfrm>
            <a:off x="905904" y="6744201"/>
            <a:ext cx="11936095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17233506" y="563767"/>
            <a:ext cx="1479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35" name="Google Shape;135;p8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Taxonomía práctica de herramientas</a:t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12386965" y="6359002"/>
            <a:ext cx="4053204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Orquestación, calidad y observabilidad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572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Coordina, valida y monitorea la confiabilidad de los pipelines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6794577" y="4159127"/>
            <a:ext cx="46977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Streaming y CDC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Procesamiento en tiempo real y captura de cambios en datos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905866" y="6359002"/>
            <a:ext cx="460946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Herramientas cloud-native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3431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Soluciones del proveedor cloud, integración y operación administrada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12386965" y="4159122"/>
            <a:ext cx="4391660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Ingesta/ELT gestionado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Conectores listos para cargar datos y delegar transformaciones al destino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905866" y="4159122"/>
            <a:ext cx="457136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Integración enterprise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Suites robustas para grandes organizaciones y gobierno centralizado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7216403" y="561158"/>
            <a:ext cx="1651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42" name="Google Shape;142;p8"/>
          <p:cNvGrpSpPr/>
          <p:nvPr/>
        </p:nvGrpSpPr>
        <p:grpSpPr>
          <a:xfrm>
            <a:off x="6273142" y="4227066"/>
            <a:ext cx="5740599" cy="3890885"/>
            <a:chOff x="6273142" y="4227066"/>
            <a:chExt cx="5740599" cy="3890885"/>
          </a:xfrm>
        </p:grpSpPr>
        <p:sp>
          <p:nvSpPr>
            <p:cNvPr id="143" name="Google Shape;143;p8"/>
            <p:cNvSpPr/>
            <p:nvPr/>
          </p:nvSpPr>
          <p:spPr>
            <a:xfrm>
              <a:off x="12013741" y="64269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6273142" y="642694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12013741" y="422706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6273142" y="4227066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8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/>
        </p:nvSpPr>
        <p:spPr>
          <a:xfrm>
            <a:off x="905904" y="1606411"/>
            <a:ext cx="547814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Suites enterprise de integración</a:t>
            </a:r>
            <a:endParaRPr sz="4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9592677" y="1638800"/>
            <a:ext cx="78732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Ejemplos destacados en el mercado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Informatica, IBM DataStage, SSIS, Oracle Data Integrator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9592667" y="2966671"/>
            <a:ext cx="7457440" cy="365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Ventajas principales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Amplia conectividad, seguridad robusta y gobierno centralizado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Uso en entornos regulados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Ideales para empresas con altos requisitos de cumplimiento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Escenarios híbridos y legado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Permiten integración entre sistemas on-premise y nube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905904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17211713" y="561158"/>
            <a:ext cx="1695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9605381" y="702327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63" name="Google Shape;163;p11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Herramientas de ingesta y ELT</a:t>
            </a:r>
            <a:endParaRPr/>
          </a:p>
        </p:txBody>
      </p:sp>
      <p:sp>
        <p:nvSpPr>
          <p:cNvPr id="164" name="Google Shape;164;p11"/>
          <p:cNvSpPr txBox="1"/>
          <p:nvPr/>
        </p:nvSpPr>
        <p:spPr>
          <a:xfrm>
            <a:off x="9516690" y="4601081"/>
            <a:ext cx="7741920" cy="3059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Enfoque en ELT y warehouse/lakehouse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44208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Cargan datos con mínima transformación y delegan el procesamiento al destino analítico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Ventajas de conectores gestionados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El proveedor mantiene actualizaciones y reduce la carga operativa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interna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905866" y="4601081"/>
            <a:ext cx="7833359" cy="3059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Herramientas de ingesta modernas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Fivetran, Stitch, Airbyte, Matillion, Hevo y Rivery ofrecen conectores listos para usar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dbt como estándar de transformaciones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66865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Permite modelar, versionar y probar datos directamente en el warehouse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17212974" y="561158"/>
            <a:ext cx="1682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67" name="Google Shape;167;p11"/>
          <p:cNvGrpSpPr/>
          <p:nvPr/>
        </p:nvGrpSpPr>
        <p:grpSpPr>
          <a:xfrm>
            <a:off x="9143442" y="4669026"/>
            <a:ext cx="0" cy="3006965"/>
            <a:chOff x="9143442" y="4669026"/>
            <a:chExt cx="0" cy="3006965"/>
          </a:xfrm>
        </p:grpSpPr>
        <p:sp>
          <p:nvSpPr>
            <p:cNvPr id="168" name="Google Shape;168;p11"/>
            <p:cNvSpPr/>
            <p:nvPr/>
          </p:nvSpPr>
          <p:spPr>
            <a:xfrm>
              <a:off x="9143442" y="6426946"/>
              <a:ext cx="0" cy="1249045"/>
            </a:xfrm>
            <a:custGeom>
              <a:rect b="b" l="l" r="r" t="t"/>
              <a:pathLst>
                <a:path extrusionOk="0" h="1249045" w="120000">
                  <a:moveTo>
                    <a:pt x="0" y="124842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1"/>
            <p:cNvSpPr/>
            <p:nvPr/>
          </p:nvSpPr>
          <p:spPr>
            <a:xfrm>
              <a:off x="9143442" y="4669026"/>
              <a:ext cx="0" cy="1249045"/>
            </a:xfrm>
            <a:custGeom>
              <a:rect b="b" l="l" r="r" t="t"/>
              <a:pathLst>
                <a:path extrusionOk="0" h="1249045" w="120000">
                  <a:moveTo>
                    <a:pt x="0" y="124842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1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5" name="Google Shape;175;p12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Herramientas cloud-native por proveedor</a:t>
            </a:r>
            <a:endParaRPr/>
          </a:p>
        </p:txBody>
      </p:sp>
      <p:sp>
        <p:nvSpPr>
          <p:cNvPr id="176" name="Google Shape;176;p12"/>
          <p:cNvSpPr txBox="1"/>
          <p:nvPr/>
        </p:nvSpPr>
        <p:spPr>
          <a:xfrm>
            <a:off x="12386962" y="4813118"/>
            <a:ext cx="4919980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Riesgos y desafíos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Riesgo de lock-in tecnológico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Complejidad arquitectónica al combinar 	servicios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6646414" y="4813118"/>
            <a:ext cx="4531360" cy="2635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Ventajas clave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39687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Escalado automático y operación 	gestionada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9367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Integración nativa con servicios del 	proveedor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Monitoreo centralizado y facturación 	unificada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905865" y="4813118"/>
            <a:ext cx="4795520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600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Principales herramientas cloud-native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AWS Glue, Azure Data Factory y Google 	Cloud Data Fusion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17152624" y="561158"/>
            <a:ext cx="2286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80" name="Google Shape;180;p12"/>
          <p:cNvGrpSpPr/>
          <p:nvPr/>
        </p:nvGrpSpPr>
        <p:grpSpPr>
          <a:xfrm>
            <a:off x="6273142" y="4881068"/>
            <a:ext cx="5740599" cy="2582545"/>
            <a:chOff x="6273142" y="4881068"/>
            <a:chExt cx="5740599" cy="2582545"/>
          </a:xfrm>
        </p:grpSpPr>
        <p:sp>
          <p:nvSpPr>
            <p:cNvPr id="181" name="Google Shape;181;p12"/>
            <p:cNvSpPr/>
            <p:nvPr/>
          </p:nvSpPr>
          <p:spPr>
            <a:xfrm>
              <a:off x="12013741" y="4881068"/>
              <a:ext cx="0" cy="2582545"/>
            </a:xfrm>
            <a:custGeom>
              <a:rect b="b" l="l" r="r" t="t"/>
              <a:pathLst>
                <a:path extrusionOk="0" h="2582545" w="120000">
                  <a:moveTo>
                    <a:pt x="0" y="258226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6273142" y="4881068"/>
              <a:ext cx="0" cy="2582545"/>
            </a:xfrm>
            <a:custGeom>
              <a:rect b="b" l="l" r="r" t="t"/>
              <a:pathLst>
                <a:path extrusionOk="0" h="2582545" w="120000">
                  <a:moveTo>
                    <a:pt x="0" y="258226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12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88" name="Google Shape;188;p13"/>
          <p:cNvSpPr txBox="1"/>
          <p:nvPr>
            <p:ph type="title"/>
          </p:nvPr>
        </p:nvSpPr>
        <p:spPr>
          <a:xfrm>
            <a:off x="905904" y="1606411"/>
            <a:ext cx="7557770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4191A"/>
                </a:solidFill>
              </a:rPr>
              <a:t>Streaming y CDC en tiempo</a:t>
            </a:r>
            <a:endParaRPr/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4191A"/>
                </a:solidFill>
              </a:rPr>
              <a:t>real</a:t>
            </a:r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9592665" y="1638797"/>
            <a:ext cx="7316470" cy="2635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Herramientas clave para streaming y CDC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Apache Kafka y Kafka Connect permiten ﬂujos de eventos en 	tiempo real.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2192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Debezium facilita la replicación de cambios desde bases de 	datos.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021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Conﬂuent y Striim ofrecen soluciones comerciales y 	gestionadas.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9592665" y="4602233"/>
            <a:ext cx="7720330" cy="4545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181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Replicación y distribución de datos en minutos o segundos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2954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Ideal para negocios que requieren baja latencia y alta 	confiabilidad.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Permite mover solo los cambios, no cargas completas.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50"/>
              <a:buFont typeface="Garamond"/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60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Complemento a modelos analíticos y calidad de datos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El streaming distribuye datos rápidamente, pero no reemplaza el 	modelado analítico.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Se integra con lakehouse/warehouse para análisis y BI.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905904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17149306" y="561158"/>
            <a:ext cx="2324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3" name="Google Shape;1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3"/>
          <p:cNvSpPr/>
          <p:nvPr/>
        </p:nvSpPr>
        <p:spPr>
          <a:xfrm>
            <a:off x="9605381" y="954873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9" name="Google Shape;199;p14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Orquestación, calidad y observabilidad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13822100" y="4402908"/>
            <a:ext cx="3423285" cy="345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279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Importancia de la operación y trazabilidad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20637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La operación representa 	hasta el 50% del esfuerzo 	en proyectos reales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Trazabilidad y auditoría son 	claves para entornos 	productivos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9516688" y="4402908"/>
            <a:ext cx="3162300" cy="345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242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Monitoreo y observabilidad continua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Plataformas como Monte 	Carlo alertan sobre 	degradación y anomalías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2928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Permiten detectar 	incidentes antes de 	impactar al negocio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14"/>
          <p:cNvSpPr txBox="1"/>
          <p:nvPr/>
        </p:nvSpPr>
        <p:spPr>
          <a:xfrm>
            <a:off x="5211277" y="4402908"/>
            <a:ext cx="3427095" cy="301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Validación y calidad de datos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9144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Great Expectations y Soda 	automatizan pruebas de 	calidad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0287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Detectan errores como 	nulos, duplicados o rangos 	fuera de lo esperado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905865" y="4402908"/>
            <a:ext cx="3501390" cy="301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40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Orquestación de pipelines de datos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Herramientas como Apache 	Airﬂow coordinan tareas y 	dependencias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7907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Permiten reintentos, 	programación y control de 	ejecución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p14"/>
          <p:cNvSpPr txBox="1"/>
          <p:nvPr/>
        </p:nvSpPr>
        <p:spPr>
          <a:xfrm>
            <a:off x="17145536" y="561158"/>
            <a:ext cx="235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05" name="Google Shape;205;p14"/>
          <p:cNvGrpSpPr/>
          <p:nvPr/>
        </p:nvGrpSpPr>
        <p:grpSpPr>
          <a:xfrm>
            <a:off x="4837992" y="4470858"/>
            <a:ext cx="8610823" cy="3402965"/>
            <a:chOff x="4837992" y="4470858"/>
            <a:chExt cx="8610823" cy="3402965"/>
          </a:xfrm>
        </p:grpSpPr>
        <p:sp>
          <p:nvSpPr>
            <p:cNvPr id="206" name="Google Shape;206;p14"/>
            <p:cNvSpPr/>
            <p:nvPr/>
          </p:nvSpPr>
          <p:spPr>
            <a:xfrm>
              <a:off x="13448815" y="4470858"/>
              <a:ext cx="0" cy="3402965"/>
            </a:xfrm>
            <a:custGeom>
              <a:rect b="b" l="l" r="r" t="t"/>
              <a:pathLst>
                <a:path extrusionOk="0" h="3402965" w="120000">
                  <a:moveTo>
                    <a:pt x="0" y="340268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9143442" y="4470858"/>
              <a:ext cx="0" cy="3402965"/>
            </a:xfrm>
            <a:custGeom>
              <a:rect b="b" l="l" r="r" t="t"/>
              <a:pathLst>
                <a:path extrusionOk="0" h="3402965" w="120000">
                  <a:moveTo>
                    <a:pt x="0" y="340268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4837992" y="4470858"/>
              <a:ext cx="0" cy="3402965"/>
            </a:xfrm>
            <a:custGeom>
              <a:rect b="b" l="l" r="r" t="t"/>
              <a:pathLst>
                <a:path extrusionOk="0" h="3402965" w="120000">
                  <a:moveTo>
                    <a:pt x="0" y="340268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14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TAXONOMÍA Y MODOS DE CONSUMO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14" name="Google Shape;214;p15"/>
          <p:cNvSpPr txBox="1"/>
          <p:nvPr>
            <p:ph type="title"/>
          </p:nvPr>
        </p:nvSpPr>
        <p:spPr>
          <a:xfrm>
            <a:off x="905904" y="6744201"/>
            <a:ext cx="11049635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de selección y tendencias del mercado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17144581" y="563767"/>
            <a:ext cx="2368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20" name="Google Shape;220;p16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Criterios de selección de herramientas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13822100" y="4623875"/>
            <a:ext cx="38427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Talento, soporte y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riesgos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Disponibilidad de expertos 	y soporte del proveedor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36322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Evaluar costos totales y 	riesgo de lock-in 	tecnológico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9516702" y="4623875"/>
            <a:ext cx="39321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48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Ingeniería y operación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20256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Versionado, CI/CD, manejo 	de secretos y auditoría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Trazabilidad y ambientes de 	pruebas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5211275" y="4623875"/>
            <a:ext cx="39321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103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Ejecución y escalabilidad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Considerar volumen, 	concurrencia y ventanas de 	carga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23177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Evaluar costos por 	ejecución y capacidad de 	escalado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905876" y="4623875"/>
            <a:ext cx="39321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60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Contexto y conectividad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Analizar sistemas existentes 	y compatibilidad de fuentes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0388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Verificar autenticación, 	cuotas y cambios de 	esquema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17140507" y="561158"/>
            <a:ext cx="2406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26" name="Google Shape;226;p16"/>
          <p:cNvGrpSpPr/>
          <p:nvPr/>
        </p:nvGrpSpPr>
        <p:grpSpPr>
          <a:xfrm>
            <a:off x="4837992" y="4691838"/>
            <a:ext cx="8610823" cy="2961005"/>
            <a:chOff x="4837992" y="4691838"/>
            <a:chExt cx="8610823" cy="2961005"/>
          </a:xfrm>
        </p:grpSpPr>
        <p:sp>
          <p:nvSpPr>
            <p:cNvPr id="227" name="Google Shape;227;p16"/>
            <p:cNvSpPr/>
            <p:nvPr/>
          </p:nvSpPr>
          <p:spPr>
            <a:xfrm>
              <a:off x="13448815" y="4691838"/>
              <a:ext cx="0" cy="2961005"/>
            </a:xfrm>
            <a:custGeom>
              <a:rect b="b" l="l" r="r" t="t"/>
              <a:pathLst>
                <a:path extrusionOk="0" h="2961004" w="120000">
                  <a:moveTo>
                    <a:pt x="0" y="296072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9143442" y="4691838"/>
              <a:ext cx="0" cy="2961005"/>
            </a:xfrm>
            <a:custGeom>
              <a:rect b="b" l="l" r="r" t="t"/>
              <a:pathLst>
                <a:path extrusionOk="0" h="2961004" w="120000">
                  <a:moveTo>
                    <a:pt x="0" y="296072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4837992" y="4691838"/>
              <a:ext cx="0" cy="2961005"/>
            </a:xfrm>
            <a:custGeom>
              <a:rect b="b" l="l" r="r" t="t"/>
              <a:pathLst>
                <a:path extrusionOk="0" h="2961004" w="120000">
                  <a:moveTo>
                    <a:pt x="0" y="296072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16"/>
          <p:cNvSpPr txBox="1"/>
          <p:nvPr/>
        </p:nvSpPr>
        <p:spPr>
          <a:xfrm>
            <a:off x="905866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DE SELECCIÓN Y TENDENCIAS DEL MERCADO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35" name="Google Shape;235;p17"/>
          <p:cNvSpPr txBox="1"/>
          <p:nvPr>
            <p:ph type="title"/>
          </p:nvPr>
        </p:nvSpPr>
        <p:spPr>
          <a:xfrm>
            <a:off x="905904" y="1606411"/>
            <a:ext cx="650684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4191A"/>
                </a:solidFill>
              </a:rPr>
              <a:t>Tendencias actuales del</a:t>
            </a:r>
            <a:endParaRPr/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4191A"/>
                </a:solidFill>
              </a:rPr>
              <a:t>mercado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9592665" y="1638797"/>
            <a:ext cx="7478395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Consolidación en warehouse/lakehouse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El ELT se posiciona como estándar en arquitecturas modernas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3987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Desacoplamiento de cómputo y almacenamiento facilita la 	escalabilidad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17"/>
          <p:cNvSpPr txBox="1"/>
          <p:nvPr>
            <p:ph idx="1" type="body"/>
          </p:nvPr>
        </p:nvSpPr>
        <p:spPr>
          <a:xfrm>
            <a:off x="9592665" y="3633595"/>
            <a:ext cx="7780019" cy="535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Formatos abiertos y arquitectura lakehouse</a:t>
            </a:r>
            <a:endParaRPr/>
          </a:p>
          <a:p>
            <a:pPr indent="-212725" lvl="0" marL="225425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Aumenta la interoperabilidad entre motores y herramientas</a:t>
            </a:r>
            <a:endParaRPr sz="1950"/>
          </a:p>
          <a:p>
            <a:pPr indent="-212725" lvl="0" marL="22542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Facilita la integración de datos estructurados y no estructurados</a:t>
            </a:r>
            <a:endParaRPr sz="195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None/>
            </a:pPr>
            <a:r>
              <a:t/>
            </a:r>
            <a:endParaRPr sz="195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Observabilidad y calidad de datos</a:t>
            </a:r>
            <a:endParaRPr/>
          </a:p>
          <a:p>
            <a:pPr indent="-212725" lvl="0" marL="225425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Monitoreo continuo de frescura, volumen y calidad</a:t>
            </a:r>
            <a:endParaRPr sz="1950"/>
          </a:p>
          <a:p>
            <a:pPr indent="-212725" lvl="0" marL="224790" marR="32131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Herramientas de observabilidad permiten detectar problemas 	antes de impactar el negocio</a:t>
            </a:r>
            <a:endParaRPr sz="195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None/>
            </a:pPr>
            <a:r>
              <a:t/>
            </a:r>
            <a:endParaRPr sz="195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CDC, eventos y asistentes IA</a:t>
            </a:r>
            <a:endParaRPr/>
          </a:p>
          <a:p>
            <a:pPr indent="-212725" lvl="0" marL="224790" marR="116332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CDC y eventos reducen cargas completas y mejoran la 	eficiencia</a:t>
            </a:r>
            <a:endParaRPr sz="1950"/>
          </a:p>
          <a:p>
            <a:pPr indent="-212725" lvl="0" marL="22542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Garamond"/>
              <a:buChar char="•"/>
            </a:pPr>
            <a:r>
              <a:rPr lang="en-US" sz="1950"/>
              <a:t>Asistentes IA aceleran transformaciones y documentación</a:t>
            </a:r>
            <a:endParaRPr sz="1950"/>
          </a:p>
        </p:txBody>
      </p:sp>
      <p:sp>
        <p:nvSpPr>
          <p:cNvPr id="238" name="Google Shape;238;p17"/>
          <p:cNvSpPr txBox="1"/>
          <p:nvPr/>
        </p:nvSpPr>
        <p:spPr>
          <a:xfrm>
            <a:off x="905904" y="561158"/>
            <a:ext cx="6019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CRITERIOS DE SELECCIÓN Y TENDENCIAS DEL MERCADO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17162336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0" name="Google Shape;2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7"/>
          <p:cNvSpPr/>
          <p:nvPr/>
        </p:nvSpPr>
        <p:spPr>
          <a:xfrm>
            <a:off x="9605381" y="9389260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46" name="Google Shape;246;p18"/>
          <p:cNvSpPr txBox="1"/>
          <p:nvPr>
            <p:ph type="title"/>
          </p:nvPr>
        </p:nvSpPr>
        <p:spPr>
          <a:xfrm>
            <a:off x="905894" y="7671301"/>
            <a:ext cx="1145794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dє uso єspєcíficos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17145040" y="563767"/>
            <a:ext cx="236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/>
          <p:nvPr/>
        </p:nvSpPr>
        <p:spPr>
          <a:xfrm>
            <a:off x="905904" y="1606411"/>
            <a:ext cx="560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Uber</a:t>
            </a:r>
            <a:endParaRPr sz="4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905904" y="561158"/>
            <a:ext cx="3098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17140620" y="561158"/>
            <a:ext cx="2406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9605381" y="872034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563" y="1830536"/>
            <a:ext cx="13709227" cy="753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/>
          <p:cNvSpPr txBox="1"/>
          <p:nvPr/>
        </p:nvSpPr>
        <p:spPr>
          <a:xfrm>
            <a:off x="905900" y="9367525"/>
            <a:ext cx="134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https://www.uber.com/en-GT/blog/uber-big-data-platform/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b31bc88e5_0_130"/>
          <p:cNvSpPr txBox="1"/>
          <p:nvPr/>
        </p:nvSpPr>
        <p:spPr>
          <a:xfrm>
            <a:off x="905904" y="1606411"/>
            <a:ext cx="560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Airbnb</a:t>
            </a:r>
            <a:endParaRPr sz="4600">
              <a:solidFill>
                <a:srgbClr val="04191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g3cb31bc88e5_0_130"/>
          <p:cNvSpPr txBox="1"/>
          <p:nvPr/>
        </p:nvSpPr>
        <p:spPr>
          <a:xfrm>
            <a:off x="905904" y="561158"/>
            <a:ext cx="3098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g3cb31bc88e5_0_130"/>
          <p:cNvSpPr txBox="1"/>
          <p:nvPr/>
        </p:nvSpPr>
        <p:spPr>
          <a:xfrm>
            <a:off x="17140620" y="561158"/>
            <a:ext cx="240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5" name="Google Shape;265;g3cb31bc88e5_0_130"/>
          <p:cNvSpPr/>
          <p:nvPr/>
        </p:nvSpPr>
        <p:spPr>
          <a:xfrm>
            <a:off x="9605381" y="8720342"/>
            <a:ext cx="6372859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g3cb31bc88e5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602" y="2361774"/>
            <a:ext cx="11971274" cy="61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71" name="Google Shape;271;p20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 de uso: Finanzas y regulados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12386962" y="4925599"/>
            <a:ext cx="49428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CDC, validaciones y catálogo de datos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8453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Implementación de Change Data 	Capture para replicación confiable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5240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Validaciones estrictas y uso obligatorio 	de catálogos y </a:t>
            </a: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lineaje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6646414" y="4925599"/>
            <a:ext cx="4962525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864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Herramientas enterprise y cloud robustas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Uso de suites como Informatica, 	DataStage o servicios cloud gestionados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6992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Gobierno centralizado y control de 	acceso avanzado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905865" y="4925599"/>
            <a:ext cx="447675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Trazabilidad y auditoría como prioridad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Registro detallado de movimientos y 	cambios en los datos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7183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Cumplimiento de normativas y 	auditorías externas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17069869" y="561158"/>
            <a:ext cx="3092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76" name="Google Shape;276;p20"/>
          <p:cNvGrpSpPr/>
          <p:nvPr/>
        </p:nvGrpSpPr>
        <p:grpSpPr>
          <a:xfrm>
            <a:off x="6273142" y="4993553"/>
            <a:ext cx="5740599" cy="2357755"/>
            <a:chOff x="6273142" y="4993553"/>
            <a:chExt cx="5740599" cy="2357755"/>
          </a:xfrm>
        </p:grpSpPr>
        <p:sp>
          <p:nvSpPr>
            <p:cNvPr id="277" name="Google Shape;277;p20"/>
            <p:cNvSpPr/>
            <p:nvPr/>
          </p:nvSpPr>
          <p:spPr>
            <a:xfrm>
              <a:off x="12013741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6273142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20"/>
          <p:cNvSpPr txBox="1"/>
          <p:nvPr/>
        </p:nvSpPr>
        <p:spPr>
          <a:xfrm>
            <a:off x="905866" y="561158"/>
            <a:ext cx="3098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84" name="Google Shape;284;p21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 de uso: IoT y telemetría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905866" y="6358990"/>
            <a:ext cx="6849745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Agregaciones y análisis por ventanas de tiempo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6705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Cálculo de métricas y alertas operacionales mediante agregaciones por intervalos definidos (ventanas).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9516671" y="4159135"/>
            <a:ext cx="6957695" cy="3501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Almacenamiento escalable para grandes volúmenes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889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Implementación de data lakes o almacenes en la nube para soportar el crecimiento de datos generados por IoT.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Criterios clave de selección tecnológica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26364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Enfoque en baja latencia, optimización de costos y manejo eficiente de datos tardíos o fuera de orden.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905866" y="4159135"/>
            <a:ext cx="7849870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Procesamiento de eventos en tiempo real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Uso de herramientas de streaming como Apache Kafka y CDC para recibir y procesar datos de sensores y dispositivos continuamente.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17152624" y="561158"/>
            <a:ext cx="2286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>
            <a:off x="9143404" y="4227079"/>
            <a:ext cx="0" cy="3890860"/>
            <a:chOff x="9143404" y="4227079"/>
            <a:chExt cx="0" cy="3890860"/>
          </a:xfrm>
        </p:grpSpPr>
        <p:sp>
          <p:nvSpPr>
            <p:cNvPr id="290" name="Google Shape;290;p21"/>
            <p:cNvSpPr/>
            <p:nvPr/>
          </p:nvSpPr>
          <p:spPr>
            <a:xfrm>
              <a:off x="9143404" y="6426934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9143404" y="4227079"/>
              <a:ext cx="0" cy="1691005"/>
            </a:xfrm>
            <a:custGeom>
              <a:rect b="b" l="l" r="r" t="t"/>
              <a:pathLst>
                <a:path extrusionOk="0" h="1691004" w="120000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21"/>
          <p:cNvSpPr txBox="1"/>
          <p:nvPr/>
        </p:nvSpPr>
        <p:spPr>
          <a:xfrm>
            <a:off x="905904" y="561158"/>
            <a:ext cx="3098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CASOS DE USO ESPECÍFICOS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97" name="Google Shape;297;p23"/>
          <p:cNvSpPr txBox="1"/>
          <p:nvPr>
            <p:ph type="title"/>
          </p:nvPr>
        </p:nvSpPr>
        <p:spPr>
          <a:xfrm>
            <a:off x="905894" y="6744201"/>
            <a:ext cx="14187169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Airfiow: orquestación y ejemplos prácticos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17088808" y="563767"/>
            <a:ext cx="2927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 txBox="1"/>
          <p:nvPr/>
        </p:nvSpPr>
        <p:spPr>
          <a:xfrm>
            <a:off x="905904" y="1606411"/>
            <a:ext cx="581215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Airﬂow como integrador</a:t>
            </a:r>
            <a:endParaRPr sz="4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9592667" y="1638797"/>
            <a:ext cx="615823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Airﬂow: orquestador de pipelines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No realiza ETL directamente, coordina tareas y ﬂujos.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9592667" y="2966671"/>
            <a:ext cx="7153275" cy="365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Coordinación integral de procesos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Gestiona ingesta, transformaciones, pruebas y publicaciones.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Definición de DAGs y dependencias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Permite programar horarios, reglas de reintento y monitoreo.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Visibilidad y control operativo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Facilita identificar fallos y mantener la trazabilidad del ﬂujo.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905904" y="561158"/>
            <a:ext cx="63690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AIRFLOW: ORQUESTACIÓN Y EJEMPLOS PRÁCTICOS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17089184" y="561158"/>
            <a:ext cx="2882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8" name="Google Shape;3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12"/>
            <a:ext cx="8686800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/>
          <p:nvPr/>
        </p:nvSpPr>
        <p:spPr>
          <a:xfrm>
            <a:off x="9605381" y="702327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12397765" y="4277550"/>
            <a:ext cx="846455" cy="846455"/>
          </a:xfrm>
          <a:custGeom>
            <a:rect b="b" l="l" r="r" t="t"/>
            <a:pathLst>
              <a:path extrusionOk="0" h="846454" w="846455">
                <a:moveTo>
                  <a:pt x="338353" y="253758"/>
                </a:moveTo>
                <a:lnTo>
                  <a:pt x="310159" y="253758"/>
                </a:lnTo>
                <a:lnTo>
                  <a:pt x="310159" y="281952"/>
                </a:lnTo>
                <a:lnTo>
                  <a:pt x="338353" y="281952"/>
                </a:lnTo>
                <a:lnTo>
                  <a:pt x="338353" y="253758"/>
                </a:lnTo>
                <a:close/>
              </a:path>
              <a:path extrusionOk="0" h="846454" w="846455">
                <a:moveTo>
                  <a:pt x="338353" y="197370"/>
                </a:moveTo>
                <a:lnTo>
                  <a:pt x="310159" y="197370"/>
                </a:lnTo>
                <a:lnTo>
                  <a:pt x="310159" y="225564"/>
                </a:lnTo>
                <a:lnTo>
                  <a:pt x="338353" y="225564"/>
                </a:lnTo>
                <a:lnTo>
                  <a:pt x="338353" y="197370"/>
                </a:lnTo>
                <a:close/>
              </a:path>
              <a:path extrusionOk="0" h="846454" w="846455">
                <a:moveTo>
                  <a:pt x="338353" y="140970"/>
                </a:moveTo>
                <a:lnTo>
                  <a:pt x="310159" y="140970"/>
                </a:lnTo>
                <a:lnTo>
                  <a:pt x="310159" y="169164"/>
                </a:lnTo>
                <a:lnTo>
                  <a:pt x="338353" y="169164"/>
                </a:lnTo>
                <a:lnTo>
                  <a:pt x="338353" y="140970"/>
                </a:lnTo>
                <a:close/>
              </a:path>
              <a:path extrusionOk="0" h="846454" w="846455">
                <a:moveTo>
                  <a:pt x="338353" y="84582"/>
                </a:moveTo>
                <a:lnTo>
                  <a:pt x="310159" y="84582"/>
                </a:lnTo>
                <a:lnTo>
                  <a:pt x="310159" y="112776"/>
                </a:lnTo>
                <a:lnTo>
                  <a:pt x="338353" y="112776"/>
                </a:lnTo>
                <a:lnTo>
                  <a:pt x="338353" y="84582"/>
                </a:lnTo>
                <a:close/>
              </a:path>
              <a:path extrusionOk="0" h="846454" w="846455">
                <a:moveTo>
                  <a:pt x="535711" y="549808"/>
                </a:moveTo>
                <a:lnTo>
                  <a:pt x="531279" y="527875"/>
                </a:lnTo>
                <a:lnTo>
                  <a:pt x="527050" y="521614"/>
                </a:lnTo>
                <a:lnTo>
                  <a:pt x="519188" y="509955"/>
                </a:lnTo>
                <a:lnTo>
                  <a:pt x="507517" y="502094"/>
                </a:lnTo>
                <a:lnTo>
                  <a:pt x="507517" y="549808"/>
                </a:lnTo>
                <a:lnTo>
                  <a:pt x="505294" y="560781"/>
                </a:lnTo>
                <a:lnTo>
                  <a:pt x="499249" y="569734"/>
                </a:lnTo>
                <a:lnTo>
                  <a:pt x="490283" y="575792"/>
                </a:lnTo>
                <a:lnTo>
                  <a:pt x="479323" y="578002"/>
                </a:lnTo>
                <a:lnTo>
                  <a:pt x="468363" y="575792"/>
                </a:lnTo>
                <a:lnTo>
                  <a:pt x="459397" y="569734"/>
                </a:lnTo>
                <a:lnTo>
                  <a:pt x="453351" y="560781"/>
                </a:lnTo>
                <a:lnTo>
                  <a:pt x="451129" y="549808"/>
                </a:lnTo>
                <a:lnTo>
                  <a:pt x="453351" y="538848"/>
                </a:lnTo>
                <a:lnTo>
                  <a:pt x="459397" y="529882"/>
                </a:lnTo>
                <a:lnTo>
                  <a:pt x="468363" y="523836"/>
                </a:lnTo>
                <a:lnTo>
                  <a:pt x="479323" y="521614"/>
                </a:lnTo>
                <a:lnTo>
                  <a:pt x="490283" y="523836"/>
                </a:lnTo>
                <a:lnTo>
                  <a:pt x="499249" y="529882"/>
                </a:lnTo>
                <a:lnTo>
                  <a:pt x="505294" y="538848"/>
                </a:lnTo>
                <a:lnTo>
                  <a:pt x="507517" y="549808"/>
                </a:lnTo>
                <a:lnTo>
                  <a:pt x="507517" y="502094"/>
                </a:lnTo>
                <a:lnTo>
                  <a:pt x="501256" y="497865"/>
                </a:lnTo>
                <a:lnTo>
                  <a:pt x="479323" y="493420"/>
                </a:lnTo>
                <a:lnTo>
                  <a:pt x="457390" y="497865"/>
                </a:lnTo>
                <a:lnTo>
                  <a:pt x="439470" y="509955"/>
                </a:lnTo>
                <a:lnTo>
                  <a:pt x="427380" y="527875"/>
                </a:lnTo>
                <a:lnTo>
                  <a:pt x="422935" y="549808"/>
                </a:lnTo>
                <a:lnTo>
                  <a:pt x="422935" y="554164"/>
                </a:lnTo>
                <a:lnTo>
                  <a:pt x="423532" y="558342"/>
                </a:lnTo>
                <a:lnTo>
                  <a:pt x="424472" y="562419"/>
                </a:lnTo>
                <a:lnTo>
                  <a:pt x="364947" y="595566"/>
                </a:lnTo>
                <a:lnTo>
                  <a:pt x="356514" y="588289"/>
                </a:lnTo>
                <a:lnTo>
                  <a:pt x="352437" y="585978"/>
                </a:lnTo>
                <a:lnTo>
                  <a:pt x="352437" y="634390"/>
                </a:lnTo>
                <a:lnTo>
                  <a:pt x="350227" y="645363"/>
                </a:lnTo>
                <a:lnTo>
                  <a:pt x="344182" y="654316"/>
                </a:lnTo>
                <a:lnTo>
                  <a:pt x="335216" y="660374"/>
                </a:lnTo>
                <a:lnTo>
                  <a:pt x="324243" y="662584"/>
                </a:lnTo>
                <a:lnTo>
                  <a:pt x="313283" y="660374"/>
                </a:lnTo>
                <a:lnTo>
                  <a:pt x="304317" y="654316"/>
                </a:lnTo>
                <a:lnTo>
                  <a:pt x="298272" y="645363"/>
                </a:lnTo>
                <a:lnTo>
                  <a:pt x="296049" y="634390"/>
                </a:lnTo>
                <a:lnTo>
                  <a:pt x="298272" y="623430"/>
                </a:lnTo>
                <a:lnTo>
                  <a:pt x="304317" y="614464"/>
                </a:lnTo>
                <a:lnTo>
                  <a:pt x="313283" y="608418"/>
                </a:lnTo>
                <a:lnTo>
                  <a:pt x="324243" y="606196"/>
                </a:lnTo>
                <a:lnTo>
                  <a:pt x="335216" y="608418"/>
                </a:lnTo>
                <a:lnTo>
                  <a:pt x="344182" y="614464"/>
                </a:lnTo>
                <a:lnTo>
                  <a:pt x="350227" y="623430"/>
                </a:lnTo>
                <a:lnTo>
                  <a:pt x="352437" y="634390"/>
                </a:lnTo>
                <a:lnTo>
                  <a:pt x="352437" y="585978"/>
                </a:lnTo>
                <a:lnTo>
                  <a:pt x="346760" y="582752"/>
                </a:lnTo>
                <a:lnTo>
                  <a:pt x="335927" y="579234"/>
                </a:lnTo>
                <a:lnTo>
                  <a:pt x="324243" y="578002"/>
                </a:lnTo>
                <a:lnTo>
                  <a:pt x="302310" y="582447"/>
                </a:lnTo>
                <a:lnTo>
                  <a:pt x="284391" y="594537"/>
                </a:lnTo>
                <a:lnTo>
                  <a:pt x="272300" y="612457"/>
                </a:lnTo>
                <a:lnTo>
                  <a:pt x="267855" y="634390"/>
                </a:lnTo>
                <a:lnTo>
                  <a:pt x="272300" y="656323"/>
                </a:lnTo>
                <a:lnTo>
                  <a:pt x="284391" y="674255"/>
                </a:lnTo>
                <a:lnTo>
                  <a:pt x="302310" y="686346"/>
                </a:lnTo>
                <a:lnTo>
                  <a:pt x="324243" y="690791"/>
                </a:lnTo>
                <a:lnTo>
                  <a:pt x="334365" y="689838"/>
                </a:lnTo>
                <a:lnTo>
                  <a:pt x="343865" y="687133"/>
                </a:lnTo>
                <a:lnTo>
                  <a:pt x="352602" y="682879"/>
                </a:lnTo>
                <a:lnTo>
                  <a:pt x="360464" y="677265"/>
                </a:lnTo>
                <a:lnTo>
                  <a:pt x="412356" y="714082"/>
                </a:lnTo>
                <a:lnTo>
                  <a:pt x="410197" y="720051"/>
                </a:lnTo>
                <a:lnTo>
                  <a:pt x="408838" y="726376"/>
                </a:lnTo>
                <a:lnTo>
                  <a:pt x="408863" y="733221"/>
                </a:lnTo>
                <a:lnTo>
                  <a:pt x="413283" y="755002"/>
                </a:lnTo>
                <a:lnTo>
                  <a:pt x="425373" y="772934"/>
                </a:lnTo>
                <a:lnTo>
                  <a:pt x="443293" y="785025"/>
                </a:lnTo>
                <a:lnTo>
                  <a:pt x="465226" y="789457"/>
                </a:lnTo>
                <a:lnTo>
                  <a:pt x="487159" y="785025"/>
                </a:lnTo>
                <a:lnTo>
                  <a:pt x="505091" y="772934"/>
                </a:lnTo>
                <a:lnTo>
                  <a:pt x="512953" y="761263"/>
                </a:lnTo>
                <a:lnTo>
                  <a:pt x="517182" y="755002"/>
                </a:lnTo>
                <a:lnTo>
                  <a:pt x="521589" y="733221"/>
                </a:lnTo>
                <a:lnTo>
                  <a:pt x="521614" y="733069"/>
                </a:lnTo>
                <a:lnTo>
                  <a:pt x="517182" y="711149"/>
                </a:lnTo>
                <a:lnTo>
                  <a:pt x="512953" y="704875"/>
                </a:lnTo>
                <a:lnTo>
                  <a:pt x="505091" y="693216"/>
                </a:lnTo>
                <a:lnTo>
                  <a:pt x="501510" y="690803"/>
                </a:lnTo>
                <a:lnTo>
                  <a:pt x="493420" y="685355"/>
                </a:lnTo>
                <a:lnTo>
                  <a:pt x="493420" y="733069"/>
                </a:lnTo>
                <a:lnTo>
                  <a:pt x="491197" y="744042"/>
                </a:lnTo>
                <a:lnTo>
                  <a:pt x="485152" y="753008"/>
                </a:lnTo>
                <a:lnTo>
                  <a:pt x="476186" y="759053"/>
                </a:lnTo>
                <a:lnTo>
                  <a:pt x="465226" y="761263"/>
                </a:lnTo>
                <a:lnTo>
                  <a:pt x="454266" y="759053"/>
                </a:lnTo>
                <a:lnTo>
                  <a:pt x="445300" y="753008"/>
                </a:lnTo>
                <a:lnTo>
                  <a:pt x="439254" y="744042"/>
                </a:lnTo>
                <a:lnTo>
                  <a:pt x="437057" y="733221"/>
                </a:lnTo>
                <a:lnTo>
                  <a:pt x="437032" y="733069"/>
                </a:lnTo>
                <a:lnTo>
                  <a:pt x="439254" y="722109"/>
                </a:lnTo>
                <a:lnTo>
                  <a:pt x="445300" y="713143"/>
                </a:lnTo>
                <a:lnTo>
                  <a:pt x="454266" y="707097"/>
                </a:lnTo>
                <a:lnTo>
                  <a:pt x="465226" y="704875"/>
                </a:lnTo>
                <a:lnTo>
                  <a:pt x="476186" y="707097"/>
                </a:lnTo>
                <a:lnTo>
                  <a:pt x="485152" y="713143"/>
                </a:lnTo>
                <a:lnTo>
                  <a:pt x="491197" y="722109"/>
                </a:lnTo>
                <a:lnTo>
                  <a:pt x="493420" y="733069"/>
                </a:lnTo>
                <a:lnTo>
                  <a:pt x="493420" y="685355"/>
                </a:lnTo>
                <a:lnTo>
                  <a:pt x="487159" y="681126"/>
                </a:lnTo>
                <a:lnTo>
                  <a:pt x="465226" y="676681"/>
                </a:lnTo>
                <a:lnTo>
                  <a:pt x="454863" y="677672"/>
                </a:lnTo>
                <a:lnTo>
                  <a:pt x="445147" y="680491"/>
                </a:lnTo>
                <a:lnTo>
                  <a:pt x="436245" y="684949"/>
                </a:lnTo>
                <a:lnTo>
                  <a:pt x="428282" y="690803"/>
                </a:lnTo>
                <a:lnTo>
                  <a:pt x="409206" y="677265"/>
                </a:lnTo>
                <a:lnTo>
                  <a:pt x="388518" y="662584"/>
                </a:lnTo>
                <a:lnTo>
                  <a:pt x="376872" y="654316"/>
                </a:lnTo>
                <a:lnTo>
                  <a:pt x="379183" y="648093"/>
                </a:lnTo>
                <a:lnTo>
                  <a:pt x="380631" y="641426"/>
                </a:lnTo>
                <a:lnTo>
                  <a:pt x="380631" y="629475"/>
                </a:lnTo>
                <a:lnTo>
                  <a:pt x="379806" y="624789"/>
                </a:lnTo>
                <a:lnTo>
                  <a:pt x="378625" y="620229"/>
                </a:lnTo>
                <a:lnTo>
                  <a:pt x="403821" y="606196"/>
                </a:lnTo>
                <a:lnTo>
                  <a:pt x="422910" y="595566"/>
                </a:lnTo>
                <a:lnTo>
                  <a:pt x="437591" y="587387"/>
                </a:lnTo>
                <a:lnTo>
                  <a:pt x="446138" y="595172"/>
                </a:lnTo>
                <a:lnTo>
                  <a:pt x="456107" y="601103"/>
                </a:lnTo>
                <a:lnTo>
                  <a:pt x="467245" y="604875"/>
                </a:lnTo>
                <a:lnTo>
                  <a:pt x="479323" y="606196"/>
                </a:lnTo>
                <a:lnTo>
                  <a:pt x="501256" y="601764"/>
                </a:lnTo>
                <a:lnTo>
                  <a:pt x="519188" y="589661"/>
                </a:lnTo>
                <a:lnTo>
                  <a:pt x="520712" y="587387"/>
                </a:lnTo>
                <a:lnTo>
                  <a:pt x="527050" y="578002"/>
                </a:lnTo>
                <a:lnTo>
                  <a:pt x="531279" y="571741"/>
                </a:lnTo>
                <a:lnTo>
                  <a:pt x="535711" y="549808"/>
                </a:lnTo>
                <a:close/>
              </a:path>
              <a:path extrusionOk="0" h="846454" w="846455">
                <a:moveTo>
                  <a:pt x="563918" y="253758"/>
                </a:moveTo>
                <a:lnTo>
                  <a:pt x="366547" y="253758"/>
                </a:lnTo>
                <a:lnTo>
                  <a:pt x="366547" y="281952"/>
                </a:lnTo>
                <a:lnTo>
                  <a:pt x="563918" y="281952"/>
                </a:lnTo>
                <a:lnTo>
                  <a:pt x="563918" y="253758"/>
                </a:lnTo>
                <a:close/>
              </a:path>
              <a:path extrusionOk="0" h="846454" w="846455">
                <a:moveTo>
                  <a:pt x="563918" y="197370"/>
                </a:moveTo>
                <a:lnTo>
                  <a:pt x="366547" y="197370"/>
                </a:lnTo>
                <a:lnTo>
                  <a:pt x="366547" y="225564"/>
                </a:lnTo>
                <a:lnTo>
                  <a:pt x="563918" y="225564"/>
                </a:lnTo>
                <a:lnTo>
                  <a:pt x="563918" y="197370"/>
                </a:lnTo>
                <a:close/>
              </a:path>
              <a:path extrusionOk="0" h="846454" w="846455">
                <a:moveTo>
                  <a:pt x="563918" y="140970"/>
                </a:moveTo>
                <a:lnTo>
                  <a:pt x="366547" y="140970"/>
                </a:lnTo>
                <a:lnTo>
                  <a:pt x="366547" y="169164"/>
                </a:lnTo>
                <a:lnTo>
                  <a:pt x="563918" y="169164"/>
                </a:lnTo>
                <a:lnTo>
                  <a:pt x="563918" y="140970"/>
                </a:lnTo>
                <a:close/>
              </a:path>
              <a:path extrusionOk="0" h="846454" w="846455">
                <a:moveTo>
                  <a:pt x="563918" y="84582"/>
                </a:moveTo>
                <a:lnTo>
                  <a:pt x="366547" y="84582"/>
                </a:lnTo>
                <a:lnTo>
                  <a:pt x="366547" y="112776"/>
                </a:lnTo>
                <a:lnTo>
                  <a:pt x="563918" y="112776"/>
                </a:lnTo>
                <a:lnTo>
                  <a:pt x="563918" y="84582"/>
                </a:lnTo>
                <a:close/>
              </a:path>
              <a:path extrusionOk="0" h="846454" w="846455">
                <a:moveTo>
                  <a:pt x="845858" y="338340"/>
                </a:moveTo>
                <a:lnTo>
                  <a:pt x="817664" y="338340"/>
                </a:lnTo>
                <a:lnTo>
                  <a:pt x="817664" y="366534"/>
                </a:lnTo>
                <a:lnTo>
                  <a:pt x="817664" y="761263"/>
                </a:lnTo>
                <a:lnTo>
                  <a:pt x="591705" y="761263"/>
                </a:lnTo>
                <a:lnTo>
                  <a:pt x="609625" y="733221"/>
                </a:lnTo>
                <a:lnTo>
                  <a:pt x="623049" y="702424"/>
                </a:lnTo>
                <a:lnTo>
                  <a:pt x="631469" y="669340"/>
                </a:lnTo>
                <a:lnTo>
                  <a:pt x="634390" y="634390"/>
                </a:lnTo>
                <a:lnTo>
                  <a:pt x="628802" y="585965"/>
                </a:lnTo>
                <a:lnTo>
                  <a:pt x="612863" y="541477"/>
                </a:lnTo>
                <a:lnTo>
                  <a:pt x="606196" y="530999"/>
                </a:lnTo>
                <a:lnTo>
                  <a:pt x="606196" y="634390"/>
                </a:lnTo>
                <a:lnTo>
                  <a:pt x="599668" y="682879"/>
                </a:lnTo>
                <a:lnTo>
                  <a:pt x="581139" y="726821"/>
                </a:lnTo>
                <a:lnTo>
                  <a:pt x="552462" y="763930"/>
                </a:lnTo>
                <a:lnTo>
                  <a:pt x="515353" y="792607"/>
                </a:lnTo>
                <a:lnTo>
                  <a:pt x="471601" y="811110"/>
                </a:lnTo>
                <a:lnTo>
                  <a:pt x="422935" y="817664"/>
                </a:lnTo>
                <a:lnTo>
                  <a:pt x="374269" y="811110"/>
                </a:lnTo>
                <a:lnTo>
                  <a:pt x="330504" y="792607"/>
                </a:lnTo>
                <a:lnTo>
                  <a:pt x="293408" y="763930"/>
                </a:lnTo>
                <a:lnTo>
                  <a:pt x="291350" y="761263"/>
                </a:lnTo>
                <a:lnTo>
                  <a:pt x="264718" y="726821"/>
                </a:lnTo>
                <a:lnTo>
                  <a:pt x="246227" y="683056"/>
                </a:lnTo>
                <a:lnTo>
                  <a:pt x="239661" y="634390"/>
                </a:lnTo>
                <a:lnTo>
                  <a:pt x="246189" y="585965"/>
                </a:lnTo>
                <a:lnTo>
                  <a:pt x="264718" y="541972"/>
                </a:lnTo>
                <a:lnTo>
                  <a:pt x="293408" y="504863"/>
                </a:lnTo>
                <a:lnTo>
                  <a:pt x="330504" y="476186"/>
                </a:lnTo>
                <a:lnTo>
                  <a:pt x="374269" y="457682"/>
                </a:lnTo>
                <a:lnTo>
                  <a:pt x="422935" y="451116"/>
                </a:lnTo>
                <a:lnTo>
                  <a:pt x="471601" y="457682"/>
                </a:lnTo>
                <a:lnTo>
                  <a:pt x="515353" y="476186"/>
                </a:lnTo>
                <a:lnTo>
                  <a:pt x="552462" y="504863"/>
                </a:lnTo>
                <a:lnTo>
                  <a:pt x="581139" y="541972"/>
                </a:lnTo>
                <a:lnTo>
                  <a:pt x="599643" y="585736"/>
                </a:lnTo>
                <a:lnTo>
                  <a:pt x="606196" y="634390"/>
                </a:lnTo>
                <a:lnTo>
                  <a:pt x="606196" y="530999"/>
                </a:lnTo>
                <a:lnTo>
                  <a:pt x="555117" y="469442"/>
                </a:lnTo>
                <a:lnTo>
                  <a:pt x="515848" y="444449"/>
                </a:lnTo>
                <a:lnTo>
                  <a:pt x="471360" y="428523"/>
                </a:lnTo>
                <a:lnTo>
                  <a:pt x="422935" y="422922"/>
                </a:lnTo>
                <a:lnTo>
                  <a:pt x="374510" y="428523"/>
                </a:lnTo>
                <a:lnTo>
                  <a:pt x="330022" y="444449"/>
                </a:lnTo>
                <a:lnTo>
                  <a:pt x="290753" y="469442"/>
                </a:lnTo>
                <a:lnTo>
                  <a:pt x="257987" y="502208"/>
                </a:lnTo>
                <a:lnTo>
                  <a:pt x="232994" y="541477"/>
                </a:lnTo>
                <a:lnTo>
                  <a:pt x="217144" y="585736"/>
                </a:lnTo>
                <a:lnTo>
                  <a:pt x="211467" y="634390"/>
                </a:lnTo>
                <a:lnTo>
                  <a:pt x="214388" y="669340"/>
                </a:lnTo>
                <a:lnTo>
                  <a:pt x="222808" y="702424"/>
                </a:lnTo>
                <a:lnTo>
                  <a:pt x="236169" y="733069"/>
                </a:lnTo>
                <a:lnTo>
                  <a:pt x="236232" y="733221"/>
                </a:lnTo>
                <a:lnTo>
                  <a:pt x="254152" y="761263"/>
                </a:lnTo>
                <a:lnTo>
                  <a:pt x="28194" y="761263"/>
                </a:lnTo>
                <a:lnTo>
                  <a:pt x="28194" y="253758"/>
                </a:lnTo>
                <a:lnTo>
                  <a:pt x="230949" y="253758"/>
                </a:lnTo>
                <a:lnTo>
                  <a:pt x="287337" y="366534"/>
                </a:lnTo>
                <a:lnTo>
                  <a:pt x="817664" y="366534"/>
                </a:lnTo>
                <a:lnTo>
                  <a:pt x="817664" y="338340"/>
                </a:lnTo>
                <a:lnTo>
                  <a:pt x="733082" y="338340"/>
                </a:lnTo>
                <a:lnTo>
                  <a:pt x="733082" y="84582"/>
                </a:lnTo>
                <a:lnTo>
                  <a:pt x="733082" y="56388"/>
                </a:lnTo>
                <a:lnTo>
                  <a:pt x="704888" y="56388"/>
                </a:lnTo>
                <a:lnTo>
                  <a:pt x="704888" y="84582"/>
                </a:lnTo>
                <a:lnTo>
                  <a:pt x="704888" y="338340"/>
                </a:lnTo>
                <a:lnTo>
                  <a:pt x="648500" y="338340"/>
                </a:lnTo>
                <a:lnTo>
                  <a:pt x="648500" y="84582"/>
                </a:lnTo>
                <a:lnTo>
                  <a:pt x="704888" y="84582"/>
                </a:lnTo>
                <a:lnTo>
                  <a:pt x="704888" y="56388"/>
                </a:lnTo>
                <a:lnTo>
                  <a:pt x="648487" y="56388"/>
                </a:lnTo>
                <a:lnTo>
                  <a:pt x="648487" y="28194"/>
                </a:lnTo>
                <a:lnTo>
                  <a:pt x="648487" y="0"/>
                </a:lnTo>
                <a:lnTo>
                  <a:pt x="620293" y="0"/>
                </a:lnTo>
                <a:lnTo>
                  <a:pt x="620293" y="28194"/>
                </a:lnTo>
                <a:lnTo>
                  <a:pt x="620293" y="338340"/>
                </a:lnTo>
                <a:lnTo>
                  <a:pt x="304761" y="338340"/>
                </a:lnTo>
                <a:lnTo>
                  <a:pt x="262470" y="253758"/>
                </a:lnTo>
                <a:lnTo>
                  <a:pt x="248373" y="225564"/>
                </a:lnTo>
                <a:lnTo>
                  <a:pt x="112788" y="225564"/>
                </a:lnTo>
                <a:lnTo>
                  <a:pt x="112788" y="169164"/>
                </a:lnTo>
                <a:lnTo>
                  <a:pt x="253758" y="169164"/>
                </a:lnTo>
                <a:lnTo>
                  <a:pt x="253758" y="140970"/>
                </a:lnTo>
                <a:lnTo>
                  <a:pt x="253758" y="48133"/>
                </a:lnTo>
                <a:lnTo>
                  <a:pt x="253758" y="28194"/>
                </a:lnTo>
                <a:lnTo>
                  <a:pt x="620293" y="28194"/>
                </a:lnTo>
                <a:lnTo>
                  <a:pt x="620293" y="0"/>
                </a:lnTo>
                <a:lnTo>
                  <a:pt x="233819" y="0"/>
                </a:lnTo>
                <a:lnTo>
                  <a:pt x="225564" y="8255"/>
                </a:lnTo>
                <a:lnTo>
                  <a:pt x="225564" y="48133"/>
                </a:lnTo>
                <a:lnTo>
                  <a:pt x="225564" y="140970"/>
                </a:lnTo>
                <a:lnTo>
                  <a:pt x="132715" y="140970"/>
                </a:lnTo>
                <a:lnTo>
                  <a:pt x="225564" y="48133"/>
                </a:lnTo>
                <a:lnTo>
                  <a:pt x="225564" y="8255"/>
                </a:lnTo>
                <a:lnTo>
                  <a:pt x="84582" y="149237"/>
                </a:lnTo>
                <a:lnTo>
                  <a:pt x="84582" y="225564"/>
                </a:lnTo>
                <a:lnTo>
                  <a:pt x="0" y="225564"/>
                </a:lnTo>
                <a:lnTo>
                  <a:pt x="0" y="789457"/>
                </a:lnTo>
                <a:lnTo>
                  <a:pt x="279641" y="789457"/>
                </a:lnTo>
                <a:lnTo>
                  <a:pt x="310172" y="812990"/>
                </a:lnTo>
                <a:lnTo>
                  <a:pt x="344703" y="830745"/>
                </a:lnTo>
                <a:lnTo>
                  <a:pt x="382524" y="841959"/>
                </a:lnTo>
                <a:lnTo>
                  <a:pt x="422935" y="845858"/>
                </a:lnTo>
                <a:lnTo>
                  <a:pt x="463346" y="841959"/>
                </a:lnTo>
                <a:lnTo>
                  <a:pt x="501167" y="830745"/>
                </a:lnTo>
                <a:lnTo>
                  <a:pt x="526605" y="817664"/>
                </a:lnTo>
                <a:lnTo>
                  <a:pt x="535698" y="812990"/>
                </a:lnTo>
                <a:lnTo>
                  <a:pt x="566216" y="789457"/>
                </a:lnTo>
                <a:lnTo>
                  <a:pt x="845858" y="789457"/>
                </a:lnTo>
                <a:lnTo>
                  <a:pt x="845858" y="761263"/>
                </a:lnTo>
                <a:lnTo>
                  <a:pt x="845858" y="33834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6658165" y="4277550"/>
            <a:ext cx="846455" cy="846455"/>
          </a:xfrm>
          <a:custGeom>
            <a:rect b="b" l="l" r="r" t="t"/>
            <a:pathLst>
              <a:path extrusionOk="0" h="846454" w="846454">
                <a:moveTo>
                  <a:pt x="81864" y="54571"/>
                </a:moveTo>
                <a:lnTo>
                  <a:pt x="54584" y="54571"/>
                </a:lnTo>
                <a:lnTo>
                  <a:pt x="54584" y="81851"/>
                </a:lnTo>
                <a:lnTo>
                  <a:pt x="81864" y="81851"/>
                </a:lnTo>
                <a:lnTo>
                  <a:pt x="81864" y="54571"/>
                </a:lnTo>
                <a:close/>
              </a:path>
              <a:path extrusionOk="0" h="846454" w="846454">
                <a:moveTo>
                  <a:pt x="136436" y="54571"/>
                </a:moveTo>
                <a:lnTo>
                  <a:pt x="109156" y="54571"/>
                </a:lnTo>
                <a:lnTo>
                  <a:pt x="109156" y="81851"/>
                </a:lnTo>
                <a:lnTo>
                  <a:pt x="136436" y="81851"/>
                </a:lnTo>
                <a:lnTo>
                  <a:pt x="136436" y="54571"/>
                </a:lnTo>
                <a:close/>
              </a:path>
              <a:path extrusionOk="0" h="846454" w="846454">
                <a:moveTo>
                  <a:pt x="191008" y="54571"/>
                </a:moveTo>
                <a:lnTo>
                  <a:pt x="163728" y="54571"/>
                </a:lnTo>
                <a:lnTo>
                  <a:pt x="163728" y="81851"/>
                </a:lnTo>
                <a:lnTo>
                  <a:pt x="191008" y="81851"/>
                </a:lnTo>
                <a:lnTo>
                  <a:pt x="191008" y="54571"/>
                </a:lnTo>
                <a:close/>
              </a:path>
              <a:path extrusionOk="0" h="846454" w="846454">
                <a:moveTo>
                  <a:pt x="218300" y="770115"/>
                </a:moveTo>
                <a:lnTo>
                  <a:pt x="212191" y="764006"/>
                </a:lnTo>
                <a:lnTo>
                  <a:pt x="197129" y="764006"/>
                </a:lnTo>
                <a:lnTo>
                  <a:pt x="191020" y="770115"/>
                </a:lnTo>
                <a:lnTo>
                  <a:pt x="191020" y="785177"/>
                </a:lnTo>
                <a:lnTo>
                  <a:pt x="197129" y="791286"/>
                </a:lnTo>
                <a:lnTo>
                  <a:pt x="212191" y="791286"/>
                </a:lnTo>
                <a:lnTo>
                  <a:pt x="218300" y="785177"/>
                </a:lnTo>
                <a:lnTo>
                  <a:pt x="218300" y="777646"/>
                </a:lnTo>
                <a:lnTo>
                  <a:pt x="218300" y="770115"/>
                </a:lnTo>
                <a:close/>
              </a:path>
              <a:path extrusionOk="0" h="846454" w="846454">
                <a:moveTo>
                  <a:pt x="327431" y="354723"/>
                </a:moveTo>
                <a:lnTo>
                  <a:pt x="300151" y="354723"/>
                </a:lnTo>
                <a:lnTo>
                  <a:pt x="300151" y="191008"/>
                </a:lnTo>
                <a:lnTo>
                  <a:pt x="272872" y="191008"/>
                </a:lnTo>
                <a:lnTo>
                  <a:pt x="272872" y="354723"/>
                </a:lnTo>
                <a:lnTo>
                  <a:pt x="245579" y="354723"/>
                </a:lnTo>
                <a:lnTo>
                  <a:pt x="245579" y="218287"/>
                </a:lnTo>
                <a:lnTo>
                  <a:pt x="218300" y="218287"/>
                </a:lnTo>
                <a:lnTo>
                  <a:pt x="218300" y="354723"/>
                </a:lnTo>
                <a:lnTo>
                  <a:pt x="191008" y="354723"/>
                </a:lnTo>
                <a:lnTo>
                  <a:pt x="191008" y="245579"/>
                </a:lnTo>
                <a:lnTo>
                  <a:pt x="163728" y="245579"/>
                </a:lnTo>
                <a:lnTo>
                  <a:pt x="163728" y="354723"/>
                </a:lnTo>
                <a:lnTo>
                  <a:pt x="136436" y="354723"/>
                </a:lnTo>
                <a:lnTo>
                  <a:pt x="136436" y="272859"/>
                </a:lnTo>
                <a:lnTo>
                  <a:pt x="109156" y="272859"/>
                </a:lnTo>
                <a:lnTo>
                  <a:pt x="109156" y="354723"/>
                </a:lnTo>
                <a:lnTo>
                  <a:pt x="81864" y="354723"/>
                </a:lnTo>
                <a:lnTo>
                  <a:pt x="81864" y="163728"/>
                </a:lnTo>
                <a:lnTo>
                  <a:pt x="54584" y="163728"/>
                </a:lnTo>
                <a:lnTo>
                  <a:pt x="54584" y="382003"/>
                </a:lnTo>
                <a:lnTo>
                  <a:pt x="327431" y="382003"/>
                </a:lnTo>
                <a:lnTo>
                  <a:pt x="327431" y="354723"/>
                </a:lnTo>
                <a:close/>
              </a:path>
              <a:path extrusionOk="0" h="846454" w="846454">
                <a:moveTo>
                  <a:pt x="491147" y="409282"/>
                </a:moveTo>
                <a:lnTo>
                  <a:pt x="463867" y="409282"/>
                </a:lnTo>
                <a:lnTo>
                  <a:pt x="463867" y="436562"/>
                </a:lnTo>
                <a:lnTo>
                  <a:pt x="491147" y="436562"/>
                </a:lnTo>
                <a:lnTo>
                  <a:pt x="491147" y="409282"/>
                </a:lnTo>
                <a:close/>
              </a:path>
              <a:path extrusionOk="0" h="846454" w="846454">
                <a:moveTo>
                  <a:pt x="545719" y="409282"/>
                </a:moveTo>
                <a:lnTo>
                  <a:pt x="518439" y="409282"/>
                </a:lnTo>
                <a:lnTo>
                  <a:pt x="518439" y="436562"/>
                </a:lnTo>
                <a:lnTo>
                  <a:pt x="545719" y="436562"/>
                </a:lnTo>
                <a:lnTo>
                  <a:pt x="545719" y="409282"/>
                </a:lnTo>
                <a:close/>
              </a:path>
              <a:path extrusionOk="0" h="846454" w="846454">
                <a:moveTo>
                  <a:pt x="600290" y="409282"/>
                </a:moveTo>
                <a:lnTo>
                  <a:pt x="573011" y="409282"/>
                </a:lnTo>
                <a:lnTo>
                  <a:pt x="573011" y="436562"/>
                </a:lnTo>
                <a:lnTo>
                  <a:pt x="600290" y="436562"/>
                </a:lnTo>
                <a:lnTo>
                  <a:pt x="600290" y="409282"/>
                </a:lnTo>
                <a:close/>
              </a:path>
              <a:path extrusionOk="0" h="846454" w="846454">
                <a:moveTo>
                  <a:pt x="654862" y="463854"/>
                </a:moveTo>
                <a:lnTo>
                  <a:pt x="463867" y="463854"/>
                </a:lnTo>
                <a:lnTo>
                  <a:pt x="463867" y="491134"/>
                </a:lnTo>
                <a:lnTo>
                  <a:pt x="654862" y="491134"/>
                </a:lnTo>
                <a:lnTo>
                  <a:pt x="654862" y="463854"/>
                </a:lnTo>
                <a:close/>
              </a:path>
              <a:path extrusionOk="0" h="846454" w="846454">
                <a:moveTo>
                  <a:pt x="654862" y="409282"/>
                </a:moveTo>
                <a:lnTo>
                  <a:pt x="627583" y="409282"/>
                </a:lnTo>
                <a:lnTo>
                  <a:pt x="627583" y="436562"/>
                </a:lnTo>
                <a:lnTo>
                  <a:pt x="654862" y="436562"/>
                </a:lnTo>
                <a:lnTo>
                  <a:pt x="654862" y="409282"/>
                </a:lnTo>
                <a:close/>
              </a:path>
              <a:path extrusionOk="0" h="846454" w="846454">
                <a:moveTo>
                  <a:pt x="654862" y="354711"/>
                </a:moveTo>
                <a:lnTo>
                  <a:pt x="463867" y="354711"/>
                </a:lnTo>
                <a:lnTo>
                  <a:pt x="463867" y="381990"/>
                </a:lnTo>
                <a:lnTo>
                  <a:pt x="654862" y="381990"/>
                </a:lnTo>
                <a:lnTo>
                  <a:pt x="654862" y="354711"/>
                </a:lnTo>
                <a:close/>
              </a:path>
              <a:path extrusionOk="0" h="846454" w="846454">
                <a:moveTo>
                  <a:pt x="736714" y="422922"/>
                </a:moveTo>
                <a:lnTo>
                  <a:pt x="730427" y="376250"/>
                </a:lnTo>
                <a:lnTo>
                  <a:pt x="730377" y="375831"/>
                </a:lnTo>
                <a:lnTo>
                  <a:pt x="712470" y="333489"/>
                </a:lnTo>
                <a:lnTo>
                  <a:pt x="709434" y="329565"/>
                </a:lnTo>
                <a:lnTo>
                  <a:pt x="709434" y="422922"/>
                </a:lnTo>
                <a:lnTo>
                  <a:pt x="701852" y="469798"/>
                </a:lnTo>
                <a:lnTo>
                  <a:pt x="680440" y="511505"/>
                </a:lnTo>
                <a:lnTo>
                  <a:pt x="647928" y="544004"/>
                </a:lnTo>
                <a:lnTo>
                  <a:pt x="606742" y="565340"/>
                </a:lnTo>
                <a:lnTo>
                  <a:pt x="559358" y="572998"/>
                </a:lnTo>
                <a:lnTo>
                  <a:pt x="511987" y="565340"/>
                </a:lnTo>
                <a:lnTo>
                  <a:pt x="470789" y="544004"/>
                </a:lnTo>
                <a:lnTo>
                  <a:pt x="438289" y="511505"/>
                </a:lnTo>
                <a:lnTo>
                  <a:pt x="416953" y="470306"/>
                </a:lnTo>
                <a:lnTo>
                  <a:pt x="409282" y="422922"/>
                </a:lnTo>
                <a:lnTo>
                  <a:pt x="416839" y="376250"/>
                </a:lnTo>
                <a:lnTo>
                  <a:pt x="438289" y="334352"/>
                </a:lnTo>
                <a:lnTo>
                  <a:pt x="470789" y="301853"/>
                </a:lnTo>
                <a:lnTo>
                  <a:pt x="511987" y="280517"/>
                </a:lnTo>
                <a:lnTo>
                  <a:pt x="559358" y="272846"/>
                </a:lnTo>
                <a:lnTo>
                  <a:pt x="606742" y="280517"/>
                </a:lnTo>
                <a:lnTo>
                  <a:pt x="647928" y="301853"/>
                </a:lnTo>
                <a:lnTo>
                  <a:pt x="680440" y="334352"/>
                </a:lnTo>
                <a:lnTo>
                  <a:pt x="701776" y="375551"/>
                </a:lnTo>
                <a:lnTo>
                  <a:pt x="709434" y="422922"/>
                </a:lnTo>
                <a:lnTo>
                  <a:pt x="709434" y="329565"/>
                </a:lnTo>
                <a:lnTo>
                  <a:pt x="684707" y="297573"/>
                </a:lnTo>
                <a:lnTo>
                  <a:pt x="652729" y="272846"/>
                </a:lnTo>
                <a:lnTo>
                  <a:pt x="606450" y="251917"/>
                </a:lnTo>
                <a:lnTo>
                  <a:pt x="559358" y="245567"/>
                </a:lnTo>
                <a:lnTo>
                  <a:pt x="512267" y="251917"/>
                </a:lnTo>
                <a:lnTo>
                  <a:pt x="469925" y="269824"/>
                </a:lnTo>
                <a:lnTo>
                  <a:pt x="434009" y="297573"/>
                </a:lnTo>
                <a:lnTo>
                  <a:pt x="406260" y="333489"/>
                </a:lnTo>
                <a:lnTo>
                  <a:pt x="388480" y="375551"/>
                </a:lnTo>
                <a:lnTo>
                  <a:pt x="388353" y="375831"/>
                </a:lnTo>
                <a:lnTo>
                  <a:pt x="382003" y="422922"/>
                </a:lnTo>
                <a:lnTo>
                  <a:pt x="388327" y="469798"/>
                </a:lnTo>
                <a:lnTo>
                  <a:pt x="388353" y="470027"/>
                </a:lnTo>
                <a:lnTo>
                  <a:pt x="406260" y="512368"/>
                </a:lnTo>
                <a:lnTo>
                  <a:pt x="434009" y="548271"/>
                </a:lnTo>
                <a:lnTo>
                  <a:pt x="469925" y="576033"/>
                </a:lnTo>
                <a:lnTo>
                  <a:pt x="512267" y="593940"/>
                </a:lnTo>
                <a:lnTo>
                  <a:pt x="559358" y="600278"/>
                </a:lnTo>
                <a:lnTo>
                  <a:pt x="606450" y="593940"/>
                </a:lnTo>
                <a:lnTo>
                  <a:pt x="648804" y="576033"/>
                </a:lnTo>
                <a:lnTo>
                  <a:pt x="652729" y="572998"/>
                </a:lnTo>
                <a:lnTo>
                  <a:pt x="684707" y="548271"/>
                </a:lnTo>
                <a:lnTo>
                  <a:pt x="712470" y="512368"/>
                </a:lnTo>
                <a:lnTo>
                  <a:pt x="730250" y="470306"/>
                </a:lnTo>
                <a:lnTo>
                  <a:pt x="730377" y="470027"/>
                </a:lnTo>
                <a:lnTo>
                  <a:pt x="736714" y="422922"/>
                </a:lnTo>
                <a:close/>
              </a:path>
              <a:path extrusionOk="0" h="846454" w="846454">
                <a:moveTo>
                  <a:pt x="845858" y="0"/>
                </a:moveTo>
                <a:lnTo>
                  <a:pt x="818565" y="0"/>
                </a:lnTo>
                <a:lnTo>
                  <a:pt x="818565" y="27292"/>
                </a:lnTo>
                <a:lnTo>
                  <a:pt x="818565" y="109143"/>
                </a:lnTo>
                <a:lnTo>
                  <a:pt x="818565" y="136423"/>
                </a:lnTo>
                <a:lnTo>
                  <a:pt x="818565" y="518426"/>
                </a:lnTo>
                <a:lnTo>
                  <a:pt x="770470" y="518426"/>
                </a:lnTo>
                <a:lnTo>
                  <a:pt x="779322" y="495998"/>
                </a:lnTo>
                <a:lnTo>
                  <a:pt x="785850" y="472516"/>
                </a:lnTo>
                <a:lnTo>
                  <a:pt x="789901" y="448119"/>
                </a:lnTo>
                <a:lnTo>
                  <a:pt x="791286" y="422922"/>
                </a:lnTo>
                <a:lnTo>
                  <a:pt x="786574" y="376250"/>
                </a:lnTo>
                <a:lnTo>
                  <a:pt x="773125" y="333019"/>
                </a:lnTo>
                <a:lnTo>
                  <a:pt x="773036" y="332740"/>
                </a:lnTo>
                <a:lnTo>
                  <a:pt x="764006" y="316128"/>
                </a:lnTo>
                <a:lnTo>
                  <a:pt x="764006" y="422922"/>
                </a:lnTo>
                <a:lnTo>
                  <a:pt x="758596" y="469798"/>
                </a:lnTo>
                <a:lnTo>
                  <a:pt x="743178" y="512851"/>
                </a:lnTo>
                <a:lnTo>
                  <a:pt x="718997" y="550849"/>
                </a:lnTo>
                <a:lnTo>
                  <a:pt x="687285" y="582561"/>
                </a:lnTo>
                <a:lnTo>
                  <a:pt x="649287" y="606742"/>
                </a:lnTo>
                <a:lnTo>
                  <a:pt x="606234" y="622160"/>
                </a:lnTo>
                <a:lnTo>
                  <a:pt x="559358" y="627570"/>
                </a:lnTo>
                <a:lnTo>
                  <a:pt x="512495" y="622160"/>
                </a:lnTo>
                <a:lnTo>
                  <a:pt x="504850" y="619417"/>
                </a:lnTo>
                <a:lnTo>
                  <a:pt x="469442" y="606742"/>
                </a:lnTo>
                <a:lnTo>
                  <a:pt x="431444" y="582561"/>
                </a:lnTo>
                <a:lnTo>
                  <a:pt x="417068" y="568172"/>
                </a:lnTo>
                <a:lnTo>
                  <a:pt x="414108" y="565213"/>
                </a:lnTo>
                <a:lnTo>
                  <a:pt x="414108" y="603453"/>
                </a:lnTo>
                <a:lnTo>
                  <a:pt x="382003" y="635558"/>
                </a:lnTo>
                <a:lnTo>
                  <a:pt x="376351" y="629907"/>
                </a:lnTo>
                <a:lnTo>
                  <a:pt x="376351" y="668489"/>
                </a:lnTo>
                <a:lnTo>
                  <a:pt x="354723" y="690130"/>
                </a:lnTo>
                <a:lnTo>
                  <a:pt x="335432" y="670839"/>
                </a:lnTo>
                <a:lnTo>
                  <a:pt x="335432" y="709422"/>
                </a:lnTo>
                <a:lnTo>
                  <a:pt x="239229" y="805611"/>
                </a:lnTo>
                <a:lnTo>
                  <a:pt x="207949" y="818565"/>
                </a:lnTo>
                <a:lnTo>
                  <a:pt x="190754" y="815086"/>
                </a:lnTo>
                <a:lnTo>
                  <a:pt x="176707" y="805611"/>
                </a:lnTo>
                <a:lnTo>
                  <a:pt x="167195" y="791540"/>
                </a:lnTo>
                <a:lnTo>
                  <a:pt x="163715" y="774331"/>
                </a:lnTo>
                <a:lnTo>
                  <a:pt x="164566" y="765644"/>
                </a:lnTo>
                <a:lnTo>
                  <a:pt x="167068" y="757402"/>
                </a:lnTo>
                <a:lnTo>
                  <a:pt x="171119" y="749808"/>
                </a:lnTo>
                <a:lnTo>
                  <a:pt x="176669" y="743051"/>
                </a:lnTo>
                <a:lnTo>
                  <a:pt x="272859" y="646861"/>
                </a:lnTo>
                <a:lnTo>
                  <a:pt x="335432" y="709422"/>
                </a:lnTo>
                <a:lnTo>
                  <a:pt x="335432" y="670839"/>
                </a:lnTo>
                <a:lnTo>
                  <a:pt x="311454" y="646861"/>
                </a:lnTo>
                <a:lnTo>
                  <a:pt x="292150" y="627570"/>
                </a:lnTo>
                <a:lnTo>
                  <a:pt x="313791" y="605929"/>
                </a:lnTo>
                <a:lnTo>
                  <a:pt x="376351" y="668489"/>
                </a:lnTo>
                <a:lnTo>
                  <a:pt x="376351" y="629907"/>
                </a:lnTo>
                <a:lnTo>
                  <a:pt x="352374" y="605929"/>
                </a:lnTo>
                <a:lnTo>
                  <a:pt x="346722" y="600278"/>
                </a:lnTo>
                <a:lnTo>
                  <a:pt x="366014" y="580986"/>
                </a:lnTo>
                <a:lnTo>
                  <a:pt x="378828" y="568172"/>
                </a:lnTo>
                <a:lnTo>
                  <a:pt x="386930" y="577697"/>
                </a:lnTo>
                <a:lnTo>
                  <a:pt x="395528" y="586765"/>
                </a:lnTo>
                <a:lnTo>
                  <a:pt x="404596" y="595350"/>
                </a:lnTo>
                <a:lnTo>
                  <a:pt x="414108" y="603453"/>
                </a:lnTo>
                <a:lnTo>
                  <a:pt x="414108" y="565213"/>
                </a:lnTo>
                <a:lnTo>
                  <a:pt x="399745" y="550849"/>
                </a:lnTo>
                <a:lnTo>
                  <a:pt x="379107" y="518426"/>
                </a:lnTo>
                <a:lnTo>
                  <a:pt x="375564" y="512851"/>
                </a:lnTo>
                <a:lnTo>
                  <a:pt x="360324" y="470306"/>
                </a:lnTo>
                <a:lnTo>
                  <a:pt x="360222" y="470027"/>
                </a:lnTo>
                <a:lnTo>
                  <a:pt x="360146" y="469798"/>
                </a:lnTo>
                <a:lnTo>
                  <a:pt x="354723" y="422922"/>
                </a:lnTo>
                <a:lnTo>
                  <a:pt x="360121" y="376250"/>
                </a:lnTo>
                <a:lnTo>
                  <a:pt x="375564" y="333019"/>
                </a:lnTo>
                <a:lnTo>
                  <a:pt x="399745" y="295021"/>
                </a:lnTo>
                <a:lnTo>
                  <a:pt x="431444" y="263309"/>
                </a:lnTo>
                <a:lnTo>
                  <a:pt x="469442" y="239128"/>
                </a:lnTo>
                <a:lnTo>
                  <a:pt x="512495" y="223710"/>
                </a:lnTo>
                <a:lnTo>
                  <a:pt x="559358" y="218287"/>
                </a:lnTo>
                <a:lnTo>
                  <a:pt x="606234" y="223710"/>
                </a:lnTo>
                <a:lnTo>
                  <a:pt x="649287" y="239128"/>
                </a:lnTo>
                <a:lnTo>
                  <a:pt x="687285" y="263309"/>
                </a:lnTo>
                <a:lnTo>
                  <a:pt x="718997" y="295021"/>
                </a:lnTo>
                <a:lnTo>
                  <a:pt x="743178" y="333019"/>
                </a:lnTo>
                <a:lnTo>
                  <a:pt x="758418" y="375551"/>
                </a:lnTo>
                <a:lnTo>
                  <a:pt x="758520" y="375831"/>
                </a:lnTo>
                <a:lnTo>
                  <a:pt x="758621" y="376250"/>
                </a:lnTo>
                <a:lnTo>
                  <a:pt x="764006" y="422922"/>
                </a:lnTo>
                <a:lnTo>
                  <a:pt x="764006" y="316128"/>
                </a:lnTo>
                <a:lnTo>
                  <a:pt x="723290" y="259003"/>
                </a:lnTo>
                <a:lnTo>
                  <a:pt x="688949" y="230670"/>
                </a:lnTo>
                <a:lnTo>
                  <a:pt x="649554" y="209257"/>
                </a:lnTo>
                <a:lnTo>
                  <a:pt x="606044" y="195719"/>
                </a:lnTo>
                <a:lnTo>
                  <a:pt x="559358" y="190995"/>
                </a:lnTo>
                <a:lnTo>
                  <a:pt x="512686" y="195719"/>
                </a:lnTo>
                <a:lnTo>
                  <a:pt x="469176" y="209257"/>
                </a:lnTo>
                <a:lnTo>
                  <a:pt x="429780" y="230670"/>
                </a:lnTo>
                <a:lnTo>
                  <a:pt x="395439" y="259003"/>
                </a:lnTo>
                <a:lnTo>
                  <a:pt x="367093" y="293344"/>
                </a:lnTo>
                <a:lnTo>
                  <a:pt x="345694" y="332740"/>
                </a:lnTo>
                <a:lnTo>
                  <a:pt x="332371" y="375551"/>
                </a:lnTo>
                <a:lnTo>
                  <a:pt x="332282" y="375831"/>
                </a:lnTo>
                <a:lnTo>
                  <a:pt x="332219" y="376059"/>
                </a:lnTo>
                <a:lnTo>
                  <a:pt x="332155" y="376250"/>
                </a:lnTo>
                <a:lnTo>
                  <a:pt x="327431" y="422922"/>
                </a:lnTo>
                <a:lnTo>
                  <a:pt x="328828" y="448119"/>
                </a:lnTo>
                <a:lnTo>
                  <a:pt x="332879" y="472516"/>
                </a:lnTo>
                <a:lnTo>
                  <a:pt x="339407" y="495998"/>
                </a:lnTo>
                <a:lnTo>
                  <a:pt x="348246" y="518426"/>
                </a:lnTo>
                <a:lnTo>
                  <a:pt x="27292" y="518426"/>
                </a:lnTo>
                <a:lnTo>
                  <a:pt x="27292" y="136423"/>
                </a:lnTo>
                <a:lnTo>
                  <a:pt x="818565" y="136423"/>
                </a:lnTo>
                <a:lnTo>
                  <a:pt x="818565" y="109143"/>
                </a:lnTo>
                <a:lnTo>
                  <a:pt x="27279" y="109143"/>
                </a:lnTo>
                <a:lnTo>
                  <a:pt x="27279" y="27292"/>
                </a:lnTo>
                <a:lnTo>
                  <a:pt x="818565" y="27292"/>
                </a:lnTo>
                <a:lnTo>
                  <a:pt x="818565" y="0"/>
                </a:lnTo>
                <a:lnTo>
                  <a:pt x="0" y="0"/>
                </a:lnTo>
                <a:lnTo>
                  <a:pt x="0" y="545706"/>
                </a:lnTo>
                <a:lnTo>
                  <a:pt x="362712" y="545706"/>
                </a:lnTo>
                <a:lnTo>
                  <a:pt x="327431" y="580986"/>
                </a:lnTo>
                <a:lnTo>
                  <a:pt x="157378" y="723760"/>
                </a:lnTo>
                <a:lnTo>
                  <a:pt x="137807" y="760272"/>
                </a:lnTo>
                <a:lnTo>
                  <a:pt x="136436" y="774331"/>
                </a:lnTo>
                <a:lnTo>
                  <a:pt x="142074" y="802144"/>
                </a:lnTo>
                <a:lnTo>
                  <a:pt x="157454" y="824903"/>
                </a:lnTo>
                <a:lnTo>
                  <a:pt x="180149" y="840219"/>
                </a:lnTo>
                <a:lnTo>
                  <a:pt x="207949" y="845845"/>
                </a:lnTo>
                <a:lnTo>
                  <a:pt x="222021" y="844473"/>
                </a:lnTo>
                <a:lnTo>
                  <a:pt x="235343" y="840447"/>
                </a:lnTo>
                <a:lnTo>
                  <a:pt x="247611" y="833882"/>
                </a:lnTo>
                <a:lnTo>
                  <a:pt x="258521" y="824903"/>
                </a:lnTo>
                <a:lnTo>
                  <a:pt x="264858" y="818565"/>
                </a:lnTo>
                <a:lnTo>
                  <a:pt x="393293" y="690130"/>
                </a:lnTo>
                <a:lnTo>
                  <a:pt x="414934" y="668489"/>
                </a:lnTo>
                <a:lnTo>
                  <a:pt x="401294" y="654850"/>
                </a:lnTo>
                <a:lnTo>
                  <a:pt x="420585" y="635558"/>
                </a:lnTo>
                <a:lnTo>
                  <a:pt x="436727" y="619417"/>
                </a:lnTo>
                <a:lnTo>
                  <a:pt x="464591" y="634377"/>
                </a:lnTo>
                <a:lnTo>
                  <a:pt x="494525" y="645515"/>
                </a:lnTo>
                <a:lnTo>
                  <a:pt x="526211" y="652462"/>
                </a:lnTo>
                <a:lnTo>
                  <a:pt x="559358" y="654850"/>
                </a:lnTo>
                <a:lnTo>
                  <a:pt x="607631" y="649782"/>
                </a:lnTo>
                <a:lnTo>
                  <a:pt x="652424" y="635279"/>
                </a:lnTo>
                <a:lnTo>
                  <a:pt x="665988" y="627570"/>
                </a:lnTo>
                <a:lnTo>
                  <a:pt x="692734" y="612394"/>
                </a:lnTo>
                <a:lnTo>
                  <a:pt x="727519" y="582180"/>
                </a:lnTo>
                <a:lnTo>
                  <a:pt x="755764" y="545706"/>
                </a:lnTo>
                <a:lnTo>
                  <a:pt x="845858" y="545706"/>
                </a:lnTo>
                <a:lnTo>
                  <a:pt x="845858" y="518426"/>
                </a:lnTo>
                <a:lnTo>
                  <a:pt x="845858" y="136423"/>
                </a:lnTo>
                <a:lnTo>
                  <a:pt x="845858" y="109143"/>
                </a:lnTo>
                <a:lnTo>
                  <a:pt x="845858" y="27292"/>
                </a:lnTo>
                <a:lnTo>
                  <a:pt x="845858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918557" y="4277547"/>
            <a:ext cx="591820" cy="846455"/>
          </a:xfrm>
          <a:custGeom>
            <a:rect b="b" l="l" r="r" t="t"/>
            <a:pathLst>
              <a:path extrusionOk="0" h="846454" w="591819">
                <a:moveTo>
                  <a:pt x="153543" y="546"/>
                </a:moveTo>
                <a:lnTo>
                  <a:pt x="138867" y="3486"/>
                </a:lnTo>
                <a:lnTo>
                  <a:pt x="126846" y="11514"/>
                </a:lnTo>
                <a:lnTo>
                  <a:pt x="118679" y="23440"/>
                </a:lnTo>
                <a:lnTo>
                  <a:pt x="115570" y="38074"/>
                </a:lnTo>
                <a:lnTo>
                  <a:pt x="115570" y="56108"/>
                </a:lnTo>
                <a:lnTo>
                  <a:pt x="62534" y="56108"/>
                </a:lnTo>
                <a:lnTo>
                  <a:pt x="38206" y="61039"/>
                </a:lnTo>
                <a:lnTo>
                  <a:pt x="18337" y="74439"/>
                </a:lnTo>
                <a:lnTo>
                  <a:pt x="4932" y="94304"/>
                </a:lnTo>
                <a:lnTo>
                  <a:pt x="0" y="118630"/>
                </a:lnTo>
                <a:lnTo>
                  <a:pt x="0" y="783323"/>
                </a:lnTo>
                <a:lnTo>
                  <a:pt x="4932" y="807651"/>
                </a:lnTo>
                <a:lnTo>
                  <a:pt x="18337" y="827520"/>
                </a:lnTo>
                <a:lnTo>
                  <a:pt x="38206" y="840925"/>
                </a:lnTo>
                <a:lnTo>
                  <a:pt x="62534" y="845858"/>
                </a:lnTo>
                <a:lnTo>
                  <a:pt x="529209" y="845858"/>
                </a:lnTo>
                <a:lnTo>
                  <a:pt x="553537" y="840925"/>
                </a:lnTo>
                <a:lnTo>
                  <a:pt x="573406" y="827520"/>
                </a:lnTo>
                <a:lnTo>
                  <a:pt x="581349" y="815746"/>
                </a:lnTo>
                <a:lnTo>
                  <a:pt x="53936" y="815746"/>
                </a:lnTo>
                <a:lnTo>
                  <a:pt x="45656" y="812368"/>
                </a:lnTo>
                <a:lnTo>
                  <a:pt x="33489" y="800201"/>
                </a:lnTo>
                <a:lnTo>
                  <a:pt x="30111" y="791921"/>
                </a:lnTo>
                <a:lnTo>
                  <a:pt x="30111" y="110032"/>
                </a:lnTo>
                <a:lnTo>
                  <a:pt x="33489" y="101752"/>
                </a:lnTo>
                <a:lnTo>
                  <a:pt x="45656" y="89598"/>
                </a:lnTo>
                <a:lnTo>
                  <a:pt x="53718" y="86309"/>
                </a:lnTo>
                <a:lnTo>
                  <a:pt x="145827" y="86309"/>
                </a:lnTo>
                <a:lnTo>
                  <a:pt x="145859" y="33858"/>
                </a:lnTo>
                <a:lnTo>
                  <a:pt x="149313" y="30467"/>
                </a:lnTo>
                <a:lnTo>
                  <a:pt x="189895" y="30467"/>
                </a:lnTo>
                <a:lnTo>
                  <a:pt x="188399" y="23440"/>
                </a:lnTo>
                <a:lnTo>
                  <a:pt x="180230" y="11514"/>
                </a:lnTo>
                <a:lnTo>
                  <a:pt x="168211" y="3486"/>
                </a:lnTo>
                <a:lnTo>
                  <a:pt x="153543" y="546"/>
                </a:lnTo>
                <a:close/>
              </a:path>
              <a:path extrusionOk="0" h="846454" w="591819">
                <a:moveTo>
                  <a:pt x="581415" y="86309"/>
                </a:moveTo>
                <a:lnTo>
                  <a:pt x="529209" y="86309"/>
                </a:lnTo>
                <a:lnTo>
                  <a:pt x="541785" y="88860"/>
                </a:lnTo>
                <a:lnTo>
                  <a:pt x="552057" y="95788"/>
                </a:lnTo>
                <a:lnTo>
                  <a:pt x="558989" y="106056"/>
                </a:lnTo>
                <a:lnTo>
                  <a:pt x="561543" y="118630"/>
                </a:lnTo>
                <a:lnTo>
                  <a:pt x="561543" y="783323"/>
                </a:lnTo>
                <a:lnTo>
                  <a:pt x="558989" y="795899"/>
                </a:lnTo>
                <a:lnTo>
                  <a:pt x="552057" y="806170"/>
                </a:lnTo>
                <a:lnTo>
                  <a:pt x="541785" y="813098"/>
                </a:lnTo>
                <a:lnTo>
                  <a:pt x="528707" y="815746"/>
                </a:lnTo>
                <a:lnTo>
                  <a:pt x="581349" y="815746"/>
                </a:lnTo>
                <a:lnTo>
                  <a:pt x="586810" y="807651"/>
                </a:lnTo>
                <a:lnTo>
                  <a:pt x="591743" y="783323"/>
                </a:lnTo>
                <a:lnTo>
                  <a:pt x="591743" y="118630"/>
                </a:lnTo>
                <a:lnTo>
                  <a:pt x="586810" y="94304"/>
                </a:lnTo>
                <a:lnTo>
                  <a:pt x="581415" y="86309"/>
                </a:lnTo>
                <a:close/>
              </a:path>
              <a:path extrusionOk="0" h="846454" w="591819">
                <a:moveTo>
                  <a:pt x="379352" y="488886"/>
                </a:moveTo>
                <a:lnTo>
                  <a:pt x="343369" y="488886"/>
                </a:lnTo>
                <a:lnTo>
                  <a:pt x="430504" y="623366"/>
                </a:lnTo>
                <a:lnTo>
                  <a:pt x="435127" y="630174"/>
                </a:lnTo>
                <a:lnTo>
                  <a:pt x="444334" y="632053"/>
                </a:lnTo>
                <a:lnTo>
                  <a:pt x="458139" y="623100"/>
                </a:lnTo>
                <a:lnTo>
                  <a:pt x="460184" y="613930"/>
                </a:lnTo>
                <a:lnTo>
                  <a:pt x="455853" y="606933"/>
                </a:lnTo>
                <a:lnTo>
                  <a:pt x="379352" y="488886"/>
                </a:lnTo>
                <a:close/>
              </a:path>
              <a:path extrusionOk="0" h="846454" w="591819">
                <a:moveTo>
                  <a:pt x="276309" y="215380"/>
                </a:moveTo>
                <a:lnTo>
                  <a:pt x="213888" y="231482"/>
                </a:lnTo>
                <a:lnTo>
                  <a:pt x="163838" y="272013"/>
                </a:lnTo>
                <a:lnTo>
                  <a:pt x="135893" y="330672"/>
                </a:lnTo>
                <a:lnTo>
                  <a:pt x="133252" y="364832"/>
                </a:lnTo>
                <a:lnTo>
                  <a:pt x="139788" y="401161"/>
                </a:lnTo>
                <a:lnTo>
                  <a:pt x="156718" y="438873"/>
                </a:lnTo>
                <a:lnTo>
                  <a:pt x="185282" y="471068"/>
                </a:lnTo>
                <a:lnTo>
                  <a:pt x="220863" y="492871"/>
                </a:lnTo>
                <a:lnTo>
                  <a:pt x="260827" y="503578"/>
                </a:lnTo>
                <a:lnTo>
                  <a:pt x="302540" y="502485"/>
                </a:lnTo>
                <a:lnTo>
                  <a:pt x="343369" y="488886"/>
                </a:lnTo>
                <a:lnTo>
                  <a:pt x="379352" y="488886"/>
                </a:lnTo>
                <a:lnTo>
                  <a:pt x="368950" y="472835"/>
                </a:lnTo>
                <a:lnTo>
                  <a:pt x="298018" y="472835"/>
                </a:lnTo>
                <a:lnTo>
                  <a:pt x="254180" y="472041"/>
                </a:lnTo>
                <a:lnTo>
                  <a:pt x="213833" y="454885"/>
                </a:lnTo>
                <a:lnTo>
                  <a:pt x="182054" y="422452"/>
                </a:lnTo>
                <a:lnTo>
                  <a:pt x="169214" y="394566"/>
                </a:lnTo>
                <a:lnTo>
                  <a:pt x="164244" y="364832"/>
                </a:lnTo>
                <a:lnTo>
                  <a:pt x="167179" y="334750"/>
                </a:lnTo>
                <a:lnTo>
                  <a:pt x="196206" y="281267"/>
                </a:lnTo>
                <a:lnTo>
                  <a:pt x="247470" y="250384"/>
                </a:lnTo>
                <a:lnTo>
                  <a:pt x="277850" y="245960"/>
                </a:lnTo>
                <a:lnTo>
                  <a:pt x="364736" y="245960"/>
                </a:lnTo>
                <a:lnTo>
                  <a:pt x="341366" y="230007"/>
                </a:lnTo>
                <a:lnTo>
                  <a:pt x="309117" y="218459"/>
                </a:lnTo>
                <a:lnTo>
                  <a:pt x="276309" y="215380"/>
                </a:lnTo>
                <a:close/>
              </a:path>
              <a:path extrusionOk="0" h="846454" w="591819">
                <a:moveTo>
                  <a:pt x="364736" y="245960"/>
                </a:moveTo>
                <a:lnTo>
                  <a:pt x="277850" y="245960"/>
                </a:lnTo>
                <a:lnTo>
                  <a:pt x="316600" y="252231"/>
                </a:lnTo>
                <a:lnTo>
                  <a:pt x="348263" y="269785"/>
                </a:lnTo>
                <a:lnTo>
                  <a:pt x="371961" y="295840"/>
                </a:lnTo>
                <a:lnTo>
                  <a:pt x="386818" y="327612"/>
                </a:lnTo>
                <a:lnTo>
                  <a:pt x="391953" y="362325"/>
                </a:lnTo>
                <a:lnTo>
                  <a:pt x="386494" y="397169"/>
                </a:lnTo>
                <a:lnTo>
                  <a:pt x="369559" y="429386"/>
                </a:lnTo>
                <a:lnTo>
                  <a:pt x="340271" y="456184"/>
                </a:lnTo>
                <a:lnTo>
                  <a:pt x="298018" y="472835"/>
                </a:lnTo>
                <a:lnTo>
                  <a:pt x="368950" y="472835"/>
                </a:lnTo>
                <a:lnTo>
                  <a:pt x="368858" y="472694"/>
                </a:lnTo>
                <a:lnTo>
                  <a:pt x="397859" y="440882"/>
                </a:lnTo>
                <a:lnTo>
                  <a:pt x="415831" y="403202"/>
                </a:lnTo>
                <a:lnTo>
                  <a:pt x="422350" y="362325"/>
                </a:lnTo>
                <a:lnTo>
                  <a:pt x="416989" y="320921"/>
                </a:lnTo>
                <a:lnTo>
                  <a:pt x="399326" y="281660"/>
                </a:lnTo>
                <a:lnTo>
                  <a:pt x="371842" y="250811"/>
                </a:lnTo>
                <a:lnTo>
                  <a:pt x="364736" y="245960"/>
                </a:lnTo>
                <a:close/>
              </a:path>
              <a:path extrusionOk="0" h="846454" w="591819">
                <a:moveTo>
                  <a:pt x="288105" y="86309"/>
                </a:moveTo>
                <a:lnTo>
                  <a:pt x="257848" y="86309"/>
                </a:lnTo>
                <a:lnTo>
                  <a:pt x="257953" y="110032"/>
                </a:lnTo>
                <a:lnTo>
                  <a:pt x="286057" y="146018"/>
                </a:lnTo>
                <a:lnTo>
                  <a:pt x="295821" y="147294"/>
                </a:lnTo>
                <a:lnTo>
                  <a:pt x="305584" y="146018"/>
                </a:lnTo>
                <a:lnTo>
                  <a:pt x="332803" y="116827"/>
                </a:lnTo>
                <a:lnTo>
                  <a:pt x="291592" y="116827"/>
                </a:lnTo>
                <a:lnTo>
                  <a:pt x="288137" y="113449"/>
                </a:lnTo>
                <a:lnTo>
                  <a:pt x="288105" y="86309"/>
                </a:lnTo>
                <a:close/>
              </a:path>
              <a:path extrusionOk="0" h="846454" w="591819">
                <a:moveTo>
                  <a:pt x="430388" y="86309"/>
                </a:moveTo>
                <a:lnTo>
                  <a:pt x="400126" y="86309"/>
                </a:lnTo>
                <a:lnTo>
                  <a:pt x="400231" y="110032"/>
                </a:lnTo>
                <a:lnTo>
                  <a:pt x="401350" y="118630"/>
                </a:lnTo>
                <a:lnTo>
                  <a:pt x="401417" y="119147"/>
                </a:lnTo>
                <a:lnTo>
                  <a:pt x="438099" y="147294"/>
                </a:lnTo>
                <a:lnTo>
                  <a:pt x="447862" y="146018"/>
                </a:lnTo>
                <a:lnTo>
                  <a:pt x="475082" y="116827"/>
                </a:lnTo>
                <a:lnTo>
                  <a:pt x="433870" y="116827"/>
                </a:lnTo>
                <a:lnTo>
                  <a:pt x="430415" y="113449"/>
                </a:lnTo>
                <a:lnTo>
                  <a:pt x="430388" y="86309"/>
                </a:lnTo>
                <a:close/>
              </a:path>
              <a:path extrusionOk="0" h="846454" w="591819">
                <a:moveTo>
                  <a:pt x="145827" y="86309"/>
                </a:moveTo>
                <a:lnTo>
                  <a:pt x="115570" y="86309"/>
                </a:lnTo>
                <a:lnTo>
                  <a:pt x="115570" y="109220"/>
                </a:lnTo>
                <a:lnTo>
                  <a:pt x="118674" y="123861"/>
                </a:lnTo>
                <a:lnTo>
                  <a:pt x="126841" y="135791"/>
                </a:lnTo>
                <a:lnTo>
                  <a:pt x="138865" y="143820"/>
                </a:lnTo>
                <a:lnTo>
                  <a:pt x="153543" y="146761"/>
                </a:lnTo>
                <a:lnTo>
                  <a:pt x="168218" y="143820"/>
                </a:lnTo>
                <a:lnTo>
                  <a:pt x="180239" y="135791"/>
                </a:lnTo>
                <a:lnTo>
                  <a:pt x="188406" y="123861"/>
                </a:lnTo>
                <a:lnTo>
                  <a:pt x="189900" y="116827"/>
                </a:lnTo>
                <a:lnTo>
                  <a:pt x="149313" y="116827"/>
                </a:lnTo>
                <a:lnTo>
                  <a:pt x="145859" y="113449"/>
                </a:lnTo>
                <a:lnTo>
                  <a:pt x="145827" y="86309"/>
                </a:lnTo>
                <a:close/>
              </a:path>
              <a:path extrusionOk="0" h="846454" w="591819">
                <a:moveTo>
                  <a:pt x="189895" y="30467"/>
                </a:moveTo>
                <a:lnTo>
                  <a:pt x="157772" y="30467"/>
                </a:lnTo>
                <a:lnTo>
                  <a:pt x="161213" y="33858"/>
                </a:lnTo>
                <a:lnTo>
                  <a:pt x="161226" y="113449"/>
                </a:lnTo>
                <a:lnTo>
                  <a:pt x="157772" y="116827"/>
                </a:lnTo>
                <a:lnTo>
                  <a:pt x="189900" y="116827"/>
                </a:lnTo>
                <a:lnTo>
                  <a:pt x="191516" y="109220"/>
                </a:lnTo>
                <a:lnTo>
                  <a:pt x="191516" y="86309"/>
                </a:lnTo>
                <a:lnTo>
                  <a:pt x="288105" y="86309"/>
                </a:lnTo>
                <a:lnTo>
                  <a:pt x="288069" y="56108"/>
                </a:lnTo>
                <a:lnTo>
                  <a:pt x="191516" y="56108"/>
                </a:lnTo>
                <a:lnTo>
                  <a:pt x="191516" y="38074"/>
                </a:lnTo>
                <a:lnTo>
                  <a:pt x="189895" y="30467"/>
                </a:lnTo>
                <a:close/>
              </a:path>
              <a:path extrusionOk="0" h="846454" w="591819">
                <a:moveTo>
                  <a:pt x="332803" y="30467"/>
                </a:moveTo>
                <a:lnTo>
                  <a:pt x="300050" y="30467"/>
                </a:lnTo>
                <a:lnTo>
                  <a:pt x="303491" y="33858"/>
                </a:lnTo>
                <a:lnTo>
                  <a:pt x="303491" y="113449"/>
                </a:lnTo>
                <a:lnTo>
                  <a:pt x="300050" y="116827"/>
                </a:lnTo>
                <a:lnTo>
                  <a:pt x="332803" y="116827"/>
                </a:lnTo>
                <a:lnTo>
                  <a:pt x="333688" y="110032"/>
                </a:lnTo>
                <a:lnTo>
                  <a:pt x="333794" y="86309"/>
                </a:lnTo>
                <a:lnTo>
                  <a:pt x="430388" y="86309"/>
                </a:lnTo>
                <a:lnTo>
                  <a:pt x="430357" y="56108"/>
                </a:lnTo>
                <a:lnTo>
                  <a:pt x="333794" y="56108"/>
                </a:lnTo>
                <a:lnTo>
                  <a:pt x="333794" y="38074"/>
                </a:lnTo>
                <a:lnTo>
                  <a:pt x="332803" y="30467"/>
                </a:lnTo>
                <a:close/>
              </a:path>
              <a:path extrusionOk="0" h="846454" w="591819">
                <a:moveTo>
                  <a:pt x="475082" y="30467"/>
                </a:moveTo>
                <a:lnTo>
                  <a:pt x="442328" y="30467"/>
                </a:lnTo>
                <a:lnTo>
                  <a:pt x="445782" y="33858"/>
                </a:lnTo>
                <a:lnTo>
                  <a:pt x="445782" y="113449"/>
                </a:lnTo>
                <a:lnTo>
                  <a:pt x="442328" y="116827"/>
                </a:lnTo>
                <a:lnTo>
                  <a:pt x="475082" y="116827"/>
                </a:lnTo>
                <a:lnTo>
                  <a:pt x="475966" y="110032"/>
                </a:lnTo>
                <a:lnTo>
                  <a:pt x="476072" y="86309"/>
                </a:lnTo>
                <a:lnTo>
                  <a:pt x="581415" y="86309"/>
                </a:lnTo>
                <a:lnTo>
                  <a:pt x="573406" y="74439"/>
                </a:lnTo>
                <a:lnTo>
                  <a:pt x="553537" y="61039"/>
                </a:lnTo>
                <a:lnTo>
                  <a:pt x="529209" y="56108"/>
                </a:lnTo>
                <a:lnTo>
                  <a:pt x="476072" y="56108"/>
                </a:lnTo>
                <a:lnTo>
                  <a:pt x="476072" y="38074"/>
                </a:lnTo>
                <a:lnTo>
                  <a:pt x="475082" y="30467"/>
                </a:lnTo>
                <a:close/>
              </a:path>
              <a:path extrusionOk="0" h="846454" w="591819">
                <a:moveTo>
                  <a:pt x="295821" y="0"/>
                </a:moveTo>
                <a:lnTo>
                  <a:pt x="259139" y="28147"/>
                </a:lnTo>
                <a:lnTo>
                  <a:pt x="257848" y="38074"/>
                </a:lnTo>
                <a:lnTo>
                  <a:pt x="257848" y="56108"/>
                </a:lnTo>
                <a:lnTo>
                  <a:pt x="288069" y="56108"/>
                </a:lnTo>
                <a:lnTo>
                  <a:pt x="288137" y="33858"/>
                </a:lnTo>
                <a:lnTo>
                  <a:pt x="291592" y="30467"/>
                </a:lnTo>
                <a:lnTo>
                  <a:pt x="332803" y="30467"/>
                </a:lnTo>
                <a:lnTo>
                  <a:pt x="332501" y="28147"/>
                </a:lnTo>
                <a:lnTo>
                  <a:pt x="328737" y="19046"/>
                </a:lnTo>
                <a:lnTo>
                  <a:pt x="322762" y="11217"/>
                </a:lnTo>
                <a:lnTo>
                  <a:pt x="314833" y="5105"/>
                </a:lnTo>
                <a:lnTo>
                  <a:pt x="305584" y="1276"/>
                </a:lnTo>
                <a:lnTo>
                  <a:pt x="295821" y="0"/>
                </a:lnTo>
                <a:close/>
              </a:path>
              <a:path extrusionOk="0" h="846454" w="591819">
                <a:moveTo>
                  <a:pt x="438099" y="0"/>
                </a:moveTo>
                <a:lnTo>
                  <a:pt x="401417" y="28147"/>
                </a:lnTo>
                <a:lnTo>
                  <a:pt x="400126" y="38074"/>
                </a:lnTo>
                <a:lnTo>
                  <a:pt x="400126" y="56108"/>
                </a:lnTo>
                <a:lnTo>
                  <a:pt x="430357" y="56108"/>
                </a:lnTo>
                <a:lnTo>
                  <a:pt x="430415" y="33858"/>
                </a:lnTo>
                <a:lnTo>
                  <a:pt x="433870" y="30467"/>
                </a:lnTo>
                <a:lnTo>
                  <a:pt x="475082" y="30467"/>
                </a:lnTo>
                <a:lnTo>
                  <a:pt x="474781" y="28147"/>
                </a:lnTo>
                <a:lnTo>
                  <a:pt x="471020" y="19046"/>
                </a:lnTo>
                <a:lnTo>
                  <a:pt x="465045" y="11217"/>
                </a:lnTo>
                <a:lnTo>
                  <a:pt x="457111" y="5105"/>
                </a:lnTo>
                <a:lnTo>
                  <a:pt x="447862" y="1276"/>
                </a:lnTo>
                <a:lnTo>
                  <a:pt x="438099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17080083" y="562607"/>
            <a:ext cx="3009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26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12013257" y="4277554"/>
            <a:ext cx="0" cy="3583940"/>
          </a:xfrm>
          <a:custGeom>
            <a:rect b="b" l="l" r="r" t="t"/>
            <a:pathLst>
              <a:path extrusionOk="0" h="3583940" w="120000">
                <a:moveTo>
                  <a:pt x="0" y="3583559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6273589" y="4277554"/>
            <a:ext cx="0" cy="3583940"/>
          </a:xfrm>
          <a:custGeom>
            <a:rect b="b" l="l" r="r" t="t"/>
            <a:pathLst>
              <a:path extrusionOk="0" h="3583940" w="120000">
                <a:moveTo>
                  <a:pt x="0" y="3583559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12385078" y="5435861"/>
            <a:ext cx="4914265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8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Facilidad de mantenimiento y re-ejecución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lang="en-US" sz="19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Diseñar DAGs que permitan reintentos y 	backfills controlados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9144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lang="en-US" sz="19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Asegurar trazabilidad y documentación 	clara de cada tarea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6645471" y="5435861"/>
            <a:ext cx="443865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Monitoreo de métricas de éxito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2641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lang="en-US" sz="19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Supervisar frescura, volumen y 	presencia de nulos en los datos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452119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lang="en-US" sz="19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Establecer alertas para detectar 	desviaciones rápidamente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905865" y="5435861"/>
            <a:ext cx="403479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181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Tareas idempotentes y parámetros críticos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lang="en-US" sz="19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Identificar procesos que pueden 	repetirse sin efectos adversos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2349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aramond"/>
              <a:buChar char="•"/>
            </a:pPr>
            <a:r>
              <a:rPr lang="en-US" sz="19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Definir parámetros clave: fechas, 	particiones, credenciales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24" name="Google Shape;324;p26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Diseño de un DAG robusto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905866" y="562607"/>
            <a:ext cx="63690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AIRFLOW: ORQUESTACIÓN Y EJEMPLOS PRÁCTICOS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/>
        </p:nvSpPr>
        <p:spPr>
          <a:xfrm>
            <a:off x="905904" y="1606411"/>
            <a:ext cx="7682230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Disciplina de orquestación y operación</a:t>
            </a:r>
            <a:endParaRPr sz="4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p27"/>
          <p:cNvSpPr txBox="1"/>
          <p:nvPr/>
        </p:nvSpPr>
        <p:spPr>
          <a:xfrm>
            <a:off x="9592673" y="1638800"/>
            <a:ext cx="76020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La orquestación asegura confiabilidad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Coordina tareas, dependencias y reintentos en pipelines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9592685" y="2966671"/>
            <a:ext cx="7262495" cy="4097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La operación es el corazón del éxito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Monitoreo, alertas y trazabilidad son esenciales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Las herramientas evolucionan, la disciplina permanece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El diseño operativo sólido trasciende la tecnología usada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Airﬂow: ejemplo de orquestador robusto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None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Permite mantener y escalar ﬂujos complejos de datos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905904" y="561158"/>
            <a:ext cx="63690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APACHE AIRFLOW: ORQUESTACIÓN Y EJEMPLOS PRÁCTICOS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p27"/>
          <p:cNvSpPr txBox="1"/>
          <p:nvPr/>
        </p:nvSpPr>
        <p:spPr>
          <a:xfrm>
            <a:off x="17105644" y="561158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27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5" name="Google Shape;3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5803"/>
            <a:ext cx="8686800" cy="579117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7"/>
          <p:cNvSpPr/>
          <p:nvPr/>
        </p:nvSpPr>
        <p:spPr>
          <a:xfrm>
            <a:off x="9605381" y="7465232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41" name="Google Shape;341;p28"/>
          <p:cNvSpPr txBox="1"/>
          <p:nvPr>
            <p:ph type="title"/>
          </p:nvPr>
        </p:nvSpPr>
        <p:spPr>
          <a:xfrm>
            <a:off x="905894" y="6744201"/>
            <a:ext cx="11857355" cy="206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Lecturas recomendadas y conclusiones</a:t>
            </a:r>
            <a:endParaRPr sz="7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p28"/>
          <p:cNvSpPr txBox="1"/>
          <p:nvPr/>
        </p:nvSpPr>
        <p:spPr>
          <a:xfrm>
            <a:off x="17088578" y="563767"/>
            <a:ext cx="2889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28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47" name="Google Shape;347;p29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Lecturas recomendadas</a:t>
            </a:r>
            <a:endParaRPr/>
          </a:p>
        </p:txBody>
      </p:sp>
      <p:sp>
        <p:nvSpPr>
          <p:cNvPr id="348" name="Google Shape;348;p29"/>
          <p:cNvSpPr txBox="1"/>
          <p:nvPr/>
        </p:nvSpPr>
        <p:spPr>
          <a:xfrm>
            <a:off x="12386962" y="4925599"/>
            <a:ext cx="4789170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25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Comparativa de servicios cloud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Analiza AWS Glue, Azure Data Factory y 	Google Cloud Data Fusion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9" name="Google Shape;349;p29"/>
          <p:cNvSpPr txBox="1"/>
          <p:nvPr/>
        </p:nvSpPr>
        <p:spPr>
          <a:xfrm>
            <a:off x="6646414" y="4925599"/>
            <a:ext cx="4882515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2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Herramientas de integración y streaming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Explora Debezium y Kafka Connect para 	CDC y ﬂujos en tiempo real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905865" y="4925599"/>
            <a:ext cx="488061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38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Documentación oficial recomendada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18478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Consulta Airﬂow para orquestación de 	pipelines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Revisa dbt para modelado y pruebas de 	datos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17082439" y="561158"/>
            <a:ext cx="2965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29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52" name="Google Shape;352;p29"/>
          <p:cNvGrpSpPr/>
          <p:nvPr/>
        </p:nvGrpSpPr>
        <p:grpSpPr>
          <a:xfrm>
            <a:off x="6273142" y="4993553"/>
            <a:ext cx="5740524" cy="2357755"/>
            <a:chOff x="6273142" y="4993553"/>
            <a:chExt cx="5740524" cy="2357755"/>
          </a:xfrm>
        </p:grpSpPr>
        <p:sp>
          <p:nvSpPr>
            <p:cNvPr id="353" name="Google Shape;353;p29"/>
            <p:cNvSpPr/>
            <p:nvPr/>
          </p:nvSpPr>
          <p:spPr>
            <a:xfrm>
              <a:off x="12013666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>
              <a:off x="6273142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29"/>
          <p:cNvSpPr txBox="1"/>
          <p:nvPr/>
        </p:nvSpPr>
        <p:spPr>
          <a:xfrm>
            <a:off x="905904" y="561158"/>
            <a:ext cx="49714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LECTURAS RECOMENDADAS Y CONCLUSIONES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60" name="Google Shape;360;p30"/>
          <p:cNvSpPr txBox="1"/>
          <p:nvPr>
            <p:ph type="title"/>
          </p:nvPr>
        </p:nvSpPr>
        <p:spPr>
          <a:xfrm>
            <a:off x="905866" y="1612394"/>
            <a:ext cx="11324590" cy="7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Conclusiones y aprendizajes clave</a:t>
            </a:r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12386962" y="4925599"/>
            <a:ext cx="4752340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Operación y orquestación: claves del éxito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La confiabilidad y el monitoreo son tan 	importantes como la tecnología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4508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Orquestadores como Airﬂow permiten 	ﬂujos robustos y mantenibles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2" name="Google Shape;362;p30"/>
          <p:cNvSpPr txBox="1"/>
          <p:nvPr/>
        </p:nvSpPr>
        <p:spPr>
          <a:xfrm>
            <a:off x="6646414" y="4925599"/>
            <a:ext cx="4810125" cy="2410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Selección estratégica según contexto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8674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Depende de fuentes, volumen, 	regulación y capacidades internas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6540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No existe una única solución ideal para 	todos los casos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3" name="Google Shape;363;p30"/>
          <p:cNvSpPr txBox="1"/>
          <p:nvPr/>
        </p:nvSpPr>
        <p:spPr>
          <a:xfrm>
            <a:off x="905865" y="4925599"/>
            <a:ext cx="4812030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375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entury Gothic"/>
                <a:ea typeface="Century Gothic"/>
                <a:cs typeface="Century Gothic"/>
                <a:sym typeface="Century Gothic"/>
              </a:rPr>
              <a:t>Ecosistema ETL/ELT: modular y en evolución</a:t>
            </a:r>
            <a:endParaRPr sz="29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Garamond"/>
              <a:buChar char="•"/>
            </a:pPr>
            <a:r>
              <a:rPr lang="en-US" sz="1950">
                <a:latin typeface="Century Gothic"/>
                <a:ea typeface="Century Gothic"/>
                <a:cs typeface="Century Gothic"/>
                <a:sym typeface="Century Gothic"/>
              </a:rPr>
              <a:t>Diversidad de herramientas y enfoques 	según el ﬂujo de datos</a:t>
            </a:r>
            <a:endParaRPr sz="19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4" name="Google Shape;364;p30"/>
          <p:cNvSpPr txBox="1"/>
          <p:nvPr/>
        </p:nvSpPr>
        <p:spPr>
          <a:xfrm>
            <a:off x="17064158" y="561158"/>
            <a:ext cx="3168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65" name="Google Shape;365;p30"/>
          <p:cNvGrpSpPr/>
          <p:nvPr/>
        </p:nvGrpSpPr>
        <p:grpSpPr>
          <a:xfrm>
            <a:off x="6273142" y="4993553"/>
            <a:ext cx="5740524" cy="2357755"/>
            <a:chOff x="6273142" y="4993553"/>
            <a:chExt cx="5740524" cy="2357755"/>
          </a:xfrm>
        </p:grpSpPr>
        <p:sp>
          <p:nvSpPr>
            <p:cNvPr id="366" name="Google Shape;366;p30"/>
            <p:cNvSpPr/>
            <p:nvPr/>
          </p:nvSpPr>
          <p:spPr>
            <a:xfrm>
              <a:off x="12013666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6273142" y="4993553"/>
              <a:ext cx="0" cy="2357755"/>
            </a:xfrm>
            <a:custGeom>
              <a:rect b="b" l="l" r="r" t="t"/>
              <a:pathLst>
                <a:path extrusionOk="0" h="2357754" w="120000">
                  <a:moveTo>
                    <a:pt x="0" y="235729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8" name="Google Shape;368;p30"/>
          <p:cNvSpPr txBox="1"/>
          <p:nvPr/>
        </p:nvSpPr>
        <p:spPr>
          <a:xfrm>
            <a:off x="905904" y="561158"/>
            <a:ext cx="49714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LECTURAS RECOMENDADAS Y CONCLUSIONES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b31bc88e5_0_165"/>
          <p:cNvSpPr txBox="1"/>
          <p:nvPr/>
        </p:nvSpPr>
        <p:spPr>
          <a:xfrm>
            <a:off x="17064158" y="561158"/>
            <a:ext cx="316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4" name="Google Shape;374;g3cb31bc88e5_0_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900" y="1598725"/>
            <a:ext cx="12994241" cy="845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cb31bc88e5_0_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1575" y="850938"/>
            <a:ext cx="431482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2026-02-25T19:46:15Z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2026-02-25T00:00:00Z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2026-02-25T00:00:00Z</vt:filetime>
  </property>
  <property fmtid="{D5CDD505-2E9C-101B-9397-08002B2CF9AE}" pid="6" name="Producer">
    <vt:lpwstr>Adobe Express</vt:lpwstr>
  </property>
</Properties>
</file>