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10287000" cx="18288000"/>
  <p:notesSz cx="6858000" cy="9144000"/>
  <p:embeddedFontLst>
    <p:embeddedFont>
      <p:font typeface="Geo"/>
      <p:regular r:id="rId30"/>
      <p:italic r:id="rId31"/>
    </p:embeddedFont>
    <p:embeddedFont>
      <p:font typeface="League Spartan"/>
      <p:regular r:id="rId32"/>
      <p:bold r:id="rId33"/>
    </p:embeddedFont>
    <p:embeddedFont>
      <p:font typeface="DM Sans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ilqM+Pg5jMgwfO8c3Yy37o8KJI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eo-italic.fntdata"/><Relationship Id="rId30" Type="http://schemas.openxmlformats.org/officeDocument/2006/relationships/font" Target="fonts/Geo-regular.fntdata"/><Relationship Id="rId11" Type="http://schemas.openxmlformats.org/officeDocument/2006/relationships/slide" Target="slides/slide6.xml"/><Relationship Id="rId33" Type="http://schemas.openxmlformats.org/officeDocument/2006/relationships/font" Target="fonts/LeagueSpartan-bold.fntdata"/><Relationship Id="rId10" Type="http://schemas.openxmlformats.org/officeDocument/2006/relationships/slide" Target="slides/slide5.xml"/><Relationship Id="rId32" Type="http://schemas.openxmlformats.org/officeDocument/2006/relationships/font" Target="fonts/LeagueSpartan-regular.fntdata"/><Relationship Id="rId13" Type="http://schemas.openxmlformats.org/officeDocument/2006/relationships/slide" Target="slides/slide8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7.xml"/><Relationship Id="rId34" Type="http://schemas.openxmlformats.org/officeDocument/2006/relationships/font" Target="fonts/DM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1e6175c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1e6175c1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1e6175c1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c1e6175c1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1e6175c1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c1e6175c13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7452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0813168" y="2130156"/>
            <a:ext cx="7106185" cy="1051990"/>
            <a:chOff x="0" y="-47625"/>
            <a:chExt cx="1871588" cy="277067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 txBox="1"/>
          <p:nvPr/>
        </p:nvSpPr>
        <p:spPr>
          <a:xfrm>
            <a:off x="1355851" y="4405750"/>
            <a:ext cx="15576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9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616001" y="5740550"/>
            <a:ext cx="1419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0955017" y="2452078"/>
            <a:ext cx="195500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/>
          </a:p>
        </p:txBody>
      </p:sp>
      <p:grpSp>
        <p:nvGrpSpPr>
          <p:cNvPr id="91" name="Google Shape;91;p1"/>
          <p:cNvGrpSpPr/>
          <p:nvPr/>
        </p:nvGrpSpPr>
        <p:grpSpPr>
          <a:xfrm>
            <a:off x="10813168" y="2966577"/>
            <a:ext cx="7106185" cy="976041"/>
            <a:chOff x="0" y="-47625"/>
            <a:chExt cx="1871588" cy="257064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1871588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10955017" y="3249736"/>
            <a:ext cx="259749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/>
          </a:p>
        </p:txBody>
      </p:sp>
      <p:cxnSp>
        <p:nvCxnSpPr>
          <p:cNvPr id="95" name="Google Shape;95;p1"/>
          <p:cNvCxnSpPr/>
          <p:nvPr/>
        </p:nvCxnSpPr>
        <p:spPr>
          <a:xfrm>
            <a:off x="13705893" y="2326478"/>
            <a:ext cx="0" cy="1554875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"/>
          <p:cNvSpPr txBox="1"/>
          <p:nvPr/>
        </p:nvSpPr>
        <p:spPr>
          <a:xfrm>
            <a:off x="13705893" y="2451289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28/01/2026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3705893" y="3249736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8991600" cy="10287000"/>
          </a:xfrm>
          <a:custGeom>
            <a:rect b="b" l="l" r="r" t="t"/>
            <a:pathLst>
              <a:path extrusionOk="0" h="1184737" w="1035548">
                <a:moveTo>
                  <a:pt x="0" y="0"/>
                </a:moveTo>
                <a:lnTo>
                  <a:pt x="1035548" y="0"/>
                </a:lnTo>
                <a:lnTo>
                  <a:pt x="1035548" y="1184737"/>
                </a:lnTo>
                <a:lnTo>
                  <a:pt x="0" y="118473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7" l="0" r="0" t="-377"/>
            </a:stretch>
          </a:blipFill>
          <a:ln>
            <a:noFill/>
          </a:ln>
        </p:spPr>
      </p:sp>
      <p:sp>
        <p:nvSpPr>
          <p:cNvPr id="103" name="Google Shape;103;p2"/>
          <p:cNvSpPr txBox="1"/>
          <p:nvPr/>
        </p:nvSpPr>
        <p:spPr>
          <a:xfrm>
            <a:off x="10041793" y="1363594"/>
            <a:ext cx="62805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864" u="none" cap="none" strike="noStrike">
                <a:solidFill>
                  <a:srgbClr val="FFFFFF"/>
                </a:solidFill>
              </a:rPr>
              <a:t>Seminario de Sistemas 2 — Sección P</a:t>
            </a:r>
            <a:endParaRPr/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64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10041793" y="3605207"/>
            <a:ext cx="6886575" cy="2225584"/>
            <a:chOff x="0" y="200025"/>
            <a:chExt cx="9182100" cy="2967445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0" y="200025"/>
              <a:ext cx="9182100" cy="21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0499" u="none" cap="none" strike="noStrike">
                  <a:solidFill>
                    <a:srgbClr val="FFFFFF"/>
                  </a:solidFill>
                </a:rPr>
                <a:t>Unidad 1</a:t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2371815"/>
              <a:ext cx="9172670" cy="795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Fundamentos de BI y OLAP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g3c1e6175c13_0_13"/>
          <p:cNvGrpSpPr/>
          <p:nvPr/>
        </p:nvGrpSpPr>
        <p:grpSpPr>
          <a:xfrm>
            <a:off x="432743" y="453557"/>
            <a:ext cx="16488650" cy="4996042"/>
            <a:chOff x="-12812067" y="-4002175"/>
            <a:chExt cx="21984867" cy="6661390"/>
          </a:xfrm>
        </p:grpSpPr>
        <p:sp>
          <p:nvSpPr>
            <p:cNvPr id="112" name="Google Shape;112;g3c1e6175c13_0_13"/>
            <p:cNvSpPr txBox="1"/>
            <p:nvPr/>
          </p:nvSpPr>
          <p:spPr>
            <a:xfrm>
              <a:off x="-12812067" y="-4002175"/>
              <a:ext cx="91821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c1e6175c13_0_13"/>
            <p:cNvSpPr txBox="1"/>
            <p:nvPr/>
          </p:nvSpPr>
          <p:spPr>
            <a:xfrm>
              <a:off x="0" y="2371815"/>
              <a:ext cx="91728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4" name="Google Shape;114;g3c1e6175c13_0_13" title="Arquitectura de la cl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163" y="1974500"/>
            <a:ext cx="13901674" cy="766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c1e6175c13_0_13"/>
          <p:cNvSpPr txBox="1"/>
          <p:nvPr/>
        </p:nvSpPr>
        <p:spPr>
          <a:xfrm>
            <a:off x="0" y="0"/>
            <a:ext cx="18288000" cy="180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99">
                <a:solidFill>
                  <a:schemeClr val="lt1"/>
                </a:solidFill>
              </a:rPr>
              <a:t>Arquitectura de la clase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/>
        </p:nvSpPr>
        <p:spPr>
          <a:xfrm>
            <a:off x="1202255" y="1394248"/>
            <a:ext cx="575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</a:rPr>
              <a:t>Agenda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419230" y="2471665"/>
            <a:ext cx="10529700" cy="6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BUSINESS INTELLIGENCE?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TIPOS DE INFORMACIÓN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NIVELES DE MADUREZ ANALÍTICA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DATOS PARA LA TOMA DE DECISIONES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INTRODUCCIÓN A OLAP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VENTAJAS DEL ANÁLISIS MULTIDIMENSIONAL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RECESO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DEMOSTRACIÓN</a:t>
            </a: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CUBO OLAP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HOJA DE TRABAJO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lemento visual decorativo abstracto" id="126" name="Google Shape;126;p4"/>
          <p:cNvSpPr/>
          <p:nvPr/>
        </p:nvSpPr>
        <p:spPr>
          <a:xfrm>
            <a:off x="0" y="0"/>
            <a:ext cx="18745200" cy="18288000"/>
          </a:xfrm>
          <a:custGeom>
            <a:rect b="b" l="l" r="r" t="t"/>
            <a:pathLst>
              <a:path extrusionOk="0"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999"/>
            </a:blip>
            <a:stretch>
              <a:fillRect b="-7634" l="0" r="0" t="-7635"/>
            </a:stretch>
          </a:blipFill>
          <a:ln>
            <a:noFill/>
          </a:ln>
        </p:spPr>
      </p:sp>
      <p:sp>
        <p:nvSpPr>
          <p:cNvPr id="127" name="Google Shape;127;p4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FFFFFF"/>
                </a:solidFill>
              </a:rPr>
              <a:t>¿Qué es Business Intelligence?</a:t>
            </a:r>
            <a:endParaRPr/>
          </a:p>
        </p:txBody>
      </p:sp>
      <p:grpSp>
        <p:nvGrpSpPr>
          <p:cNvPr id="128" name="Google Shape;128;p4"/>
          <p:cNvGrpSpPr/>
          <p:nvPr/>
        </p:nvGrpSpPr>
        <p:grpSpPr>
          <a:xfrm>
            <a:off x="988925" y="4212431"/>
            <a:ext cx="4314825" cy="3480375"/>
            <a:chOff x="0" y="-47625"/>
            <a:chExt cx="5753100" cy="4640500"/>
          </a:xfrm>
        </p:grpSpPr>
        <p:sp>
          <p:nvSpPr>
            <p:cNvPr id="129" name="Google Shape;129;p4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Business Intelligence (BI) se refiere a un conjunto de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capacidades integradas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que permiten acceder, integrar y analizar datos para transformar estos en información valiosa para la toma de decisiones.</a:t>
              </a:r>
              <a:endParaRPr/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CAPACIDADES DE BI</a:t>
              </a:r>
              <a:endParaRPr/>
            </a:p>
          </p:txBody>
        </p:sp>
      </p:grpSp>
      <p:grpSp>
        <p:nvGrpSpPr>
          <p:cNvPr id="131" name="Google Shape;131;p4"/>
          <p:cNvGrpSpPr/>
          <p:nvPr/>
        </p:nvGrpSpPr>
        <p:grpSpPr>
          <a:xfrm>
            <a:off x="6742025" y="4212431"/>
            <a:ext cx="4314825" cy="3932625"/>
            <a:chOff x="0" y="-47625"/>
            <a:chExt cx="5753100" cy="5243500"/>
          </a:xfrm>
        </p:grpSpPr>
        <p:sp>
          <p:nvSpPr>
            <p:cNvPr id="132" name="Google Shape;132;p4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implementación de BI mejora el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desempeño organizacional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al optimizar las decisiones estratégicas, facilitando el acceso a información relevante y actualizada que impulsa la acción efectiva.</a:t>
              </a: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MEJORA DE DECISIONES</a:t>
              </a:r>
              <a:endParaRPr/>
            </a:p>
          </p:txBody>
        </p:sp>
      </p:grpSp>
      <p:grpSp>
        <p:nvGrpSpPr>
          <p:cNvPr id="134" name="Google Shape;134;p4"/>
          <p:cNvGrpSpPr/>
          <p:nvPr/>
        </p:nvGrpSpPr>
        <p:grpSpPr>
          <a:xfrm>
            <a:off x="12495125" y="4212431"/>
            <a:ext cx="4314825" cy="3932625"/>
            <a:chOff x="0" y="-47625"/>
            <a:chExt cx="5753100" cy="5243500"/>
          </a:xfrm>
        </p:grpSpPr>
        <p:sp>
          <p:nvSpPr>
            <p:cNvPr id="135" name="Google Shape;135;p4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BI no es una única herramienta; abarca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datos, integración, almacenamiento, modelado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consumo de información, proporcionando un enfoque holístico para la analítica y los reportes dentro de la organización.</a:t>
              </a:r>
              <a:endParaRPr/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HERRAMIENTAS DE BI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1863222" y="1048063"/>
            <a:ext cx="14561555" cy="8190875"/>
          </a:xfrm>
          <a:custGeom>
            <a:rect b="b" l="l" r="r" t="t"/>
            <a:pathLst>
              <a:path extrusionOk="0" h="8190875" w="14561555">
                <a:moveTo>
                  <a:pt x="0" y="0"/>
                </a:moveTo>
                <a:lnTo>
                  <a:pt x="14561556" y="0"/>
                </a:lnTo>
                <a:lnTo>
                  <a:pt x="14561556" y="8190874"/>
                </a:lnTo>
                <a:lnTo>
                  <a:pt x="0" y="8190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c1e6175c13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363" y="1899963"/>
            <a:ext cx="16931275" cy="64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FFFFFF"/>
                </a:solidFill>
              </a:rPr>
              <a:t>Tipos de información para BI</a:t>
            </a:r>
            <a:endParaRPr/>
          </a:p>
        </p:txBody>
      </p:sp>
      <p:grpSp>
        <p:nvGrpSpPr>
          <p:cNvPr id="152" name="Google Shape;152;p6"/>
          <p:cNvGrpSpPr/>
          <p:nvPr/>
        </p:nvGrpSpPr>
        <p:grpSpPr>
          <a:xfrm>
            <a:off x="1158350" y="4212431"/>
            <a:ext cx="4314825" cy="3480375"/>
            <a:chOff x="0" y="-47625"/>
            <a:chExt cx="5753100" cy="4640500"/>
          </a:xfrm>
        </p:grpSpPr>
        <p:sp>
          <p:nvSpPr>
            <p:cNvPr id="153" name="Google Shape;153;p6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información estructurada se presenta en tablas, como datos de ventas e inventario, lo que facilita su análisis y búsqueda mediante consultas SQL y herramientas analíticas.</a:t>
              </a: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ESTRUCTURADA</a:t>
              </a:r>
              <a:endParaRPr/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6911450" y="4212431"/>
            <a:ext cx="4314825" cy="3480375"/>
            <a:chOff x="0" y="-47625"/>
            <a:chExt cx="5753100" cy="4640500"/>
          </a:xfrm>
        </p:grpSpPr>
        <p:sp>
          <p:nvSpPr>
            <p:cNvPr id="156" name="Google Shape;156;p6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Los datos semi-estructurados, como JSON, XML y logs, contienen etiquetas y estructuras que permiten cierta organización, pero no tienen un esquema fijo, lo que complica su análisis directo.</a:t>
              </a: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SEMI-ESTRUCTURADA</a:t>
              </a:r>
              <a:endParaRPr/>
            </a:p>
          </p:txBody>
        </p:sp>
      </p:grpSp>
      <p:grpSp>
        <p:nvGrpSpPr>
          <p:cNvPr id="158" name="Google Shape;158;p6"/>
          <p:cNvGrpSpPr/>
          <p:nvPr/>
        </p:nvGrpSpPr>
        <p:grpSpPr>
          <a:xfrm>
            <a:off x="12664550" y="4212431"/>
            <a:ext cx="4314825" cy="3932625"/>
            <a:chOff x="0" y="-47625"/>
            <a:chExt cx="5753100" cy="5243500"/>
          </a:xfrm>
        </p:grpSpPr>
        <p:sp>
          <p:nvSpPr>
            <p:cNvPr id="159" name="Google Shape;159;p6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información no estructurada incluye texto, imágenes, audio y correos, que carecen de un formato definido, requiriendo técnicas avanzadas de procesamiento para su análisis y extracción de insights.</a:t>
              </a: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NO ESTRUCTURADA</a:t>
              </a:r>
              <a:endParaRPr/>
            </a:p>
          </p:txBody>
        </p:sp>
      </p:grpSp>
      <p:sp>
        <p:nvSpPr>
          <p:cNvPr descr="Elemento visual decorativo abstracto" id="161" name="Google Shape;161;p6"/>
          <p:cNvSpPr/>
          <p:nvPr/>
        </p:nvSpPr>
        <p:spPr>
          <a:xfrm>
            <a:off x="14763750" y="381000"/>
            <a:ext cx="2667000" cy="2667000"/>
          </a:xfrm>
          <a:custGeom>
            <a:rect b="b" l="l" r="r" t="t"/>
            <a:pathLst>
              <a:path extrusionOk="0" h="2667000" w="2667000">
                <a:moveTo>
                  <a:pt x="0" y="0"/>
                </a:moveTo>
                <a:lnTo>
                  <a:pt x="2667000" y="0"/>
                </a:lnTo>
                <a:lnTo>
                  <a:pt x="2667000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999"/>
            </a:blip>
            <a:stretch>
              <a:fillRect b="-7634" l="0" r="0" t="-7635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FFFFFF"/>
                </a:solidFill>
              </a:rPr>
              <a:t>De datos a conocimiento (DIKW)</a:t>
            </a:r>
            <a:endParaRPr/>
          </a:p>
        </p:txBody>
      </p:sp>
      <p:grpSp>
        <p:nvGrpSpPr>
          <p:cNvPr id="167" name="Google Shape;167;p7"/>
          <p:cNvGrpSpPr/>
          <p:nvPr/>
        </p:nvGrpSpPr>
        <p:grpSpPr>
          <a:xfrm>
            <a:off x="1233488" y="4212431"/>
            <a:ext cx="4314825" cy="3480375"/>
            <a:chOff x="0" y="-47625"/>
            <a:chExt cx="5753100" cy="4640500"/>
          </a:xfrm>
        </p:grpSpPr>
        <p:sp>
          <p:nvSpPr>
            <p:cNvPr id="168" name="Google Shape;168;p7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Los datos son hechos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sin contexto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que, por sí solos, carecen de significado y no permiten tomar decisiones informadas, sirviendo como base para análisis posteriores.</a:t>
              </a:r>
              <a:endParaRPr/>
            </a:p>
          </p:txBody>
        </p:sp>
        <p:sp>
          <p:nvSpPr>
            <p:cNvPr id="169" name="Google Shape;169;p7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DATOS</a:t>
              </a:r>
              <a:endParaRPr/>
            </a:p>
          </p:txBody>
        </p:sp>
      </p:grpSp>
      <p:grpSp>
        <p:nvGrpSpPr>
          <p:cNvPr id="170" name="Google Shape;170;p7"/>
          <p:cNvGrpSpPr/>
          <p:nvPr/>
        </p:nvGrpSpPr>
        <p:grpSpPr>
          <a:xfrm>
            <a:off x="6986588" y="4212431"/>
            <a:ext cx="4314825" cy="3480375"/>
            <a:chOff x="0" y="-47625"/>
            <a:chExt cx="5753100" cy="4640500"/>
          </a:xfrm>
        </p:grpSpPr>
        <p:sp>
          <p:nvSpPr>
            <p:cNvPr id="171" name="Google Shape;171;p7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información surge cuando los datos son organizados y estructurados, permitiendo a los analistas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extraer significado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facilitar la comprensión de las tendencias y patrones relevantes.</a:t>
              </a:r>
              <a:endParaRPr/>
            </a:p>
          </p:txBody>
        </p:sp>
        <p:sp>
          <p:nvSpPr>
            <p:cNvPr id="172" name="Google Shape;172;p7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INFORMACIÓN</a:t>
              </a:r>
              <a:endParaRPr/>
            </a:p>
          </p:txBody>
        </p:sp>
      </p:grpSp>
      <p:grpSp>
        <p:nvGrpSpPr>
          <p:cNvPr id="173" name="Google Shape;173;p7"/>
          <p:cNvGrpSpPr/>
          <p:nvPr/>
        </p:nvGrpSpPr>
        <p:grpSpPr>
          <a:xfrm>
            <a:off x="12739688" y="4212431"/>
            <a:ext cx="4314825" cy="3932625"/>
            <a:chOff x="0" y="-47625"/>
            <a:chExt cx="5753100" cy="5243500"/>
          </a:xfrm>
        </p:grpSpPr>
        <p:sp>
          <p:nvSpPr>
            <p:cNvPr id="174" name="Google Shape;174;p7"/>
            <p:cNvSpPr txBox="1"/>
            <p:nvPr/>
          </p:nvSpPr>
          <p:spPr>
            <a:xfrm>
              <a:off x="0" y="1146175"/>
              <a:ext cx="5753100" cy="4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El conocimiento se forma a través de la interpretación de la información, combinando datos con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experiencia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para guiar acciones y decisiones estratégicas en el contexto adecuado.</a:t>
              </a:r>
              <a:endParaRPr/>
            </a:p>
          </p:txBody>
        </p:sp>
        <p:sp>
          <p:nvSpPr>
            <p:cNvPr id="175" name="Google Shape;175;p7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CONOCIMIENTO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705701" y="354765"/>
            <a:ext cx="16876598" cy="9577469"/>
          </a:xfrm>
          <a:custGeom>
            <a:rect b="b" l="l" r="r" t="t"/>
            <a:pathLst>
              <a:path extrusionOk="0" h="9577469" w="16876598">
                <a:moveTo>
                  <a:pt x="0" y="0"/>
                </a:moveTo>
                <a:lnTo>
                  <a:pt x="16876598" y="0"/>
                </a:lnTo>
                <a:lnTo>
                  <a:pt x="16876598" y="9577470"/>
                </a:lnTo>
                <a:lnTo>
                  <a:pt x="0" y="9577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FFFFFF"/>
                </a:solidFill>
              </a:rPr>
              <a:t>Datos para la Toma de Decisiones</a:t>
            </a:r>
            <a:endParaRPr/>
          </a:p>
        </p:txBody>
      </p:sp>
      <p:grpSp>
        <p:nvGrpSpPr>
          <p:cNvPr id="186" name="Google Shape;186;p9"/>
          <p:cNvGrpSpPr/>
          <p:nvPr/>
        </p:nvGrpSpPr>
        <p:grpSpPr>
          <a:xfrm>
            <a:off x="1233488" y="4198406"/>
            <a:ext cx="4314825" cy="3480375"/>
            <a:chOff x="0" y="-47625"/>
            <a:chExt cx="5753100" cy="4640500"/>
          </a:xfrm>
        </p:grpSpPr>
        <p:sp>
          <p:nvSpPr>
            <p:cNvPr id="187" name="Google Shape;187;p9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calidad de datos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se refiere a su exactitud, completitud, consistencia y oportunidad, asegurando que la información utilizada para decisiones sea confiable y útil.</a:t>
              </a:r>
              <a:endParaRPr/>
            </a:p>
          </p:txBody>
        </p:sp>
        <p:sp>
          <p:nvSpPr>
            <p:cNvPr id="188" name="Google Shape;188;p9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CALIDAD</a:t>
              </a:r>
              <a:endParaRPr/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6986588" y="4198406"/>
            <a:ext cx="4314825" cy="3480375"/>
            <a:chOff x="0" y="-47625"/>
            <a:chExt cx="5753100" cy="4640500"/>
          </a:xfrm>
        </p:grpSpPr>
        <p:sp>
          <p:nvSpPr>
            <p:cNvPr id="190" name="Google Shape;190;p9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trazabilidad de datos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implica conocer el origen de la información y las transformaciones que ha sufrido, lo cual es crucial para mantener la integridad de los datos.</a:t>
              </a:r>
              <a:endParaRPr/>
            </a:p>
          </p:txBody>
        </p:sp>
        <p:sp>
          <p:nvSpPr>
            <p:cNvPr id="191" name="Google Shape;191;p9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TRAZABILIDAD</a:t>
              </a:r>
              <a:endParaRPr/>
            </a:p>
          </p:txBody>
        </p:sp>
      </p:grpSp>
      <p:grpSp>
        <p:nvGrpSpPr>
          <p:cNvPr id="192" name="Google Shape;192;p9"/>
          <p:cNvGrpSpPr/>
          <p:nvPr/>
        </p:nvGrpSpPr>
        <p:grpSpPr>
          <a:xfrm>
            <a:off x="12739688" y="4198406"/>
            <a:ext cx="4314825" cy="3480375"/>
            <a:chOff x="0" y="-47625"/>
            <a:chExt cx="5753100" cy="4640500"/>
          </a:xfrm>
        </p:grpSpPr>
        <p:sp>
          <p:nvSpPr>
            <p:cNvPr id="193" name="Google Shape;193;p9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gobernanza de datos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se centra en establecer roles, reglas y un catálogo de métricas, lo cual es fundamental para gestionar y asegurar que los datos cumplan con estándares de calidad.</a:t>
              </a:r>
              <a:endParaRPr/>
            </a:p>
          </p:txBody>
        </p:sp>
        <p:sp>
          <p:nvSpPr>
            <p:cNvPr id="194" name="Google Shape;194;p9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GOBERNANZA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1863222" y="1048063"/>
            <a:ext cx="14561555" cy="8190875"/>
          </a:xfrm>
          <a:custGeom>
            <a:rect b="b" l="l" r="r" t="t"/>
            <a:pathLst>
              <a:path extrusionOk="0" h="8190875" w="14561555">
                <a:moveTo>
                  <a:pt x="0" y="0"/>
                </a:moveTo>
                <a:lnTo>
                  <a:pt x="14561556" y="0"/>
                </a:lnTo>
                <a:lnTo>
                  <a:pt x="14561556" y="8190874"/>
                </a:lnTo>
                <a:lnTo>
                  <a:pt x="0" y="8190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0"/>
          <p:cNvSpPr txBox="1"/>
          <p:nvPr/>
        </p:nvSpPr>
        <p:spPr>
          <a:xfrm>
            <a:off x="666750" y="733425"/>
            <a:ext cx="15821025" cy="114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Geo"/>
                <a:ea typeface="Geo"/>
                <a:cs typeface="Geo"/>
                <a:sym typeface="Geo"/>
              </a:rPr>
              <a:t>¿Qué es Business Intelligence?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/>
        </p:nvSpPr>
        <p:spPr>
          <a:xfrm>
            <a:off x="666750" y="1737800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FFFFFF"/>
                </a:solidFill>
              </a:rPr>
              <a:t>Niveles de madurez analítica</a:t>
            </a:r>
            <a:endParaRPr/>
          </a:p>
        </p:txBody>
      </p:sp>
      <p:grpSp>
        <p:nvGrpSpPr>
          <p:cNvPr id="206" name="Google Shape;206;p11"/>
          <p:cNvGrpSpPr/>
          <p:nvPr/>
        </p:nvGrpSpPr>
        <p:grpSpPr>
          <a:xfrm>
            <a:off x="1233488" y="4212431"/>
            <a:ext cx="4314825" cy="3027900"/>
            <a:chOff x="0" y="-47625"/>
            <a:chExt cx="5753100" cy="4037200"/>
          </a:xfrm>
        </p:grpSpPr>
        <p:sp>
          <p:nvSpPr>
            <p:cNvPr id="207" name="Google Shape;207;p11"/>
            <p:cNvSpPr txBox="1"/>
            <p:nvPr/>
          </p:nvSpPr>
          <p:spPr>
            <a:xfrm>
              <a:off x="0" y="1146175"/>
              <a:ext cx="5753100" cy="28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Este nivel responde a la pregunta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¿Qué pasó?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a través de reportes y tableros, proporcionando una visión clara de los indicadores clave de rendimiento (KPI).</a:t>
              </a:r>
              <a:endParaRPr/>
            </a:p>
          </p:txBody>
        </p:sp>
        <p:sp>
          <p:nvSpPr>
            <p:cNvPr id="208" name="Google Shape;208;p11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DESCRIPTIVO</a:t>
              </a:r>
              <a:endParaRPr/>
            </a:p>
          </p:txBody>
        </p:sp>
      </p:grpSp>
      <p:grpSp>
        <p:nvGrpSpPr>
          <p:cNvPr id="209" name="Google Shape;209;p11"/>
          <p:cNvGrpSpPr/>
          <p:nvPr/>
        </p:nvGrpSpPr>
        <p:grpSpPr>
          <a:xfrm>
            <a:off x="6986588" y="4212431"/>
            <a:ext cx="4314825" cy="3480375"/>
            <a:chOff x="0" y="-47625"/>
            <a:chExt cx="5753100" cy="4640500"/>
          </a:xfrm>
        </p:grpSpPr>
        <p:sp>
          <p:nvSpPr>
            <p:cNvPr id="210" name="Google Shape;210;p11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En este segundo nivel, se investiga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¿por qué pasó</a:t>
              </a:r>
              <a:r>
                <a:rPr b="1" lang="en-US" sz="20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?, analizando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causas y realizando segmentaciones, permitiendo a las organizaciones entender mejor los eventos y tendencias pasadas.</a:t>
              </a:r>
              <a:endParaRPr/>
            </a:p>
          </p:txBody>
        </p:sp>
        <p:sp>
          <p:nvSpPr>
            <p:cNvPr id="211" name="Google Shape;211;p11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DIAGNÓSTICO</a:t>
              </a:r>
              <a:endParaRPr/>
            </a:p>
          </p:txBody>
        </p:sp>
      </p:grpSp>
      <p:grpSp>
        <p:nvGrpSpPr>
          <p:cNvPr id="212" name="Google Shape;212;p11"/>
          <p:cNvGrpSpPr/>
          <p:nvPr/>
        </p:nvGrpSpPr>
        <p:grpSpPr>
          <a:xfrm>
            <a:off x="12739688" y="4212431"/>
            <a:ext cx="4314825" cy="3480375"/>
            <a:chOff x="0" y="-47625"/>
            <a:chExt cx="5753100" cy="4640500"/>
          </a:xfrm>
        </p:grpSpPr>
        <p:sp>
          <p:nvSpPr>
            <p:cNvPr id="213" name="Google Shape;213;p11"/>
            <p:cNvSpPr txBox="1"/>
            <p:nvPr/>
          </p:nvSpPr>
          <p:spPr>
            <a:xfrm>
              <a:off x="0" y="1146175"/>
              <a:ext cx="5753100" cy="34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Aquí se formula la pregunta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¿Qué podría pasar?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, utilizando modelos de pronósticos y análisis de tendencias para anticipar futuros comportamientos y resultados en la toma de decisiones.</a:t>
              </a:r>
              <a:endParaRPr/>
            </a:p>
          </p:txBody>
        </p:sp>
        <p:sp>
          <p:nvSpPr>
            <p:cNvPr id="214" name="Google Shape;214;p11"/>
            <p:cNvSpPr txBox="1"/>
            <p:nvPr/>
          </p:nvSpPr>
          <p:spPr>
            <a:xfrm>
              <a:off x="0" y="-47625"/>
              <a:ext cx="575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PREDICTIVO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/>
          <p:nvPr/>
        </p:nvSpPr>
        <p:spPr>
          <a:xfrm>
            <a:off x="2093053" y="287160"/>
            <a:ext cx="14101894" cy="9712680"/>
          </a:xfrm>
          <a:custGeom>
            <a:rect b="b" l="l" r="r" t="t"/>
            <a:pathLst>
              <a:path extrusionOk="0" h="9712680" w="14101894">
                <a:moveTo>
                  <a:pt x="0" y="0"/>
                </a:moveTo>
                <a:lnTo>
                  <a:pt x="14101894" y="0"/>
                </a:lnTo>
                <a:lnTo>
                  <a:pt x="14101894" y="9712680"/>
                </a:lnTo>
                <a:lnTo>
                  <a:pt x="0" y="9712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FFFFFF"/>
                </a:solidFill>
              </a:rPr>
              <a:t>Introducción a OLAP y su uso</a:t>
            </a:r>
            <a:endParaRPr/>
          </a:p>
        </p:txBody>
      </p:sp>
      <p:grpSp>
        <p:nvGrpSpPr>
          <p:cNvPr id="225" name="Google Shape;225;p13"/>
          <p:cNvGrpSpPr/>
          <p:nvPr/>
        </p:nvGrpSpPr>
        <p:grpSpPr>
          <a:xfrm>
            <a:off x="666750" y="4212431"/>
            <a:ext cx="4314825" cy="3427711"/>
            <a:chOff x="0" y="-47625"/>
            <a:chExt cx="5753100" cy="4570281"/>
          </a:xfrm>
        </p:grpSpPr>
        <p:sp>
          <p:nvSpPr>
            <p:cNvPr id="226" name="Google Shape;226;p13"/>
            <p:cNvSpPr txBox="1"/>
            <p:nvPr/>
          </p:nvSpPr>
          <p:spPr>
            <a:xfrm>
              <a:off x="0" y="1146175"/>
              <a:ext cx="5753100" cy="3376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OLAP (Procesamiento Analítico en Línea) permite realizar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consultas complejas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sobre grandes volúmenes de datos, habilitando análisis multidimensionales que son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altamente eficientes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rápidos.</a:t>
              </a:r>
              <a:endParaRPr/>
            </a:p>
          </p:txBody>
        </p:sp>
        <p:sp>
          <p:nvSpPr>
            <p:cNvPr id="227" name="Google Shape;227;p13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¿QUÉ ES OLAP?</a:t>
              </a:r>
              <a:endParaRPr/>
            </a:p>
          </p:txBody>
        </p:sp>
      </p:grpSp>
      <p:grpSp>
        <p:nvGrpSpPr>
          <p:cNvPr id="228" name="Google Shape;228;p13"/>
          <p:cNvGrpSpPr/>
          <p:nvPr/>
        </p:nvGrpSpPr>
        <p:grpSpPr>
          <a:xfrm>
            <a:off x="6419850" y="4212431"/>
            <a:ext cx="4314825" cy="3063428"/>
            <a:chOff x="0" y="-47625"/>
            <a:chExt cx="5753100" cy="4084570"/>
          </a:xfrm>
        </p:grpSpPr>
        <p:sp>
          <p:nvSpPr>
            <p:cNvPr id="229" name="Google Shape;229;p13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En OLAP, los datos se organizan como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cubos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que integran dimensiones y medidas, permitiendo a los usuarios explorar información de manera intuitiva y dinámica.</a:t>
              </a:r>
              <a:endParaRPr/>
            </a:p>
          </p:txBody>
        </p:sp>
        <p:sp>
          <p:nvSpPr>
            <p:cNvPr id="230" name="Google Shape;230;p13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MODELO DE CUBO</a:t>
              </a:r>
              <a:endParaRPr/>
            </a:p>
          </p:txBody>
        </p:sp>
      </p:grpSp>
      <p:grpSp>
        <p:nvGrpSpPr>
          <p:cNvPr id="231" name="Google Shape;231;p13"/>
          <p:cNvGrpSpPr/>
          <p:nvPr/>
        </p:nvGrpSpPr>
        <p:grpSpPr>
          <a:xfrm>
            <a:off x="12172950" y="4212431"/>
            <a:ext cx="4314825" cy="3063428"/>
            <a:chOff x="0" y="-47625"/>
            <a:chExt cx="5753100" cy="4084570"/>
          </a:xfrm>
        </p:grpSpPr>
        <p:sp>
          <p:nvSpPr>
            <p:cNvPr id="232" name="Google Shape;232;p13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Las dimensiones en OLAP, como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Tiempo, Región y Producto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, permiten realizar análisis detallados mediante jerarquías, facilitando 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navegación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comprensión de los datos.</a:t>
              </a:r>
              <a:endParaRPr/>
            </a:p>
          </p:txBody>
        </p:sp>
        <p:sp>
          <p:nvSpPr>
            <p:cNvPr id="233" name="Google Shape;233;p13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DIMENSIONES CLAVE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0" y="0"/>
            <a:ext cx="18301056" cy="11506789"/>
          </a:xfrm>
          <a:custGeom>
            <a:rect b="b" l="l" r="r" t="t"/>
            <a:pathLst>
              <a:path extrusionOk="0" h="11506789" w="18301056">
                <a:moveTo>
                  <a:pt x="0" y="0"/>
                </a:moveTo>
                <a:lnTo>
                  <a:pt x="18301056" y="0"/>
                </a:lnTo>
                <a:lnTo>
                  <a:pt x="18301056" y="11506789"/>
                </a:lnTo>
                <a:lnTo>
                  <a:pt x="0" y="11506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 txBox="1"/>
          <p:nvPr/>
        </p:nvSpPr>
        <p:spPr>
          <a:xfrm>
            <a:off x="875995" y="2467610"/>
            <a:ext cx="7511100" cy="51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833" u="none" cap="none" strike="noStrike">
                <a:solidFill>
                  <a:srgbClr val="FFFFFF"/>
                </a:solidFill>
              </a:rPr>
              <a:t>Modelo multidimensional y operaciones OLAP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9463796" y="3393276"/>
            <a:ext cx="7191375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Los hechos son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métricas clave</a:t>
            </a: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representan datos cuantificables, como ventas, que se utilizan para medir el desempeño de una empresa en diferentes dimensiones.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9463796" y="2563966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HECHOS Y MÉTRICAS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9463796" y="6351344"/>
            <a:ext cx="7191375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Las dimensiones, como tiempo, tienda, producto y cliente, permiten un análisis profundo y estructurado, facilitando la exploración de datos desde múltiples perspectivas y niveles de detalle.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9463796" y="5518768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DIMENSIONES Y ANÁLISIS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/>
          <p:nvPr/>
        </p:nvSpPr>
        <p:spPr>
          <a:xfrm>
            <a:off x="5331589" y="0"/>
            <a:ext cx="7624823" cy="10287000"/>
          </a:xfrm>
          <a:custGeom>
            <a:rect b="b" l="l" r="r" t="t"/>
            <a:pathLst>
              <a:path extrusionOk="0" h="10287000" w="7624823">
                <a:moveTo>
                  <a:pt x="0" y="0"/>
                </a:moveTo>
                <a:lnTo>
                  <a:pt x="7624822" y="0"/>
                </a:lnTo>
                <a:lnTo>
                  <a:pt x="76248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 txBox="1"/>
          <p:nvPr/>
        </p:nvSpPr>
        <p:spPr>
          <a:xfrm>
            <a:off x="666750" y="733425"/>
            <a:ext cx="158211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FFFFFF"/>
                </a:solidFill>
              </a:rPr>
              <a:t>Ventajas del análisis multidimensional</a:t>
            </a:r>
            <a:endParaRPr/>
          </a:p>
        </p:txBody>
      </p:sp>
      <p:grpSp>
        <p:nvGrpSpPr>
          <p:cNvPr id="258" name="Google Shape;258;p17"/>
          <p:cNvGrpSpPr/>
          <p:nvPr/>
        </p:nvGrpSpPr>
        <p:grpSpPr>
          <a:xfrm>
            <a:off x="666750" y="4212431"/>
            <a:ext cx="4314825" cy="3063428"/>
            <a:chOff x="0" y="-47625"/>
            <a:chExt cx="5753100" cy="4084570"/>
          </a:xfrm>
        </p:grpSpPr>
        <p:sp>
          <p:nvSpPr>
            <p:cNvPr id="259" name="Google Shape;259;p17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Las estructuras optimizadas y las pre-agregaciones permiten consultas más rápidas, reduciendo el tiempo de respuesta y mejorando la experiencia del usuario en el análisis de datos.</a:t>
              </a:r>
              <a:endParaRPr/>
            </a:p>
          </p:txBody>
        </p:sp>
        <p:sp>
          <p:nvSpPr>
            <p:cNvPr id="260" name="Google Shape;260;p17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RAPIDEZ EN ANÁLISIS</a:t>
              </a:r>
              <a:endParaRPr/>
            </a:p>
          </p:txBody>
        </p:sp>
      </p:grpSp>
      <p:grpSp>
        <p:nvGrpSpPr>
          <p:cNvPr id="261" name="Google Shape;261;p17"/>
          <p:cNvGrpSpPr/>
          <p:nvPr/>
        </p:nvGrpSpPr>
        <p:grpSpPr>
          <a:xfrm>
            <a:off x="6419850" y="4212431"/>
            <a:ext cx="4314825" cy="3427711"/>
            <a:chOff x="0" y="-47625"/>
            <a:chExt cx="5753100" cy="4570281"/>
          </a:xfrm>
        </p:grpSpPr>
        <p:sp>
          <p:nvSpPr>
            <p:cNvPr id="262" name="Google Shape;262;p17"/>
            <p:cNvSpPr txBox="1"/>
            <p:nvPr/>
          </p:nvSpPr>
          <p:spPr>
            <a:xfrm>
              <a:off x="0" y="1146175"/>
              <a:ext cx="5753100" cy="3376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capacidad de navegar por jerarquías mediante operaciones como drill-down y roll-up facilita el desglose y resumen de datos, permitiendo a los usuarios explorar información de manera dinámica.</a:t>
              </a:r>
              <a:endParaRPr/>
            </a:p>
          </p:txBody>
        </p:sp>
        <p:sp>
          <p:nvSpPr>
            <p:cNvPr id="263" name="Google Shape;263;p17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NAVEGACIÓN EFICIENTE</a:t>
              </a:r>
              <a:endParaRPr/>
            </a:p>
          </p:txBody>
        </p:sp>
      </p:grpSp>
      <p:grpSp>
        <p:nvGrpSpPr>
          <p:cNvPr id="264" name="Google Shape;264;p17"/>
          <p:cNvGrpSpPr/>
          <p:nvPr/>
        </p:nvGrpSpPr>
        <p:grpSpPr>
          <a:xfrm>
            <a:off x="12172950" y="4212431"/>
            <a:ext cx="4314825" cy="3063428"/>
            <a:chOff x="0" y="-47625"/>
            <a:chExt cx="5753100" cy="4084570"/>
          </a:xfrm>
        </p:grpSpPr>
        <p:sp>
          <p:nvSpPr>
            <p:cNvPr id="265" name="Google Shape;265;p17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 implementación de una capa semántica asegura que los KPI sean consistentes en toda la organización, proporcionando una visión clara y unificada que ayuda en la toma de decisiones.</a:t>
              </a:r>
              <a:endParaRPr/>
            </a:p>
          </p:txBody>
        </p:sp>
        <p:sp>
          <p:nvSpPr>
            <p:cNvPr id="266" name="Google Shape;266;p17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CONSISTENCIA EN KPI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FFFFFF"/>
                </a:solidFill>
              </a:rPr>
              <a:t>Cierre: Checklist para Iniciativas BI</a:t>
            </a:r>
            <a:endParaRPr/>
          </a:p>
        </p:txBody>
      </p:sp>
      <p:grpSp>
        <p:nvGrpSpPr>
          <p:cNvPr id="272" name="Google Shape;272;p18"/>
          <p:cNvGrpSpPr/>
          <p:nvPr/>
        </p:nvGrpSpPr>
        <p:grpSpPr>
          <a:xfrm>
            <a:off x="666750" y="4212431"/>
            <a:ext cx="4314825" cy="3063428"/>
            <a:chOff x="0" y="-47625"/>
            <a:chExt cx="5753100" cy="4084570"/>
          </a:xfrm>
        </p:grpSpPr>
        <p:sp>
          <p:nvSpPr>
            <p:cNvPr id="273" name="Google Shape;273;p18"/>
            <p:cNvSpPr txBox="1"/>
            <p:nvPr/>
          </p:nvSpPr>
          <p:spPr>
            <a:xfrm>
              <a:off x="0" y="11461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Antes de diseñar reportes, es crucial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definir preguntas de negocio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los KPI relevantes. Esto asegura que los informes sean útiles y alineados con los objetivos estratégicos.</a:t>
              </a:r>
              <a:endParaRPr/>
            </a:p>
          </p:txBody>
        </p:sp>
        <p:sp>
          <p:nvSpPr>
            <p:cNvPr id="274" name="Google Shape;274;p18"/>
            <p:cNvSpPr txBox="1"/>
            <p:nvPr/>
          </p:nvSpPr>
          <p:spPr>
            <a:xfrm>
              <a:off x="0" y="-47625"/>
              <a:ext cx="5753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DEFINICIÓN DE KPI</a:t>
              </a:r>
              <a:endParaRPr/>
            </a:p>
          </p:txBody>
        </p:sp>
      </p:grpSp>
      <p:grpSp>
        <p:nvGrpSpPr>
          <p:cNvPr id="275" name="Google Shape;275;p18"/>
          <p:cNvGrpSpPr/>
          <p:nvPr/>
        </p:nvGrpSpPr>
        <p:grpSpPr>
          <a:xfrm>
            <a:off x="6419850" y="4212431"/>
            <a:ext cx="4314825" cy="3884911"/>
            <a:chOff x="0" y="-47625"/>
            <a:chExt cx="5753100" cy="5179881"/>
          </a:xfrm>
        </p:grpSpPr>
        <p:sp>
          <p:nvSpPr>
            <p:cNvPr id="276" name="Google Shape;276;p18"/>
            <p:cNvSpPr txBox="1"/>
            <p:nvPr/>
          </p:nvSpPr>
          <p:spPr>
            <a:xfrm>
              <a:off x="0" y="1755775"/>
              <a:ext cx="5753100" cy="3376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Garantizar la calidad de los datos es esencial. Esto incluye la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creación de un catálogo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y la definición de métricas estándar para proporcionar datos consistentes y confiables en la toma de decisiones.</a:t>
              </a:r>
              <a:endParaRPr/>
            </a:p>
          </p:txBody>
        </p:sp>
        <p:sp>
          <p:nvSpPr>
            <p:cNvPr id="277" name="Google Shape;277;p18"/>
            <p:cNvSpPr txBox="1"/>
            <p:nvPr/>
          </p:nvSpPr>
          <p:spPr>
            <a:xfrm>
              <a:off x="0" y="-47625"/>
              <a:ext cx="5753100" cy="1178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ASEGURAMIENTO DE CALIDAD</a:t>
              </a:r>
              <a:endParaRPr/>
            </a:p>
          </p:txBody>
        </p:sp>
      </p:grpSp>
      <p:grpSp>
        <p:nvGrpSpPr>
          <p:cNvPr id="278" name="Google Shape;278;p18"/>
          <p:cNvGrpSpPr/>
          <p:nvPr/>
        </p:nvGrpSpPr>
        <p:grpSpPr>
          <a:xfrm>
            <a:off x="12172950" y="4212431"/>
            <a:ext cx="4314825" cy="3520628"/>
            <a:chOff x="0" y="-47625"/>
            <a:chExt cx="5753100" cy="4694170"/>
          </a:xfrm>
        </p:grpSpPr>
        <p:sp>
          <p:nvSpPr>
            <p:cNvPr id="279" name="Google Shape;279;p18"/>
            <p:cNvSpPr txBox="1"/>
            <p:nvPr/>
          </p:nvSpPr>
          <p:spPr>
            <a:xfrm>
              <a:off x="0" y="1755775"/>
              <a:ext cx="5753100" cy="2890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Al modelar dimensiones y jerarquías, es importante </a:t>
              </a:r>
              <a:r>
                <a:rPr b="1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pensar en el usuario</a:t>
              </a:r>
              <a:r>
                <a:rPr b="0" i="0" lang="en-US" sz="20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final. Esto facilita la comprensión y el uso de los datos, mejorando la experiencia de análisis y la efectividad de BI.</a:t>
              </a:r>
              <a:endParaRPr/>
            </a:p>
          </p:txBody>
        </p:sp>
        <p:sp>
          <p:nvSpPr>
            <p:cNvPr id="280" name="Google Shape;280;p18"/>
            <p:cNvSpPr txBox="1"/>
            <p:nvPr/>
          </p:nvSpPr>
          <p:spPr>
            <a:xfrm>
              <a:off x="0" y="-47625"/>
              <a:ext cx="5753100" cy="1178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MODELADO DE DIMENSIONES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/>
          <p:nvPr/>
        </p:nvSpPr>
        <p:spPr>
          <a:xfrm>
            <a:off x="10734675" y="0"/>
            <a:ext cx="7553325" cy="10287000"/>
          </a:xfrm>
          <a:custGeom>
            <a:rect b="b" l="l" r="r" t="t"/>
            <a:pathLst>
              <a:path extrusionOk="0" h="1593725" w="1170208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" l="0" r="0" t="-204"/>
            </a:stretch>
          </a:blipFill>
          <a:ln>
            <a:noFill/>
          </a:ln>
        </p:spPr>
      </p:sp>
      <p:grpSp>
        <p:nvGrpSpPr>
          <p:cNvPr id="286" name="Google Shape;286;p19"/>
          <p:cNvGrpSpPr/>
          <p:nvPr/>
        </p:nvGrpSpPr>
        <p:grpSpPr>
          <a:xfrm>
            <a:off x="3543300" y="7793831"/>
            <a:ext cx="5448300" cy="1754079"/>
            <a:chOff x="0" y="-47625"/>
            <a:chExt cx="7264400" cy="2338772"/>
          </a:xfrm>
        </p:grpSpPr>
        <p:sp>
          <p:nvSpPr>
            <p:cNvPr id="287" name="Google Shape;287;p19"/>
            <p:cNvSpPr txBox="1"/>
            <p:nvPr/>
          </p:nvSpPr>
          <p:spPr>
            <a:xfrm>
              <a:off x="0" y="1343220"/>
              <a:ext cx="7264400" cy="94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9"/>
            <p:cNvSpPr txBox="1"/>
            <p:nvPr/>
          </p:nvSpPr>
          <p:spPr>
            <a:xfrm>
              <a:off x="0" y="-47625"/>
              <a:ext cx="7264400" cy="1182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19"/>
          <p:cNvGrpSpPr/>
          <p:nvPr/>
        </p:nvGrpSpPr>
        <p:grpSpPr>
          <a:xfrm>
            <a:off x="3543300" y="6003131"/>
            <a:ext cx="5448300" cy="1754079"/>
            <a:chOff x="0" y="-47625"/>
            <a:chExt cx="7264400" cy="2338772"/>
          </a:xfrm>
        </p:grpSpPr>
        <p:sp>
          <p:nvSpPr>
            <p:cNvPr id="290" name="Google Shape;290;p19"/>
            <p:cNvSpPr txBox="1"/>
            <p:nvPr/>
          </p:nvSpPr>
          <p:spPr>
            <a:xfrm>
              <a:off x="0" y="1343220"/>
              <a:ext cx="7264400" cy="94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9"/>
            <p:cNvSpPr txBox="1"/>
            <p:nvPr/>
          </p:nvSpPr>
          <p:spPr>
            <a:xfrm>
              <a:off x="0" y="-47625"/>
              <a:ext cx="7264400" cy="1182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19"/>
          <p:cNvGrpSpPr/>
          <p:nvPr/>
        </p:nvGrpSpPr>
        <p:grpSpPr>
          <a:xfrm>
            <a:off x="3543300" y="4212431"/>
            <a:ext cx="5448300" cy="1754079"/>
            <a:chOff x="0" y="-47625"/>
            <a:chExt cx="7264400" cy="2338772"/>
          </a:xfrm>
        </p:grpSpPr>
        <p:sp>
          <p:nvSpPr>
            <p:cNvPr id="293" name="Google Shape;293;p19"/>
            <p:cNvSpPr txBox="1"/>
            <p:nvPr/>
          </p:nvSpPr>
          <p:spPr>
            <a:xfrm>
              <a:off x="0" y="1343220"/>
              <a:ext cx="7264400" cy="947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9"/>
            <p:cNvSpPr txBox="1"/>
            <p:nvPr/>
          </p:nvSpPr>
          <p:spPr>
            <a:xfrm>
              <a:off x="0" y="-47625"/>
              <a:ext cx="7264400" cy="1182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9"/>
          <p:cNvSpPr txBox="1"/>
          <p:nvPr/>
        </p:nvSpPr>
        <p:spPr>
          <a:xfrm>
            <a:off x="541203" y="4199453"/>
            <a:ext cx="9763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600" u="none" cap="none" strike="noStrike">
                <a:solidFill>
                  <a:srgbClr val="FFFFFF"/>
                </a:solidFill>
              </a:rPr>
              <a:t>Gracias por su atención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/>
          <p:nvPr/>
        </p:nvSpPr>
        <p:spPr>
          <a:xfrm>
            <a:off x="12915922" y="4391572"/>
            <a:ext cx="4866728" cy="4866728"/>
          </a:xfrm>
          <a:custGeom>
            <a:rect b="b" l="l" r="r" t="t"/>
            <a:pathLst>
              <a:path extrusionOk="0" h="4866728" w="4866728">
                <a:moveTo>
                  <a:pt x="0" y="0"/>
                </a:moveTo>
                <a:lnTo>
                  <a:pt x="4866728" y="0"/>
                </a:lnTo>
                <a:lnTo>
                  <a:pt x="4866728" y="4866728"/>
                </a:lnTo>
                <a:lnTo>
                  <a:pt x="0" y="4866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20"/>
          <p:cNvSpPr/>
          <p:nvPr/>
        </p:nvSpPr>
        <p:spPr>
          <a:xfrm>
            <a:off x="1028700" y="5009671"/>
            <a:ext cx="11301259" cy="3630529"/>
          </a:xfrm>
          <a:custGeom>
            <a:rect b="b" l="l" r="r" t="t"/>
            <a:pathLst>
              <a:path extrusionOk="0" h="3630529" w="11301259">
                <a:moveTo>
                  <a:pt x="0" y="0"/>
                </a:moveTo>
                <a:lnTo>
                  <a:pt x="11301259" y="0"/>
                </a:lnTo>
                <a:lnTo>
                  <a:pt x="11301259" y="3630530"/>
                </a:lnTo>
                <a:lnTo>
                  <a:pt x="0" y="3630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20"/>
          <p:cNvSpPr txBox="1"/>
          <p:nvPr/>
        </p:nvSpPr>
        <p:spPr>
          <a:xfrm>
            <a:off x="1028700" y="1658462"/>
            <a:ext cx="13332314" cy="1276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2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Descanso de 5 minutos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1e6175c13_0_30"/>
          <p:cNvSpPr txBox="1"/>
          <p:nvPr/>
        </p:nvSpPr>
        <p:spPr>
          <a:xfrm>
            <a:off x="666750" y="733425"/>
            <a:ext cx="158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</a:rPr>
              <a:t>Metodología de enseñanza</a:t>
            </a:r>
            <a:endParaRPr/>
          </a:p>
        </p:txBody>
      </p:sp>
      <p:sp>
        <p:nvSpPr>
          <p:cNvPr id="308" name="Google Shape;308;g3c1e6175c13_0_30"/>
          <p:cNvSpPr txBox="1"/>
          <p:nvPr/>
        </p:nvSpPr>
        <p:spPr>
          <a:xfrm>
            <a:off x="1350150" y="3010232"/>
            <a:ext cx="15587700" cy="4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 Yo hago, tú miras. </a:t>
            </a:r>
            <a:endParaRPr b="1" sz="7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 Tú haces, yo miro. </a:t>
            </a:r>
            <a:endParaRPr b="1" sz="7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 Tú haces.</a:t>
            </a:r>
            <a:endParaRPr sz="6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1"/>
          <p:cNvGrpSpPr/>
          <p:nvPr/>
        </p:nvGrpSpPr>
        <p:grpSpPr>
          <a:xfrm>
            <a:off x="518005" y="5493493"/>
            <a:ext cx="5727496" cy="4441132"/>
            <a:chOff x="0" y="-47625"/>
            <a:chExt cx="1508476" cy="1169681"/>
          </a:xfrm>
        </p:grpSpPr>
        <p:sp>
          <p:nvSpPr>
            <p:cNvPr id="314" name="Google Shape;314;p21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5" name="Google Shape;315;p21"/>
            <p:cNvSpPr txBox="1"/>
            <p:nvPr/>
          </p:nvSpPr>
          <p:spPr>
            <a:xfrm>
              <a:off x="0" y="-47625"/>
              <a:ext cx="1508476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21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7" name="Google Shape;317;p21"/>
          <p:cNvGrpSpPr/>
          <p:nvPr/>
        </p:nvGrpSpPr>
        <p:grpSpPr>
          <a:xfrm>
            <a:off x="10589457" y="1951810"/>
            <a:ext cx="7106185" cy="1051990"/>
            <a:chOff x="0" y="-47625"/>
            <a:chExt cx="1871588" cy="277067"/>
          </a:xfrm>
        </p:grpSpPr>
        <p:sp>
          <p:nvSpPr>
            <p:cNvPr id="318" name="Google Shape;318;p2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9" name="Google Shape;319;p2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21"/>
          <p:cNvGrpSpPr/>
          <p:nvPr/>
        </p:nvGrpSpPr>
        <p:grpSpPr>
          <a:xfrm>
            <a:off x="10589457" y="2788232"/>
            <a:ext cx="7106185" cy="976041"/>
            <a:chOff x="0" y="-47625"/>
            <a:chExt cx="1871588" cy="257064"/>
          </a:xfrm>
        </p:grpSpPr>
        <p:sp>
          <p:nvSpPr>
            <p:cNvPr id="321" name="Google Shape;321;p21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2" name="Google Shape;322;p21"/>
            <p:cNvSpPr txBox="1"/>
            <p:nvPr/>
          </p:nvSpPr>
          <p:spPr>
            <a:xfrm>
              <a:off x="0" y="-47625"/>
              <a:ext cx="1871588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3" name="Google Shape;323;p21"/>
          <p:cNvCxnSpPr/>
          <p:nvPr/>
        </p:nvCxnSpPr>
        <p:spPr>
          <a:xfrm>
            <a:off x="13482182" y="2148133"/>
            <a:ext cx="0" cy="161614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4" name="Google Shape;324;p21"/>
          <p:cNvGrpSpPr/>
          <p:nvPr/>
        </p:nvGrpSpPr>
        <p:grpSpPr>
          <a:xfrm>
            <a:off x="10589457" y="3547789"/>
            <a:ext cx="7106185" cy="1051990"/>
            <a:chOff x="0" y="-47625"/>
            <a:chExt cx="1871588" cy="277067"/>
          </a:xfrm>
        </p:grpSpPr>
        <p:sp>
          <p:nvSpPr>
            <p:cNvPr id="325" name="Google Shape;325;p2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6" name="Google Shape;326;p2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7" name="Google Shape;327;p21"/>
          <p:cNvCxnSpPr/>
          <p:nvPr/>
        </p:nvCxnSpPr>
        <p:spPr>
          <a:xfrm>
            <a:off x="13482182" y="3744112"/>
            <a:ext cx="0" cy="85566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8" name="Google Shape;328;p21"/>
          <p:cNvGrpSpPr/>
          <p:nvPr/>
        </p:nvGrpSpPr>
        <p:grpSpPr>
          <a:xfrm>
            <a:off x="518005" y="1616530"/>
            <a:ext cx="9296788" cy="1051990"/>
            <a:chOff x="0" y="-47625"/>
            <a:chExt cx="2448537" cy="277067"/>
          </a:xfrm>
        </p:grpSpPr>
        <p:sp>
          <p:nvSpPr>
            <p:cNvPr id="329" name="Google Shape;329;p21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0" name="Google Shape;330;p21"/>
            <p:cNvSpPr txBox="1"/>
            <p:nvPr/>
          </p:nvSpPr>
          <p:spPr>
            <a:xfrm>
              <a:off x="0" y="-47625"/>
              <a:ext cx="2448537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21"/>
          <p:cNvGrpSpPr/>
          <p:nvPr/>
        </p:nvGrpSpPr>
        <p:grpSpPr>
          <a:xfrm>
            <a:off x="518005" y="2455651"/>
            <a:ext cx="9296788" cy="976041"/>
            <a:chOff x="0" y="-47625"/>
            <a:chExt cx="2448537" cy="257064"/>
          </a:xfrm>
        </p:grpSpPr>
        <p:sp>
          <p:nvSpPr>
            <p:cNvPr id="332" name="Google Shape;332;p21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3" name="Google Shape;333;p21"/>
            <p:cNvSpPr txBox="1"/>
            <p:nvPr/>
          </p:nvSpPr>
          <p:spPr>
            <a:xfrm>
              <a:off x="0" y="-47625"/>
              <a:ext cx="2448537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4" name="Google Shape;334;p21"/>
          <p:cNvCxnSpPr/>
          <p:nvPr/>
        </p:nvCxnSpPr>
        <p:spPr>
          <a:xfrm flipH="1">
            <a:off x="4907814" y="1797356"/>
            <a:ext cx="4521" cy="839121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5" name="Google Shape;335;p21"/>
          <p:cNvGrpSpPr/>
          <p:nvPr/>
        </p:nvGrpSpPr>
        <p:grpSpPr>
          <a:xfrm>
            <a:off x="518005" y="3212509"/>
            <a:ext cx="9296788" cy="1387270"/>
            <a:chOff x="0" y="-47625"/>
            <a:chExt cx="2448537" cy="365372"/>
          </a:xfrm>
        </p:grpSpPr>
        <p:sp>
          <p:nvSpPr>
            <p:cNvPr id="336" name="Google Shape;336;p21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7" name="Google Shape;337;p21"/>
            <p:cNvSpPr txBox="1"/>
            <p:nvPr/>
          </p:nvSpPr>
          <p:spPr>
            <a:xfrm>
              <a:off x="0" y="-47625"/>
              <a:ext cx="2448537" cy="365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8" name="Google Shape;338;p21"/>
          <p:cNvCxnSpPr/>
          <p:nvPr/>
        </p:nvCxnSpPr>
        <p:spPr>
          <a:xfrm>
            <a:off x="4907814" y="3431692"/>
            <a:ext cx="4521" cy="116808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1"/>
          <p:cNvCxnSpPr/>
          <p:nvPr/>
        </p:nvCxnSpPr>
        <p:spPr>
          <a:xfrm flipH="1">
            <a:off x="4907814" y="2626616"/>
            <a:ext cx="4521" cy="805076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1"/>
          <p:cNvSpPr txBox="1"/>
          <p:nvPr/>
        </p:nvSpPr>
        <p:spPr>
          <a:xfrm>
            <a:off x="10767769" y="2272944"/>
            <a:ext cx="25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sz="2400"/>
          </a:p>
        </p:txBody>
      </p:sp>
      <p:sp>
        <p:nvSpPr>
          <p:cNvPr id="341" name="Google Shape;341;p21"/>
          <p:cNvSpPr txBox="1"/>
          <p:nvPr/>
        </p:nvSpPr>
        <p:spPr>
          <a:xfrm>
            <a:off x="10939368" y="3071390"/>
            <a:ext cx="2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sz="3000"/>
          </a:p>
        </p:txBody>
      </p:sp>
      <p:sp>
        <p:nvSpPr>
          <p:cNvPr id="342" name="Google Shape;342;p21"/>
          <p:cNvSpPr txBox="1"/>
          <p:nvPr/>
        </p:nvSpPr>
        <p:spPr>
          <a:xfrm>
            <a:off x="13482182" y="2272944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18:20</a:t>
            </a:r>
            <a:endParaRPr/>
          </a:p>
        </p:txBody>
      </p:sp>
      <p:sp>
        <p:nvSpPr>
          <p:cNvPr id="343" name="Google Shape;343;p21"/>
          <p:cNvSpPr txBox="1"/>
          <p:nvPr/>
        </p:nvSpPr>
        <p:spPr>
          <a:xfrm>
            <a:off x="13482182" y="3071390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19:00</a:t>
            </a:r>
            <a:endParaRPr/>
          </a:p>
        </p:txBody>
      </p:sp>
      <p:sp>
        <p:nvSpPr>
          <p:cNvPr id="344" name="Google Shape;344;p21"/>
          <p:cNvSpPr txBox="1"/>
          <p:nvPr/>
        </p:nvSpPr>
        <p:spPr>
          <a:xfrm>
            <a:off x="10654436" y="3869048"/>
            <a:ext cx="275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sz="2800"/>
          </a:p>
        </p:txBody>
      </p:sp>
      <p:sp>
        <p:nvSpPr>
          <p:cNvPr id="345" name="Google Shape;345;p21"/>
          <p:cNvSpPr txBox="1"/>
          <p:nvPr/>
        </p:nvSpPr>
        <p:spPr>
          <a:xfrm>
            <a:off x="13482182" y="3868922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40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588368" y="1931291"/>
            <a:ext cx="4165955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588368" y="2748334"/>
            <a:ext cx="41097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5208072" y="1937664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Hoja de trabajo 1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5208072" y="2738809"/>
            <a:ext cx="2297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53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588368" y="3517417"/>
            <a:ext cx="4109728" cy="1135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/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83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5121884" y="3740625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517999" y="4738300"/>
            <a:ext cx="1717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588368" y="5776526"/>
            <a:ext cx="56061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JOSUE DANIEL SOLIS OSORIO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202001574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NAOMI RASHEL YOS CUJCUJ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202001814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LUIS EMILIO RIVERA YURRITA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202004712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ANGEL GUILLERMO ARREAGA BARRIENTOS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202004762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FREDY SAMUEL QUIJADA CEBALLOS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202004812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ANA LUCIA FLETES ORDOÑEZ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202010003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RAMIRO AGUSTÍN TÉLLES CARCUZ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202010044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SERGIO SEBASTIÁN SANDOVAL RUIZ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202010298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ANGELA MARÍA ESTHER ESCOBAR ALVAREZ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202100019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AIDA ALEJANDRA MANSILLA ORANTES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202100239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CARLOS JOSE BLANCO GUZMAN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202100250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KEVIN JOSUE SANTOS SALAZAR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202101007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pSp>
        <p:nvGrpSpPr>
          <p:cNvPr id="354" name="Google Shape;354;p21"/>
          <p:cNvGrpSpPr/>
          <p:nvPr/>
        </p:nvGrpSpPr>
        <p:grpSpPr>
          <a:xfrm>
            <a:off x="6356860" y="5493493"/>
            <a:ext cx="5781937" cy="4441132"/>
            <a:chOff x="0" y="-47625"/>
            <a:chExt cx="1522815" cy="1169681"/>
          </a:xfrm>
        </p:grpSpPr>
        <p:sp>
          <p:nvSpPr>
            <p:cNvPr id="355" name="Google Shape;355;p21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56" name="Google Shape;356;p21"/>
            <p:cNvSpPr txBox="1"/>
            <p:nvPr/>
          </p:nvSpPr>
          <p:spPr>
            <a:xfrm>
              <a:off x="0" y="-47625"/>
              <a:ext cx="1522815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21"/>
          <p:cNvGrpSpPr/>
          <p:nvPr/>
        </p:nvGrpSpPr>
        <p:grpSpPr>
          <a:xfrm>
            <a:off x="12253100" y="5493499"/>
            <a:ext cx="5442479" cy="4441162"/>
            <a:chOff x="0" y="-47625"/>
            <a:chExt cx="1505027" cy="1169681"/>
          </a:xfrm>
        </p:grpSpPr>
        <p:sp>
          <p:nvSpPr>
            <p:cNvPr id="358" name="Google Shape;358;p21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59" name="Google Shape;359;p21"/>
            <p:cNvSpPr txBox="1"/>
            <p:nvPr/>
          </p:nvSpPr>
          <p:spPr>
            <a:xfrm>
              <a:off x="0" y="-47625"/>
              <a:ext cx="1505027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21"/>
          <p:cNvSpPr txBox="1"/>
          <p:nvPr/>
        </p:nvSpPr>
        <p:spPr>
          <a:xfrm>
            <a:off x="6446244" y="5776526"/>
            <a:ext cx="56061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JOSHUA ALEXANDER VASQUEZ DEL AGUILA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202102407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JORGE ALEJANDRO DE LEÓN BATRES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202111277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MELVIN ALEXANDER VALENCIA ESTRADA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202111556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JOSÉ DANIEL GUZMÁN HERNÁNDEZ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202111612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EDGAR JOSÍAS CÁN AJQUEJAY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202112012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DOMINIC JUAN PABLO RUANO PEREZ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202200075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ROBERTO MIGUEL GARCÍA SANTIZO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202201724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CARLOS FERNANDO ENRIQUE LOPEZ GARCIA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202210108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LUIS FERNANDO GÓMEZ RENDÓN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201801391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PABLO DANIEL FERNÁNDEZ CHACÓN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201807411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12386447" y="5776526"/>
            <a:ext cx="56061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JUAN JOSÉ GERARDI HERNÁNDEZ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201900532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KEVIN EDUARDO CASTAÑEDA HERNÁNDEZ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201901801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CLAUDIA PAOLA ALONZO HERNÁNDEZ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201902246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JONATHÁN ALEXANDER SÁNCHEZ BARRIOS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201903022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CARLOS ESTUARDO MONTERROSO SANTOS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201903767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LUIS RAFAEL MÉNDEZ LIVAR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201903887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RONY OMAR MIGUEL LOPEZ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201905750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DANIEL MOISES CHAN PELICO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201906099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BYRON ESTUARDO SOLIS GONZALEZ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201906588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JAVIER ALEJANDRO MONTERROSO LÓPEZ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201700831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BYRON JOSUÉ PAR RANCHO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201701078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KEVIN ESTUARDO SOTOJ GARCÍA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201710130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