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2"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5143500" cx="9144000"/>
  <p:notesSz cx="5143500" cy="9144000"/>
  <p:embeddedFontLst>
    <p:embeddedFont>
      <p:font typeface="Geo"/>
      <p:regular r:id="rId20"/>
      <p:italic r:id="rId21"/>
    </p:embeddedFont>
    <p:embeddedFont>
      <p:font typeface="Raleway"/>
      <p:regular r:id="rId22"/>
      <p:bold r:id="rId23"/>
      <p:italic r:id="rId24"/>
      <p:boldItalic r:id="rId25"/>
    </p:embeddedFont>
    <p:embeddedFont>
      <p:font typeface="Roboto"/>
      <p:regular r:id="rId26"/>
      <p:bold r:id="rId27"/>
      <p:italic r:id="rId28"/>
      <p:boldItalic r:id="rId29"/>
    </p:embeddedFont>
    <p:embeddedFont>
      <p:font typeface="Raleway Light"/>
      <p:regular r:id="rId30"/>
      <p:bold r:id="rId31"/>
      <p:italic r:id="rId32"/>
      <p:boldItalic r:id="rId33"/>
    </p:embeddedFont>
    <p:embeddedFont>
      <p:font typeface="DM Sans"/>
      <p:regular r:id="rId34"/>
      <p:bold r:id="rId35"/>
      <p:italic r:id="rId36"/>
      <p:boldItalic r:id="rId37"/>
    </p:embeddedFont>
    <p:embeddedFont>
      <p:font typeface="Open Sans"/>
      <p:bold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Geo-regular.fntdata"/><Relationship Id="rId22" Type="http://schemas.openxmlformats.org/officeDocument/2006/relationships/font" Target="fonts/Raleway-regular.fntdata"/><Relationship Id="rId21" Type="http://schemas.openxmlformats.org/officeDocument/2006/relationships/font" Target="fonts/Geo-italic.fntdata"/><Relationship Id="rId24" Type="http://schemas.openxmlformats.org/officeDocument/2006/relationships/font" Target="fonts/Raleway-italic.fntdata"/><Relationship Id="rId23" Type="http://schemas.openxmlformats.org/officeDocument/2006/relationships/font" Target="fonts/Raleway-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regular.fntdata"/><Relationship Id="rId25" Type="http://schemas.openxmlformats.org/officeDocument/2006/relationships/font" Target="fonts/Raleway-boldItalic.fntdata"/><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oboto-bold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alewayLight-bold.fntdata"/><Relationship Id="rId30" Type="http://schemas.openxmlformats.org/officeDocument/2006/relationships/font" Target="fonts/RalewayLight-regular.fntdata"/><Relationship Id="rId11" Type="http://schemas.openxmlformats.org/officeDocument/2006/relationships/slide" Target="slides/slide7.xml"/><Relationship Id="rId33" Type="http://schemas.openxmlformats.org/officeDocument/2006/relationships/font" Target="fonts/RalewayLight-boldItalic.fntdata"/><Relationship Id="rId10" Type="http://schemas.openxmlformats.org/officeDocument/2006/relationships/slide" Target="slides/slide6.xml"/><Relationship Id="rId32" Type="http://schemas.openxmlformats.org/officeDocument/2006/relationships/font" Target="fonts/RalewayLight-italic.fntdata"/><Relationship Id="rId13" Type="http://schemas.openxmlformats.org/officeDocument/2006/relationships/slide" Target="slides/slide9.xml"/><Relationship Id="rId35" Type="http://schemas.openxmlformats.org/officeDocument/2006/relationships/font" Target="fonts/DMSans-bold.fntdata"/><Relationship Id="rId12" Type="http://schemas.openxmlformats.org/officeDocument/2006/relationships/slide" Target="slides/slide8.xml"/><Relationship Id="rId34" Type="http://schemas.openxmlformats.org/officeDocument/2006/relationships/font" Target="fonts/DMSans-regular.fntdata"/><Relationship Id="rId15" Type="http://schemas.openxmlformats.org/officeDocument/2006/relationships/slide" Target="slides/slide11.xml"/><Relationship Id="rId37" Type="http://schemas.openxmlformats.org/officeDocument/2006/relationships/font" Target="fonts/DMSans-boldItalic.fntdata"/><Relationship Id="rId14" Type="http://schemas.openxmlformats.org/officeDocument/2006/relationships/slide" Target="slides/slide10.xml"/><Relationship Id="rId36" Type="http://schemas.openxmlformats.org/officeDocument/2006/relationships/font" Target="fonts/DMSans-italic.fntdata"/><Relationship Id="rId17" Type="http://schemas.openxmlformats.org/officeDocument/2006/relationships/slide" Target="slides/slide13.xml"/><Relationship Id="rId39" Type="http://schemas.openxmlformats.org/officeDocument/2006/relationships/font" Target="fonts/OpenSans-boldItalic.fntdata"/><Relationship Id="rId16" Type="http://schemas.openxmlformats.org/officeDocument/2006/relationships/slide" Target="slides/slide12.xml"/><Relationship Id="rId38" Type="http://schemas.openxmlformats.org/officeDocument/2006/relationships/font" Target="fonts/OpenSans-bold.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g3f9b216b75c_1_10: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 name="Google Shape;25;g3f9b216b75c_1_10: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g3f9b216b75c_1_23:notes"/>
          <p:cNvSpPr txBox="1"/>
          <p:nvPr>
            <p:ph idx="1" type="body"/>
          </p:nvPr>
        </p:nvSpPr>
        <p:spPr>
          <a:xfrm>
            <a:off x="514350" y="4343400"/>
            <a:ext cx="4114800" cy="4114800"/>
          </a:xfrm>
          <a:prstGeom prst="rect">
            <a:avLst/>
          </a:prstGeom>
          <a:noFill/>
          <a:ln>
            <a:noFill/>
          </a:ln>
        </p:spPr>
        <p:txBody>
          <a:bodyPr anchorCtr="0" anchor="t" bIns="95225" lIns="95225" spcFirstLastPara="1" rIns="95225" wrap="square" tIns="95225">
            <a:noAutofit/>
          </a:bodyPr>
          <a:lstStyle/>
          <a:p>
            <a:pPr indent="0" lvl="0" marL="0" rtl="0" algn="l">
              <a:lnSpc>
                <a:spcPct val="100000"/>
              </a:lnSpc>
              <a:spcBef>
                <a:spcPts val="0"/>
              </a:spcBef>
              <a:spcAft>
                <a:spcPts val="0"/>
              </a:spcAft>
              <a:buSzPts val="1200"/>
              <a:buNone/>
            </a:pPr>
            <a:r>
              <a:t/>
            </a:r>
            <a:endParaRPr/>
          </a:p>
        </p:txBody>
      </p:sp>
      <p:sp>
        <p:nvSpPr>
          <p:cNvPr id="39" name="Google Shape;39;g3f9b216b75c_1_23: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9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 name="Google Shape;4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 name="Google Shape;4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 name="Google Shape;5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 name="Google Shape;7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f8ba8d25e1_3_33:notes"/>
          <p:cNvSpPr txBox="1"/>
          <p:nvPr>
            <p:ph idx="1" type="body"/>
          </p:nvPr>
        </p:nvSpPr>
        <p:spPr>
          <a:xfrm>
            <a:off x="514350" y="4343400"/>
            <a:ext cx="4114800" cy="4114800"/>
          </a:xfrm>
          <a:prstGeom prst="rect">
            <a:avLst/>
          </a:prstGeom>
          <a:noFill/>
          <a:ln>
            <a:noFill/>
          </a:ln>
        </p:spPr>
        <p:txBody>
          <a:bodyPr anchorCtr="0" anchor="t" bIns="95225" lIns="95225" spcFirstLastPara="1" rIns="95225" wrap="square" tIns="95225">
            <a:noAutofit/>
          </a:bodyPr>
          <a:lstStyle/>
          <a:p>
            <a:pPr indent="0" lvl="0" marL="0" rtl="0" algn="l">
              <a:lnSpc>
                <a:spcPct val="100000"/>
              </a:lnSpc>
              <a:spcBef>
                <a:spcPts val="0"/>
              </a:spcBef>
              <a:spcAft>
                <a:spcPts val="0"/>
              </a:spcAft>
              <a:buSzPts val="1200"/>
              <a:buNone/>
            </a:pPr>
            <a:r>
              <a:t/>
            </a:r>
            <a:endParaRPr/>
          </a:p>
        </p:txBody>
      </p:sp>
      <p:sp>
        <p:nvSpPr>
          <p:cNvPr id="257" name="Google Shape;257;g3f8ba8d25e1_3_33: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9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f8ba8d25e1_3_43:notes"/>
          <p:cNvSpPr txBox="1"/>
          <p:nvPr>
            <p:ph idx="1" type="body"/>
          </p:nvPr>
        </p:nvSpPr>
        <p:spPr>
          <a:xfrm>
            <a:off x="514350" y="4343400"/>
            <a:ext cx="4114800" cy="4114800"/>
          </a:xfrm>
          <a:prstGeom prst="rect">
            <a:avLst/>
          </a:prstGeom>
          <a:noFill/>
          <a:ln>
            <a:noFill/>
          </a:ln>
        </p:spPr>
        <p:txBody>
          <a:bodyPr anchorCtr="0" anchor="t" bIns="95225" lIns="95225" spcFirstLastPara="1" rIns="95225" wrap="square" tIns="95225">
            <a:noAutofit/>
          </a:bodyPr>
          <a:lstStyle/>
          <a:p>
            <a:pPr indent="0" lvl="0" marL="0" rtl="0" algn="l">
              <a:lnSpc>
                <a:spcPct val="100000"/>
              </a:lnSpc>
              <a:spcBef>
                <a:spcPts val="0"/>
              </a:spcBef>
              <a:spcAft>
                <a:spcPts val="0"/>
              </a:spcAft>
              <a:buSzPts val="1200"/>
              <a:buNone/>
            </a:pPr>
            <a:r>
              <a:t/>
            </a:r>
            <a:endParaRPr/>
          </a:p>
        </p:txBody>
      </p:sp>
      <p:sp>
        <p:nvSpPr>
          <p:cNvPr id="262" name="Google Shape;262;g3f8ba8d25e1_3_43: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9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aster 1">
  <p:cSld name="Slide master 1">
    <p:spTree>
      <p:nvGrpSpPr>
        <p:cNvPr id="10" name="Shape 10"/>
        <p:cNvGrpSpPr/>
        <p:nvPr/>
      </p:nvGrpSpPr>
      <p:grpSpPr>
        <a:xfrm>
          <a:off x="0" y="0"/>
          <a:ext cx="0" cy="0"/>
          <a:chOff x="0" y="0"/>
          <a:chExt cx="0" cy="0"/>
        </a:xfrm>
      </p:grpSpPr>
      <p:sp>
        <p:nvSpPr>
          <p:cNvPr id="11" name="Google Shape;11;p2"/>
          <p:cNvSpPr/>
          <p:nvPr/>
        </p:nvSpPr>
        <p:spPr>
          <a:xfrm>
            <a:off x="0" y="0"/>
            <a:ext cx="9144000" cy="5143500"/>
          </a:xfrm>
          <a:prstGeom prst="rect">
            <a:avLst/>
          </a:prstGeom>
          <a:solidFill>
            <a:srgbClr val="ECEC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0" y="0"/>
            <a:ext cx="9144000" cy="5143500"/>
          </a:xfrm>
          <a:prstGeom prst="rect">
            <a:avLst/>
          </a:prstGeom>
          <a:solidFill>
            <a:srgbClr val="FFFFFF">
              <a:alpha val="9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2">
            <a:hlinkClick r:id="rId2"/>
          </p:cNvPr>
          <p:cNvPicPr preferRelativeResize="0"/>
          <p:nvPr/>
        </p:nvPicPr>
        <p:blipFill rotWithShape="1">
          <a:blip r:embed="rId3">
            <a:alphaModFix/>
          </a:blip>
          <a:srcRect b="0" l="0" r="0" t="0"/>
          <a:stretch/>
        </p:blipFill>
        <p:spPr>
          <a:xfrm>
            <a:off x="8029180" y="4844491"/>
            <a:ext cx="1071843" cy="25603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4" name="Shape 14"/>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3">
  <p:cSld name="BLANK_4">
    <p:spTree>
      <p:nvGrpSpPr>
        <p:cNvPr id="15" name="Shape 15"/>
        <p:cNvGrpSpPr/>
        <p:nvPr/>
      </p:nvGrpSpPr>
      <p:grpSpPr>
        <a:xfrm>
          <a:off x="0" y="0"/>
          <a:ext cx="0" cy="0"/>
          <a:chOff x="0" y="0"/>
          <a:chExt cx="0" cy="0"/>
        </a:xfrm>
      </p:grpSpPr>
      <p:sp>
        <p:nvSpPr>
          <p:cNvPr id="16" name="Google Shape;16;p4"/>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sz="700"/>
            </a:lvl1pPr>
            <a:lvl2pPr lvl="1" algn="l">
              <a:lnSpc>
                <a:spcPct val="100000"/>
              </a:lnSpc>
              <a:spcBef>
                <a:spcPts val="0"/>
              </a:spcBef>
              <a:spcAft>
                <a:spcPts val="0"/>
              </a:spcAft>
              <a:buSzPts val="700"/>
              <a:buNone/>
              <a:defRPr sz="700"/>
            </a:lvl2pPr>
            <a:lvl3pPr lvl="2" algn="l">
              <a:lnSpc>
                <a:spcPct val="100000"/>
              </a:lnSpc>
              <a:spcBef>
                <a:spcPts val="0"/>
              </a:spcBef>
              <a:spcAft>
                <a:spcPts val="0"/>
              </a:spcAft>
              <a:buSzPts val="700"/>
              <a:buNone/>
              <a:defRPr sz="700"/>
            </a:lvl3pPr>
            <a:lvl4pPr lvl="3" algn="l">
              <a:lnSpc>
                <a:spcPct val="100000"/>
              </a:lnSpc>
              <a:spcBef>
                <a:spcPts val="0"/>
              </a:spcBef>
              <a:spcAft>
                <a:spcPts val="0"/>
              </a:spcAft>
              <a:buSzPts val="700"/>
              <a:buNone/>
              <a:defRPr sz="700"/>
            </a:lvl4pPr>
            <a:lvl5pPr lvl="4" algn="l">
              <a:lnSpc>
                <a:spcPct val="100000"/>
              </a:lnSpc>
              <a:spcBef>
                <a:spcPts val="0"/>
              </a:spcBef>
              <a:spcAft>
                <a:spcPts val="0"/>
              </a:spcAft>
              <a:buSzPts val="700"/>
              <a:buNone/>
              <a:defRPr sz="700"/>
            </a:lvl5pPr>
            <a:lvl6pPr lvl="5" algn="l">
              <a:lnSpc>
                <a:spcPct val="100000"/>
              </a:lnSpc>
              <a:spcBef>
                <a:spcPts val="0"/>
              </a:spcBef>
              <a:spcAft>
                <a:spcPts val="0"/>
              </a:spcAft>
              <a:buSzPts val="700"/>
              <a:buNone/>
              <a:defRPr sz="700"/>
            </a:lvl6pPr>
            <a:lvl7pPr lvl="6" algn="l">
              <a:lnSpc>
                <a:spcPct val="100000"/>
              </a:lnSpc>
              <a:spcBef>
                <a:spcPts val="0"/>
              </a:spcBef>
              <a:spcAft>
                <a:spcPts val="0"/>
              </a:spcAft>
              <a:buSzPts val="700"/>
              <a:buNone/>
              <a:defRPr sz="700"/>
            </a:lvl7pPr>
            <a:lvl8pPr lvl="7" algn="l">
              <a:lnSpc>
                <a:spcPct val="100000"/>
              </a:lnSpc>
              <a:spcBef>
                <a:spcPts val="0"/>
              </a:spcBef>
              <a:spcAft>
                <a:spcPts val="0"/>
              </a:spcAft>
              <a:buSzPts val="700"/>
              <a:buNone/>
              <a:defRPr sz="700"/>
            </a:lvl8pPr>
            <a:lvl9pPr lvl="8" algn="l">
              <a:lnSpc>
                <a:spcPct val="100000"/>
              </a:lnSpc>
              <a:spcBef>
                <a:spcPts val="0"/>
              </a:spcBef>
              <a:spcAft>
                <a:spcPts val="0"/>
              </a:spcAft>
              <a:buSzPts val="700"/>
              <a:buNone/>
              <a:defRPr sz="700"/>
            </a:lvl9pPr>
          </a:lstStyle>
          <a:p/>
        </p:txBody>
      </p:sp>
      <p:sp>
        <p:nvSpPr>
          <p:cNvPr id="17" name="Google Shape;17;p4"/>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sz="700"/>
            </a:lvl1pPr>
            <a:lvl2pPr lvl="1" algn="l">
              <a:lnSpc>
                <a:spcPct val="100000"/>
              </a:lnSpc>
              <a:spcBef>
                <a:spcPts val="0"/>
              </a:spcBef>
              <a:spcAft>
                <a:spcPts val="0"/>
              </a:spcAft>
              <a:buSzPts val="700"/>
              <a:buNone/>
              <a:defRPr sz="700"/>
            </a:lvl2pPr>
            <a:lvl3pPr lvl="2" algn="l">
              <a:lnSpc>
                <a:spcPct val="100000"/>
              </a:lnSpc>
              <a:spcBef>
                <a:spcPts val="0"/>
              </a:spcBef>
              <a:spcAft>
                <a:spcPts val="0"/>
              </a:spcAft>
              <a:buSzPts val="700"/>
              <a:buNone/>
              <a:defRPr sz="700"/>
            </a:lvl3pPr>
            <a:lvl4pPr lvl="3" algn="l">
              <a:lnSpc>
                <a:spcPct val="100000"/>
              </a:lnSpc>
              <a:spcBef>
                <a:spcPts val="0"/>
              </a:spcBef>
              <a:spcAft>
                <a:spcPts val="0"/>
              </a:spcAft>
              <a:buSzPts val="700"/>
              <a:buNone/>
              <a:defRPr sz="700"/>
            </a:lvl4pPr>
            <a:lvl5pPr lvl="4" algn="l">
              <a:lnSpc>
                <a:spcPct val="100000"/>
              </a:lnSpc>
              <a:spcBef>
                <a:spcPts val="0"/>
              </a:spcBef>
              <a:spcAft>
                <a:spcPts val="0"/>
              </a:spcAft>
              <a:buSzPts val="700"/>
              <a:buNone/>
              <a:defRPr sz="700"/>
            </a:lvl5pPr>
            <a:lvl6pPr lvl="5" algn="l">
              <a:lnSpc>
                <a:spcPct val="100000"/>
              </a:lnSpc>
              <a:spcBef>
                <a:spcPts val="0"/>
              </a:spcBef>
              <a:spcAft>
                <a:spcPts val="0"/>
              </a:spcAft>
              <a:buSzPts val="700"/>
              <a:buNone/>
              <a:defRPr sz="700"/>
            </a:lvl6pPr>
            <a:lvl7pPr lvl="6" algn="l">
              <a:lnSpc>
                <a:spcPct val="100000"/>
              </a:lnSpc>
              <a:spcBef>
                <a:spcPts val="0"/>
              </a:spcBef>
              <a:spcAft>
                <a:spcPts val="0"/>
              </a:spcAft>
              <a:buSzPts val="700"/>
              <a:buNone/>
              <a:defRPr sz="700"/>
            </a:lvl7pPr>
            <a:lvl8pPr lvl="7" algn="l">
              <a:lnSpc>
                <a:spcPct val="100000"/>
              </a:lnSpc>
              <a:spcBef>
                <a:spcPts val="0"/>
              </a:spcBef>
              <a:spcAft>
                <a:spcPts val="0"/>
              </a:spcAft>
              <a:buSzPts val="700"/>
              <a:buNone/>
              <a:defRPr sz="700"/>
            </a:lvl8pPr>
            <a:lvl9pPr lvl="8" algn="l">
              <a:lnSpc>
                <a:spcPct val="100000"/>
              </a:lnSpc>
              <a:spcBef>
                <a:spcPts val="0"/>
              </a:spcBef>
              <a:spcAft>
                <a:spcPts val="0"/>
              </a:spcAft>
              <a:buSzPts val="700"/>
              <a:buNone/>
              <a:defRPr sz="700"/>
            </a:lvl9pPr>
          </a:lstStyle>
          <a:p/>
        </p:txBody>
      </p:sp>
      <p:sp>
        <p:nvSpPr>
          <p:cNvPr id="18" name="Google Shape;18;p4"/>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p:cSld name="BLANK_3">
    <p:spTree>
      <p:nvGrpSpPr>
        <p:cNvPr id="19" name="Shape 19"/>
        <p:cNvGrpSpPr/>
        <p:nvPr/>
      </p:nvGrpSpPr>
      <p:grpSpPr>
        <a:xfrm>
          <a:off x="0" y="0"/>
          <a:ext cx="0" cy="0"/>
          <a:chOff x="0" y="0"/>
          <a:chExt cx="0" cy="0"/>
        </a:xfrm>
      </p:grpSpPr>
      <p:sp>
        <p:nvSpPr>
          <p:cNvPr id="20" name="Google Shape;20;p5"/>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sz="700"/>
            </a:lvl1pPr>
            <a:lvl2pPr lvl="1" algn="l">
              <a:lnSpc>
                <a:spcPct val="100000"/>
              </a:lnSpc>
              <a:spcBef>
                <a:spcPts val="0"/>
              </a:spcBef>
              <a:spcAft>
                <a:spcPts val="0"/>
              </a:spcAft>
              <a:buSzPts val="700"/>
              <a:buNone/>
              <a:defRPr sz="700"/>
            </a:lvl2pPr>
            <a:lvl3pPr lvl="2" algn="l">
              <a:lnSpc>
                <a:spcPct val="100000"/>
              </a:lnSpc>
              <a:spcBef>
                <a:spcPts val="0"/>
              </a:spcBef>
              <a:spcAft>
                <a:spcPts val="0"/>
              </a:spcAft>
              <a:buSzPts val="700"/>
              <a:buNone/>
              <a:defRPr sz="700"/>
            </a:lvl3pPr>
            <a:lvl4pPr lvl="3" algn="l">
              <a:lnSpc>
                <a:spcPct val="100000"/>
              </a:lnSpc>
              <a:spcBef>
                <a:spcPts val="0"/>
              </a:spcBef>
              <a:spcAft>
                <a:spcPts val="0"/>
              </a:spcAft>
              <a:buSzPts val="700"/>
              <a:buNone/>
              <a:defRPr sz="700"/>
            </a:lvl4pPr>
            <a:lvl5pPr lvl="4" algn="l">
              <a:lnSpc>
                <a:spcPct val="100000"/>
              </a:lnSpc>
              <a:spcBef>
                <a:spcPts val="0"/>
              </a:spcBef>
              <a:spcAft>
                <a:spcPts val="0"/>
              </a:spcAft>
              <a:buSzPts val="700"/>
              <a:buNone/>
              <a:defRPr sz="700"/>
            </a:lvl5pPr>
            <a:lvl6pPr lvl="5" algn="l">
              <a:lnSpc>
                <a:spcPct val="100000"/>
              </a:lnSpc>
              <a:spcBef>
                <a:spcPts val="0"/>
              </a:spcBef>
              <a:spcAft>
                <a:spcPts val="0"/>
              </a:spcAft>
              <a:buSzPts val="700"/>
              <a:buNone/>
              <a:defRPr sz="700"/>
            </a:lvl6pPr>
            <a:lvl7pPr lvl="6" algn="l">
              <a:lnSpc>
                <a:spcPct val="100000"/>
              </a:lnSpc>
              <a:spcBef>
                <a:spcPts val="0"/>
              </a:spcBef>
              <a:spcAft>
                <a:spcPts val="0"/>
              </a:spcAft>
              <a:buSzPts val="700"/>
              <a:buNone/>
              <a:defRPr sz="700"/>
            </a:lvl7pPr>
            <a:lvl8pPr lvl="7" algn="l">
              <a:lnSpc>
                <a:spcPct val="100000"/>
              </a:lnSpc>
              <a:spcBef>
                <a:spcPts val="0"/>
              </a:spcBef>
              <a:spcAft>
                <a:spcPts val="0"/>
              </a:spcAft>
              <a:buSzPts val="700"/>
              <a:buNone/>
              <a:defRPr sz="700"/>
            </a:lvl8pPr>
            <a:lvl9pPr lvl="8" algn="l">
              <a:lnSpc>
                <a:spcPct val="100000"/>
              </a:lnSpc>
              <a:spcBef>
                <a:spcPts val="0"/>
              </a:spcBef>
              <a:spcAft>
                <a:spcPts val="0"/>
              </a:spcAft>
              <a:buSzPts val="700"/>
              <a:buNone/>
              <a:defRPr sz="700"/>
            </a:lvl9pPr>
          </a:lstStyle>
          <a:p/>
        </p:txBody>
      </p:sp>
      <p:sp>
        <p:nvSpPr>
          <p:cNvPr id="21" name="Google Shape;21;p5"/>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sz="700"/>
            </a:lvl1pPr>
            <a:lvl2pPr lvl="1" algn="l">
              <a:lnSpc>
                <a:spcPct val="100000"/>
              </a:lnSpc>
              <a:spcBef>
                <a:spcPts val="0"/>
              </a:spcBef>
              <a:spcAft>
                <a:spcPts val="0"/>
              </a:spcAft>
              <a:buSzPts val="700"/>
              <a:buNone/>
              <a:defRPr sz="700"/>
            </a:lvl2pPr>
            <a:lvl3pPr lvl="2" algn="l">
              <a:lnSpc>
                <a:spcPct val="100000"/>
              </a:lnSpc>
              <a:spcBef>
                <a:spcPts val="0"/>
              </a:spcBef>
              <a:spcAft>
                <a:spcPts val="0"/>
              </a:spcAft>
              <a:buSzPts val="700"/>
              <a:buNone/>
              <a:defRPr sz="700"/>
            </a:lvl3pPr>
            <a:lvl4pPr lvl="3" algn="l">
              <a:lnSpc>
                <a:spcPct val="100000"/>
              </a:lnSpc>
              <a:spcBef>
                <a:spcPts val="0"/>
              </a:spcBef>
              <a:spcAft>
                <a:spcPts val="0"/>
              </a:spcAft>
              <a:buSzPts val="700"/>
              <a:buNone/>
              <a:defRPr sz="700"/>
            </a:lvl4pPr>
            <a:lvl5pPr lvl="4" algn="l">
              <a:lnSpc>
                <a:spcPct val="100000"/>
              </a:lnSpc>
              <a:spcBef>
                <a:spcPts val="0"/>
              </a:spcBef>
              <a:spcAft>
                <a:spcPts val="0"/>
              </a:spcAft>
              <a:buSzPts val="700"/>
              <a:buNone/>
              <a:defRPr sz="700"/>
            </a:lvl5pPr>
            <a:lvl6pPr lvl="5" algn="l">
              <a:lnSpc>
                <a:spcPct val="100000"/>
              </a:lnSpc>
              <a:spcBef>
                <a:spcPts val="0"/>
              </a:spcBef>
              <a:spcAft>
                <a:spcPts val="0"/>
              </a:spcAft>
              <a:buSzPts val="700"/>
              <a:buNone/>
              <a:defRPr sz="700"/>
            </a:lvl6pPr>
            <a:lvl7pPr lvl="6" algn="l">
              <a:lnSpc>
                <a:spcPct val="100000"/>
              </a:lnSpc>
              <a:spcBef>
                <a:spcPts val="0"/>
              </a:spcBef>
              <a:spcAft>
                <a:spcPts val="0"/>
              </a:spcAft>
              <a:buSzPts val="700"/>
              <a:buNone/>
              <a:defRPr sz="700"/>
            </a:lvl7pPr>
            <a:lvl8pPr lvl="7" algn="l">
              <a:lnSpc>
                <a:spcPct val="100000"/>
              </a:lnSpc>
              <a:spcBef>
                <a:spcPts val="0"/>
              </a:spcBef>
              <a:spcAft>
                <a:spcPts val="0"/>
              </a:spcAft>
              <a:buSzPts val="700"/>
              <a:buNone/>
              <a:defRPr sz="700"/>
            </a:lvl8pPr>
            <a:lvl9pPr lvl="8" algn="l">
              <a:lnSpc>
                <a:spcPct val="100000"/>
              </a:lnSpc>
              <a:spcBef>
                <a:spcPts val="0"/>
              </a:spcBef>
              <a:spcAft>
                <a:spcPts val="0"/>
              </a:spcAft>
              <a:buSzPts val="700"/>
              <a:buNone/>
              <a:defRPr sz="700"/>
            </a:lvl9pPr>
          </a:lstStyle>
          <a:p/>
        </p:txBody>
      </p:sp>
      <p:sp>
        <p:nvSpPr>
          <p:cNvPr id="22" name="Google Shape;22;p5"/>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2.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20.png"/><Relationship Id="rId7"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hyperlink" Target="http://www.youtube.com/watch?v=gsUqW1IookY" TargetMode="External"/><Relationship Id="rId4" Type="http://schemas.openxmlformats.org/officeDocument/2006/relationships/image" Target="../media/image1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 name="Shape 26"/>
        <p:cNvGrpSpPr/>
        <p:nvPr/>
      </p:nvGrpSpPr>
      <p:grpSpPr>
        <a:xfrm>
          <a:off x="0" y="0"/>
          <a:ext cx="0" cy="0"/>
          <a:chOff x="0" y="0"/>
          <a:chExt cx="0" cy="0"/>
        </a:xfrm>
      </p:grpSpPr>
      <p:sp>
        <p:nvSpPr>
          <p:cNvPr id="27" name="Google Shape;27;p6"/>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28" name="Google Shape;28;p6"/>
          <p:cNvSpPr/>
          <p:nvPr/>
        </p:nvSpPr>
        <p:spPr>
          <a:xfrm>
            <a:off x="984925" y="1515075"/>
            <a:ext cx="7539188" cy="1630490"/>
          </a:xfrm>
          <a:custGeom>
            <a:rect b="b" l="l" r="r" t="t"/>
            <a:pathLst>
              <a:path extrusionOk="0" h="1811656" w="9002016">
                <a:moveTo>
                  <a:pt x="0" y="0"/>
                </a:moveTo>
                <a:lnTo>
                  <a:pt x="9002016" y="0"/>
                </a:lnTo>
                <a:lnTo>
                  <a:pt x="9002016" y="1811656"/>
                </a:lnTo>
                <a:lnTo>
                  <a:pt x="0" y="1811656"/>
                </a:lnTo>
                <a:lnTo>
                  <a:pt x="0" y="0"/>
                </a:lnTo>
                <a:close/>
              </a:path>
            </a:pathLst>
          </a:custGeom>
          <a:blipFill rotWithShape="1">
            <a:blip r:embed="rId4">
              <a:alphaModFix/>
            </a:blip>
            <a:stretch>
              <a:fillRect b="0" l="0" r="0" t="0"/>
            </a:stretch>
          </a:blipFill>
          <a:ln>
            <a:noFill/>
          </a:ln>
        </p:spPr>
      </p:sp>
      <p:sp>
        <p:nvSpPr>
          <p:cNvPr id="29" name="Google Shape;29;p6"/>
          <p:cNvSpPr txBox="1"/>
          <p:nvPr/>
        </p:nvSpPr>
        <p:spPr>
          <a:xfrm>
            <a:off x="2896307" y="3145566"/>
            <a:ext cx="3351600" cy="4431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n-US" sz="1200" u="none" cap="none" strike="noStrike">
                <a:solidFill>
                  <a:srgbClr val="000000"/>
                </a:solidFill>
                <a:latin typeface="Open Sans"/>
                <a:ea typeface="Open Sans"/>
                <a:cs typeface="Open Sans"/>
                <a:sym typeface="Open Sans"/>
              </a:rPr>
              <a:t>Escuela de Ingeniería de Ciencias Y Sistemas</a:t>
            </a:r>
            <a:endParaRPr sz="700"/>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
        <p:nvSpPr>
          <p:cNvPr id="30" name="Google Shape;30;p6"/>
          <p:cNvSpPr txBox="1"/>
          <p:nvPr/>
        </p:nvSpPr>
        <p:spPr>
          <a:xfrm>
            <a:off x="174325" y="4600575"/>
            <a:ext cx="3645900" cy="591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1600">
                <a:latin typeface="Open Sans"/>
                <a:ea typeface="Open Sans"/>
                <a:cs typeface="Open Sans"/>
                <a:sym typeface="Open Sans"/>
              </a:rPr>
              <a:t>Javier Andrés Valdez González</a:t>
            </a:r>
            <a:endParaRPr sz="700"/>
          </a:p>
          <a:p>
            <a:pPr indent="0" lvl="0" marL="0" marR="0" rtl="0" algn="ctr">
              <a:lnSpc>
                <a:spcPct val="140000"/>
              </a:lnSpc>
              <a:spcBef>
                <a:spcPts val="0"/>
              </a:spcBef>
              <a:spcAft>
                <a:spcPts val="0"/>
              </a:spcAft>
              <a:buNone/>
            </a:pPr>
            <a:r>
              <a:t/>
            </a:r>
            <a:endParaRPr b="1" i="0" sz="1600" u="none" cap="none" strike="noStrike">
              <a:solidFill>
                <a:srgbClr val="000000"/>
              </a:solidFill>
              <a:latin typeface="Open Sans"/>
              <a:ea typeface="Open Sans"/>
              <a:cs typeface="Open Sans"/>
              <a:sym typeface="Open Sans"/>
            </a:endParaRPr>
          </a:p>
        </p:txBody>
      </p:sp>
      <p:sp>
        <p:nvSpPr>
          <p:cNvPr id="31" name="Google Shape;31;p6"/>
          <p:cNvSpPr txBox="1"/>
          <p:nvPr/>
        </p:nvSpPr>
        <p:spPr>
          <a:xfrm>
            <a:off x="1452118" y="1900975"/>
            <a:ext cx="6593700" cy="7110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1" lang="en-US" sz="2100">
                <a:latin typeface="Open Sans"/>
                <a:ea typeface="Open Sans"/>
                <a:cs typeface="Open Sans"/>
                <a:sym typeface="Open Sans"/>
              </a:rPr>
              <a:t>SEMINARIO DE SISTEMAS 2 P</a:t>
            </a:r>
            <a:endParaRPr b="1" i="0" sz="2100" u="none" cap="none" strike="noStrike">
              <a:solidFill>
                <a:srgbClr val="000000"/>
              </a:solidFill>
              <a:latin typeface="Open Sans"/>
              <a:ea typeface="Open Sans"/>
              <a:cs typeface="Open Sans"/>
              <a:sym typeface="Open Sans"/>
            </a:endParaRPr>
          </a:p>
        </p:txBody>
      </p:sp>
      <p:grpSp>
        <p:nvGrpSpPr>
          <p:cNvPr id="32" name="Google Shape;32;p6"/>
          <p:cNvGrpSpPr/>
          <p:nvPr/>
        </p:nvGrpSpPr>
        <p:grpSpPr>
          <a:xfrm>
            <a:off x="5406584" y="1065075"/>
            <a:ext cx="3553422" cy="526264"/>
            <a:chOff x="0" y="-47625"/>
            <a:chExt cx="1871700" cy="277200"/>
          </a:xfrm>
        </p:grpSpPr>
        <p:sp>
          <p:nvSpPr>
            <p:cNvPr id="33" name="Google Shape;33;p6"/>
            <p:cNvSpPr/>
            <p:nvPr/>
          </p:nvSpPr>
          <p:spPr>
            <a:xfrm>
              <a:off x="0" y="0"/>
              <a:ext cx="1871588" cy="229442"/>
            </a:xfrm>
            <a:custGeom>
              <a:rect b="b" l="l" r="r" t="t"/>
              <a:pathLst>
                <a:path extrusionOk="0" h="229442" w="1871588">
                  <a:moveTo>
                    <a:pt x="0" y="0"/>
                  </a:moveTo>
                  <a:lnTo>
                    <a:pt x="1871588" y="0"/>
                  </a:lnTo>
                  <a:lnTo>
                    <a:pt x="1871588" y="229442"/>
                  </a:lnTo>
                  <a:lnTo>
                    <a:pt x="0" y="229442"/>
                  </a:lnTo>
                  <a:close/>
                </a:path>
              </a:pathLst>
            </a:custGeom>
            <a:solidFill>
              <a:srgbClr val="000000">
                <a:alpha val="0"/>
              </a:srgbClr>
            </a:solidFill>
            <a:ln cap="sq" cmpd="sng" w="19050">
              <a:solidFill>
                <a:srgbClr val="000000"/>
              </a:solidFill>
              <a:prstDash val="solid"/>
              <a:miter lim="8000"/>
              <a:headEnd len="sm" w="sm" type="none"/>
              <a:tailEnd len="sm" w="sm" type="none"/>
            </a:ln>
          </p:spPr>
        </p:sp>
        <p:sp>
          <p:nvSpPr>
            <p:cNvPr id="34" name="Google Shape;34;p6"/>
            <p:cNvSpPr txBox="1"/>
            <p:nvPr/>
          </p:nvSpPr>
          <p:spPr>
            <a:xfrm>
              <a:off x="0" y="-47625"/>
              <a:ext cx="1871700" cy="277200"/>
            </a:xfrm>
            <a:prstGeom prst="rect">
              <a:avLst/>
            </a:prstGeom>
            <a:noFill/>
            <a:ln>
              <a:noFill/>
            </a:ln>
          </p:spPr>
          <p:txBody>
            <a:bodyPr anchorCtr="0" anchor="ctr" bIns="25400" lIns="25400" spcFirstLastPara="1" rIns="25400" wrap="square" tIns="25400">
              <a:noAutofit/>
            </a:bodyPr>
            <a:lstStyle/>
            <a:p>
              <a:pPr indent="0" lvl="0" marL="0" marR="0" rtl="0" algn="ctr">
                <a:lnSpc>
                  <a:spcPct val="2022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5" name="Google Shape;35;p6"/>
          <p:cNvSpPr txBox="1"/>
          <p:nvPr/>
        </p:nvSpPr>
        <p:spPr>
          <a:xfrm>
            <a:off x="5477509" y="1226039"/>
            <a:ext cx="977400" cy="231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500"/>
              <a:buFont typeface="Arial"/>
              <a:buNone/>
            </a:pPr>
            <a:r>
              <a:rPr b="0" i="0" lang="en-US" sz="1500" u="none" cap="none" strike="noStrike">
                <a:solidFill>
                  <a:srgbClr val="000000"/>
                </a:solidFill>
                <a:latin typeface="DM Sans"/>
                <a:ea typeface="DM Sans"/>
                <a:cs typeface="DM Sans"/>
                <a:sym typeface="DM Sans"/>
              </a:rPr>
              <a:t>Día, Fecha: </a:t>
            </a:r>
            <a:endParaRPr b="0" i="0" sz="700" u="none" cap="none" strike="noStrike">
              <a:solidFill>
                <a:srgbClr val="000000"/>
              </a:solidFill>
              <a:latin typeface="Arial"/>
              <a:ea typeface="Arial"/>
              <a:cs typeface="Arial"/>
              <a:sym typeface="Arial"/>
            </a:endParaRPr>
          </a:p>
        </p:txBody>
      </p:sp>
      <p:sp>
        <p:nvSpPr>
          <p:cNvPr id="36" name="Google Shape;36;p6"/>
          <p:cNvSpPr txBox="1"/>
          <p:nvPr/>
        </p:nvSpPr>
        <p:spPr>
          <a:xfrm>
            <a:off x="6852947" y="1225645"/>
            <a:ext cx="2106900" cy="231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500"/>
              <a:buFont typeface="Arial"/>
              <a:buNone/>
            </a:pPr>
            <a:r>
              <a:rPr b="0" i="0" lang="en-US" sz="1500" u="none" cap="none" strike="noStrike">
                <a:solidFill>
                  <a:srgbClr val="000000"/>
                </a:solidFill>
                <a:latin typeface="DM Sans"/>
                <a:ea typeface="DM Sans"/>
                <a:cs typeface="DM Sans"/>
                <a:sym typeface="DM Sans"/>
              </a:rPr>
              <a:t>Miércoles, </a:t>
            </a:r>
            <a:r>
              <a:rPr lang="en-US" sz="1500">
                <a:latin typeface="DM Sans"/>
                <a:ea typeface="DM Sans"/>
                <a:cs typeface="DM Sans"/>
                <a:sym typeface="DM Sans"/>
              </a:rPr>
              <a:t>02</a:t>
            </a:r>
            <a:r>
              <a:rPr b="0" i="0" lang="en-US" sz="1500" u="none" cap="none" strike="noStrike">
                <a:solidFill>
                  <a:srgbClr val="000000"/>
                </a:solidFill>
                <a:latin typeface="DM Sans"/>
                <a:ea typeface="DM Sans"/>
                <a:cs typeface="DM Sans"/>
                <a:sym typeface="DM Sans"/>
              </a:rPr>
              <a:t>/0</a:t>
            </a:r>
            <a:r>
              <a:rPr lang="en-US" sz="1500">
                <a:latin typeface="DM Sans"/>
                <a:ea typeface="DM Sans"/>
                <a:cs typeface="DM Sans"/>
                <a:sym typeface="DM Sans"/>
              </a:rPr>
              <a:t>9</a:t>
            </a:r>
            <a:r>
              <a:rPr b="0" i="0" lang="en-US" sz="1500" u="none" cap="none" strike="noStrike">
                <a:solidFill>
                  <a:srgbClr val="000000"/>
                </a:solidFill>
                <a:latin typeface="DM Sans"/>
                <a:ea typeface="DM Sans"/>
                <a:cs typeface="DM Sans"/>
                <a:sym typeface="DM Sans"/>
              </a:rPr>
              <a:t>/2026</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 name="Shape 40"/>
        <p:cNvGrpSpPr/>
        <p:nvPr/>
      </p:nvGrpSpPr>
      <p:grpSpPr>
        <a:xfrm>
          <a:off x="0" y="0"/>
          <a:ext cx="0" cy="0"/>
          <a:chOff x="0" y="0"/>
          <a:chExt cx="0" cy="0"/>
        </a:xfrm>
      </p:grpSpPr>
      <p:sp>
        <p:nvSpPr>
          <p:cNvPr id="41" name="Google Shape;41;p7"/>
          <p:cNvSpPr txBox="1"/>
          <p:nvPr/>
        </p:nvSpPr>
        <p:spPr>
          <a:xfrm>
            <a:off x="3679627" y="225000"/>
            <a:ext cx="4727700" cy="1331100"/>
          </a:xfrm>
          <a:prstGeom prst="rect">
            <a:avLst/>
          </a:prstGeom>
          <a:noFill/>
          <a:ln>
            <a:noFill/>
          </a:ln>
        </p:spPr>
        <p:txBody>
          <a:bodyPr anchorCtr="0" anchor="t" bIns="0" lIns="0" spcFirstLastPara="1" rIns="0" wrap="square" tIns="0">
            <a:spAutoFit/>
          </a:bodyPr>
          <a:lstStyle/>
          <a:p>
            <a:pPr indent="0" lvl="0" marL="0" marR="0" rtl="0" algn="ctr">
              <a:lnSpc>
                <a:spcPct val="92003"/>
              </a:lnSpc>
              <a:spcBef>
                <a:spcPts val="0"/>
              </a:spcBef>
              <a:spcAft>
                <a:spcPts val="0"/>
              </a:spcAft>
              <a:buClr>
                <a:srgbClr val="000000"/>
              </a:buClr>
              <a:buSzPts val="1900"/>
              <a:buFont typeface="Arial"/>
              <a:buNone/>
            </a:pPr>
            <a:r>
              <a:rPr b="0" i="0" lang="en-US" sz="7500" u="none" cap="none" strike="noStrike">
                <a:solidFill>
                  <a:schemeClr val="dk1"/>
                </a:solidFill>
                <a:latin typeface="Arial"/>
                <a:ea typeface="Arial"/>
                <a:cs typeface="Arial"/>
                <a:sym typeface="Arial"/>
              </a:rPr>
              <a:t>Anuncios</a:t>
            </a:r>
            <a:endParaRPr b="0" i="0" sz="7500" u="none" cap="none" strike="noStrike">
              <a:solidFill>
                <a:schemeClr val="dk1"/>
              </a:solidFill>
              <a:latin typeface="Arial"/>
              <a:ea typeface="Arial"/>
              <a:cs typeface="Arial"/>
              <a:sym typeface="Arial"/>
            </a:endParaRPr>
          </a:p>
          <a:p>
            <a:pPr indent="0" lvl="0" marL="0" marR="0" rtl="0" algn="l">
              <a:lnSpc>
                <a:spcPct val="92003"/>
              </a:lnSpc>
              <a:spcBef>
                <a:spcPts val="0"/>
              </a:spcBef>
              <a:spcAft>
                <a:spcPts val="0"/>
              </a:spcAft>
              <a:buClr>
                <a:srgbClr val="000000"/>
              </a:buClr>
              <a:buSzPts val="1900"/>
              <a:buFont typeface="Arial"/>
              <a:buNone/>
            </a:pPr>
            <a:r>
              <a:t/>
            </a:r>
            <a:endParaRPr b="0" i="0" sz="1900" u="none" cap="none" strike="noStrike">
              <a:solidFill>
                <a:schemeClr val="dk1"/>
              </a:solidFill>
              <a:latin typeface="Geo"/>
              <a:ea typeface="Geo"/>
              <a:cs typeface="Geo"/>
              <a:sym typeface="Geo"/>
            </a:endParaRPr>
          </a:p>
        </p:txBody>
      </p:sp>
      <p:sp>
        <p:nvSpPr>
          <p:cNvPr id="42" name="Google Shape;42;p7"/>
          <p:cNvSpPr txBox="1"/>
          <p:nvPr/>
        </p:nvSpPr>
        <p:spPr>
          <a:xfrm>
            <a:off x="4068372" y="2092400"/>
            <a:ext cx="4809300" cy="20472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000000"/>
              </a:buClr>
              <a:buSzPts val="1800"/>
              <a:buFont typeface="Arial"/>
              <a:buNone/>
            </a:pPr>
            <a:r>
              <a:rPr b="0" i="0" lang="en-US" sz="3500" u="none" cap="none" strike="noStrike">
                <a:solidFill>
                  <a:schemeClr val="dk1"/>
                </a:solidFill>
                <a:latin typeface="DM Sans"/>
                <a:ea typeface="DM Sans"/>
                <a:cs typeface="DM Sans"/>
                <a:sym typeface="DM Sans"/>
              </a:rPr>
              <a:t>Calificación </a:t>
            </a:r>
            <a:r>
              <a:rPr lang="en-US" sz="3500">
                <a:solidFill>
                  <a:schemeClr val="dk1"/>
                </a:solidFill>
                <a:latin typeface="DM Sans"/>
                <a:ea typeface="DM Sans"/>
                <a:cs typeface="DM Sans"/>
                <a:sym typeface="DM Sans"/>
              </a:rPr>
              <a:t>Tarea 2 y HT3</a:t>
            </a:r>
            <a:endParaRPr b="0" i="0" sz="3500" u="none" cap="none" strike="noStrike">
              <a:solidFill>
                <a:schemeClr val="dk1"/>
              </a:solidFill>
              <a:latin typeface="DM Sans"/>
              <a:ea typeface="DM Sans"/>
              <a:cs typeface="DM Sans"/>
              <a:sym typeface="DM Sans"/>
            </a:endParaRPr>
          </a:p>
          <a:p>
            <a:pPr indent="0" lvl="0" marL="0" marR="0" rtl="0" algn="l">
              <a:lnSpc>
                <a:spcPct val="140011"/>
              </a:lnSpc>
              <a:spcBef>
                <a:spcPts val="0"/>
              </a:spcBef>
              <a:spcAft>
                <a:spcPts val="0"/>
              </a:spcAft>
              <a:buClr>
                <a:srgbClr val="000000"/>
              </a:buClr>
              <a:buSzPts val="1800"/>
              <a:buFont typeface="Arial"/>
              <a:buNone/>
            </a:pPr>
            <a:r>
              <a:rPr lang="en-US" sz="3500">
                <a:solidFill>
                  <a:schemeClr val="dk1"/>
                </a:solidFill>
                <a:latin typeface="DM Sans"/>
                <a:ea typeface="DM Sans"/>
                <a:cs typeface="DM Sans"/>
                <a:sym typeface="DM Sans"/>
              </a:rPr>
              <a:t>Practica 2</a:t>
            </a:r>
            <a:endParaRPr b="0" i="0" sz="3500" u="none" cap="none" strike="noStrike">
              <a:solidFill>
                <a:schemeClr val="dk1"/>
              </a:solidFill>
              <a:latin typeface="DM Sans"/>
              <a:ea typeface="DM Sans"/>
              <a:cs typeface="DM Sans"/>
              <a:sym typeface="DM Sans"/>
            </a:endParaRPr>
          </a:p>
        </p:txBody>
      </p:sp>
      <p:pic>
        <p:nvPicPr>
          <p:cNvPr id="43" name="Google Shape;43;p7"/>
          <p:cNvPicPr preferRelativeResize="0"/>
          <p:nvPr/>
        </p:nvPicPr>
        <p:blipFill rotWithShape="1">
          <a:blip r:embed="rId3">
            <a:alphaModFix/>
          </a:blip>
          <a:srcRect b="0" l="40533" r="24681" t="0"/>
          <a:stretch/>
        </p:blipFill>
        <p:spPr>
          <a:xfrm>
            <a:off x="0" y="0"/>
            <a:ext cx="3315288"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8"/>
          <p:cNvSpPr/>
          <p:nvPr/>
        </p:nvSpPr>
        <p:spPr>
          <a:xfrm>
            <a:off x="5715000" y="0"/>
            <a:ext cx="3429000" cy="5143500"/>
          </a:xfrm>
          <a:prstGeom prst="rect">
            <a:avLst/>
          </a:prstGeom>
          <a:solidFill>
            <a:srgbClr val="E1E1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0" name="Google Shape;50;p8"/>
          <p:cNvPicPr preferRelativeResize="0"/>
          <p:nvPr/>
        </p:nvPicPr>
        <p:blipFill rotWithShape="1">
          <a:blip r:embed="rId3">
            <a:alphaModFix/>
          </a:blip>
          <a:srcRect b="0" l="0" r="0" t="0"/>
          <a:stretch/>
        </p:blipFill>
        <p:spPr>
          <a:xfrm>
            <a:off x="5785842" y="380181"/>
            <a:ext cx="3287241" cy="4383063"/>
          </a:xfrm>
          <a:prstGeom prst="rect">
            <a:avLst/>
          </a:prstGeom>
          <a:noFill/>
          <a:ln>
            <a:noFill/>
          </a:ln>
        </p:spPr>
      </p:pic>
      <p:sp>
        <p:nvSpPr>
          <p:cNvPr id="51" name="Google Shape;51;p8"/>
          <p:cNvSpPr/>
          <p:nvPr/>
        </p:nvSpPr>
        <p:spPr>
          <a:xfrm>
            <a:off x="496119" y="2130549"/>
            <a:ext cx="4722763" cy="44298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2750"/>
              <a:buFont typeface="Raleway"/>
              <a:buNone/>
            </a:pPr>
            <a:r>
              <a:rPr b="0" i="0" lang="en-US" sz="2750" u="none" cap="none" strike="noStrike">
                <a:solidFill>
                  <a:srgbClr val="1B1B27"/>
                </a:solidFill>
                <a:latin typeface="Raleway"/>
                <a:ea typeface="Raleway"/>
                <a:cs typeface="Raleway"/>
                <a:sym typeface="Raleway"/>
              </a:rPr>
              <a:t>Modelado Analítico con dbt</a:t>
            </a:r>
            <a:endParaRPr b="0" i="0" sz="2750" u="none" cap="none" strike="noStrike">
              <a:solidFill>
                <a:schemeClr val="dk1"/>
              </a:solidFill>
              <a:latin typeface="Calibri"/>
              <a:ea typeface="Calibri"/>
              <a:cs typeface="Calibri"/>
              <a:sym typeface="Calibri"/>
            </a:endParaRPr>
          </a:p>
        </p:txBody>
      </p:sp>
      <p:sp>
        <p:nvSpPr>
          <p:cNvPr id="52" name="Google Shape;52;p8"/>
          <p:cNvSpPr/>
          <p:nvPr/>
        </p:nvSpPr>
        <p:spPr>
          <a:xfrm>
            <a:off x="496119" y="2786137"/>
            <a:ext cx="5179963" cy="226814"/>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C3939"/>
              </a:buClr>
              <a:buSzPts val="1100"/>
              <a:buFont typeface="Roboto"/>
              <a:buNone/>
            </a:pPr>
            <a:r>
              <a:rPr b="0" i="0" lang="en-US" sz="1100" u="none" cap="none" strike="noStrike">
                <a:solidFill>
                  <a:srgbClr val="3C3939"/>
                </a:solidFill>
                <a:latin typeface="Roboto"/>
                <a:ea typeface="Roboto"/>
                <a:cs typeface="Roboto"/>
                <a:sym typeface="Roboto"/>
              </a:rPr>
              <a:t>SQL, ELT, pruebas, documentación y trazabilidad</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9"/>
          <p:cNvSpPr/>
          <p:nvPr/>
        </p:nvSpPr>
        <p:spPr>
          <a:xfrm>
            <a:off x="0" y="0"/>
            <a:ext cx="3429000" cy="5143500"/>
          </a:xfrm>
          <a:prstGeom prst="rect">
            <a:avLst/>
          </a:prstGeom>
          <a:solidFill>
            <a:srgbClr val="E1E1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9" name="Google Shape;59;p9"/>
          <p:cNvPicPr preferRelativeResize="0"/>
          <p:nvPr/>
        </p:nvPicPr>
        <p:blipFill rotWithShape="1">
          <a:blip r:embed="rId3">
            <a:alphaModFix/>
          </a:blip>
          <a:srcRect b="0" l="0" r="0" t="0"/>
          <a:stretch/>
        </p:blipFill>
        <p:spPr>
          <a:xfrm>
            <a:off x="69726" y="378693"/>
            <a:ext cx="3289474" cy="4386039"/>
          </a:xfrm>
          <a:prstGeom prst="rect">
            <a:avLst/>
          </a:prstGeom>
          <a:noFill/>
          <a:ln>
            <a:noFill/>
          </a:ln>
        </p:spPr>
      </p:pic>
      <p:sp>
        <p:nvSpPr>
          <p:cNvPr id="60" name="Google Shape;60;p9"/>
          <p:cNvSpPr/>
          <p:nvPr/>
        </p:nvSpPr>
        <p:spPr>
          <a:xfrm>
            <a:off x="3925119" y="423714"/>
            <a:ext cx="4722763" cy="43606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2700"/>
              <a:buFont typeface="Raleway"/>
              <a:buNone/>
            </a:pPr>
            <a:r>
              <a:rPr b="0" i="0" lang="en-US" sz="2700" u="none" cap="none" strike="noStrike">
                <a:solidFill>
                  <a:srgbClr val="1B1B27"/>
                </a:solidFill>
                <a:latin typeface="Raleway"/>
                <a:ea typeface="Raleway"/>
                <a:cs typeface="Raleway"/>
                <a:sym typeface="Raleway"/>
              </a:rPr>
              <a:t>¿Qué es dbt?</a:t>
            </a:r>
            <a:endParaRPr b="0" i="0" sz="2700" u="none" cap="none" strike="noStrike">
              <a:solidFill>
                <a:schemeClr val="dk1"/>
              </a:solidFill>
              <a:latin typeface="Calibri"/>
              <a:ea typeface="Calibri"/>
              <a:cs typeface="Calibri"/>
              <a:sym typeface="Calibri"/>
            </a:endParaRPr>
          </a:p>
        </p:txBody>
      </p:sp>
      <p:sp>
        <p:nvSpPr>
          <p:cNvPr id="61" name="Google Shape;61;p9"/>
          <p:cNvSpPr/>
          <p:nvPr/>
        </p:nvSpPr>
        <p:spPr>
          <a:xfrm>
            <a:off x="3925119" y="1065833"/>
            <a:ext cx="4722763" cy="810444"/>
          </a:xfrm>
          <a:prstGeom prst="roundRect">
            <a:avLst>
              <a:gd fmla="val 7232"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9"/>
          <p:cNvSpPr/>
          <p:nvPr/>
        </p:nvSpPr>
        <p:spPr>
          <a:xfrm>
            <a:off x="4069407" y="1210121"/>
            <a:ext cx="4434185" cy="21803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350"/>
              <a:buFont typeface="Raleway"/>
              <a:buNone/>
            </a:pPr>
            <a:r>
              <a:rPr b="0" i="0" lang="en-US" sz="1350" u="none" cap="none" strike="noStrike">
                <a:solidFill>
                  <a:srgbClr val="3C3939"/>
                </a:solidFill>
                <a:latin typeface="Raleway"/>
                <a:ea typeface="Raleway"/>
                <a:cs typeface="Raleway"/>
                <a:sym typeface="Raleway"/>
              </a:rPr>
              <a:t>Transformación ELT</a:t>
            </a:r>
            <a:endParaRPr b="0" i="0" sz="1350" u="none" cap="none" strike="noStrike">
              <a:solidFill>
                <a:schemeClr val="dk1"/>
              </a:solidFill>
              <a:latin typeface="Calibri"/>
              <a:ea typeface="Calibri"/>
              <a:cs typeface="Calibri"/>
              <a:sym typeface="Calibri"/>
            </a:endParaRPr>
          </a:p>
        </p:txBody>
      </p:sp>
      <p:sp>
        <p:nvSpPr>
          <p:cNvPr id="63" name="Google Shape;63;p9"/>
          <p:cNvSpPr/>
          <p:nvPr/>
        </p:nvSpPr>
        <p:spPr>
          <a:xfrm>
            <a:off x="4069407" y="1510531"/>
            <a:ext cx="4434185" cy="221456"/>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3C3939"/>
              </a:buClr>
              <a:buSzPts val="1050"/>
              <a:buFont typeface="Roboto"/>
              <a:buNone/>
            </a:pPr>
            <a:r>
              <a:rPr b="0" i="0" lang="en-US" sz="1050" u="none" cap="none" strike="noStrike">
                <a:solidFill>
                  <a:srgbClr val="3C3939"/>
                </a:solidFill>
                <a:latin typeface="Roboto"/>
                <a:ea typeface="Roboto"/>
                <a:cs typeface="Roboto"/>
                <a:sym typeface="Roboto"/>
              </a:rPr>
              <a:t>Herramienta central que permite escribir modelos en SQL puro</a:t>
            </a:r>
            <a:endParaRPr b="0" i="0" sz="1050" u="none" cap="none" strike="noStrike">
              <a:solidFill>
                <a:schemeClr val="dk1"/>
              </a:solidFill>
              <a:latin typeface="Calibri"/>
              <a:ea typeface="Calibri"/>
              <a:cs typeface="Calibri"/>
              <a:sym typeface="Calibri"/>
            </a:endParaRPr>
          </a:p>
        </p:txBody>
      </p:sp>
      <p:sp>
        <p:nvSpPr>
          <p:cNvPr id="64" name="Google Shape;64;p9"/>
          <p:cNvSpPr/>
          <p:nvPr/>
        </p:nvSpPr>
        <p:spPr>
          <a:xfrm>
            <a:off x="3925119" y="2013645"/>
            <a:ext cx="4722763" cy="810444"/>
          </a:xfrm>
          <a:prstGeom prst="roundRect">
            <a:avLst>
              <a:gd fmla="val 7232"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a:off x="4069407" y="2157933"/>
            <a:ext cx="4434185" cy="21803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350"/>
              <a:buFont typeface="Raleway"/>
              <a:buNone/>
            </a:pPr>
            <a:r>
              <a:rPr b="0" i="0" lang="en-US" sz="1350" u="none" cap="none" strike="noStrike">
                <a:solidFill>
                  <a:srgbClr val="3C3939"/>
                </a:solidFill>
                <a:latin typeface="Raleway"/>
                <a:ea typeface="Raleway"/>
                <a:cs typeface="Raleway"/>
                <a:sym typeface="Raleway"/>
              </a:rPr>
              <a:t>Capas organizadas</a:t>
            </a:r>
            <a:endParaRPr b="0" i="0" sz="1350" u="none" cap="none" strike="noStrike">
              <a:solidFill>
                <a:schemeClr val="dk1"/>
              </a:solidFill>
              <a:latin typeface="Calibri"/>
              <a:ea typeface="Calibri"/>
              <a:cs typeface="Calibri"/>
              <a:sym typeface="Calibri"/>
            </a:endParaRPr>
          </a:p>
        </p:txBody>
      </p:sp>
      <p:sp>
        <p:nvSpPr>
          <p:cNvPr id="66" name="Google Shape;66;p9"/>
          <p:cNvSpPr/>
          <p:nvPr/>
        </p:nvSpPr>
        <p:spPr>
          <a:xfrm>
            <a:off x="4069407" y="2458343"/>
            <a:ext cx="4434185" cy="221456"/>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3C3939"/>
              </a:buClr>
              <a:buSzPts val="1050"/>
              <a:buFont typeface="Roboto"/>
              <a:buNone/>
            </a:pPr>
            <a:r>
              <a:rPr b="0" i="0" lang="en-US" sz="1050" u="none" cap="none" strike="noStrike">
                <a:solidFill>
                  <a:srgbClr val="3C3939"/>
                </a:solidFill>
                <a:latin typeface="Roboto"/>
                <a:ea typeface="Roboto"/>
                <a:cs typeface="Roboto"/>
                <a:sym typeface="Roboto"/>
              </a:rPr>
              <a:t>Estructura en staging, intermediate y marts</a:t>
            </a:r>
            <a:endParaRPr b="0" i="0" sz="1050" u="none" cap="none" strike="noStrike">
              <a:solidFill>
                <a:schemeClr val="dk1"/>
              </a:solidFill>
              <a:latin typeface="Calibri"/>
              <a:ea typeface="Calibri"/>
              <a:cs typeface="Calibri"/>
              <a:sym typeface="Calibri"/>
            </a:endParaRPr>
          </a:p>
        </p:txBody>
      </p:sp>
      <p:sp>
        <p:nvSpPr>
          <p:cNvPr id="67" name="Google Shape;67;p9"/>
          <p:cNvSpPr/>
          <p:nvPr/>
        </p:nvSpPr>
        <p:spPr>
          <a:xfrm>
            <a:off x="3925119" y="2961456"/>
            <a:ext cx="4722763" cy="810444"/>
          </a:xfrm>
          <a:prstGeom prst="roundRect">
            <a:avLst>
              <a:gd fmla="val 7232"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9"/>
          <p:cNvSpPr/>
          <p:nvPr/>
        </p:nvSpPr>
        <p:spPr>
          <a:xfrm>
            <a:off x="4069407" y="3105745"/>
            <a:ext cx="4434185" cy="21803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350"/>
              <a:buFont typeface="Raleway"/>
              <a:buNone/>
            </a:pPr>
            <a:r>
              <a:rPr b="0" i="0" lang="en-US" sz="1350" u="none" cap="none" strike="noStrike">
                <a:solidFill>
                  <a:srgbClr val="3C3939"/>
                </a:solidFill>
                <a:latin typeface="Raleway"/>
                <a:ea typeface="Raleway"/>
                <a:cs typeface="Raleway"/>
                <a:sym typeface="Raleway"/>
              </a:rPr>
              <a:t>Calidad y linaje</a:t>
            </a:r>
            <a:endParaRPr b="0" i="0" sz="1350" u="none" cap="none" strike="noStrike">
              <a:solidFill>
                <a:schemeClr val="dk1"/>
              </a:solidFill>
              <a:latin typeface="Calibri"/>
              <a:ea typeface="Calibri"/>
              <a:cs typeface="Calibri"/>
              <a:sym typeface="Calibri"/>
            </a:endParaRPr>
          </a:p>
        </p:txBody>
      </p:sp>
      <p:sp>
        <p:nvSpPr>
          <p:cNvPr id="69" name="Google Shape;69;p9"/>
          <p:cNvSpPr/>
          <p:nvPr/>
        </p:nvSpPr>
        <p:spPr>
          <a:xfrm>
            <a:off x="4069407" y="3406155"/>
            <a:ext cx="4434185" cy="221456"/>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3C3939"/>
              </a:buClr>
              <a:buSzPts val="1050"/>
              <a:buFont typeface="Roboto"/>
              <a:buNone/>
            </a:pPr>
            <a:r>
              <a:rPr b="0" i="0" lang="en-US" sz="1050" u="none" cap="none" strike="noStrike">
                <a:solidFill>
                  <a:srgbClr val="3C3939"/>
                </a:solidFill>
                <a:latin typeface="Roboto"/>
                <a:ea typeface="Roboto"/>
                <a:cs typeface="Roboto"/>
                <a:sym typeface="Roboto"/>
              </a:rPr>
              <a:t>Facilita pruebas, documentación y trazabilidad de datos</a:t>
            </a:r>
            <a:endParaRPr b="0" i="0" sz="1050" u="none" cap="none" strike="noStrike">
              <a:solidFill>
                <a:schemeClr val="dk1"/>
              </a:solidFill>
              <a:latin typeface="Calibri"/>
              <a:ea typeface="Calibri"/>
              <a:cs typeface="Calibri"/>
              <a:sym typeface="Calibri"/>
            </a:endParaRPr>
          </a:p>
        </p:txBody>
      </p:sp>
      <p:sp>
        <p:nvSpPr>
          <p:cNvPr id="70" name="Google Shape;70;p9"/>
          <p:cNvSpPr/>
          <p:nvPr/>
        </p:nvSpPr>
        <p:spPr>
          <a:xfrm>
            <a:off x="3925119" y="3909268"/>
            <a:ext cx="4722763" cy="810444"/>
          </a:xfrm>
          <a:prstGeom prst="roundRect">
            <a:avLst>
              <a:gd fmla="val 7232"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9"/>
          <p:cNvSpPr/>
          <p:nvPr/>
        </p:nvSpPr>
        <p:spPr>
          <a:xfrm>
            <a:off x="4069407" y="4053557"/>
            <a:ext cx="4434185" cy="21803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350"/>
              <a:buFont typeface="Raleway"/>
              <a:buNone/>
            </a:pPr>
            <a:r>
              <a:rPr b="0" i="0" lang="en-US" sz="1350" u="none" cap="none" strike="noStrike">
                <a:solidFill>
                  <a:srgbClr val="3C3939"/>
                </a:solidFill>
                <a:latin typeface="Raleway"/>
                <a:ea typeface="Raleway"/>
                <a:cs typeface="Raleway"/>
                <a:sym typeface="Raleway"/>
              </a:rPr>
              <a:t>Ingeniería de software</a:t>
            </a:r>
            <a:endParaRPr b="0" i="0" sz="1350" u="none" cap="none" strike="noStrike">
              <a:solidFill>
                <a:schemeClr val="dk1"/>
              </a:solidFill>
              <a:latin typeface="Calibri"/>
              <a:ea typeface="Calibri"/>
              <a:cs typeface="Calibri"/>
              <a:sym typeface="Calibri"/>
            </a:endParaRPr>
          </a:p>
        </p:txBody>
      </p:sp>
      <p:sp>
        <p:nvSpPr>
          <p:cNvPr id="72" name="Google Shape;72;p9"/>
          <p:cNvSpPr/>
          <p:nvPr/>
        </p:nvSpPr>
        <p:spPr>
          <a:xfrm>
            <a:off x="4069407" y="4353967"/>
            <a:ext cx="4434185" cy="221456"/>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3C3939"/>
              </a:buClr>
              <a:buSzPts val="1050"/>
              <a:buFont typeface="Roboto"/>
              <a:buNone/>
            </a:pPr>
            <a:r>
              <a:rPr b="0" i="0" lang="en-US" sz="1050" u="none" cap="none" strike="noStrike">
                <a:solidFill>
                  <a:srgbClr val="3C3939"/>
                </a:solidFill>
                <a:latin typeface="Roboto"/>
                <a:ea typeface="Roboto"/>
                <a:cs typeface="Roboto"/>
                <a:sym typeface="Roboto"/>
              </a:rPr>
              <a:t>Aplica prácticas de desarrollo al modelado analítico</a:t>
            </a:r>
            <a:endParaRPr b="0" i="0" sz="1050" u="none" cap="none" strike="noStrike">
              <a:solidFill>
                <a:schemeClr val="dk1"/>
              </a:solidFill>
              <a:latin typeface="Calibri"/>
              <a:ea typeface="Calibri"/>
              <a:cs typeface="Calibri"/>
              <a:sym typeface="Calibri"/>
            </a:endParaRPr>
          </a:p>
        </p:txBody>
      </p:sp>
      <p:sp>
        <p:nvSpPr>
          <p:cNvPr id="73" name="Google Shape;73;p9"/>
          <p:cNvSpPr/>
          <p:nvPr/>
        </p:nvSpPr>
        <p:spPr>
          <a:xfrm>
            <a:off x="7967375" y="4798925"/>
            <a:ext cx="1176600" cy="344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0"/>
          <p:cNvSpPr/>
          <p:nvPr/>
        </p:nvSpPr>
        <p:spPr>
          <a:xfrm>
            <a:off x="496119" y="770334"/>
            <a:ext cx="8151763" cy="44298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2750"/>
              <a:buFont typeface="Raleway"/>
              <a:buNone/>
            </a:pPr>
            <a:r>
              <a:rPr b="0" i="0" lang="en-US" sz="2750" u="none" cap="none" strike="noStrike">
                <a:solidFill>
                  <a:srgbClr val="1B1B27"/>
                </a:solidFill>
                <a:latin typeface="Raleway"/>
                <a:ea typeface="Raleway"/>
                <a:cs typeface="Raleway"/>
                <a:sym typeface="Raleway"/>
              </a:rPr>
              <a:t>ETL vs ELT</a:t>
            </a:r>
            <a:endParaRPr b="0" i="0" sz="2750" u="none" cap="none" strike="noStrike">
              <a:solidFill>
                <a:schemeClr val="dk1"/>
              </a:solidFill>
              <a:latin typeface="Calibri"/>
              <a:ea typeface="Calibri"/>
              <a:cs typeface="Calibri"/>
              <a:sym typeface="Calibri"/>
            </a:endParaRPr>
          </a:p>
        </p:txBody>
      </p:sp>
      <p:pic>
        <p:nvPicPr>
          <p:cNvPr descr="preencoded.png" id="80" name="Google Shape;80;p10"/>
          <p:cNvPicPr preferRelativeResize="0"/>
          <p:nvPr/>
        </p:nvPicPr>
        <p:blipFill rotWithShape="1">
          <a:blip r:embed="rId3">
            <a:alphaModFix/>
          </a:blip>
          <a:srcRect b="0" l="0" r="0" t="0"/>
          <a:stretch/>
        </p:blipFill>
        <p:spPr>
          <a:xfrm>
            <a:off x="496119" y="1585392"/>
            <a:ext cx="2628230" cy="2628230"/>
          </a:xfrm>
          <a:prstGeom prst="rect">
            <a:avLst/>
          </a:prstGeom>
          <a:noFill/>
          <a:ln>
            <a:noFill/>
          </a:ln>
        </p:spPr>
      </p:pic>
      <p:pic>
        <p:nvPicPr>
          <p:cNvPr descr="preencoded.png" id="81" name="Google Shape;81;p10"/>
          <p:cNvPicPr preferRelativeResize="0"/>
          <p:nvPr/>
        </p:nvPicPr>
        <p:blipFill rotWithShape="1">
          <a:blip r:embed="rId4">
            <a:alphaModFix/>
          </a:blip>
          <a:srcRect b="0" l="0" r="0" t="0"/>
          <a:stretch/>
        </p:blipFill>
        <p:spPr>
          <a:xfrm>
            <a:off x="3474988" y="1876648"/>
            <a:ext cx="1631305" cy="2045717"/>
          </a:xfrm>
          <a:prstGeom prst="rect">
            <a:avLst/>
          </a:prstGeom>
          <a:noFill/>
          <a:ln>
            <a:noFill/>
          </a:ln>
        </p:spPr>
      </p:pic>
      <p:sp>
        <p:nvSpPr>
          <p:cNvPr id="82" name="Google Shape;82;p10"/>
          <p:cNvSpPr/>
          <p:nvPr/>
        </p:nvSpPr>
        <p:spPr>
          <a:xfrm>
            <a:off x="3711997" y="2037457"/>
            <a:ext cx="1233488"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350"/>
              <a:buFont typeface="Raleway"/>
              <a:buNone/>
            </a:pPr>
            <a:r>
              <a:rPr b="0" i="0" lang="en-US" sz="1350" u="none" cap="none" strike="noStrike">
                <a:solidFill>
                  <a:srgbClr val="3C3939"/>
                </a:solidFill>
                <a:latin typeface="Raleway"/>
                <a:ea typeface="Raleway"/>
                <a:cs typeface="Raleway"/>
                <a:sym typeface="Raleway"/>
              </a:rPr>
              <a:t>ETL</a:t>
            </a:r>
            <a:endParaRPr b="0" i="0" sz="1350" u="none" cap="none" strike="noStrike">
              <a:solidFill>
                <a:schemeClr val="dk1"/>
              </a:solidFill>
              <a:latin typeface="Calibri"/>
              <a:ea typeface="Calibri"/>
              <a:cs typeface="Calibri"/>
              <a:sym typeface="Calibri"/>
            </a:endParaRPr>
          </a:p>
        </p:txBody>
      </p:sp>
      <p:sp>
        <p:nvSpPr>
          <p:cNvPr id="83" name="Google Shape;83;p10"/>
          <p:cNvSpPr/>
          <p:nvPr/>
        </p:nvSpPr>
        <p:spPr>
          <a:xfrm>
            <a:off x="3711997" y="2400672"/>
            <a:ext cx="1233488" cy="90725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C3939"/>
              </a:buClr>
              <a:buSzPts val="1100"/>
              <a:buFont typeface="Roboto"/>
              <a:buNone/>
            </a:pPr>
            <a:r>
              <a:rPr b="0" i="0" lang="en-US" sz="1100" u="none" cap="none" strike="noStrike">
                <a:solidFill>
                  <a:srgbClr val="3C3939"/>
                </a:solidFill>
                <a:latin typeface="Roboto"/>
                <a:ea typeface="Roboto"/>
                <a:cs typeface="Roboto"/>
                <a:sym typeface="Roboto"/>
              </a:rPr>
              <a:t>Transforma </a:t>
            </a:r>
            <a:r>
              <a:rPr b="1" i="0" lang="en-US" sz="1100" u="none" cap="none" strike="noStrike">
                <a:solidFill>
                  <a:srgbClr val="3C3939"/>
                </a:solidFill>
                <a:latin typeface="Roboto"/>
                <a:ea typeface="Roboto"/>
                <a:cs typeface="Roboto"/>
                <a:sym typeface="Roboto"/>
              </a:rPr>
              <a:t>antes</a:t>
            </a:r>
            <a:r>
              <a:rPr b="0" i="0" lang="en-US" sz="1100" u="none" cap="none" strike="noStrike">
                <a:solidFill>
                  <a:srgbClr val="3C3939"/>
                </a:solidFill>
                <a:latin typeface="Roboto"/>
                <a:ea typeface="Roboto"/>
                <a:cs typeface="Roboto"/>
                <a:sym typeface="Roboto"/>
              </a:rPr>
              <a:t> de cargar; depende de herramientas externas</a:t>
            </a:r>
            <a:endParaRPr b="0" i="0" sz="1100" u="none" cap="none" strike="noStrike">
              <a:solidFill>
                <a:schemeClr val="dk1"/>
              </a:solidFill>
              <a:latin typeface="Calibri"/>
              <a:ea typeface="Calibri"/>
              <a:cs typeface="Calibri"/>
              <a:sym typeface="Calibri"/>
            </a:endParaRPr>
          </a:p>
        </p:txBody>
      </p:sp>
      <p:pic>
        <p:nvPicPr>
          <p:cNvPr descr="preencoded.png" id="84" name="Google Shape;84;p10"/>
          <p:cNvPicPr preferRelativeResize="0"/>
          <p:nvPr/>
        </p:nvPicPr>
        <p:blipFill rotWithShape="1">
          <a:blip r:embed="rId4">
            <a:alphaModFix/>
          </a:blip>
          <a:srcRect b="0" l="0" r="0" t="0"/>
          <a:stretch/>
        </p:blipFill>
        <p:spPr>
          <a:xfrm>
            <a:off x="5248052" y="1876648"/>
            <a:ext cx="1631379" cy="2045717"/>
          </a:xfrm>
          <a:prstGeom prst="rect">
            <a:avLst/>
          </a:prstGeom>
          <a:noFill/>
          <a:ln>
            <a:noFill/>
          </a:ln>
        </p:spPr>
      </p:pic>
      <p:sp>
        <p:nvSpPr>
          <p:cNvPr id="85" name="Google Shape;85;p10"/>
          <p:cNvSpPr/>
          <p:nvPr/>
        </p:nvSpPr>
        <p:spPr>
          <a:xfrm>
            <a:off x="5485061" y="2037457"/>
            <a:ext cx="1233562"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350"/>
              <a:buFont typeface="Raleway"/>
              <a:buNone/>
            </a:pPr>
            <a:r>
              <a:rPr b="0" i="0" lang="en-US" sz="1350" u="none" cap="none" strike="noStrike">
                <a:solidFill>
                  <a:srgbClr val="3C3939"/>
                </a:solidFill>
                <a:latin typeface="Raleway"/>
                <a:ea typeface="Raleway"/>
                <a:cs typeface="Raleway"/>
                <a:sym typeface="Raleway"/>
              </a:rPr>
              <a:t>ELT</a:t>
            </a:r>
            <a:endParaRPr b="0" i="0" sz="1350" u="none" cap="none" strike="noStrike">
              <a:solidFill>
                <a:schemeClr val="dk1"/>
              </a:solidFill>
              <a:latin typeface="Calibri"/>
              <a:ea typeface="Calibri"/>
              <a:cs typeface="Calibri"/>
              <a:sym typeface="Calibri"/>
            </a:endParaRPr>
          </a:p>
        </p:txBody>
      </p:sp>
      <p:sp>
        <p:nvSpPr>
          <p:cNvPr id="86" name="Google Shape;86;p10"/>
          <p:cNvSpPr/>
          <p:nvPr/>
        </p:nvSpPr>
        <p:spPr>
          <a:xfrm>
            <a:off x="5485061" y="2400672"/>
            <a:ext cx="1233562" cy="1360884"/>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C3939"/>
              </a:buClr>
              <a:buSzPts val="1100"/>
              <a:buFont typeface="Roboto"/>
              <a:buNone/>
            </a:pPr>
            <a:r>
              <a:rPr b="0" i="0" lang="en-US" sz="1100" u="none" cap="none" strike="noStrike">
                <a:solidFill>
                  <a:srgbClr val="3C3939"/>
                </a:solidFill>
                <a:latin typeface="Roboto"/>
                <a:ea typeface="Roboto"/>
                <a:cs typeface="Roboto"/>
                <a:sym typeface="Roboto"/>
              </a:rPr>
              <a:t>Carga primero y transforma después; aprovecha motores analíticos modernos</a:t>
            </a:r>
            <a:endParaRPr b="0" i="0" sz="1100" u="none" cap="none" strike="noStrike">
              <a:solidFill>
                <a:schemeClr val="dk1"/>
              </a:solidFill>
              <a:latin typeface="Calibri"/>
              <a:ea typeface="Calibri"/>
              <a:cs typeface="Calibri"/>
              <a:sym typeface="Calibri"/>
            </a:endParaRPr>
          </a:p>
        </p:txBody>
      </p:sp>
      <p:pic>
        <p:nvPicPr>
          <p:cNvPr descr="preencoded.png" id="87" name="Google Shape;87;p10"/>
          <p:cNvPicPr preferRelativeResize="0"/>
          <p:nvPr/>
        </p:nvPicPr>
        <p:blipFill rotWithShape="1">
          <a:blip r:embed="rId4">
            <a:alphaModFix/>
          </a:blip>
          <a:srcRect b="0" l="0" r="0" t="0"/>
          <a:stretch/>
        </p:blipFill>
        <p:spPr>
          <a:xfrm>
            <a:off x="7021190" y="1876648"/>
            <a:ext cx="1631379" cy="2045717"/>
          </a:xfrm>
          <a:prstGeom prst="rect">
            <a:avLst/>
          </a:prstGeom>
          <a:noFill/>
          <a:ln>
            <a:noFill/>
          </a:ln>
        </p:spPr>
      </p:pic>
      <p:sp>
        <p:nvSpPr>
          <p:cNvPr id="88" name="Google Shape;88;p10"/>
          <p:cNvSpPr/>
          <p:nvPr/>
        </p:nvSpPr>
        <p:spPr>
          <a:xfrm>
            <a:off x="7258199" y="2037457"/>
            <a:ext cx="1233562"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350"/>
              <a:buFont typeface="Raleway"/>
              <a:buNone/>
            </a:pPr>
            <a:r>
              <a:rPr b="0" i="0" lang="en-US" sz="1350" u="none" cap="none" strike="noStrike">
                <a:solidFill>
                  <a:srgbClr val="3C3939"/>
                </a:solidFill>
                <a:latin typeface="Raleway"/>
                <a:ea typeface="Raleway"/>
                <a:cs typeface="Raleway"/>
                <a:sym typeface="Raleway"/>
              </a:rPr>
              <a:t>dbt</a:t>
            </a:r>
            <a:endParaRPr b="0" i="0" sz="1350" u="none" cap="none" strike="noStrike">
              <a:solidFill>
                <a:schemeClr val="dk1"/>
              </a:solidFill>
              <a:latin typeface="Calibri"/>
              <a:ea typeface="Calibri"/>
              <a:cs typeface="Calibri"/>
              <a:sym typeface="Calibri"/>
            </a:endParaRPr>
          </a:p>
        </p:txBody>
      </p:sp>
      <p:sp>
        <p:nvSpPr>
          <p:cNvPr id="89" name="Google Shape;89;p10"/>
          <p:cNvSpPr/>
          <p:nvPr/>
        </p:nvSpPr>
        <p:spPr>
          <a:xfrm>
            <a:off x="7258199" y="2400672"/>
            <a:ext cx="1233562" cy="113407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C3939"/>
              </a:buClr>
              <a:buSzPts val="1100"/>
              <a:buFont typeface="Roboto"/>
              <a:buNone/>
            </a:pPr>
            <a:r>
              <a:rPr b="0" i="0" lang="en-US" sz="1100" u="none" cap="none" strike="noStrike">
                <a:solidFill>
                  <a:srgbClr val="3C3939"/>
                </a:solidFill>
                <a:latin typeface="Roboto"/>
                <a:ea typeface="Roboto"/>
                <a:cs typeface="Roboto"/>
                <a:sym typeface="Roboto"/>
              </a:rPr>
              <a:t>Se ubica en la </a:t>
            </a:r>
            <a:r>
              <a:rPr b="1" i="0" lang="en-US" sz="1100" u="none" cap="none" strike="noStrike">
                <a:solidFill>
                  <a:srgbClr val="3C3939"/>
                </a:solidFill>
                <a:latin typeface="Roboto"/>
                <a:ea typeface="Roboto"/>
                <a:cs typeface="Roboto"/>
                <a:sym typeface="Roboto"/>
              </a:rPr>
              <a:t>T de ELT</a:t>
            </a:r>
            <a:r>
              <a:rPr b="0" i="0" lang="en-US" sz="1100" u="none" cap="none" strike="noStrike">
                <a:solidFill>
                  <a:srgbClr val="3C3939"/>
                </a:solidFill>
                <a:latin typeface="Roboto"/>
                <a:ea typeface="Roboto"/>
                <a:cs typeface="Roboto"/>
                <a:sym typeface="Roboto"/>
              </a:rPr>
              <a:t>: transformación gobernada de datos ya cargados</a:t>
            </a:r>
            <a:endParaRPr b="0" i="0" sz="1100" u="none" cap="none" strike="noStrike">
              <a:solidFill>
                <a:schemeClr val="dk1"/>
              </a:solidFill>
              <a:latin typeface="Calibri"/>
              <a:ea typeface="Calibri"/>
              <a:cs typeface="Calibri"/>
              <a:sym typeface="Calibri"/>
            </a:endParaRPr>
          </a:p>
        </p:txBody>
      </p:sp>
      <p:sp>
        <p:nvSpPr>
          <p:cNvPr id="90" name="Google Shape;90;p10"/>
          <p:cNvSpPr/>
          <p:nvPr/>
        </p:nvSpPr>
        <p:spPr>
          <a:xfrm>
            <a:off x="7967375" y="4798925"/>
            <a:ext cx="1176600" cy="344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1"/>
          <p:cNvSpPr/>
          <p:nvPr/>
        </p:nvSpPr>
        <p:spPr>
          <a:xfrm>
            <a:off x="496119" y="390004"/>
            <a:ext cx="8151763" cy="42914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2700"/>
              <a:buFont typeface="Raleway"/>
              <a:buNone/>
            </a:pPr>
            <a:r>
              <a:rPr b="0" i="0" lang="en-US" sz="2700" u="none" cap="none" strike="noStrike">
                <a:solidFill>
                  <a:srgbClr val="1B1B27"/>
                </a:solidFill>
                <a:latin typeface="Raleway"/>
                <a:ea typeface="Raleway"/>
                <a:cs typeface="Raleway"/>
                <a:sym typeface="Raleway"/>
              </a:rPr>
              <a:t>Rol de dbt en el Stack Moderno</a:t>
            </a:r>
            <a:endParaRPr b="0" i="0" sz="2700" u="none" cap="none" strike="noStrike">
              <a:solidFill>
                <a:schemeClr val="dk1"/>
              </a:solidFill>
              <a:latin typeface="Calibri"/>
              <a:ea typeface="Calibri"/>
              <a:cs typeface="Calibri"/>
              <a:sym typeface="Calibri"/>
            </a:endParaRPr>
          </a:p>
        </p:txBody>
      </p:sp>
      <p:pic>
        <p:nvPicPr>
          <p:cNvPr descr="preencoded.png" id="97" name="Google Shape;97;p11"/>
          <p:cNvPicPr preferRelativeResize="0"/>
          <p:nvPr/>
        </p:nvPicPr>
        <p:blipFill rotWithShape="1">
          <a:blip r:embed="rId3">
            <a:alphaModFix/>
          </a:blip>
          <a:srcRect b="0" l="0" r="0" t="0"/>
          <a:stretch/>
        </p:blipFill>
        <p:spPr>
          <a:xfrm>
            <a:off x="496119" y="1085180"/>
            <a:ext cx="8151763" cy="3668241"/>
          </a:xfrm>
          <a:prstGeom prst="rect">
            <a:avLst/>
          </a:prstGeom>
          <a:noFill/>
          <a:ln>
            <a:noFill/>
          </a:ln>
        </p:spPr>
      </p:pic>
      <p:sp>
        <p:nvSpPr>
          <p:cNvPr id="98" name="Google Shape;98;p11"/>
          <p:cNvSpPr/>
          <p:nvPr/>
        </p:nvSpPr>
        <p:spPr>
          <a:xfrm>
            <a:off x="1724067" y="1153641"/>
            <a:ext cx="1426538" cy="220447"/>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3C3939"/>
              </a:buClr>
              <a:buSzPts val="1350"/>
              <a:buFont typeface="Raleway"/>
              <a:buNone/>
            </a:pPr>
            <a:r>
              <a:rPr b="0" i="0" lang="en-US" sz="1350" u="none" cap="none" strike="noStrike">
                <a:solidFill>
                  <a:srgbClr val="3C3939"/>
                </a:solidFill>
                <a:latin typeface="Raleway"/>
                <a:ea typeface="Raleway"/>
                <a:cs typeface="Raleway"/>
                <a:sym typeface="Raleway"/>
              </a:rPr>
              <a:t>Fuentes</a:t>
            </a:r>
            <a:endParaRPr b="0" i="0" sz="1350" u="none" cap="none" strike="noStrike">
              <a:solidFill>
                <a:schemeClr val="dk1"/>
              </a:solidFill>
              <a:latin typeface="Calibri"/>
              <a:ea typeface="Calibri"/>
              <a:cs typeface="Calibri"/>
              <a:sym typeface="Calibri"/>
            </a:endParaRPr>
          </a:p>
        </p:txBody>
      </p:sp>
      <p:sp>
        <p:nvSpPr>
          <p:cNvPr id="99" name="Google Shape;99;p11"/>
          <p:cNvSpPr/>
          <p:nvPr/>
        </p:nvSpPr>
        <p:spPr>
          <a:xfrm>
            <a:off x="1724067" y="1436794"/>
            <a:ext cx="1426538" cy="520623"/>
          </a:xfrm>
          <a:prstGeom prst="rect">
            <a:avLst/>
          </a:prstGeom>
          <a:noFill/>
          <a:ln>
            <a:noFill/>
          </a:ln>
        </p:spPr>
        <p:txBody>
          <a:bodyPr anchorCtr="0" anchor="t" bIns="0" lIns="0" spcFirstLastPara="1" rIns="0" wrap="square" tIns="0">
            <a:noAutofit/>
          </a:bodyPr>
          <a:lstStyle/>
          <a:p>
            <a:pPr indent="0" lvl="0" marL="0" marR="0" rtl="0" algn="ctr">
              <a:lnSpc>
                <a:spcPct val="103000"/>
              </a:lnSpc>
              <a:spcBef>
                <a:spcPts val="0"/>
              </a:spcBef>
              <a:spcAft>
                <a:spcPts val="0"/>
              </a:spcAft>
              <a:buClr>
                <a:srgbClr val="3C3939"/>
              </a:buClr>
              <a:buSzPts val="1100"/>
              <a:buFont typeface="Roboto"/>
              <a:buNone/>
            </a:pPr>
            <a:r>
              <a:rPr b="0" i="0" lang="en-US" sz="1100" u="none" cap="none" strike="noStrike">
                <a:solidFill>
                  <a:srgbClr val="3C3939"/>
                </a:solidFill>
                <a:latin typeface="Roboto"/>
                <a:ea typeface="Roboto"/>
                <a:cs typeface="Roboto"/>
                <a:sym typeface="Roboto"/>
              </a:rPr>
              <a:t>Bases transaccionales, APIs, ERPs, CRMs</a:t>
            </a:r>
            <a:endParaRPr b="0" i="0" sz="1100" u="none" cap="none" strike="noStrike">
              <a:solidFill>
                <a:schemeClr val="dk1"/>
              </a:solidFill>
              <a:latin typeface="Calibri"/>
              <a:ea typeface="Calibri"/>
              <a:cs typeface="Calibri"/>
              <a:sym typeface="Calibri"/>
            </a:endParaRPr>
          </a:p>
        </p:txBody>
      </p:sp>
      <p:sp>
        <p:nvSpPr>
          <p:cNvPr id="100" name="Google Shape;100;p11"/>
          <p:cNvSpPr/>
          <p:nvPr/>
        </p:nvSpPr>
        <p:spPr>
          <a:xfrm>
            <a:off x="3134929" y="3991532"/>
            <a:ext cx="1434376" cy="220447"/>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3C3939"/>
              </a:buClr>
              <a:buSzPts val="1350"/>
              <a:buFont typeface="Raleway"/>
              <a:buNone/>
            </a:pPr>
            <a:r>
              <a:rPr b="0" i="0" lang="en-US" sz="1350" u="none" cap="none" strike="noStrike">
                <a:solidFill>
                  <a:srgbClr val="3C3939"/>
                </a:solidFill>
                <a:latin typeface="Raleway"/>
                <a:ea typeface="Raleway"/>
                <a:cs typeface="Raleway"/>
                <a:sym typeface="Raleway"/>
              </a:rPr>
              <a:t>Ingesta</a:t>
            </a:r>
            <a:endParaRPr b="0" i="0" sz="1350" u="none" cap="none" strike="noStrike">
              <a:solidFill>
                <a:schemeClr val="dk1"/>
              </a:solidFill>
              <a:latin typeface="Calibri"/>
              <a:ea typeface="Calibri"/>
              <a:cs typeface="Calibri"/>
              <a:sym typeface="Calibri"/>
            </a:endParaRPr>
          </a:p>
        </p:txBody>
      </p:sp>
      <p:sp>
        <p:nvSpPr>
          <p:cNvPr id="101" name="Google Shape;101;p11"/>
          <p:cNvSpPr/>
          <p:nvPr/>
        </p:nvSpPr>
        <p:spPr>
          <a:xfrm>
            <a:off x="3134929" y="4274684"/>
            <a:ext cx="1434376" cy="347082"/>
          </a:xfrm>
          <a:prstGeom prst="rect">
            <a:avLst/>
          </a:prstGeom>
          <a:noFill/>
          <a:ln>
            <a:noFill/>
          </a:ln>
        </p:spPr>
        <p:txBody>
          <a:bodyPr anchorCtr="0" anchor="t" bIns="0" lIns="0" spcFirstLastPara="1" rIns="0" wrap="square" tIns="0">
            <a:noAutofit/>
          </a:bodyPr>
          <a:lstStyle/>
          <a:p>
            <a:pPr indent="0" lvl="0" marL="0" marR="0" rtl="0" algn="ctr">
              <a:lnSpc>
                <a:spcPct val="103000"/>
              </a:lnSpc>
              <a:spcBef>
                <a:spcPts val="0"/>
              </a:spcBef>
              <a:spcAft>
                <a:spcPts val="0"/>
              </a:spcAft>
              <a:buClr>
                <a:srgbClr val="3C3939"/>
              </a:buClr>
              <a:buSzPts val="1100"/>
              <a:buFont typeface="Roboto"/>
              <a:buNone/>
            </a:pPr>
            <a:r>
              <a:rPr b="0" i="0" lang="en-US" sz="1100" u="none" cap="none" strike="noStrike">
                <a:solidFill>
                  <a:srgbClr val="3C3939"/>
                </a:solidFill>
                <a:latin typeface="Roboto"/>
                <a:ea typeface="Roboto"/>
                <a:cs typeface="Roboto"/>
                <a:sym typeface="Roboto"/>
              </a:rPr>
              <a:t>Herramientas de sincronización y carga</a:t>
            </a:r>
            <a:endParaRPr b="0" i="0" sz="1100" u="none" cap="none" strike="noStrike">
              <a:solidFill>
                <a:schemeClr val="dk1"/>
              </a:solidFill>
              <a:latin typeface="Calibri"/>
              <a:ea typeface="Calibri"/>
              <a:cs typeface="Calibri"/>
              <a:sym typeface="Calibri"/>
            </a:endParaRPr>
          </a:p>
        </p:txBody>
      </p:sp>
      <p:sp>
        <p:nvSpPr>
          <p:cNvPr id="102" name="Google Shape;102;p11"/>
          <p:cNvSpPr/>
          <p:nvPr/>
        </p:nvSpPr>
        <p:spPr>
          <a:xfrm>
            <a:off x="4530115" y="1126208"/>
            <a:ext cx="1426538" cy="220447"/>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3C3939"/>
              </a:buClr>
              <a:buSzPts val="1350"/>
              <a:buFont typeface="Raleway"/>
              <a:buNone/>
            </a:pPr>
            <a:r>
              <a:rPr b="0" i="0" lang="en-US" sz="1350" u="none" cap="none" strike="noStrike">
                <a:solidFill>
                  <a:srgbClr val="3C3939"/>
                </a:solidFill>
                <a:latin typeface="Raleway"/>
                <a:ea typeface="Raleway"/>
                <a:cs typeface="Raleway"/>
                <a:sym typeface="Raleway"/>
              </a:rPr>
              <a:t>Transformación</a:t>
            </a:r>
            <a:endParaRPr b="0" i="0" sz="1350" u="none" cap="none" strike="noStrike">
              <a:solidFill>
                <a:schemeClr val="dk1"/>
              </a:solidFill>
              <a:latin typeface="Calibri"/>
              <a:ea typeface="Calibri"/>
              <a:cs typeface="Calibri"/>
              <a:sym typeface="Calibri"/>
            </a:endParaRPr>
          </a:p>
        </p:txBody>
      </p:sp>
      <p:sp>
        <p:nvSpPr>
          <p:cNvPr id="103" name="Google Shape;103;p11"/>
          <p:cNvSpPr/>
          <p:nvPr/>
        </p:nvSpPr>
        <p:spPr>
          <a:xfrm>
            <a:off x="4530115" y="1409360"/>
            <a:ext cx="1426538" cy="520623"/>
          </a:xfrm>
          <a:prstGeom prst="rect">
            <a:avLst/>
          </a:prstGeom>
          <a:noFill/>
          <a:ln>
            <a:noFill/>
          </a:ln>
        </p:spPr>
        <p:txBody>
          <a:bodyPr anchorCtr="0" anchor="t" bIns="0" lIns="0" spcFirstLastPara="1" rIns="0" wrap="square" tIns="0">
            <a:noAutofit/>
          </a:bodyPr>
          <a:lstStyle/>
          <a:p>
            <a:pPr indent="0" lvl="0" marL="0" marR="0" rtl="0" algn="ctr">
              <a:lnSpc>
                <a:spcPct val="103000"/>
              </a:lnSpc>
              <a:spcBef>
                <a:spcPts val="0"/>
              </a:spcBef>
              <a:spcAft>
                <a:spcPts val="0"/>
              </a:spcAft>
              <a:buClr>
                <a:srgbClr val="3C3939"/>
              </a:buClr>
              <a:buSzPts val="1100"/>
              <a:buFont typeface="Roboto"/>
              <a:buNone/>
            </a:pPr>
            <a:r>
              <a:rPr b="0" i="0" lang="en-US" sz="1100" u="none" cap="none" strike="noStrike">
                <a:solidFill>
                  <a:srgbClr val="3C3939"/>
                </a:solidFill>
                <a:latin typeface="Roboto"/>
                <a:ea typeface="Roboto"/>
                <a:cs typeface="Roboto"/>
                <a:sym typeface="Roboto"/>
              </a:rPr>
              <a:t>dbt: modelos SQL, pruebas, documentación</a:t>
            </a:r>
            <a:endParaRPr b="0" i="0" sz="1100" u="none" cap="none" strike="noStrike">
              <a:solidFill>
                <a:schemeClr val="dk1"/>
              </a:solidFill>
              <a:latin typeface="Calibri"/>
              <a:ea typeface="Calibri"/>
              <a:cs typeface="Calibri"/>
              <a:sym typeface="Calibri"/>
            </a:endParaRPr>
          </a:p>
        </p:txBody>
      </p:sp>
      <p:sp>
        <p:nvSpPr>
          <p:cNvPr id="104" name="Google Shape;104;p11"/>
          <p:cNvSpPr/>
          <p:nvPr/>
        </p:nvSpPr>
        <p:spPr>
          <a:xfrm>
            <a:off x="5940977" y="3991532"/>
            <a:ext cx="1426539" cy="220447"/>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3C3939"/>
              </a:buClr>
              <a:buSzPts val="1350"/>
              <a:buFont typeface="Raleway"/>
              <a:buNone/>
            </a:pPr>
            <a:r>
              <a:rPr b="0" i="0" lang="en-US" sz="1350" u="none" cap="none" strike="noStrike">
                <a:solidFill>
                  <a:srgbClr val="3C3939"/>
                </a:solidFill>
                <a:latin typeface="Raleway"/>
                <a:ea typeface="Raleway"/>
                <a:cs typeface="Raleway"/>
                <a:sym typeface="Raleway"/>
              </a:rPr>
              <a:t>Consumo</a:t>
            </a:r>
            <a:endParaRPr b="0" i="0" sz="1350" u="none" cap="none" strike="noStrike">
              <a:solidFill>
                <a:schemeClr val="dk1"/>
              </a:solidFill>
              <a:latin typeface="Calibri"/>
              <a:ea typeface="Calibri"/>
              <a:cs typeface="Calibri"/>
              <a:sym typeface="Calibri"/>
            </a:endParaRPr>
          </a:p>
        </p:txBody>
      </p:sp>
      <p:sp>
        <p:nvSpPr>
          <p:cNvPr id="105" name="Google Shape;105;p11"/>
          <p:cNvSpPr/>
          <p:nvPr/>
        </p:nvSpPr>
        <p:spPr>
          <a:xfrm>
            <a:off x="5940977" y="4274684"/>
            <a:ext cx="1426539" cy="347082"/>
          </a:xfrm>
          <a:prstGeom prst="rect">
            <a:avLst/>
          </a:prstGeom>
          <a:noFill/>
          <a:ln>
            <a:noFill/>
          </a:ln>
        </p:spPr>
        <p:txBody>
          <a:bodyPr anchorCtr="0" anchor="t" bIns="0" lIns="0" spcFirstLastPara="1" rIns="0" wrap="square" tIns="0">
            <a:noAutofit/>
          </a:bodyPr>
          <a:lstStyle/>
          <a:p>
            <a:pPr indent="0" lvl="0" marL="0" marR="0" rtl="0" algn="ctr">
              <a:lnSpc>
                <a:spcPct val="103000"/>
              </a:lnSpc>
              <a:spcBef>
                <a:spcPts val="0"/>
              </a:spcBef>
              <a:spcAft>
                <a:spcPts val="0"/>
              </a:spcAft>
              <a:buClr>
                <a:srgbClr val="3C3939"/>
              </a:buClr>
              <a:buSzPts val="1100"/>
              <a:buFont typeface="Roboto"/>
              <a:buNone/>
            </a:pPr>
            <a:r>
              <a:rPr b="0" i="0" lang="en-US" sz="1100" u="none" cap="none" strike="noStrike">
                <a:solidFill>
                  <a:srgbClr val="3C3939"/>
                </a:solidFill>
                <a:latin typeface="Roboto"/>
                <a:ea typeface="Roboto"/>
                <a:cs typeface="Roboto"/>
                <a:sym typeface="Roboto"/>
              </a:rPr>
              <a:t>Dashboards, informes, notebooks y modelos</a:t>
            </a:r>
            <a:endParaRPr b="0" i="0" sz="1100" u="none" cap="none" strike="noStrike">
              <a:solidFill>
                <a:schemeClr val="dk1"/>
              </a:solidFill>
              <a:latin typeface="Calibri"/>
              <a:ea typeface="Calibri"/>
              <a:cs typeface="Calibri"/>
              <a:sym typeface="Calibri"/>
            </a:endParaRPr>
          </a:p>
        </p:txBody>
      </p:sp>
      <p:sp>
        <p:nvSpPr>
          <p:cNvPr id="106" name="Google Shape;106;p11"/>
          <p:cNvSpPr/>
          <p:nvPr/>
        </p:nvSpPr>
        <p:spPr>
          <a:xfrm>
            <a:off x="7967375" y="4798925"/>
            <a:ext cx="1176600" cy="344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2"/>
          <p:cNvSpPr/>
          <p:nvPr/>
        </p:nvSpPr>
        <p:spPr>
          <a:xfrm>
            <a:off x="496119" y="770334"/>
            <a:ext cx="8151763" cy="44298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2750"/>
              <a:buFont typeface="Raleway"/>
              <a:buNone/>
            </a:pPr>
            <a:r>
              <a:rPr b="0" i="0" lang="en-US" sz="2750" u="none" cap="none" strike="noStrike">
                <a:solidFill>
                  <a:srgbClr val="1B1B27"/>
                </a:solidFill>
                <a:latin typeface="Raleway"/>
                <a:ea typeface="Raleway"/>
                <a:cs typeface="Raleway"/>
                <a:sym typeface="Raleway"/>
              </a:rPr>
              <a:t>Estructura de un Proyecto dbt</a:t>
            </a:r>
            <a:endParaRPr b="0" i="0" sz="2750" u="none" cap="none" strike="noStrike">
              <a:solidFill>
                <a:schemeClr val="dk1"/>
              </a:solidFill>
              <a:latin typeface="Calibri"/>
              <a:ea typeface="Calibri"/>
              <a:cs typeface="Calibri"/>
              <a:sym typeface="Calibri"/>
            </a:endParaRPr>
          </a:p>
        </p:txBody>
      </p:sp>
      <p:pic>
        <p:nvPicPr>
          <p:cNvPr descr="preencoded.png" id="113" name="Google Shape;113;p12"/>
          <p:cNvPicPr preferRelativeResize="0"/>
          <p:nvPr/>
        </p:nvPicPr>
        <p:blipFill rotWithShape="1">
          <a:blip r:embed="rId3">
            <a:alphaModFix/>
          </a:blip>
          <a:srcRect b="0" l="0" r="0" t="0"/>
          <a:stretch/>
        </p:blipFill>
        <p:spPr>
          <a:xfrm>
            <a:off x="496119" y="1585392"/>
            <a:ext cx="2628230" cy="2628230"/>
          </a:xfrm>
          <a:prstGeom prst="rect">
            <a:avLst/>
          </a:prstGeom>
          <a:noFill/>
          <a:ln>
            <a:noFill/>
          </a:ln>
        </p:spPr>
      </p:pic>
      <p:sp>
        <p:nvSpPr>
          <p:cNvPr id="114" name="Google Shape;114;p12"/>
          <p:cNvSpPr/>
          <p:nvPr/>
        </p:nvSpPr>
        <p:spPr>
          <a:xfrm>
            <a:off x="3474988" y="1781473"/>
            <a:ext cx="318939" cy="318939"/>
          </a:xfrm>
          <a:prstGeom prst="roundRect">
            <a:avLst>
              <a:gd fmla="val 18669"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2"/>
          <p:cNvSpPr/>
          <p:nvPr/>
        </p:nvSpPr>
        <p:spPr>
          <a:xfrm>
            <a:off x="3528157" y="1808038"/>
            <a:ext cx="212601" cy="26580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C3939"/>
              </a:buClr>
              <a:buSzPts val="1650"/>
              <a:buFont typeface="Raleway"/>
              <a:buNone/>
            </a:pPr>
            <a:r>
              <a:rPr b="0" i="0" lang="en-US" sz="1650" u="none" cap="none" strike="noStrike">
                <a:solidFill>
                  <a:srgbClr val="3C3939"/>
                </a:solidFill>
                <a:latin typeface="Raleway"/>
                <a:ea typeface="Raleway"/>
                <a:cs typeface="Raleway"/>
                <a:sym typeface="Raleway"/>
              </a:rPr>
              <a:t>1</a:t>
            </a:r>
            <a:endParaRPr b="0" i="0" sz="1650" u="none" cap="none" strike="noStrike">
              <a:solidFill>
                <a:schemeClr val="dk1"/>
              </a:solidFill>
              <a:latin typeface="Calibri"/>
              <a:ea typeface="Calibri"/>
              <a:cs typeface="Calibri"/>
              <a:sym typeface="Calibri"/>
            </a:endParaRPr>
          </a:p>
        </p:txBody>
      </p:sp>
      <p:sp>
        <p:nvSpPr>
          <p:cNvPr id="116" name="Google Shape;116;p12"/>
          <p:cNvSpPr/>
          <p:nvPr/>
        </p:nvSpPr>
        <p:spPr>
          <a:xfrm>
            <a:off x="3935685" y="1830139"/>
            <a:ext cx="2039466"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350"/>
              <a:buFont typeface="Raleway"/>
              <a:buNone/>
            </a:pPr>
            <a:r>
              <a:rPr b="0" i="0" lang="en-US" sz="1350" u="none" cap="none" strike="noStrike">
                <a:solidFill>
                  <a:srgbClr val="3C3939"/>
                </a:solidFill>
                <a:latin typeface="Raleway"/>
                <a:ea typeface="Raleway"/>
                <a:cs typeface="Raleway"/>
                <a:sym typeface="Raleway"/>
              </a:rPr>
              <a:t>dbt_project.yml</a:t>
            </a:r>
            <a:endParaRPr b="0" i="0" sz="1350" u="none" cap="none" strike="noStrike">
              <a:solidFill>
                <a:schemeClr val="dk1"/>
              </a:solidFill>
              <a:latin typeface="Calibri"/>
              <a:ea typeface="Calibri"/>
              <a:cs typeface="Calibri"/>
              <a:sym typeface="Calibri"/>
            </a:endParaRPr>
          </a:p>
        </p:txBody>
      </p:sp>
      <p:sp>
        <p:nvSpPr>
          <p:cNvPr id="117" name="Google Shape;117;p12"/>
          <p:cNvSpPr/>
          <p:nvPr/>
        </p:nvSpPr>
        <p:spPr>
          <a:xfrm>
            <a:off x="3935685" y="2193354"/>
            <a:ext cx="2039466" cy="4536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C3939"/>
              </a:buClr>
              <a:buSzPts val="1100"/>
              <a:buFont typeface="Roboto"/>
              <a:buNone/>
            </a:pPr>
            <a:r>
              <a:rPr b="0" i="0" lang="en-US" sz="1100" u="none" cap="none" strike="noStrike">
                <a:solidFill>
                  <a:srgbClr val="3C3939"/>
                </a:solidFill>
                <a:latin typeface="Roboto"/>
                <a:ea typeface="Roboto"/>
                <a:cs typeface="Roboto"/>
                <a:sym typeface="Roboto"/>
              </a:rPr>
              <a:t>Define nombre, versión, perfil de conexión y configuraciones</a:t>
            </a:r>
            <a:endParaRPr b="0" i="0" sz="1100" u="none" cap="none" strike="noStrike">
              <a:solidFill>
                <a:schemeClr val="dk1"/>
              </a:solidFill>
              <a:latin typeface="Calibri"/>
              <a:ea typeface="Calibri"/>
              <a:cs typeface="Calibri"/>
              <a:sym typeface="Calibri"/>
            </a:endParaRPr>
          </a:p>
        </p:txBody>
      </p:sp>
      <p:sp>
        <p:nvSpPr>
          <p:cNvPr id="118" name="Google Shape;118;p12"/>
          <p:cNvSpPr/>
          <p:nvPr/>
        </p:nvSpPr>
        <p:spPr>
          <a:xfrm>
            <a:off x="6152331" y="1781473"/>
            <a:ext cx="318939" cy="318939"/>
          </a:xfrm>
          <a:prstGeom prst="roundRect">
            <a:avLst>
              <a:gd fmla="val 18669"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2"/>
          <p:cNvSpPr/>
          <p:nvPr/>
        </p:nvSpPr>
        <p:spPr>
          <a:xfrm>
            <a:off x="6205500" y="1808038"/>
            <a:ext cx="212601" cy="26580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C3939"/>
              </a:buClr>
              <a:buSzPts val="1650"/>
              <a:buFont typeface="Raleway"/>
              <a:buNone/>
            </a:pPr>
            <a:r>
              <a:rPr b="0" i="0" lang="en-US" sz="1650" u="none" cap="none" strike="noStrike">
                <a:solidFill>
                  <a:srgbClr val="3C3939"/>
                </a:solidFill>
                <a:latin typeface="Raleway"/>
                <a:ea typeface="Raleway"/>
                <a:cs typeface="Raleway"/>
                <a:sym typeface="Raleway"/>
              </a:rPr>
              <a:t>2</a:t>
            </a:r>
            <a:endParaRPr b="0" i="0" sz="1650" u="none" cap="none" strike="noStrike">
              <a:solidFill>
                <a:schemeClr val="dk1"/>
              </a:solidFill>
              <a:latin typeface="Calibri"/>
              <a:ea typeface="Calibri"/>
              <a:cs typeface="Calibri"/>
              <a:sym typeface="Calibri"/>
            </a:endParaRPr>
          </a:p>
        </p:txBody>
      </p:sp>
      <p:sp>
        <p:nvSpPr>
          <p:cNvPr id="120" name="Google Shape;120;p12"/>
          <p:cNvSpPr/>
          <p:nvPr/>
        </p:nvSpPr>
        <p:spPr>
          <a:xfrm>
            <a:off x="6613029" y="1830139"/>
            <a:ext cx="2039541" cy="44291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350"/>
              <a:buFont typeface="Raleway"/>
              <a:buNone/>
            </a:pPr>
            <a:r>
              <a:rPr b="0" i="0" lang="en-US" sz="1350" u="none" cap="none" strike="noStrike">
                <a:solidFill>
                  <a:srgbClr val="3C3939"/>
                </a:solidFill>
                <a:latin typeface="Raleway"/>
                <a:ea typeface="Raleway"/>
                <a:cs typeface="Raleway"/>
                <a:sym typeface="Raleway"/>
              </a:rPr>
              <a:t>Models / Sources / Seeds</a:t>
            </a:r>
            <a:endParaRPr b="0" i="0" sz="1350" u="none" cap="none" strike="noStrike">
              <a:solidFill>
                <a:schemeClr val="dk1"/>
              </a:solidFill>
              <a:latin typeface="Calibri"/>
              <a:ea typeface="Calibri"/>
              <a:cs typeface="Calibri"/>
              <a:sym typeface="Calibri"/>
            </a:endParaRPr>
          </a:p>
        </p:txBody>
      </p:sp>
      <p:sp>
        <p:nvSpPr>
          <p:cNvPr id="121" name="Google Shape;121;p12"/>
          <p:cNvSpPr/>
          <p:nvPr/>
        </p:nvSpPr>
        <p:spPr>
          <a:xfrm>
            <a:off x="6613029" y="2414811"/>
            <a:ext cx="2039541" cy="68044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C3939"/>
              </a:buClr>
              <a:buSzPts val="1100"/>
              <a:buFont typeface="Roboto"/>
              <a:buNone/>
            </a:pPr>
            <a:r>
              <a:rPr b="0" i="0" lang="en-US" sz="1100" u="none" cap="none" strike="noStrike">
                <a:solidFill>
                  <a:srgbClr val="3C3939"/>
                </a:solidFill>
                <a:latin typeface="Roboto"/>
                <a:ea typeface="Roboto"/>
                <a:cs typeface="Roboto"/>
                <a:sym typeface="Roboto"/>
              </a:rPr>
              <a:t>Lógica SQL, tablas externas declaradas y archivos CSV cargados como tablas</a:t>
            </a:r>
            <a:endParaRPr b="0" i="0" sz="1100" u="none" cap="none" strike="noStrike">
              <a:solidFill>
                <a:schemeClr val="dk1"/>
              </a:solidFill>
              <a:latin typeface="Calibri"/>
              <a:ea typeface="Calibri"/>
              <a:cs typeface="Calibri"/>
              <a:sym typeface="Calibri"/>
            </a:endParaRPr>
          </a:p>
        </p:txBody>
      </p:sp>
      <p:sp>
        <p:nvSpPr>
          <p:cNvPr id="122" name="Google Shape;122;p12"/>
          <p:cNvSpPr/>
          <p:nvPr/>
        </p:nvSpPr>
        <p:spPr>
          <a:xfrm>
            <a:off x="3474988" y="3378771"/>
            <a:ext cx="318939" cy="318939"/>
          </a:xfrm>
          <a:prstGeom prst="roundRect">
            <a:avLst>
              <a:gd fmla="val 18669"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2"/>
          <p:cNvSpPr/>
          <p:nvPr/>
        </p:nvSpPr>
        <p:spPr>
          <a:xfrm>
            <a:off x="3528157" y="3405336"/>
            <a:ext cx="212601" cy="26580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C3939"/>
              </a:buClr>
              <a:buSzPts val="1650"/>
              <a:buFont typeface="Raleway"/>
              <a:buNone/>
            </a:pPr>
            <a:r>
              <a:rPr b="0" i="0" lang="en-US" sz="1650" u="none" cap="none" strike="noStrike">
                <a:solidFill>
                  <a:srgbClr val="3C3939"/>
                </a:solidFill>
                <a:latin typeface="Raleway"/>
                <a:ea typeface="Raleway"/>
                <a:cs typeface="Raleway"/>
                <a:sym typeface="Raleway"/>
              </a:rPr>
              <a:t>3</a:t>
            </a:r>
            <a:endParaRPr b="0" i="0" sz="1650" u="none" cap="none" strike="noStrike">
              <a:solidFill>
                <a:schemeClr val="dk1"/>
              </a:solidFill>
              <a:latin typeface="Calibri"/>
              <a:ea typeface="Calibri"/>
              <a:cs typeface="Calibri"/>
              <a:sym typeface="Calibri"/>
            </a:endParaRPr>
          </a:p>
        </p:txBody>
      </p:sp>
      <p:sp>
        <p:nvSpPr>
          <p:cNvPr id="124" name="Google Shape;124;p12"/>
          <p:cNvSpPr/>
          <p:nvPr/>
        </p:nvSpPr>
        <p:spPr>
          <a:xfrm>
            <a:off x="3935685" y="3427437"/>
            <a:ext cx="4716884"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350"/>
              <a:buFont typeface="Raleway"/>
              <a:buNone/>
            </a:pPr>
            <a:r>
              <a:rPr b="0" i="0" lang="en-US" sz="1350" u="none" cap="none" strike="noStrike">
                <a:solidFill>
                  <a:srgbClr val="3C3939"/>
                </a:solidFill>
                <a:latin typeface="Raleway"/>
                <a:ea typeface="Raleway"/>
                <a:cs typeface="Raleway"/>
                <a:sym typeface="Raleway"/>
              </a:rPr>
              <a:t>Macros</a:t>
            </a:r>
            <a:endParaRPr b="0" i="0" sz="1350" u="none" cap="none" strike="noStrike">
              <a:solidFill>
                <a:schemeClr val="dk1"/>
              </a:solidFill>
              <a:latin typeface="Calibri"/>
              <a:ea typeface="Calibri"/>
              <a:cs typeface="Calibri"/>
              <a:sym typeface="Calibri"/>
            </a:endParaRPr>
          </a:p>
        </p:txBody>
      </p:sp>
      <p:sp>
        <p:nvSpPr>
          <p:cNvPr id="125" name="Google Shape;125;p12"/>
          <p:cNvSpPr/>
          <p:nvPr/>
        </p:nvSpPr>
        <p:spPr>
          <a:xfrm>
            <a:off x="3935685" y="3790652"/>
            <a:ext cx="4716884" cy="226814"/>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C3939"/>
              </a:buClr>
              <a:buSzPts val="1100"/>
              <a:buFont typeface="Roboto"/>
              <a:buNone/>
            </a:pPr>
            <a:r>
              <a:rPr b="0" i="0" lang="en-US" sz="1100" u="none" cap="none" strike="noStrike">
                <a:solidFill>
                  <a:srgbClr val="3C3939"/>
                </a:solidFill>
                <a:latin typeface="Roboto"/>
                <a:ea typeface="Roboto"/>
                <a:cs typeface="Roboto"/>
                <a:sym typeface="Roboto"/>
              </a:rPr>
              <a:t>Reutilizan lógica mediante Jinja para mayor modularidad</a:t>
            </a:r>
            <a:endParaRPr b="0" i="0" sz="1100" u="none" cap="none" strike="noStrike">
              <a:solidFill>
                <a:schemeClr val="dk1"/>
              </a:solidFill>
              <a:latin typeface="Calibri"/>
              <a:ea typeface="Calibri"/>
              <a:cs typeface="Calibri"/>
              <a:sym typeface="Calibri"/>
            </a:endParaRPr>
          </a:p>
        </p:txBody>
      </p:sp>
      <p:sp>
        <p:nvSpPr>
          <p:cNvPr id="126" name="Google Shape;126;p12"/>
          <p:cNvSpPr/>
          <p:nvPr/>
        </p:nvSpPr>
        <p:spPr>
          <a:xfrm>
            <a:off x="7967375" y="4798925"/>
            <a:ext cx="1176600" cy="344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3"/>
          <p:cNvSpPr/>
          <p:nvPr/>
        </p:nvSpPr>
        <p:spPr>
          <a:xfrm>
            <a:off x="496119" y="1062930"/>
            <a:ext cx="8151763" cy="44298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2750"/>
              <a:buFont typeface="Raleway"/>
              <a:buNone/>
            </a:pPr>
            <a:r>
              <a:rPr b="0" i="0" lang="en-US" sz="2750" u="none" cap="none" strike="noStrike">
                <a:solidFill>
                  <a:srgbClr val="1B1B27"/>
                </a:solidFill>
                <a:latin typeface="Raleway"/>
                <a:ea typeface="Raleway"/>
                <a:cs typeface="Raleway"/>
                <a:sym typeface="Raleway"/>
              </a:rPr>
              <a:t>Las Tres Capas de Modelado</a:t>
            </a:r>
            <a:endParaRPr b="0" i="0" sz="2750" u="none" cap="none" strike="noStrike">
              <a:solidFill>
                <a:schemeClr val="dk1"/>
              </a:solidFill>
              <a:latin typeface="Calibri"/>
              <a:ea typeface="Calibri"/>
              <a:cs typeface="Calibri"/>
              <a:sym typeface="Calibri"/>
            </a:endParaRPr>
          </a:p>
        </p:txBody>
      </p:sp>
      <p:pic>
        <p:nvPicPr>
          <p:cNvPr descr="preencoded.png" id="133" name="Google Shape;133;p13"/>
          <p:cNvPicPr preferRelativeResize="0"/>
          <p:nvPr/>
        </p:nvPicPr>
        <p:blipFill rotWithShape="1">
          <a:blip r:embed="rId3">
            <a:alphaModFix/>
          </a:blip>
          <a:srcRect b="0" l="0" r="0" t="0"/>
          <a:stretch/>
        </p:blipFill>
        <p:spPr>
          <a:xfrm>
            <a:off x="496119" y="1789435"/>
            <a:ext cx="2717229" cy="567035"/>
          </a:xfrm>
          <a:prstGeom prst="rect">
            <a:avLst/>
          </a:prstGeom>
          <a:noFill/>
          <a:ln>
            <a:noFill/>
          </a:ln>
        </p:spPr>
      </p:pic>
      <p:sp>
        <p:nvSpPr>
          <p:cNvPr id="134" name="Google Shape;134;p13"/>
          <p:cNvSpPr/>
          <p:nvPr/>
        </p:nvSpPr>
        <p:spPr>
          <a:xfrm>
            <a:off x="637877" y="2498229"/>
            <a:ext cx="2433712"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350"/>
              <a:buFont typeface="Raleway"/>
              <a:buNone/>
            </a:pPr>
            <a:r>
              <a:rPr b="0" i="0" lang="en-US" sz="1350" u="none" cap="none" strike="noStrike">
                <a:solidFill>
                  <a:srgbClr val="3C3939"/>
                </a:solidFill>
                <a:latin typeface="Raleway"/>
                <a:ea typeface="Raleway"/>
                <a:cs typeface="Raleway"/>
                <a:sym typeface="Raleway"/>
              </a:rPr>
              <a:t>Staging</a:t>
            </a:r>
            <a:endParaRPr b="0" i="0" sz="1350" u="none" cap="none" strike="noStrike">
              <a:solidFill>
                <a:schemeClr val="dk1"/>
              </a:solidFill>
              <a:latin typeface="Calibri"/>
              <a:ea typeface="Calibri"/>
              <a:cs typeface="Calibri"/>
              <a:sym typeface="Calibri"/>
            </a:endParaRPr>
          </a:p>
        </p:txBody>
      </p:sp>
      <p:sp>
        <p:nvSpPr>
          <p:cNvPr id="135" name="Google Shape;135;p13"/>
          <p:cNvSpPr/>
          <p:nvPr/>
        </p:nvSpPr>
        <p:spPr>
          <a:xfrm>
            <a:off x="637877" y="2804740"/>
            <a:ext cx="2433712" cy="113407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C3939"/>
              </a:buClr>
              <a:buSzPts val="1100"/>
              <a:buFont typeface="Roboto"/>
              <a:buNone/>
            </a:pPr>
            <a:r>
              <a:rPr b="0" i="0" lang="en-US" sz="1100" u="none" cap="none" strike="noStrike">
                <a:solidFill>
                  <a:srgbClr val="3C3939"/>
                </a:solidFill>
                <a:latin typeface="Roboto"/>
                <a:ea typeface="Roboto"/>
                <a:cs typeface="Roboto"/>
                <a:sym typeface="Roboto"/>
              </a:rPr>
              <a:t>Normaliza datos fuente con cambios mínimos. Limpia nombres, convierte tipos, estandariza valores. Mantiene granularidad original. Ej: </a:t>
            </a:r>
            <a:r>
              <a:rPr b="1" i="0" lang="en-US" sz="1100" u="none" cap="none" strike="noStrike">
                <a:solidFill>
                  <a:srgbClr val="3C3939"/>
                </a:solidFill>
                <a:latin typeface="Roboto"/>
                <a:ea typeface="Roboto"/>
                <a:cs typeface="Roboto"/>
                <a:sym typeface="Roboto"/>
              </a:rPr>
              <a:t>stg_ventas_ordenes</a:t>
            </a:r>
            <a:endParaRPr b="0" i="0" sz="1100" u="none" cap="none" strike="noStrike">
              <a:solidFill>
                <a:schemeClr val="dk1"/>
              </a:solidFill>
              <a:latin typeface="Calibri"/>
              <a:ea typeface="Calibri"/>
              <a:cs typeface="Calibri"/>
              <a:sym typeface="Calibri"/>
            </a:endParaRPr>
          </a:p>
        </p:txBody>
      </p:sp>
      <p:pic>
        <p:nvPicPr>
          <p:cNvPr descr="preencoded.png" id="136" name="Google Shape;136;p13"/>
          <p:cNvPicPr preferRelativeResize="0"/>
          <p:nvPr/>
        </p:nvPicPr>
        <p:blipFill rotWithShape="1">
          <a:blip r:embed="rId4">
            <a:alphaModFix/>
          </a:blip>
          <a:srcRect b="0" l="0" r="0" t="0"/>
          <a:stretch/>
        </p:blipFill>
        <p:spPr>
          <a:xfrm>
            <a:off x="3213348" y="1789435"/>
            <a:ext cx="2717229" cy="567035"/>
          </a:xfrm>
          <a:prstGeom prst="rect">
            <a:avLst/>
          </a:prstGeom>
          <a:noFill/>
          <a:ln>
            <a:noFill/>
          </a:ln>
        </p:spPr>
      </p:pic>
      <p:sp>
        <p:nvSpPr>
          <p:cNvPr id="137" name="Google Shape;137;p13"/>
          <p:cNvSpPr/>
          <p:nvPr/>
        </p:nvSpPr>
        <p:spPr>
          <a:xfrm>
            <a:off x="3355107" y="2498229"/>
            <a:ext cx="2433712"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350"/>
              <a:buFont typeface="Raleway"/>
              <a:buNone/>
            </a:pPr>
            <a:r>
              <a:rPr b="0" i="0" lang="en-US" sz="1350" u="none" cap="none" strike="noStrike">
                <a:solidFill>
                  <a:srgbClr val="3C3939"/>
                </a:solidFill>
                <a:latin typeface="Raleway"/>
                <a:ea typeface="Raleway"/>
                <a:cs typeface="Raleway"/>
                <a:sym typeface="Raleway"/>
              </a:rPr>
              <a:t>Intermediate</a:t>
            </a:r>
            <a:endParaRPr b="0" i="0" sz="1350" u="none" cap="none" strike="noStrike">
              <a:solidFill>
                <a:schemeClr val="dk1"/>
              </a:solidFill>
              <a:latin typeface="Calibri"/>
              <a:ea typeface="Calibri"/>
              <a:cs typeface="Calibri"/>
              <a:sym typeface="Calibri"/>
            </a:endParaRPr>
          </a:p>
        </p:txBody>
      </p:sp>
      <p:sp>
        <p:nvSpPr>
          <p:cNvPr id="138" name="Google Shape;138;p13"/>
          <p:cNvSpPr/>
          <p:nvPr/>
        </p:nvSpPr>
        <p:spPr>
          <a:xfrm>
            <a:off x="3355107" y="2804740"/>
            <a:ext cx="2433712" cy="90725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C3939"/>
              </a:buClr>
              <a:buSzPts val="1100"/>
              <a:buFont typeface="Roboto"/>
              <a:buNone/>
            </a:pPr>
            <a:r>
              <a:rPr b="0" i="0" lang="en-US" sz="1100" u="none" cap="none" strike="noStrike">
                <a:solidFill>
                  <a:srgbClr val="3C3939"/>
                </a:solidFill>
                <a:latin typeface="Roboto"/>
                <a:ea typeface="Roboto"/>
                <a:cs typeface="Roboto"/>
                <a:sym typeface="Roboto"/>
              </a:rPr>
              <a:t>Combina y prepara información para marts. Realiza joins, deduplicación y filtros de negocio. Evita consultas finales excesivamente largas</a:t>
            </a:r>
            <a:endParaRPr b="0" i="0" sz="1100" u="none" cap="none" strike="noStrike">
              <a:solidFill>
                <a:schemeClr val="dk1"/>
              </a:solidFill>
              <a:latin typeface="Calibri"/>
              <a:ea typeface="Calibri"/>
              <a:cs typeface="Calibri"/>
              <a:sym typeface="Calibri"/>
            </a:endParaRPr>
          </a:p>
        </p:txBody>
      </p:sp>
      <p:pic>
        <p:nvPicPr>
          <p:cNvPr descr="preencoded.png" id="139" name="Google Shape;139;p13"/>
          <p:cNvPicPr preferRelativeResize="0"/>
          <p:nvPr/>
        </p:nvPicPr>
        <p:blipFill rotWithShape="1">
          <a:blip r:embed="rId5">
            <a:alphaModFix/>
          </a:blip>
          <a:srcRect b="0" l="0" r="0" t="0"/>
          <a:stretch/>
        </p:blipFill>
        <p:spPr>
          <a:xfrm>
            <a:off x="5930578" y="1789435"/>
            <a:ext cx="2717229" cy="567035"/>
          </a:xfrm>
          <a:prstGeom prst="rect">
            <a:avLst/>
          </a:prstGeom>
          <a:noFill/>
          <a:ln>
            <a:noFill/>
          </a:ln>
        </p:spPr>
      </p:pic>
      <p:sp>
        <p:nvSpPr>
          <p:cNvPr id="140" name="Google Shape;140;p13"/>
          <p:cNvSpPr/>
          <p:nvPr/>
        </p:nvSpPr>
        <p:spPr>
          <a:xfrm>
            <a:off x="6072336" y="2498229"/>
            <a:ext cx="2433712"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350"/>
              <a:buFont typeface="Raleway"/>
              <a:buNone/>
            </a:pPr>
            <a:r>
              <a:rPr b="0" i="0" lang="en-US" sz="1350" u="none" cap="none" strike="noStrike">
                <a:solidFill>
                  <a:srgbClr val="3C3939"/>
                </a:solidFill>
                <a:latin typeface="Raleway"/>
                <a:ea typeface="Raleway"/>
                <a:cs typeface="Raleway"/>
                <a:sym typeface="Raleway"/>
              </a:rPr>
              <a:t>Marts</a:t>
            </a:r>
            <a:endParaRPr b="0" i="0" sz="1350" u="none" cap="none" strike="noStrike">
              <a:solidFill>
                <a:schemeClr val="dk1"/>
              </a:solidFill>
              <a:latin typeface="Calibri"/>
              <a:ea typeface="Calibri"/>
              <a:cs typeface="Calibri"/>
              <a:sym typeface="Calibri"/>
            </a:endParaRPr>
          </a:p>
        </p:txBody>
      </p:sp>
      <p:sp>
        <p:nvSpPr>
          <p:cNvPr id="141" name="Google Shape;141;p13"/>
          <p:cNvSpPr/>
          <p:nvPr/>
        </p:nvSpPr>
        <p:spPr>
          <a:xfrm>
            <a:off x="6072336" y="2804740"/>
            <a:ext cx="2433712" cy="90725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C3939"/>
              </a:buClr>
              <a:buSzPts val="1100"/>
              <a:buFont typeface="Roboto"/>
              <a:buNone/>
            </a:pPr>
            <a:r>
              <a:rPr b="0" i="0" lang="en-US" sz="1100" u="none" cap="none" strike="noStrike">
                <a:solidFill>
                  <a:srgbClr val="3C3939"/>
                </a:solidFill>
                <a:latin typeface="Roboto"/>
                <a:ea typeface="Roboto"/>
                <a:cs typeface="Roboto"/>
                <a:sym typeface="Roboto"/>
              </a:rPr>
              <a:t>Resultado analítico final orientado a usuarios de negocio. Modelos dimensionales: hechos, dimensiones, granularidad y conformidad</a:t>
            </a:r>
            <a:endParaRPr b="0" i="0" sz="1100" u="none" cap="none" strike="noStrike">
              <a:solidFill>
                <a:schemeClr val="dk1"/>
              </a:solidFill>
              <a:latin typeface="Calibri"/>
              <a:ea typeface="Calibri"/>
              <a:cs typeface="Calibri"/>
              <a:sym typeface="Calibri"/>
            </a:endParaRPr>
          </a:p>
        </p:txBody>
      </p:sp>
      <p:sp>
        <p:nvSpPr>
          <p:cNvPr id="142" name="Google Shape;142;p13"/>
          <p:cNvSpPr/>
          <p:nvPr/>
        </p:nvSpPr>
        <p:spPr>
          <a:xfrm>
            <a:off x="7967375" y="4798925"/>
            <a:ext cx="1176600" cy="344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4"/>
          <p:cNvSpPr/>
          <p:nvPr/>
        </p:nvSpPr>
        <p:spPr>
          <a:xfrm>
            <a:off x="0" y="0"/>
            <a:ext cx="3429000" cy="5143500"/>
          </a:xfrm>
          <a:prstGeom prst="rect">
            <a:avLst/>
          </a:prstGeom>
          <a:solidFill>
            <a:srgbClr val="E1E1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9" name="Google Shape;149;p14"/>
          <p:cNvPicPr preferRelativeResize="0"/>
          <p:nvPr/>
        </p:nvPicPr>
        <p:blipFill rotWithShape="1">
          <a:blip r:embed="rId3">
            <a:alphaModFix/>
          </a:blip>
          <a:srcRect b="0" l="0" r="0" t="0"/>
          <a:stretch/>
        </p:blipFill>
        <p:spPr>
          <a:xfrm>
            <a:off x="70842" y="380181"/>
            <a:ext cx="3287241" cy="4383063"/>
          </a:xfrm>
          <a:prstGeom prst="rect">
            <a:avLst/>
          </a:prstGeom>
          <a:noFill/>
          <a:ln>
            <a:noFill/>
          </a:ln>
        </p:spPr>
      </p:pic>
      <p:sp>
        <p:nvSpPr>
          <p:cNvPr id="150" name="Google Shape;150;p14"/>
          <p:cNvSpPr/>
          <p:nvPr/>
        </p:nvSpPr>
        <p:spPr>
          <a:xfrm>
            <a:off x="3925119" y="816025"/>
            <a:ext cx="4722763" cy="44298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2750"/>
              <a:buFont typeface="Raleway"/>
              <a:buNone/>
            </a:pPr>
            <a:r>
              <a:rPr b="0" i="0" lang="en-US" sz="2750" u="none" cap="none" strike="noStrike">
                <a:solidFill>
                  <a:srgbClr val="1B1B27"/>
                </a:solidFill>
                <a:latin typeface="Raleway"/>
                <a:ea typeface="Raleway"/>
                <a:cs typeface="Raleway"/>
                <a:sym typeface="Raleway"/>
              </a:rPr>
              <a:t>Capa Marts</a:t>
            </a:r>
            <a:endParaRPr b="0" i="0" sz="2750" u="none" cap="none" strike="noStrike">
              <a:solidFill>
                <a:schemeClr val="dk1"/>
              </a:solidFill>
              <a:latin typeface="Calibri"/>
              <a:ea typeface="Calibri"/>
              <a:cs typeface="Calibri"/>
              <a:sym typeface="Calibri"/>
            </a:endParaRPr>
          </a:p>
        </p:txBody>
      </p:sp>
      <p:sp>
        <p:nvSpPr>
          <p:cNvPr id="151" name="Google Shape;151;p14"/>
          <p:cNvSpPr/>
          <p:nvPr/>
        </p:nvSpPr>
        <p:spPr>
          <a:xfrm>
            <a:off x="3925119" y="1471613"/>
            <a:ext cx="4722763" cy="4536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C3939"/>
              </a:buClr>
              <a:buSzPts val="1100"/>
              <a:buFont typeface="Roboto"/>
              <a:buNone/>
            </a:pPr>
            <a:r>
              <a:rPr b="0" i="0" lang="en-US" sz="1100" u="none" cap="none" strike="noStrike">
                <a:solidFill>
                  <a:srgbClr val="3C3939"/>
                </a:solidFill>
                <a:latin typeface="Roboto"/>
                <a:ea typeface="Roboto"/>
                <a:cs typeface="Roboto"/>
                <a:sym typeface="Roboto"/>
              </a:rPr>
              <a:t>Representa el resultado analítico final orientado a usuarios de negocio. Implementa fundamentos de </a:t>
            </a:r>
            <a:r>
              <a:rPr b="1" i="0" lang="en-US" sz="1100" u="none" cap="none" strike="noStrike">
                <a:solidFill>
                  <a:srgbClr val="3C3939"/>
                </a:solidFill>
                <a:latin typeface="Roboto"/>
                <a:ea typeface="Roboto"/>
                <a:cs typeface="Roboto"/>
                <a:sym typeface="Roboto"/>
              </a:rPr>
              <a:t>Kimball</a:t>
            </a:r>
            <a:r>
              <a:rPr b="0" i="0" lang="en-US" sz="1100" u="none" cap="none" strike="noStrike">
                <a:solidFill>
                  <a:srgbClr val="3C3939"/>
                </a:solidFill>
                <a:latin typeface="Roboto"/>
                <a:ea typeface="Roboto"/>
                <a:cs typeface="Roboto"/>
                <a:sym typeface="Roboto"/>
              </a:rPr>
              <a:t> con SQL versionado y automatizable.</a:t>
            </a:r>
            <a:endParaRPr b="0" i="0" sz="1100" u="none" cap="none" strike="noStrike">
              <a:solidFill>
                <a:schemeClr val="dk1"/>
              </a:solidFill>
              <a:latin typeface="Calibri"/>
              <a:ea typeface="Calibri"/>
              <a:cs typeface="Calibri"/>
              <a:sym typeface="Calibri"/>
            </a:endParaRPr>
          </a:p>
        </p:txBody>
      </p:sp>
      <p:sp>
        <p:nvSpPr>
          <p:cNvPr id="152" name="Google Shape;152;p14"/>
          <p:cNvSpPr/>
          <p:nvPr/>
        </p:nvSpPr>
        <p:spPr>
          <a:xfrm>
            <a:off x="3925119" y="2084710"/>
            <a:ext cx="2290465" cy="1274638"/>
          </a:xfrm>
          <a:prstGeom prst="roundRect">
            <a:avLst>
              <a:gd fmla="val 4671"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4"/>
          <p:cNvSpPr/>
          <p:nvPr/>
        </p:nvSpPr>
        <p:spPr>
          <a:xfrm>
            <a:off x="4071640" y="2231231"/>
            <a:ext cx="1997422"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350"/>
              <a:buFont typeface="Raleway"/>
              <a:buNone/>
            </a:pPr>
            <a:r>
              <a:rPr b="0" i="0" lang="en-US" sz="1350" u="none" cap="none" strike="noStrike">
                <a:solidFill>
                  <a:srgbClr val="3C3939"/>
                </a:solidFill>
                <a:latin typeface="Raleway"/>
                <a:ea typeface="Raleway"/>
                <a:cs typeface="Raleway"/>
                <a:sym typeface="Raleway"/>
              </a:rPr>
              <a:t>Ventas por cliente</a:t>
            </a:r>
            <a:endParaRPr b="0" i="0" sz="1350" u="none" cap="none" strike="noStrike">
              <a:solidFill>
                <a:schemeClr val="dk1"/>
              </a:solidFill>
              <a:latin typeface="Calibri"/>
              <a:ea typeface="Calibri"/>
              <a:cs typeface="Calibri"/>
              <a:sym typeface="Calibri"/>
            </a:endParaRPr>
          </a:p>
        </p:txBody>
      </p:sp>
      <p:sp>
        <p:nvSpPr>
          <p:cNvPr id="154" name="Google Shape;154;p14"/>
          <p:cNvSpPr/>
          <p:nvPr/>
        </p:nvSpPr>
        <p:spPr>
          <a:xfrm>
            <a:off x="4071640" y="2537743"/>
            <a:ext cx="1997422" cy="4536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C3939"/>
              </a:buClr>
              <a:buSzPts val="1100"/>
              <a:buFont typeface="Roboto"/>
              <a:buNone/>
            </a:pPr>
            <a:r>
              <a:rPr b="0" i="0" lang="en-US" sz="1100" u="none" cap="none" strike="noStrike">
                <a:solidFill>
                  <a:srgbClr val="3C3939"/>
                </a:solidFill>
                <a:latin typeface="Roboto"/>
                <a:ea typeface="Roboto"/>
                <a:cs typeface="Roboto"/>
                <a:sym typeface="Roboto"/>
              </a:rPr>
              <a:t>Hechos y dimensiones de transacciones comerciales</a:t>
            </a:r>
            <a:endParaRPr b="0" i="0" sz="1100" u="none" cap="none" strike="noStrike">
              <a:solidFill>
                <a:schemeClr val="dk1"/>
              </a:solidFill>
              <a:latin typeface="Calibri"/>
              <a:ea typeface="Calibri"/>
              <a:cs typeface="Calibri"/>
              <a:sym typeface="Calibri"/>
            </a:endParaRPr>
          </a:p>
        </p:txBody>
      </p:sp>
      <p:sp>
        <p:nvSpPr>
          <p:cNvPr id="155" name="Google Shape;155;p14"/>
          <p:cNvSpPr/>
          <p:nvPr/>
        </p:nvSpPr>
        <p:spPr>
          <a:xfrm>
            <a:off x="6357342" y="2084710"/>
            <a:ext cx="2290539" cy="1274638"/>
          </a:xfrm>
          <a:prstGeom prst="roundRect">
            <a:avLst>
              <a:gd fmla="val 4671"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4"/>
          <p:cNvSpPr/>
          <p:nvPr/>
        </p:nvSpPr>
        <p:spPr>
          <a:xfrm>
            <a:off x="6503863" y="2231231"/>
            <a:ext cx="1997497" cy="44291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350"/>
              <a:buFont typeface="Raleway"/>
              <a:buNone/>
            </a:pPr>
            <a:r>
              <a:rPr b="0" i="0" lang="en-US" sz="1350" u="none" cap="none" strike="noStrike">
                <a:solidFill>
                  <a:srgbClr val="3C3939"/>
                </a:solidFill>
                <a:latin typeface="Raleway"/>
                <a:ea typeface="Raleway"/>
                <a:cs typeface="Raleway"/>
                <a:sym typeface="Raleway"/>
              </a:rPr>
              <a:t>Inscripciones por período</a:t>
            </a:r>
            <a:endParaRPr b="0" i="0" sz="1350" u="none" cap="none" strike="noStrike">
              <a:solidFill>
                <a:schemeClr val="dk1"/>
              </a:solidFill>
              <a:latin typeface="Calibri"/>
              <a:ea typeface="Calibri"/>
              <a:cs typeface="Calibri"/>
              <a:sym typeface="Calibri"/>
            </a:endParaRPr>
          </a:p>
        </p:txBody>
      </p:sp>
      <p:sp>
        <p:nvSpPr>
          <p:cNvPr id="157" name="Google Shape;157;p14"/>
          <p:cNvSpPr/>
          <p:nvPr/>
        </p:nvSpPr>
        <p:spPr>
          <a:xfrm>
            <a:off x="6503863" y="2759199"/>
            <a:ext cx="1997497" cy="4536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C3939"/>
              </a:buClr>
              <a:buSzPts val="1100"/>
              <a:buFont typeface="Roboto"/>
              <a:buNone/>
            </a:pPr>
            <a:r>
              <a:rPr b="0" i="0" lang="en-US" sz="1100" u="none" cap="none" strike="noStrike">
                <a:solidFill>
                  <a:srgbClr val="3C3939"/>
                </a:solidFill>
                <a:latin typeface="Roboto"/>
                <a:ea typeface="Roboto"/>
                <a:cs typeface="Roboto"/>
                <a:sym typeface="Roboto"/>
              </a:rPr>
              <a:t>Análisis temporal de matrículas académicas</a:t>
            </a:r>
            <a:endParaRPr b="0" i="0" sz="1100" u="none" cap="none" strike="noStrike">
              <a:solidFill>
                <a:schemeClr val="dk1"/>
              </a:solidFill>
              <a:latin typeface="Calibri"/>
              <a:ea typeface="Calibri"/>
              <a:cs typeface="Calibri"/>
              <a:sym typeface="Calibri"/>
            </a:endParaRPr>
          </a:p>
        </p:txBody>
      </p:sp>
      <p:sp>
        <p:nvSpPr>
          <p:cNvPr id="158" name="Google Shape;158;p14"/>
          <p:cNvSpPr/>
          <p:nvPr/>
        </p:nvSpPr>
        <p:spPr>
          <a:xfrm>
            <a:off x="3925119" y="3501107"/>
            <a:ext cx="4722763" cy="826368"/>
          </a:xfrm>
          <a:prstGeom prst="roundRect">
            <a:avLst>
              <a:gd fmla="val 7205"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4"/>
          <p:cNvSpPr/>
          <p:nvPr/>
        </p:nvSpPr>
        <p:spPr>
          <a:xfrm>
            <a:off x="4071640" y="3647629"/>
            <a:ext cx="4429720"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350"/>
              <a:buFont typeface="Raleway"/>
              <a:buNone/>
            </a:pPr>
            <a:r>
              <a:rPr b="0" i="0" lang="en-US" sz="1350" u="none" cap="none" strike="noStrike">
                <a:solidFill>
                  <a:srgbClr val="3C3939"/>
                </a:solidFill>
                <a:latin typeface="Raleway"/>
                <a:ea typeface="Raleway"/>
                <a:cs typeface="Raleway"/>
                <a:sym typeface="Raleway"/>
              </a:rPr>
              <a:t>Rendimiento académico</a:t>
            </a:r>
            <a:endParaRPr b="0" i="0" sz="1350" u="none" cap="none" strike="noStrike">
              <a:solidFill>
                <a:schemeClr val="dk1"/>
              </a:solidFill>
              <a:latin typeface="Calibri"/>
              <a:ea typeface="Calibri"/>
              <a:cs typeface="Calibri"/>
              <a:sym typeface="Calibri"/>
            </a:endParaRPr>
          </a:p>
        </p:txBody>
      </p:sp>
      <p:sp>
        <p:nvSpPr>
          <p:cNvPr id="160" name="Google Shape;160;p14"/>
          <p:cNvSpPr/>
          <p:nvPr/>
        </p:nvSpPr>
        <p:spPr>
          <a:xfrm>
            <a:off x="4071640" y="3954140"/>
            <a:ext cx="4429720" cy="226814"/>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C3939"/>
              </a:buClr>
              <a:buSzPts val="1100"/>
              <a:buFont typeface="Roboto"/>
              <a:buNone/>
            </a:pPr>
            <a:r>
              <a:rPr b="0" i="0" lang="en-US" sz="1100" u="none" cap="none" strike="noStrike">
                <a:solidFill>
                  <a:srgbClr val="3C3939"/>
                </a:solidFill>
                <a:latin typeface="Roboto"/>
                <a:ea typeface="Roboto"/>
                <a:cs typeface="Roboto"/>
                <a:sym typeface="Roboto"/>
              </a:rPr>
              <a:t>Métricas de desempeño estudiantil por cohorte</a:t>
            </a:r>
            <a:endParaRPr b="0" i="0" sz="1100" u="none" cap="none" strike="noStrike">
              <a:solidFill>
                <a:schemeClr val="dk1"/>
              </a:solidFill>
              <a:latin typeface="Calibri"/>
              <a:ea typeface="Calibri"/>
              <a:cs typeface="Calibri"/>
              <a:sym typeface="Calibri"/>
            </a:endParaRPr>
          </a:p>
        </p:txBody>
      </p:sp>
      <p:sp>
        <p:nvSpPr>
          <p:cNvPr id="161" name="Google Shape;161;p14"/>
          <p:cNvSpPr/>
          <p:nvPr/>
        </p:nvSpPr>
        <p:spPr>
          <a:xfrm>
            <a:off x="7967375" y="4798925"/>
            <a:ext cx="1176600" cy="344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5"/>
          <p:cNvSpPr/>
          <p:nvPr/>
        </p:nvSpPr>
        <p:spPr>
          <a:xfrm>
            <a:off x="496119" y="404738"/>
            <a:ext cx="8151763" cy="39454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2450"/>
              <a:buFont typeface="Raleway"/>
              <a:buNone/>
            </a:pPr>
            <a:r>
              <a:rPr b="0" i="0" lang="en-US" sz="2450" u="none" cap="none" strike="noStrike">
                <a:solidFill>
                  <a:srgbClr val="1B1B27"/>
                </a:solidFill>
                <a:latin typeface="Raleway"/>
                <a:ea typeface="Raleway"/>
                <a:cs typeface="Raleway"/>
                <a:sym typeface="Raleway"/>
              </a:rPr>
              <a:t>Pruebas de Datos</a:t>
            </a:r>
            <a:endParaRPr b="0" i="0" sz="2450" u="none" cap="none" strike="noStrike">
              <a:solidFill>
                <a:schemeClr val="dk1"/>
              </a:solidFill>
              <a:latin typeface="Calibri"/>
              <a:ea typeface="Calibri"/>
              <a:cs typeface="Calibri"/>
              <a:sym typeface="Calibri"/>
            </a:endParaRPr>
          </a:p>
        </p:txBody>
      </p:sp>
      <p:sp>
        <p:nvSpPr>
          <p:cNvPr id="168" name="Google Shape;168;p15"/>
          <p:cNvSpPr/>
          <p:nvPr/>
        </p:nvSpPr>
        <p:spPr>
          <a:xfrm>
            <a:off x="496119" y="1746275"/>
            <a:ext cx="5190753" cy="19727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1200"/>
              <a:buFont typeface="Raleway"/>
              <a:buNone/>
            </a:pPr>
            <a:r>
              <a:rPr b="0" i="0" lang="en-US" sz="1200" u="none" cap="none" strike="noStrike">
                <a:solidFill>
                  <a:srgbClr val="1B1B27"/>
                </a:solidFill>
                <a:latin typeface="Raleway"/>
                <a:ea typeface="Raleway"/>
                <a:cs typeface="Raleway"/>
                <a:sym typeface="Raleway"/>
              </a:rPr>
              <a:t>Pruebas Genéricas</a:t>
            </a:r>
            <a:endParaRPr b="0" i="0" sz="1200" u="none" cap="none" strike="noStrike">
              <a:solidFill>
                <a:schemeClr val="dk1"/>
              </a:solidFill>
              <a:latin typeface="Calibri"/>
              <a:ea typeface="Calibri"/>
              <a:cs typeface="Calibri"/>
              <a:sym typeface="Calibri"/>
            </a:endParaRPr>
          </a:p>
        </p:txBody>
      </p:sp>
      <p:sp>
        <p:nvSpPr>
          <p:cNvPr id="169" name="Google Shape;169;p15"/>
          <p:cNvSpPr/>
          <p:nvPr/>
        </p:nvSpPr>
        <p:spPr>
          <a:xfrm>
            <a:off x="496119" y="2070050"/>
            <a:ext cx="1655266" cy="977354"/>
          </a:xfrm>
          <a:prstGeom prst="roundRect">
            <a:avLst>
              <a:gd fmla="val 5426" name="adj"/>
            </a:avLst>
          </a:prstGeom>
          <a:solidFill>
            <a:srgbClr val="FFFFFF">
              <a:alpha val="94902"/>
            </a:srgbClr>
          </a:solidFill>
          <a:ln cap="flat" cmpd="sng" w="1427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5"/>
          <p:cNvSpPr/>
          <p:nvPr/>
        </p:nvSpPr>
        <p:spPr>
          <a:xfrm>
            <a:off x="636612" y="2210544"/>
            <a:ext cx="1374279" cy="20203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200"/>
              <a:buFont typeface="Consolas"/>
              <a:buNone/>
            </a:pPr>
            <a:r>
              <a:rPr b="0" i="0" lang="en-US" sz="1200" u="none" cap="none" strike="noStrike">
                <a:solidFill>
                  <a:srgbClr val="3C3939"/>
                </a:solidFill>
                <a:highlight>
                  <a:srgbClr val="F2F2F2"/>
                </a:highlight>
                <a:latin typeface="Consolas"/>
                <a:ea typeface="Consolas"/>
                <a:cs typeface="Consolas"/>
                <a:sym typeface="Consolas"/>
              </a:rPr>
              <a:t>not_null</a:t>
            </a:r>
            <a:endParaRPr b="0" i="0" sz="1200" u="none" cap="none" strike="noStrike">
              <a:solidFill>
                <a:schemeClr val="dk1"/>
              </a:solidFill>
              <a:latin typeface="Calibri"/>
              <a:ea typeface="Calibri"/>
              <a:cs typeface="Calibri"/>
              <a:sym typeface="Calibri"/>
            </a:endParaRPr>
          </a:p>
        </p:txBody>
      </p:sp>
      <p:sp>
        <p:nvSpPr>
          <p:cNvPr id="171" name="Google Shape;171;p15"/>
          <p:cNvSpPr/>
          <p:nvPr/>
        </p:nvSpPr>
        <p:spPr>
          <a:xfrm>
            <a:off x="636612" y="2525018"/>
            <a:ext cx="1374279" cy="381893"/>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3C3939"/>
              </a:buClr>
              <a:buSzPts val="950"/>
              <a:buFont typeface="Roboto"/>
              <a:buNone/>
            </a:pPr>
            <a:r>
              <a:rPr b="0" i="0" lang="en-US" sz="950" u="none" cap="none" strike="noStrike">
                <a:solidFill>
                  <a:srgbClr val="3C3939"/>
                </a:solidFill>
                <a:latin typeface="Roboto"/>
                <a:ea typeface="Roboto"/>
                <a:cs typeface="Roboto"/>
                <a:sym typeface="Roboto"/>
              </a:rPr>
              <a:t>Ningún valor puede ser nulo</a:t>
            </a:r>
            <a:endParaRPr b="0" i="0" sz="950" u="none" cap="none" strike="noStrike">
              <a:solidFill>
                <a:schemeClr val="dk1"/>
              </a:solidFill>
              <a:latin typeface="Calibri"/>
              <a:ea typeface="Calibri"/>
              <a:cs typeface="Calibri"/>
              <a:sym typeface="Calibri"/>
            </a:endParaRPr>
          </a:p>
        </p:txBody>
      </p:sp>
      <p:sp>
        <p:nvSpPr>
          <p:cNvPr id="172" name="Google Shape;172;p15"/>
          <p:cNvSpPr/>
          <p:nvPr/>
        </p:nvSpPr>
        <p:spPr>
          <a:xfrm>
            <a:off x="2263825" y="2070050"/>
            <a:ext cx="1655266" cy="977354"/>
          </a:xfrm>
          <a:prstGeom prst="roundRect">
            <a:avLst>
              <a:gd fmla="val 5426" name="adj"/>
            </a:avLst>
          </a:prstGeom>
          <a:solidFill>
            <a:srgbClr val="FFFFFF">
              <a:alpha val="94902"/>
            </a:srgbClr>
          </a:solidFill>
          <a:ln cap="flat" cmpd="sng" w="1427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5"/>
          <p:cNvSpPr/>
          <p:nvPr/>
        </p:nvSpPr>
        <p:spPr>
          <a:xfrm>
            <a:off x="2404318" y="2210544"/>
            <a:ext cx="1374279" cy="20203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200"/>
              <a:buFont typeface="Consolas"/>
              <a:buNone/>
            </a:pPr>
            <a:r>
              <a:rPr b="0" i="0" lang="en-US" sz="1200" u="none" cap="none" strike="noStrike">
                <a:solidFill>
                  <a:srgbClr val="3C3939"/>
                </a:solidFill>
                <a:highlight>
                  <a:srgbClr val="F2F2F2"/>
                </a:highlight>
                <a:latin typeface="Consolas"/>
                <a:ea typeface="Consolas"/>
                <a:cs typeface="Consolas"/>
                <a:sym typeface="Consolas"/>
              </a:rPr>
              <a:t>unique</a:t>
            </a:r>
            <a:endParaRPr b="0" i="0" sz="1200" u="none" cap="none" strike="noStrike">
              <a:solidFill>
                <a:schemeClr val="dk1"/>
              </a:solidFill>
              <a:latin typeface="Calibri"/>
              <a:ea typeface="Calibri"/>
              <a:cs typeface="Calibri"/>
              <a:sym typeface="Calibri"/>
            </a:endParaRPr>
          </a:p>
        </p:txBody>
      </p:sp>
      <p:sp>
        <p:nvSpPr>
          <p:cNvPr id="174" name="Google Shape;174;p15"/>
          <p:cNvSpPr/>
          <p:nvPr/>
        </p:nvSpPr>
        <p:spPr>
          <a:xfrm>
            <a:off x="2404318" y="2525018"/>
            <a:ext cx="1374279" cy="381893"/>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3C3939"/>
              </a:buClr>
              <a:buSzPts val="950"/>
              <a:buFont typeface="Roboto"/>
              <a:buNone/>
            </a:pPr>
            <a:r>
              <a:rPr b="0" i="0" lang="en-US" sz="950" u="none" cap="none" strike="noStrike">
                <a:solidFill>
                  <a:srgbClr val="3C3939"/>
                </a:solidFill>
                <a:latin typeface="Roboto"/>
                <a:ea typeface="Roboto"/>
                <a:cs typeface="Roboto"/>
                <a:sym typeface="Roboto"/>
              </a:rPr>
              <a:t>Sin duplicados en la columna</a:t>
            </a:r>
            <a:endParaRPr b="0" i="0" sz="950" u="none" cap="none" strike="noStrike">
              <a:solidFill>
                <a:schemeClr val="dk1"/>
              </a:solidFill>
              <a:latin typeface="Calibri"/>
              <a:ea typeface="Calibri"/>
              <a:cs typeface="Calibri"/>
              <a:sym typeface="Calibri"/>
            </a:endParaRPr>
          </a:p>
        </p:txBody>
      </p:sp>
      <p:sp>
        <p:nvSpPr>
          <p:cNvPr id="175" name="Google Shape;175;p15"/>
          <p:cNvSpPr/>
          <p:nvPr/>
        </p:nvSpPr>
        <p:spPr>
          <a:xfrm>
            <a:off x="4031531" y="2070050"/>
            <a:ext cx="1655266" cy="977354"/>
          </a:xfrm>
          <a:prstGeom prst="roundRect">
            <a:avLst>
              <a:gd fmla="val 5426" name="adj"/>
            </a:avLst>
          </a:prstGeom>
          <a:solidFill>
            <a:srgbClr val="FFFFFF">
              <a:alpha val="94902"/>
            </a:srgbClr>
          </a:solidFill>
          <a:ln cap="flat" cmpd="sng" w="1427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5"/>
          <p:cNvSpPr/>
          <p:nvPr/>
        </p:nvSpPr>
        <p:spPr>
          <a:xfrm>
            <a:off x="4172024" y="2210544"/>
            <a:ext cx="1374279" cy="20203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200"/>
              <a:buFont typeface="Consolas"/>
              <a:buNone/>
            </a:pPr>
            <a:r>
              <a:rPr b="0" i="0" lang="en-US" sz="1200" u="none" cap="none" strike="noStrike">
                <a:solidFill>
                  <a:srgbClr val="3C3939"/>
                </a:solidFill>
                <a:highlight>
                  <a:srgbClr val="F2F2F2"/>
                </a:highlight>
                <a:latin typeface="Consolas"/>
                <a:ea typeface="Consolas"/>
                <a:cs typeface="Consolas"/>
                <a:sym typeface="Consolas"/>
              </a:rPr>
              <a:t>relationships</a:t>
            </a:r>
            <a:endParaRPr b="0" i="0" sz="1200" u="none" cap="none" strike="noStrike">
              <a:solidFill>
                <a:schemeClr val="dk1"/>
              </a:solidFill>
              <a:latin typeface="Calibri"/>
              <a:ea typeface="Calibri"/>
              <a:cs typeface="Calibri"/>
              <a:sym typeface="Calibri"/>
            </a:endParaRPr>
          </a:p>
        </p:txBody>
      </p:sp>
      <p:sp>
        <p:nvSpPr>
          <p:cNvPr id="177" name="Google Shape;177;p15"/>
          <p:cNvSpPr/>
          <p:nvPr/>
        </p:nvSpPr>
        <p:spPr>
          <a:xfrm>
            <a:off x="4172024" y="2525018"/>
            <a:ext cx="1374279" cy="381893"/>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3C3939"/>
              </a:buClr>
              <a:buSzPts val="950"/>
              <a:buFont typeface="Roboto"/>
              <a:buNone/>
            </a:pPr>
            <a:r>
              <a:rPr b="0" i="0" lang="en-US" sz="950" u="none" cap="none" strike="noStrike">
                <a:solidFill>
                  <a:srgbClr val="3C3939"/>
                </a:solidFill>
                <a:latin typeface="Roboto"/>
                <a:ea typeface="Roboto"/>
                <a:cs typeface="Roboto"/>
                <a:sym typeface="Roboto"/>
              </a:rPr>
              <a:t>Integridad referencial entre modelos</a:t>
            </a:r>
            <a:endParaRPr b="0" i="0" sz="950" u="none" cap="none" strike="noStrike">
              <a:solidFill>
                <a:schemeClr val="dk1"/>
              </a:solidFill>
              <a:latin typeface="Calibri"/>
              <a:ea typeface="Calibri"/>
              <a:cs typeface="Calibri"/>
              <a:sym typeface="Calibri"/>
            </a:endParaRPr>
          </a:p>
        </p:txBody>
      </p:sp>
      <p:sp>
        <p:nvSpPr>
          <p:cNvPr id="178" name="Google Shape;178;p15"/>
          <p:cNvSpPr/>
          <p:nvPr/>
        </p:nvSpPr>
        <p:spPr>
          <a:xfrm>
            <a:off x="496119" y="3159844"/>
            <a:ext cx="5190679" cy="786408"/>
          </a:xfrm>
          <a:prstGeom prst="roundRect">
            <a:avLst>
              <a:gd fmla="val 6743" name="adj"/>
            </a:avLst>
          </a:prstGeom>
          <a:solidFill>
            <a:srgbClr val="FFFFFF">
              <a:alpha val="94902"/>
            </a:srgbClr>
          </a:solidFill>
          <a:ln cap="flat" cmpd="sng" w="1427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5"/>
          <p:cNvSpPr/>
          <p:nvPr/>
        </p:nvSpPr>
        <p:spPr>
          <a:xfrm>
            <a:off x="636612" y="3300338"/>
            <a:ext cx="4909691" cy="20203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200"/>
              <a:buFont typeface="Consolas"/>
              <a:buNone/>
            </a:pPr>
            <a:r>
              <a:rPr b="0" i="0" lang="en-US" sz="1200" u="none" cap="none" strike="noStrike">
                <a:solidFill>
                  <a:srgbClr val="3C3939"/>
                </a:solidFill>
                <a:highlight>
                  <a:srgbClr val="F2F2F2"/>
                </a:highlight>
                <a:latin typeface="Consolas"/>
                <a:ea typeface="Consolas"/>
                <a:cs typeface="Consolas"/>
                <a:sym typeface="Consolas"/>
              </a:rPr>
              <a:t>accepted_values</a:t>
            </a:r>
            <a:endParaRPr b="0" i="0" sz="1200" u="none" cap="none" strike="noStrike">
              <a:solidFill>
                <a:schemeClr val="dk1"/>
              </a:solidFill>
              <a:latin typeface="Calibri"/>
              <a:ea typeface="Calibri"/>
              <a:cs typeface="Calibri"/>
              <a:sym typeface="Calibri"/>
            </a:endParaRPr>
          </a:p>
        </p:txBody>
      </p:sp>
      <p:sp>
        <p:nvSpPr>
          <p:cNvPr id="180" name="Google Shape;180;p15"/>
          <p:cNvSpPr/>
          <p:nvPr/>
        </p:nvSpPr>
        <p:spPr>
          <a:xfrm>
            <a:off x="636612" y="3614812"/>
            <a:ext cx="4909691" cy="190946"/>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3C3939"/>
              </a:buClr>
              <a:buSzPts val="950"/>
              <a:buFont typeface="Roboto"/>
              <a:buNone/>
            </a:pPr>
            <a:r>
              <a:rPr b="0" i="0" lang="en-US" sz="950" u="none" cap="none" strike="noStrike">
                <a:solidFill>
                  <a:srgbClr val="3C3939"/>
                </a:solidFill>
                <a:latin typeface="Roboto"/>
                <a:ea typeface="Roboto"/>
                <a:cs typeface="Roboto"/>
                <a:sym typeface="Roboto"/>
              </a:rPr>
              <a:t>Solo valores del conjunto permitido</a:t>
            </a:r>
            <a:endParaRPr b="0" i="0" sz="950" u="none" cap="none" strike="noStrike">
              <a:solidFill>
                <a:schemeClr val="dk1"/>
              </a:solidFill>
              <a:latin typeface="Calibri"/>
              <a:ea typeface="Calibri"/>
              <a:cs typeface="Calibri"/>
              <a:sym typeface="Calibri"/>
            </a:endParaRPr>
          </a:p>
        </p:txBody>
      </p:sp>
      <p:pic>
        <p:nvPicPr>
          <p:cNvPr descr="preencoded.png" id="181" name="Google Shape;181;p15"/>
          <p:cNvPicPr preferRelativeResize="0"/>
          <p:nvPr/>
        </p:nvPicPr>
        <p:blipFill rotWithShape="1">
          <a:blip r:embed="rId3">
            <a:alphaModFix/>
          </a:blip>
          <a:srcRect b="0" l="0" r="0" t="0"/>
          <a:stretch/>
        </p:blipFill>
        <p:spPr>
          <a:xfrm>
            <a:off x="5999708" y="1094408"/>
            <a:ext cx="2652861" cy="2652861"/>
          </a:xfrm>
          <a:prstGeom prst="rect">
            <a:avLst/>
          </a:prstGeom>
          <a:noFill/>
          <a:ln>
            <a:noFill/>
          </a:ln>
        </p:spPr>
      </p:pic>
      <p:sp>
        <p:nvSpPr>
          <p:cNvPr id="182" name="Google Shape;182;p15"/>
          <p:cNvSpPr/>
          <p:nvPr/>
        </p:nvSpPr>
        <p:spPr>
          <a:xfrm>
            <a:off x="5999708" y="3873773"/>
            <a:ext cx="2652861" cy="763786"/>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3C3939"/>
              </a:buClr>
              <a:buSzPts val="950"/>
              <a:buFont typeface="Roboto"/>
              <a:buNone/>
            </a:pPr>
            <a:r>
              <a:rPr b="0" i="0" lang="en-US" sz="950" u="none" cap="none" strike="noStrike">
                <a:solidFill>
                  <a:srgbClr val="3C3939"/>
                </a:solidFill>
                <a:latin typeface="Roboto"/>
                <a:ea typeface="Roboto"/>
                <a:cs typeface="Roboto"/>
                <a:sym typeface="Roboto"/>
              </a:rPr>
              <a:t>Las </a:t>
            </a:r>
            <a:r>
              <a:rPr b="1" i="0" lang="en-US" sz="950" u="none" cap="none" strike="noStrike">
                <a:solidFill>
                  <a:srgbClr val="3C3939"/>
                </a:solidFill>
                <a:latin typeface="Roboto"/>
                <a:ea typeface="Roboto"/>
                <a:cs typeface="Roboto"/>
                <a:sym typeface="Roboto"/>
              </a:rPr>
              <a:t>pruebas singulares</a:t>
            </a:r>
            <a:r>
              <a:rPr b="0" i="0" lang="en-US" sz="950" u="none" cap="none" strike="noStrike">
                <a:solidFill>
                  <a:srgbClr val="3C3939"/>
                </a:solidFill>
                <a:latin typeface="Roboto"/>
                <a:ea typeface="Roboto"/>
                <a:cs typeface="Roboto"/>
                <a:sym typeface="Roboto"/>
              </a:rPr>
              <a:t> permiten SQL personalizado para validaciones específicas. Reducen riesgo de errores básicos y hacen explícitos los supuestos del modelo.</a:t>
            </a:r>
            <a:endParaRPr b="0" i="0" sz="950" u="none" cap="none" strike="noStrike">
              <a:solidFill>
                <a:schemeClr val="dk1"/>
              </a:solidFill>
              <a:latin typeface="Calibri"/>
              <a:ea typeface="Calibri"/>
              <a:cs typeface="Calibri"/>
              <a:sym typeface="Calibri"/>
            </a:endParaRPr>
          </a:p>
        </p:txBody>
      </p:sp>
      <p:sp>
        <p:nvSpPr>
          <p:cNvPr id="183" name="Google Shape;183;p15"/>
          <p:cNvSpPr/>
          <p:nvPr/>
        </p:nvSpPr>
        <p:spPr>
          <a:xfrm>
            <a:off x="7967375" y="4798925"/>
            <a:ext cx="1176600" cy="344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6"/>
          <p:cNvSpPr/>
          <p:nvPr/>
        </p:nvSpPr>
        <p:spPr>
          <a:xfrm>
            <a:off x="5715000" y="0"/>
            <a:ext cx="3429000" cy="5143500"/>
          </a:xfrm>
          <a:prstGeom prst="rect">
            <a:avLst/>
          </a:prstGeom>
          <a:solidFill>
            <a:srgbClr val="E1E1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0" name="Google Shape;190;p16"/>
          <p:cNvPicPr preferRelativeResize="0"/>
          <p:nvPr/>
        </p:nvPicPr>
        <p:blipFill rotWithShape="1">
          <a:blip r:embed="rId3">
            <a:alphaModFix/>
          </a:blip>
          <a:srcRect b="0" l="0" r="0" t="0"/>
          <a:stretch/>
        </p:blipFill>
        <p:spPr>
          <a:xfrm>
            <a:off x="5784726" y="378693"/>
            <a:ext cx="3289474" cy="4386039"/>
          </a:xfrm>
          <a:prstGeom prst="rect">
            <a:avLst/>
          </a:prstGeom>
          <a:noFill/>
          <a:ln>
            <a:noFill/>
          </a:ln>
        </p:spPr>
      </p:pic>
      <p:sp>
        <p:nvSpPr>
          <p:cNvPr id="191" name="Google Shape;191;p16"/>
          <p:cNvSpPr/>
          <p:nvPr/>
        </p:nvSpPr>
        <p:spPr>
          <a:xfrm>
            <a:off x="496119" y="396925"/>
            <a:ext cx="4722763" cy="43606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2700"/>
              <a:buFont typeface="Raleway"/>
              <a:buNone/>
            </a:pPr>
            <a:r>
              <a:rPr b="0" i="0" lang="en-US" sz="2700" u="none" cap="none" strike="noStrike">
                <a:solidFill>
                  <a:srgbClr val="1B1B27"/>
                </a:solidFill>
                <a:latin typeface="Raleway"/>
                <a:ea typeface="Raleway"/>
                <a:cs typeface="Raleway"/>
                <a:sym typeface="Raleway"/>
              </a:rPr>
              <a:t>Documentación Automática</a:t>
            </a:r>
            <a:endParaRPr b="0" i="0" sz="2700" u="none" cap="none" strike="noStrike">
              <a:solidFill>
                <a:schemeClr val="dk1"/>
              </a:solidFill>
              <a:latin typeface="Calibri"/>
              <a:ea typeface="Calibri"/>
              <a:cs typeface="Calibri"/>
              <a:sym typeface="Calibri"/>
            </a:endParaRPr>
          </a:p>
        </p:txBody>
      </p:sp>
      <p:pic>
        <p:nvPicPr>
          <p:cNvPr descr="preencoded.png" id="192" name="Google Shape;192;p16"/>
          <p:cNvPicPr preferRelativeResize="0"/>
          <p:nvPr/>
        </p:nvPicPr>
        <p:blipFill rotWithShape="1">
          <a:blip r:embed="rId4">
            <a:alphaModFix/>
          </a:blip>
          <a:srcRect b="0" l="0" r="0" t="0"/>
          <a:stretch/>
        </p:blipFill>
        <p:spPr>
          <a:xfrm>
            <a:off x="496119" y="1039044"/>
            <a:ext cx="348853" cy="348853"/>
          </a:xfrm>
          <a:prstGeom prst="rect">
            <a:avLst/>
          </a:prstGeom>
          <a:noFill/>
          <a:ln>
            <a:noFill/>
          </a:ln>
        </p:spPr>
      </p:pic>
      <p:sp>
        <p:nvSpPr>
          <p:cNvPr id="193" name="Google Shape;193;p16"/>
          <p:cNvSpPr/>
          <p:nvPr/>
        </p:nvSpPr>
        <p:spPr>
          <a:xfrm>
            <a:off x="1016645" y="1039044"/>
            <a:ext cx="4202237" cy="21803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350"/>
              <a:buFont typeface="Raleway"/>
              <a:buNone/>
            </a:pPr>
            <a:r>
              <a:rPr b="0" i="0" lang="en-US" sz="1350" u="none" cap="none" strike="noStrike">
                <a:solidFill>
                  <a:srgbClr val="3C3939"/>
                </a:solidFill>
                <a:latin typeface="Raleway"/>
                <a:ea typeface="Raleway"/>
                <a:cs typeface="Raleway"/>
                <a:sym typeface="Raleway"/>
              </a:rPr>
              <a:t>Archivos YAML y Markdown</a:t>
            </a:r>
            <a:endParaRPr b="0" i="0" sz="1350" u="none" cap="none" strike="noStrike">
              <a:solidFill>
                <a:schemeClr val="dk1"/>
              </a:solidFill>
              <a:latin typeface="Calibri"/>
              <a:ea typeface="Calibri"/>
              <a:cs typeface="Calibri"/>
              <a:sym typeface="Calibri"/>
            </a:endParaRPr>
          </a:p>
        </p:txBody>
      </p:sp>
      <p:sp>
        <p:nvSpPr>
          <p:cNvPr id="194" name="Google Shape;194;p16"/>
          <p:cNvSpPr/>
          <p:nvPr/>
        </p:nvSpPr>
        <p:spPr>
          <a:xfrm>
            <a:off x="1016645" y="1339453"/>
            <a:ext cx="4202237" cy="442913"/>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3C3939"/>
              </a:buClr>
              <a:buSzPts val="1050"/>
              <a:buFont typeface="Roboto"/>
              <a:buNone/>
            </a:pPr>
            <a:r>
              <a:rPr b="0" i="0" lang="en-US" sz="1050" u="none" cap="none" strike="noStrike">
                <a:solidFill>
                  <a:srgbClr val="3C3939"/>
                </a:solidFill>
                <a:latin typeface="Roboto"/>
                <a:ea typeface="Roboto"/>
                <a:cs typeface="Roboto"/>
                <a:sym typeface="Roboto"/>
              </a:rPr>
              <a:t>Documenta modelos, columnas y fuentes directamente en el repositorio</a:t>
            </a:r>
            <a:endParaRPr b="0" i="0" sz="1050" u="none" cap="none" strike="noStrike">
              <a:solidFill>
                <a:schemeClr val="dk1"/>
              </a:solidFill>
              <a:latin typeface="Calibri"/>
              <a:ea typeface="Calibri"/>
              <a:cs typeface="Calibri"/>
              <a:sym typeface="Calibri"/>
            </a:endParaRPr>
          </a:p>
        </p:txBody>
      </p:sp>
      <p:pic>
        <p:nvPicPr>
          <p:cNvPr descr="preencoded.png" id="195" name="Google Shape;195;p16"/>
          <p:cNvPicPr preferRelativeResize="0"/>
          <p:nvPr/>
        </p:nvPicPr>
        <p:blipFill rotWithShape="1">
          <a:blip r:embed="rId5">
            <a:alphaModFix/>
          </a:blip>
          <a:srcRect b="0" l="0" r="0" t="0"/>
          <a:stretch/>
        </p:blipFill>
        <p:spPr>
          <a:xfrm>
            <a:off x="496119" y="2057102"/>
            <a:ext cx="348853" cy="348853"/>
          </a:xfrm>
          <a:prstGeom prst="rect">
            <a:avLst/>
          </a:prstGeom>
          <a:noFill/>
          <a:ln>
            <a:noFill/>
          </a:ln>
        </p:spPr>
      </p:pic>
      <p:sp>
        <p:nvSpPr>
          <p:cNvPr id="196" name="Google Shape;196;p16"/>
          <p:cNvSpPr/>
          <p:nvPr/>
        </p:nvSpPr>
        <p:spPr>
          <a:xfrm>
            <a:off x="1016645" y="2057102"/>
            <a:ext cx="4202237" cy="21803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350"/>
              <a:buFont typeface="Raleway"/>
              <a:buNone/>
            </a:pPr>
            <a:r>
              <a:rPr b="0" i="0" lang="en-US" sz="1350" u="none" cap="none" strike="noStrike">
                <a:solidFill>
                  <a:srgbClr val="3C3939"/>
                </a:solidFill>
                <a:latin typeface="Raleway"/>
                <a:ea typeface="Raleway"/>
                <a:cs typeface="Raleway"/>
                <a:sym typeface="Raleway"/>
              </a:rPr>
              <a:t>Sitio generado automáticamente</a:t>
            </a:r>
            <a:endParaRPr b="0" i="0" sz="1350" u="none" cap="none" strike="noStrike">
              <a:solidFill>
                <a:schemeClr val="dk1"/>
              </a:solidFill>
              <a:latin typeface="Calibri"/>
              <a:ea typeface="Calibri"/>
              <a:cs typeface="Calibri"/>
              <a:sym typeface="Calibri"/>
            </a:endParaRPr>
          </a:p>
        </p:txBody>
      </p:sp>
      <p:sp>
        <p:nvSpPr>
          <p:cNvPr id="197" name="Google Shape;197;p16"/>
          <p:cNvSpPr/>
          <p:nvPr/>
        </p:nvSpPr>
        <p:spPr>
          <a:xfrm>
            <a:off x="1016645" y="2357512"/>
            <a:ext cx="4202237" cy="442913"/>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3C3939"/>
              </a:buClr>
              <a:buSzPts val="1050"/>
              <a:buFont typeface="Roboto"/>
              <a:buNone/>
            </a:pPr>
            <a:r>
              <a:rPr b="0" i="0" lang="en-US" sz="1050" u="none" cap="none" strike="noStrike">
                <a:solidFill>
                  <a:srgbClr val="3C3939"/>
                </a:solidFill>
                <a:latin typeface="Roboto"/>
                <a:ea typeface="Roboto"/>
                <a:cs typeface="Roboto"/>
                <a:sym typeface="Roboto"/>
              </a:rPr>
              <a:t>Genera portal de documentación con descripciones, metadatos y linaje visual</a:t>
            </a:r>
            <a:endParaRPr b="0" i="0" sz="1050" u="none" cap="none" strike="noStrike">
              <a:solidFill>
                <a:schemeClr val="dk1"/>
              </a:solidFill>
              <a:latin typeface="Calibri"/>
              <a:ea typeface="Calibri"/>
              <a:cs typeface="Calibri"/>
              <a:sym typeface="Calibri"/>
            </a:endParaRPr>
          </a:p>
        </p:txBody>
      </p:sp>
      <p:pic>
        <p:nvPicPr>
          <p:cNvPr descr="preencoded.png" id="198" name="Google Shape;198;p16"/>
          <p:cNvPicPr preferRelativeResize="0"/>
          <p:nvPr/>
        </p:nvPicPr>
        <p:blipFill rotWithShape="1">
          <a:blip r:embed="rId6">
            <a:alphaModFix/>
          </a:blip>
          <a:srcRect b="0" l="0" r="0" t="0"/>
          <a:stretch/>
        </p:blipFill>
        <p:spPr>
          <a:xfrm>
            <a:off x="496119" y="3075161"/>
            <a:ext cx="348853" cy="348853"/>
          </a:xfrm>
          <a:prstGeom prst="rect">
            <a:avLst/>
          </a:prstGeom>
          <a:noFill/>
          <a:ln>
            <a:noFill/>
          </a:ln>
        </p:spPr>
      </p:pic>
      <p:sp>
        <p:nvSpPr>
          <p:cNvPr id="199" name="Google Shape;199;p16"/>
          <p:cNvSpPr/>
          <p:nvPr/>
        </p:nvSpPr>
        <p:spPr>
          <a:xfrm>
            <a:off x="1016645" y="3075161"/>
            <a:ext cx="4202237" cy="21803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350"/>
              <a:buFont typeface="Raleway"/>
              <a:buNone/>
            </a:pPr>
            <a:r>
              <a:rPr b="0" i="0" lang="en-US" sz="1350" u="none" cap="none" strike="noStrike">
                <a:solidFill>
                  <a:srgbClr val="3C3939"/>
                </a:solidFill>
                <a:latin typeface="Raleway"/>
                <a:ea typeface="Raleway"/>
                <a:cs typeface="Raleway"/>
                <a:sym typeface="Raleway"/>
              </a:rPr>
              <a:t>Responde preguntas clave</a:t>
            </a:r>
            <a:endParaRPr b="0" i="0" sz="1350" u="none" cap="none" strike="noStrike">
              <a:solidFill>
                <a:schemeClr val="dk1"/>
              </a:solidFill>
              <a:latin typeface="Calibri"/>
              <a:ea typeface="Calibri"/>
              <a:cs typeface="Calibri"/>
              <a:sym typeface="Calibri"/>
            </a:endParaRPr>
          </a:p>
        </p:txBody>
      </p:sp>
      <p:sp>
        <p:nvSpPr>
          <p:cNvPr id="200" name="Google Shape;200;p16"/>
          <p:cNvSpPr/>
          <p:nvPr/>
        </p:nvSpPr>
        <p:spPr>
          <a:xfrm>
            <a:off x="1016645" y="3375571"/>
            <a:ext cx="4202237" cy="442913"/>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3C3939"/>
              </a:buClr>
              <a:buSzPts val="1050"/>
              <a:buFont typeface="Roboto"/>
              <a:buNone/>
            </a:pPr>
            <a:r>
              <a:rPr b="0" i="0" lang="en-US" sz="1050" u="none" cap="none" strike="noStrike">
                <a:solidFill>
                  <a:srgbClr val="3C3939"/>
                </a:solidFill>
                <a:latin typeface="Roboto"/>
                <a:ea typeface="Roboto"/>
                <a:cs typeface="Roboto"/>
                <a:sym typeface="Roboto"/>
              </a:rPr>
              <a:t>Qué representa, granularidad, fuentes, llaves, métricas y supuestos del modelo</a:t>
            </a:r>
            <a:endParaRPr b="0" i="0" sz="1050" u="none" cap="none" strike="noStrike">
              <a:solidFill>
                <a:schemeClr val="dk1"/>
              </a:solidFill>
              <a:latin typeface="Calibri"/>
              <a:ea typeface="Calibri"/>
              <a:cs typeface="Calibri"/>
              <a:sym typeface="Calibri"/>
            </a:endParaRPr>
          </a:p>
        </p:txBody>
      </p:sp>
      <p:sp>
        <p:nvSpPr>
          <p:cNvPr id="201" name="Google Shape;201;p16"/>
          <p:cNvSpPr/>
          <p:nvPr/>
        </p:nvSpPr>
        <p:spPr>
          <a:xfrm>
            <a:off x="496119" y="3972967"/>
            <a:ext cx="4722763" cy="773534"/>
          </a:xfrm>
          <a:prstGeom prst="roundRect">
            <a:avLst>
              <a:gd fmla="val 7577" name="adj"/>
            </a:avLst>
          </a:prstGeom>
          <a:solidFill>
            <a:srgbClr val="E1E1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2" name="Google Shape;202;p16"/>
          <p:cNvPicPr preferRelativeResize="0"/>
          <p:nvPr/>
        </p:nvPicPr>
        <p:blipFill rotWithShape="1">
          <a:blip r:embed="rId7">
            <a:alphaModFix/>
          </a:blip>
          <a:srcRect b="0" l="0" r="0" t="0"/>
          <a:stretch/>
        </p:blipFill>
        <p:spPr>
          <a:xfrm>
            <a:off x="635645" y="4170685"/>
            <a:ext cx="174427" cy="139526"/>
          </a:xfrm>
          <a:prstGeom prst="rect">
            <a:avLst/>
          </a:prstGeom>
          <a:noFill/>
          <a:ln>
            <a:noFill/>
          </a:ln>
        </p:spPr>
      </p:pic>
      <p:sp>
        <p:nvSpPr>
          <p:cNvPr id="203" name="Google Shape;203;p16"/>
          <p:cNvSpPr/>
          <p:nvPr/>
        </p:nvSpPr>
        <p:spPr>
          <a:xfrm>
            <a:off x="949598" y="4145161"/>
            <a:ext cx="4129757" cy="442913"/>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000000"/>
              </a:buClr>
              <a:buSzPts val="1050"/>
              <a:buFont typeface="Roboto"/>
              <a:buNone/>
            </a:pPr>
            <a:r>
              <a:rPr b="0" i="0" lang="en-US" sz="1050" u="none" cap="none" strike="noStrike">
                <a:solidFill>
                  <a:srgbClr val="000000"/>
                </a:solidFill>
                <a:latin typeface="Roboto"/>
                <a:ea typeface="Roboto"/>
                <a:cs typeface="Roboto"/>
                <a:sym typeface="Roboto"/>
              </a:rPr>
              <a:t>La documentación forma parte del desarrollo, no un trámite posterior.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7"/>
          <p:cNvSpPr/>
          <p:nvPr/>
        </p:nvSpPr>
        <p:spPr>
          <a:xfrm>
            <a:off x="496119" y="407417"/>
            <a:ext cx="8151763" cy="30450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1900"/>
              <a:buFont typeface="Raleway"/>
              <a:buNone/>
            </a:pPr>
            <a:r>
              <a:rPr b="0" i="0" lang="en-US" sz="1900" u="none" cap="none" strike="noStrike">
                <a:solidFill>
                  <a:srgbClr val="1B1B27"/>
                </a:solidFill>
                <a:latin typeface="Raleway"/>
                <a:ea typeface="Raleway"/>
                <a:cs typeface="Raleway"/>
                <a:sym typeface="Raleway"/>
              </a:rPr>
              <a:t>Linaje de Datos y Ejecución</a:t>
            </a:r>
            <a:endParaRPr b="0" i="0" sz="1900" u="none" cap="none" strike="noStrike">
              <a:solidFill>
                <a:schemeClr val="dk1"/>
              </a:solidFill>
              <a:latin typeface="Calibri"/>
              <a:ea typeface="Calibri"/>
              <a:cs typeface="Calibri"/>
              <a:sym typeface="Calibri"/>
            </a:endParaRPr>
          </a:p>
        </p:txBody>
      </p:sp>
      <p:sp>
        <p:nvSpPr>
          <p:cNvPr id="210" name="Google Shape;210;p17"/>
          <p:cNvSpPr/>
          <p:nvPr/>
        </p:nvSpPr>
        <p:spPr>
          <a:xfrm>
            <a:off x="496119" y="879351"/>
            <a:ext cx="3957042" cy="15225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950"/>
              <a:buFont typeface="Raleway"/>
              <a:buNone/>
            </a:pPr>
            <a:r>
              <a:rPr b="0" i="0" lang="en-US" sz="950" u="none" cap="none" strike="noStrike">
                <a:solidFill>
                  <a:srgbClr val="1B1B27"/>
                </a:solidFill>
                <a:latin typeface="Raleway"/>
                <a:ea typeface="Raleway"/>
                <a:cs typeface="Raleway"/>
                <a:sym typeface="Raleway"/>
              </a:rPr>
              <a:t>Grafo de Dependencias</a:t>
            </a:r>
            <a:endParaRPr b="0" i="0" sz="950" u="none" cap="none" strike="noStrike">
              <a:solidFill>
                <a:schemeClr val="dk1"/>
              </a:solidFill>
              <a:latin typeface="Calibri"/>
              <a:ea typeface="Calibri"/>
              <a:cs typeface="Calibri"/>
              <a:sym typeface="Calibri"/>
            </a:endParaRPr>
          </a:p>
        </p:txBody>
      </p:sp>
      <p:sp>
        <p:nvSpPr>
          <p:cNvPr id="211" name="Google Shape;211;p17"/>
          <p:cNvSpPr/>
          <p:nvPr/>
        </p:nvSpPr>
        <p:spPr>
          <a:xfrm>
            <a:off x="496119" y="1098575"/>
            <a:ext cx="3957042" cy="596057"/>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3C3939"/>
              </a:buClr>
              <a:buSzPts val="750"/>
              <a:buFont typeface="Roboto"/>
              <a:buNone/>
            </a:pPr>
            <a:r>
              <a:rPr b="0" i="0" lang="en-US" sz="750" u="none" cap="none" strike="noStrike">
                <a:solidFill>
                  <a:srgbClr val="3C3939"/>
                </a:solidFill>
                <a:latin typeface="Roboto"/>
                <a:ea typeface="Roboto"/>
                <a:cs typeface="Roboto"/>
                <a:sym typeface="Roboto"/>
              </a:rPr>
              <a:t>dbt construye automáticamente el grafo de dependencias usando las funciones </a:t>
            </a:r>
            <a:r>
              <a:rPr b="0" i="0" lang="en-US" sz="750" u="none" cap="none" strike="noStrike">
                <a:solidFill>
                  <a:srgbClr val="3C3939"/>
                </a:solidFill>
                <a:highlight>
                  <a:srgbClr val="F2F2F2"/>
                </a:highlight>
                <a:latin typeface="Consolas"/>
                <a:ea typeface="Consolas"/>
                <a:cs typeface="Consolas"/>
                <a:sym typeface="Consolas"/>
              </a:rPr>
              <a:t>source()</a:t>
            </a:r>
            <a:r>
              <a:rPr b="0" i="0" lang="en-US" sz="750" u="none" cap="none" strike="noStrike">
                <a:solidFill>
                  <a:srgbClr val="3C3939"/>
                </a:solidFill>
                <a:latin typeface="Roboto"/>
                <a:ea typeface="Roboto"/>
                <a:cs typeface="Roboto"/>
                <a:sym typeface="Roboto"/>
              </a:rPr>
              <a:t> y </a:t>
            </a:r>
            <a:r>
              <a:rPr b="0" i="0" lang="en-US" sz="750" u="none" cap="none" strike="noStrike">
                <a:solidFill>
                  <a:srgbClr val="3C3939"/>
                </a:solidFill>
                <a:highlight>
                  <a:srgbClr val="F2F2F2"/>
                </a:highlight>
                <a:latin typeface="Consolas"/>
                <a:ea typeface="Consolas"/>
                <a:cs typeface="Consolas"/>
                <a:sym typeface="Consolas"/>
              </a:rPr>
              <a:t>ref()</a:t>
            </a:r>
            <a:r>
              <a:rPr b="0" i="0" lang="en-US" sz="750" u="none" cap="none" strike="noStrike">
                <a:solidFill>
                  <a:srgbClr val="3C3939"/>
                </a:solidFill>
                <a:latin typeface="Roboto"/>
                <a:ea typeface="Roboto"/>
                <a:cs typeface="Roboto"/>
                <a:sym typeface="Roboto"/>
              </a:rPr>
              <a:t>, mostrando cómo los datos se mueven desde las fuentes hasta las tablas finales.</a:t>
            </a:r>
            <a:endParaRPr b="0" i="0" sz="750" u="none" cap="none" strike="noStrike">
              <a:solidFill>
                <a:schemeClr val="dk1"/>
              </a:solidFill>
              <a:latin typeface="Calibri"/>
              <a:ea typeface="Calibri"/>
              <a:cs typeface="Calibri"/>
              <a:sym typeface="Calibri"/>
            </a:endParaRPr>
          </a:p>
          <a:p>
            <a:pPr indent="0" lvl="0" marL="0" marR="0" rtl="0" algn="l">
              <a:lnSpc>
                <a:spcPct val="113000"/>
              </a:lnSpc>
              <a:spcBef>
                <a:spcPts val="450"/>
              </a:spcBef>
              <a:spcAft>
                <a:spcPts val="0"/>
              </a:spcAft>
              <a:buClr>
                <a:srgbClr val="3C3939"/>
              </a:buClr>
              <a:buSzPts val="750"/>
              <a:buFont typeface="Roboto"/>
              <a:buNone/>
            </a:pPr>
            <a:r>
              <a:rPr b="0" i="0" lang="en-US" sz="750" u="none" cap="none" strike="noStrike">
                <a:solidFill>
                  <a:srgbClr val="3C3939"/>
                </a:solidFill>
                <a:latin typeface="Roboto"/>
                <a:ea typeface="Roboto"/>
                <a:cs typeface="Roboto"/>
                <a:sym typeface="Roboto"/>
              </a:rPr>
              <a:t>Permite investigar cambios, auditar transformaciones y justificar resultados ante cualquier stakeholder.</a:t>
            </a:r>
            <a:endParaRPr b="0" i="0" sz="750" u="none" cap="none" strike="noStrike">
              <a:solidFill>
                <a:schemeClr val="dk1"/>
              </a:solidFill>
              <a:latin typeface="Calibri"/>
              <a:ea typeface="Calibri"/>
              <a:cs typeface="Calibri"/>
              <a:sym typeface="Calibri"/>
            </a:endParaRPr>
          </a:p>
        </p:txBody>
      </p:sp>
      <p:sp>
        <p:nvSpPr>
          <p:cNvPr id="212" name="Google Shape;212;p17"/>
          <p:cNvSpPr/>
          <p:nvPr/>
        </p:nvSpPr>
        <p:spPr>
          <a:xfrm>
            <a:off x="4695602" y="879351"/>
            <a:ext cx="3957042" cy="15225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950"/>
              <a:buFont typeface="Raleway"/>
              <a:buNone/>
            </a:pPr>
            <a:r>
              <a:rPr b="0" i="0" lang="en-US" sz="950" u="none" cap="none" strike="noStrike">
                <a:solidFill>
                  <a:srgbClr val="1B1B27"/>
                </a:solidFill>
                <a:latin typeface="Raleway"/>
                <a:ea typeface="Raleway"/>
                <a:cs typeface="Raleway"/>
                <a:sym typeface="Raleway"/>
              </a:rPr>
              <a:t>Flujo de Ejecución Local</a:t>
            </a:r>
            <a:endParaRPr b="0" i="0" sz="950" u="none" cap="none" strike="noStrike">
              <a:solidFill>
                <a:schemeClr val="dk1"/>
              </a:solidFill>
              <a:latin typeface="Calibri"/>
              <a:ea typeface="Calibri"/>
              <a:cs typeface="Calibri"/>
              <a:sym typeface="Calibri"/>
            </a:endParaRPr>
          </a:p>
        </p:txBody>
      </p:sp>
      <p:sp>
        <p:nvSpPr>
          <p:cNvPr id="213" name="Google Shape;213;p17"/>
          <p:cNvSpPr/>
          <p:nvPr/>
        </p:nvSpPr>
        <p:spPr>
          <a:xfrm>
            <a:off x="4695602" y="1106984"/>
            <a:ext cx="194890" cy="1218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C3939"/>
              </a:buClr>
              <a:buSzPts val="750"/>
              <a:buFont typeface="Raleway Light"/>
              <a:buNone/>
            </a:pPr>
            <a:r>
              <a:rPr b="0" i="0" lang="en-US" sz="750" u="none" cap="none" strike="noStrike">
                <a:solidFill>
                  <a:srgbClr val="3C3939"/>
                </a:solidFill>
                <a:latin typeface="Raleway Light"/>
                <a:ea typeface="Raleway Light"/>
                <a:cs typeface="Raleway Light"/>
                <a:sym typeface="Raleway Light"/>
              </a:rPr>
              <a:t>01</a:t>
            </a:r>
            <a:endParaRPr b="0" i="0" sz="750" u="none" cap="none" strike="noStrike">
              <a:solidFill>
                <a:schemeClr val="dk1"/>
              </a:solidFill>
              <a:latin typeface="Calibri"/>
              <a:ea typeface="Calibri"/>
              <a:cs typeface="Calibri"/>
              <a:sym typeface="Calibri"/>
            </a:endParaRPr>
          </a:p>
        </p:txBody>
      </p:sp>
      <p:sp>
        <p:nvSpPr>
          <p:cNvPr id="214" name="Google Shape;214;p17"/>
          <p:cNvSpPr/>
          <p:nvPr/>
        </p:nvSpPr>
        <p:spPr>
          <a:xfrm>
            <a:off x="4695602" y="1258267"/>
            <a:ext cx="3957042" cy="14288"/>
          </a:xfrm>
          <a:prstGeom prst="rect">
            <a:avLst/>
          </a:prstGeom>
          <a:solidFill>
            <a:srgbClr val="1B1B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7"/>
          <p:cNvSpPr/>
          <p:nvPr/>
        </p:nvSpPr>
        <p:spPr>
          <a:xfrm>
            <a:off x="4695602" y="1335509"/>
            <a:ext cx="3957042" cy="15701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950"/>
              <a:buFont typeface="Consolas"/>
              <a:buNone/>
            </a:pPr>
            <a:r>
              <a:rPr b="0" i="0" lang="en-US" sz="950" u="none" cap="none" strike="noStrike">
                <a:solidFill>
                  <a:srgbClr val="3C3939"/>
                </a:solidFill>
                <a:highlight>
                  <a:srgbClr val="F2F2F2"/>
                </a:highlight>
                <a:latin typeface="Consolas"/>
                <a:ea typeface="Consolas"/>
                <a:cs typeface="Consolas"/>
                <a:sym typeface="Consolas"/>
              </a:rPr>
              <a:t>dbt debug</a:t>
            </a:r>
            <a:endParaRPr b="0" i="0" sz="950" u="none" cap="none" strike="noStrike">
              <a:solidFill>
                <a:schemeClr val="dk1"/>
              </a:solidFill>
              <a:latin typeface="Calibri"/>
              <a:ea typeface="Calibri"/>
              <a:cs typeface="Calibri"/>
              <a:sym typeface="Calibri"/>
            </a:endParaRPr>
          </a:p>
        </p:txBody>
      </p:sp>
      <p:sp>
        <p:nvSpPr>
          <p:cNvPr id="216" name="Google Shape;216;p17"/>
          <p:cNvSpPr/>
          <p:nvPr/>
        </p:nvSpPr>
        <p:spPr>
          <a:xfrm>
            <a:off x="4695602" y="1559496"/>
            <a:ext cx="3957042" cy="131564"/>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3C3939"/>
              </a:buClr>
              <a:buSzPts val="750"/>
              <a:buFont typeface="Roboto"/>
              <a:buNone/>
            </a:pPr>
            <a:r>
              <a:rPr b="0" i="0" lang="en-US" sz="750" u="none" cap="none" strike="noStrike">
                <a:solidFill>
                  <a:srgbClr val="3C3939"/>
                </a:solidFill>
                <a:latin typeface="Roboto"/>
                <a:ea typeface="Roboto"/>
                <a:cs typeface="Roboto"/>
                <a:sym typeface="Roboto"/>
              </a:rPr>
              <a:t>Verifica conexión y configuración</a:t>
            </a:r>
            <a:endParaRPr b="0" i="0" sz="750" u="none" cap="none" strike="noStrike">
              <a:solidFill>
                <a:schemeClr val="dk1"/>
              </a:solidFill>
              <a:latin typeface="Calibri"/>
              <a:ea typeface="Calibri"/>
              <a:cs typeface="Calibri"/>
              <a:sym typeface="Calibri"/>
            </a:endParaRPr>
          </a:p>
        </p:txBody>
      </p:sp>
      <p:sp>
        <p:nvSpPr>
          <p:cNvPr id="217" name="Google Shape;217;p17"/>
          <p:cNvSpPr/>
          <p:nvPr/>
        </p:nvSpPr>
        <p:spPr>
          <a:xfrm>
            <a:off x="4695602" y="1831107"/>
            <a:ext cx="194890" cy="1218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C3939"/>
              </a:buClr>
              <a:buSzPts val="750"/>
              <a:buFont typeface="Raleway Light"/>
              <a:buNone/>
            </a:pPr>
            <a:r>
              <a:rPr b="0" i="0" lang="en-US" sz="750" u="none" cap="none" strike="noStrike">
                <a:solidFill>
                  <a:srgbClr val="3C3939"/>
                </a:solidFill>
                <a:latin typeface="Raleway Light"/>
                <a:ea typeface="Raleway Light"/>
                <a:cs typeface="Raleway Light"/>
                <a:sym typeface="Raleway Light"/>
              </a:rPr>
              <a:t>02</a:t>
            </a:r>
            <a:endParaRPr b="0" i="0" sz="750" u="none" cap="none" strike="noStrike">
              <a:solidFill>
                <a:schemeClr val="dk1"/>
              </a:solidFill>
              <a:latin typeface="Calibri"/>
              <a:ea typeface="Calibri"/>
              <a:cs typeface="Calibri"/>
              <a:sym typeface="Calibri"/>
            </a:endParaRPr>
          </a:p>
        </p:txBody>
      </p:sp>
      <p:sp>
        <p:nvSpPr>
          <p:cNvPr id="218" name="Google Shape;218;p17"/>
          <p:cNvSpPr/>
          <p:nvPr/>
        </p:nvSpPr>
        <p:spPr>
          <a:xfrm>
            <a:off x="4695602" y="1982391"/>
            <a:ext cx="3957042" cy="14288"/>
          </a:xfrm>
          <a:prstGeom prst="rect">
            <a:avLst/>
          </a:prstGeom>
          <a:solidFill>
            <a:srgbClr val="1B1B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7"/>
          <p:cNvSpPr/>
          <p:nvPr/>
        </p:nvSpPr>
        <p:spPr>
          <a:xfrm>
            <a:off x="4695602" y="2059632"/>
            <a:ext cx="3957042" cy="15701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950"/>
              <a:buFont typeface="Consolas"/>
              <a:buNone/>
            </a:pPr>
            <a:r>
              <a:rPr b="0" i="0" lang="en-US" sz="950" u="none" cap="none" strike="noStrike">
                <a:solidFill>
                  <a:srgbClr val="3C3939"/>
                </a:solidFill>
                <a:highlight>
                  <a:srgbClr val="F2F2F2"/>
                </a:highlight>
                <a:latin typeface="Consolas"/>
                <a:ea typeface="Consolas"/>
                <a:cs typeface="Consolas"/>
                <a:sym typeface="Consolas"/>
              </a:rPr>
              <a:t>dbt seed</a:t>
            </a:r>
            <a:endParaRPr b="0" i="0" sz="950" u="none" cap="none" strike="noStrike">
              <a:solidFill>
                <a:schemeClr val="dk1"/>
              </a:solidFill>
              <a:latin typeface="Calibri"/>
              <a:ea typeface="Calibri"/>
              <a:cs typeface="Calibri"/>
              <a:sym typeface="Calibri"/>
            </a:endParaRPr>
          </a:p>
        </p:txBody>
      </p:sp>
      <p:sp>
        <p:nvSpPr>
          <p:cNvPr id="220" name="Google Shape;220;p17"/>
          <p:cNvSpPr/>
          <p:nvPr/>
        </p:nvSpPr>
        <p:spPr>
          <a:xfrm>
            <a:off x="4695602" y="2283619"/>
            <a:ext cx="3957042" cy="131564"/>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3C3939"/>
              </a:buClr>
              <a:buSzPts val="750"/>
              <a:buFont typeface="Roboto"/>
              <a:buNone/>
            </a:pPr>
            <a:r>
              <a:rPr b="0" i="0" lang="en-US" sz="750" u="none" cap="none" strike="noStrike">
                <a:solidFill>
                  <a:srgbClr val="3C3939"/>
                </a:solidFill>
                <a:latin typeface="Roboto"/>
                <a:ea typeface="Roboto"/>
                <a:cs typeface="Roboto"/>
                <a:sym typeface="Roboto"/>
              </a:rPr>
              <a:t>Carga archivos CSV como tablas</a:t>
            </a:r>
            <a:endParaRPr b="0" i="0" sz="750" u="none" cap="none" strike="noStrike">
              <a:solidFill>
                <a:schemeClr val="dk1"/>
              </a:solidFill>
              <a:latin typeface="Calibri"/>
              <a:ea typeface="Calibri"/>
              <a:cs typeface="Calibri"/>
              <a:sym typeface="Calibri"/>
            </a:endParaRPr>
          </a:p>
        </p:txBody>
      </p:sp>
      <p:sp>
        <p:nvSpPr>
          <p:cNvPr id="221" name="Google Shape;221;p17"/>
          <p:cNvSpPr/>
          <p:nvPr/>
        </p:nvSpPr>
        <p:spPr>
          <a:xfrm>
            <a:off x="4695602" y="2555230"/>
            <a:ext cx="194890" cy="1218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C3939"/>
              </a:buClr>
              <a:buSzPts val="750"/>
              <a:buFont typeface="Raleway Light"/>
              <a:buNone/>
            </a:pPr>
            <a:r>
              <a:rPr b="0" i="0" lang="en-US" sz="750" u="none" cap="none" strike="noStrike">
                <a:solidFill>
                  <a:srgbClr val="3C3939"/>
                </a:solidFill>
                <a:latin typeface="Raleway Light"/>
                <a:ea typeface="Raleway Light"/>
                <a:cs typeface="Raleway Light"/>
                <a:sym typeface="Raleway Light"/>
              </a:rPr>
              <a:t>03</a:t>
            </a:r>
            <a:endParaRPr b="0" i="0" sz="750" u="none" cap="none" strike="noStrike">
              <a:solidFill>
                <a:schemeClr val="dk1"/>
              </a:solidFill>
              <a:latin typeface="Calibri"/>
              <a:ea typeface="Calibri"/>
              <a:cs typeface="Calibri"/>
              <a:sym typeface="Calibri"/>
            </a:endParaRPr>
          </a:p>
        </p:txBody>
      </p:sp>
      <p:sp>
        <p:nvSpPr>
          <p:cNvPr id="222" name="Google Shape;222;p17"/>
          <p:cNvSpPr/>
          <p:nvPr/>
        </p:nvSpPr>
        <p:spPr>
          <a:xfrm>
            <a:off x="4695602" y="2706514"/>
            <a:ext cx="3957042" cy="14288"/>
          </a:xfrm>
          <a:prstGeom prst="rect">
            <a:avLst/>
          </a:prstGeom>
          <a:solidFill>
            <a:srgbClr val="1B1B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7"/>
          <p:cNvSpPr/>
          <p:nvPr/>
        </p:nvSpPr>
        <p:spPr>
          <a:xfrm>
            <a:off x="4695602" y="2783756"/>
            <a:ext cx="3957042" cy="15701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950"/>
              <a:buFont typeface="Consolas"/>
              <a:buNone/>
            </a:pPr>
            <a:r>
              <a:rPr b="0" i="0" lang="en-US" sz="950" u="none" cap="none" strike="noStrike">
                <a:solidFill>
                  <a:srgbClr val="3C3939"/>
                </a:solidFill>
                <a:highlight>
                  <a:srgbClr val="F2F2F2"/>
                </a:highlight>
                <a:latin typeface="Consolas"/>
                <a:ea typeface="Consolas"/>
                <a:cs typeface="Consolas"/>
                <a:sym typeface="Consolas"/>
              </a:rPr>
              <a:t>dbt run</a:t>
            </a:r>
            <a:endParaRPr b="0" i="0" sz="950" u="none" cap="none" strike="noStrike">
              <a:solidFill>
                <a:schemeClr val="dk1"/>
              </a:solidFill>
              <a:latin typeface="Calibri"/>
              <a:ea typeface="Calibri"/>
              <a:cs typeface="Calibri"/>
              <a:sym typeface="Calibri"/>
            </a:endParaRPr>
          </a:p>
        </p:txBody>
      </p:sp>
      <p:sp>
        <p:nvSpPr>
          <p:cNvPr id="224" name="Google Shape;224;p17"/>
          <p:cNvSpPr/>
          <p:nvPr/>
        </p:nvSpPr>
        <p:spPr>
          <a:xfrm>
            <a:off x="4695602" y="3007742"/>
            <a:ext cx="3957042" cy="131564"/>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3C3939"/>
              </a:buClr>
              <a:buSzPts val="750"/>
              <a:buFont typeface="Roboto"/>
              <a:buNone/>
            </a:pPr>
            <a:r>
              <a:rPr b="0" i="0" lang="en-US" sz="750" u="none" cap="none" strike="noStrike">
                <a:solidFill>
                  <a:srgbClr val="3C3939"/>
                </a:solidFill>
                <a:latin typeface="Roboto"/>
                <a:ea typeface="Roboto"/>
                <a:cs typeface="Roboto"/>
                <a:sym typeface="Roboto"/>
              </a:rPr>
              <a:t>Ejecuta todos los modelos SQL</a:t>
            </a:r>
            <a:endParaRPr b="0" i="0" sz="750" u="none" cap="none" strike="noStrike">
              <a:solidFill>
                <a:schemeClr val="dk1"/>
              </a:solidFill>
              <a:latin typeface="Calibri"/>
              <a:ea typeface="Calibri"/>
              <a:cs typeface="Calibri"/>
              <a:sym typeface="Calibri"/>
            </a:endParaRPr>
          </a:p>
        </p:txBody>
      </p:sp>
      <p:sp>
        <p:nvSpPr>
          <p:cNvPr id="225" name="Google Shape;225;p17"/>
          <p:cNvSpPr/>
          <p:nvPr/>
        </p:nvSpPr>
        <p:spPr>
          <a:xfrm>
            <a:off x="4695602" y="3279353"/>
            <a:ext cx="194890" cy="1218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C3939"/>
              </a:buClr>
              <a:buSzPts val="750"/>
              <a:buFont typeface="Raleway Light"/>
              <a:buNone/>
            </a:pPr>
            <a:r>
              <a:rPr b="0" i="0" lang="en-US" sz="750" u="none" cap="none" strike="noStrike">
                <a:solidFill>
                  <a:srgbClr val="3C3939"/>
                </a:solidFill>
                <a:latin typeface="Raleway Light"/>
                <a:ea typeface="Raleway Light"/>
                <a:cs typeface="Raleway Light"/>
                <a:sym typeface="Raleway Light"/>
              </a:rPr>
              <a:t>04</a:t>
            </a:r>
            <a:endParaRPr b="0" i="0" sz="750" u="none" cap="none" strike="noStrike">
              <a:solidFill>
                <a:schemeClr val="dk1"/>
              </a:solidFill>
              <a:latin typeface="Calibri"/>
              <a:ea typeface="Calibri"/>
              <a:cs typeface="Calibri"/>
              <a:sym typeface="Calibri"/>
            </a:endParaRPr>
          </a:p>
        </p:txBody>
      </p:sp>
      <p:sp>
        <p:nvSpPr>
          <p:cNvPr id="226" name="Google Shape;226;p17"/>
          <p:cNvSpPr/>
          <p:nvPr/>
        </p:nvSpPr>
        <p:spPr>
          <a:xfrm>
            <a:off x="4695602" y="3430637"/>
            <a:ext cx="3957042" cy="14288"/>
          </a:xfrm>
          <a:prstGeom prst="rect">
            <a:avLst/>
          </a:prstGeom>
          <a:solidFill>
            <a:srgbClr val="1B1B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7"/>
          <p:cNvSpPr/>
          <p:nvPr/>
        </p:nvSpPr>
        <p:spPr>
          <a:xfrm>
            <a:off x="4695602" y="3507879"/>
            <a:ext cx="3957042" cy="15701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950"/>
              <a:buFont typeface="Consolas"/>
              <a:buNone/>
            </a:pPr>
            <a:r>
              <a:rPr b="0" i="0" lang="en-US" sz="950" u="none" cap="none" strike="noStrike">
                <a:solidFill>
                  <a:srgbClr val="3C3939"/>
                </a:solidFill>
                <a:highlight>
                  <a:srgbClr val="F2F2F2"/>
                </a:highlight>
                <a:latin typeface="Consolas"/>
                <a:ea typeface="Consolas"/>
                <a:cs typeface="Consolas"/>
                <a:sym typeface="Consolas"/>
              </a:rPr>
              <a:t>dbt test</a:t>
            </a:r>
            <a:endParaRPr b="0" i="0" sz="950" u="none" cap="none" strike="noStrike">
              <a:solidFill>
                <a:schemeClr val="dk1"/>
              </a:solidFill>
              <a:latin typeface="Calibri"/>
              <a:ea typeface="Calibri"/>
              <a:cs typeface="Calibri"/>
              <a:sym typeface="Calibri"/>
            </a:endParaRPr>
          </a:p>
        </p:txBody>
      </p:sp>
      <p:sp>
        <p:nvSpPr>
          <p:cNvPr id="228" name="Google Shape;228;p17"/>
          <p:cNvSpPr/>
          <p:nvPr/>
        </p:nvSpPr>
        <p:spPr>
          <a:xfrm>
            <a:off x="4695602" y="3731865"/>
            <a:ext cx="3957042" cy="131564"/>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3C3939"/>
              </a:buClr>
              <a:buSzPts val="750"/>
              <a:buFont typeface="Roboto"/>
              <a:buNone/>
            </a:pPr>
            <a:r>
              <a:rPr b="0" i="0" lang="en-US" sz="750" u="none" cap="none" strike="noStrike">
                <a:solidFill>
                  <a:srgbClr val="3C3939"/>
                </a:solidFill>
                <a:latin typeface="Roboto"/>
                <a:ea typeface="Roboto"/>
                <a:cs typeface="Roboto"/>
                <a:sym typeface="Roboto"/>
              </a:rPr>
              <a:t>Valida pruebas de calidad</a:t>
            </a:r>
            <a:endParaRPr b="0" i="0" sz="750" u="none" cap="none" strike="noStrike">
              <a:solidFill>
                <a:schemeClr val="dk1"/>
              </a:solidFill>
              <a:latin typeface="Calibri"/>
              <a:ea typeface="Calibri"/>
              <a:cs typeface="Calibri"/>
              <a:sym typeface="Calibri"/>
            </a:endParaRPr>
          </a:p>
        </p:txBody>
      </p:sp>
      <p:sp>
        <p:nvSpPr>
          <p:cNvPr id="229" name="Google Shape;229;p17"/>
          <p:cNvSpPr/>
          <p:nvPr/>
        </p:nvSpPr>
        <p:spPr>
          <a:xfrm>
            <a:off x="4695602" y="4003477"/>
            <a:ext cx="194890" cy="1218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C3939"/>
              </a:buClr>
              <a:buSzPts val="750"/>
              <a:buFont typeface="Raleway Light"/>
              <a:buNone/>
            </a:pPr>
            <a:r>
              <a:rPr b="0" i="0" lang="en-US" sz="750" u="none" cap="none" strike="noStrike">
                <a:solidFill>
                  <a:srgbClr val="3C3939"/>
                </a:solidFill>
                <a:latin typeface="Raleway Light"/>
                <a:ea typeface="Raleway Light"/>
                <a:cs typeface="Raleway Light"/>
                <a:sym typeface="Raleway Light"/>
              </a:rPr>
              <a:t>05</a:t>
            </a:r>
            <a:endParaRPr b="0" i="0" sz="750" u="none" cap="none" strike="noStrike">
              <a:solidFill>
                <a:schemeClr val="dk1"/>
              </a:solidFill>
              <a:latin typeface="Calibri"/>
              <a:ea typeface="Calibri"/>
              <a:cs typeface="Calibri"/>
              <a:sym typeface="Calibri"/>
            </a:endParaRPr>
          </a:p>
        </p:txBody>
      </p:sp>
      <p:sp>
        <p:nvSpPr>
          <p:cNvPr id="230" name="Google Shape;230;p17"/>
          <p:cNvSpPr/>
          <p:nvPr/>
        </p:nvSpPr>
        <p:spPr>
          <a:xfrm>
            <a:off x="4695602" y="4154760"/>
            <a:ext cx="3957042" cy="14288"/>
          </a:xfrm>
          <a:prstGeom prst="rect">
            <a:avLst/>
          </a:prstGeom>
          <a:solidFill>
            <a:srgbClr val="1B1B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7"/>
          <p:cNvSpPr/>
          <p:nvPr/>
        </p:nvSpPr>
        <p:spPr>
          <a:xfrm>
            <a:off x="4695602" y="4232002"/>
            <a:ext cx="3957042" cy="15701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950"/>
              <a:buFont typeface="Consolas"/>
              <a:buNone/>
            </a:pPr>
            <a:r>
              <a:rPr b="0" i="0" lang="en-US" sz="950" u="none" cap="none" strike="noStrike">
                <a:solidFill>
                  <a:srgbClr val="3C3939"/>
                </a:solidFill>
                <a:highlight>
                  <a:srgbClr val="F2F2F2"/>
                </a:highlight>
                <a:latin typeface="Consolas"/>
                <a:ea typeface="Consolas"/>
                <a:cs typeface="Consolas"/>
                <a:sym typeface="Consolas"/>
              </a:rPr>
              <a:t>dbt docs generate &amp; serve</a:t>
            </a:r>
            <a:endParaRPr b="0" i="0" sz="950" u="none" cap="none" strike="noStrike">
              <a:solidFill>
                <a:schemeClr val="dk1"/>
              </a:solidFill>
              <a:latin typeface="Calibri"/>
              <a:ea typeface="Calibri"/>
              <a:cs typeface="Calibri"/>
              <a:sym typeface="Calibri"/>
            </a:endParaRPr>
          </a:p>
        </p:txBody>
      </p:sp>
      <p:sp>
        <p:nvSpPr>
          <p:cNvPr id="232" name="Google Shape;232;p17"/>
          <p:cNvSpPr/>
          <p:nvPr/>
        </p:nvSpPr>
        <p:spPr>
          <a:xfrm>
            <a:off x="4695602" y="4455988"/>
            <a:ext cx="3957042" cy="131564"/>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3C3939"/>
              </a:buClr>
              <a:buSzPts val="750"/>
              <a:buFont typeface="Roboto"/>
              <a:buNone/>
            </a:pPr>
            <a:r>
              <a:rPr b="0" i="0" lang="en-US" sz="750" u="none" cap="none" strike="noStrike">
                <a:solidFill>
                  <a:srgbClr val="3C3939"/>
                </a:solidFill>
                <a:latin typeface="Roboto"/>
                <a:ea typeface="Roboto"/>
                <a:cs typeface="Roboto"/>
                <a:sym typeface="Roboto"/>
              </a:rPr>
              <a:t>Publica documentación navegable</a:t>
            </a:r>
            <a:endParaRPr b="0" i="0" sz="750" u="none" cap="none" strike="noStrike">
              <a:solidFill>
                <a:schemeClr val="dk1"/>
              </a:solidFill>
              <a:latin typeface="Calibri"/>
              <a:ea typeface="Calibri"/>
              <a:cs typeface="Calibri"/>
              <a:sym typeface="Calibri"/>
            </a:endParaRPr>
          </a:p>
        </p:txBody>
      </p:sp>
      <p:sp>
        <p:nvSpPr>
          <p:cNvPr id="233" name="Google Shape;233;p17"/>
          <p:cNvSpPr/>
          <p:nvPr/>
        </p:nvSpPr>
        <p:spPr>
          <a:xfrm>
            <a:off x="7967375" y="4798925"/>
            <a:ext cx="1176600" cy="344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8"/>
          <p:cNvSpPr/>
          <p:nvPr/>
        </p:nvSpPr>
        <p:spPr>
          <a:xfrm>
            <a:off x="5715000" y="0"/>
            <a:ext cx="3429000" cy="5143500"/>
          </a:xfrm>
          <a:prstGeom prst="rect">
            <a:avLst/>
          </a:prstGeom>
          <a:solidFill>
            <a:srgbClr val="E1E1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0" name="Google Shape;240;p18"/>
          <p:cNvPicPr preferRelativeResize="0"/>
          <p:nvPr/>
        </p:nvPicPr>
        <p:blipFill rotWithShape="1">
          <a:blip r:embed="rId3">
            <a:alphaModFix/>
          </a:blip>
          <a:srcRect b="0" l="0" r="0" t="0"/>
          <a:stretch/>
        </p:blipFill>
        <p:spPr>
          <a:xfrm>
            <a:off x="5785842" y="380181"/>
            <a:ext cx="3287241" cy="4383063"/>
          </a:xfrm>
          <a:prstGeom prst="rect">
            <a:avLst/>
          </a:prstGeom>
          <a:noFill/>
          <a:ln>
            <a:noFill/>
          </a:ln>
        </p:spPr>
      </p:pic>
      <p:sp>
        <p:nvSpPr>
          <p:cNvPr id="241" name="Google Shape;241;p18"/>
          <p:cNvSpPr/>
          <p:nvPr/>
        </p:nvSpPr>
        <p:spPr>
          <a:xfrm>
            <a:off x="496119" y="775543"/>
            <a:ext cx="4722763" cy="44298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2750"/>
              <a:buFont typeface="Raleway"/>
              <a:buNone/>
            </a:pPr>
            <a:r>
              <a:rPr b="0" i="0" lang="en-US" sz="2750" u="none" cap="none" strike="noStrike">
                <a:solidFill>
                  <a:srgbClr val="1B1B27"/>
                </a:solidFill>
                <a:latin typeface="Raleway"/>
                <a:ea typeface="Raleway"/>
                <a:cs typeface="Raleway"/>
                <a:sym typeface="Raleway"/>
              </a:rPr>
              <a:t>Conclusiones</a:t>
            </a:r>
            <a:endParaRPr b="0" i="0" sz="2750" u="none" cap="none" strike="noStrike">
              <a:solidFill>
                <a:schemeClr val="dk1"/>
              </a:solidFill>
              <a:latin typeface="Calibri"/>
              <a:ea typeface="Calibri"/>
              <a:cs typeface="Calibri"/>
              <a:sym typeface="Calibri"/>
            </a:endParaRPr>
          </a:p>
        </p:txBody>
      </p:sp>
      <p:sp>
        <p:nvSpPr>
          <p:cNvPr id="242" name="Google Shape;242;p18"/>
          <p:cNvSpPr/>
          <p:nvPr/>
        </p:nvSpPr>
        <p:spPr>
          <a:xfrm>
            <a:off x="496119" y="1431131"/>
            <a:ext cx="4722763" cy="4536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C3939"/>
              </a:buClr>
              <a:buSzPts val="1100"/>
              <a:buFont typeface="Roboto"/>
              <a:buNone/>
            </a:pPr>
            <a:r>
              <a:rPr b="0" i="0" lang="en-US" sz="1100" u="none" cap="none" strike="noStrike">
                <a:solidFill>
                  <a:srgbClr val="3C3939"/>
                </a:solidFill>
                <a:latin typeface="Roboto"/>
                <a:ea typeface="Roboto"/>
                <a:cs typeface="Roboto"/>
                <a:sym typeface="Roboto"/>
              </a:rPr>
              <a:t>dbt transforma el modelado analítico en una disciplina de ingeniería rigurosa: versionada, testeable y documentada.</a:t>
            </a:r>
            <a:endParaRPr b="0" i="0" sz="1100" u="none" cap="none" strike="noStrike">
              <a:solidFill>
                <a:schemeClr val="dk1"/>
              </a:solidFill>
              <a:latin typeface="Calibri"/>
              <a:ea typeface="Calibri"/>
              <a:cs typeface="Calibri"/>
              <a:sym typeface="Calibri"/>
            </a:endParaRPr>
          </a:p>
        </p:txBody>
      </p:sp>
      <p:sp>
        <p:nvSpPr>
          <p:cNvPr id="243" name="Google Shape;243;p18"/>
          <p:cNvSpPr/>
          <p:nvPr/>
        </p:nvSpPr>
        <p:spPr>
          <a:xfrm>
            <a:off x="496119" y="2044229"/>
            <a:ext cx="4722763" cy="2323654"/>
          </a:xfrm>
          <a:prstGeom prst="roundRect">
            <a:avLst>
              <a:gd fmla="val 2562"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8"/>
          <p:cNvSpPr/>
          <p:nvPr/>
        </p:nvSpPr>
        <p:spPr>
          <a:xfrm>
            <a:off x="500881" y="2048991"/>
            <a:ext cx="2356619" cy="1270471"/>
          </a:xfrm>
          <a:custGeom>
            <a:rect b="b" l="l" r="r" t="t"/>
            <a:pathLst>
              <a:path extrusionOk="0" h="1270471" w="2356619">
                <a:moveTo>
                  <a:pt x="49619" y="0"/>
                </a:moveTo>
                <a:lnTo>
                  <a:pt x="2356619" y="0"/>
                </a:lnTo>
                <a:lnTo>
                  <a:pt x="2356619" y="1270471"/>
                </a:lnTo>
                <a:lnTo>
                  <a:pt x="0" y="1270471"/>
                </a:lnTo>
                <a:lnTo>
                  <a:pt x="0" y="49619"/>
                </a:lnTo>
                <a:cubicBezTo>
                  <a:pt x="0" y="22215"/>
                  <a:pt x="22215" y="0"/>
                  <a:pt x="49619" y="0"/>
                </a:cubicBezTo>
                <a:close/>
              </a:path>
            </a:pathLst>
          </a:custGeom>
          <a:solidFill>
            <a:srgbClr val="E1E1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8"/>
          <p:cNvSpPr/>
          <p:nvPr/>
        </p:nvSpPr>
        <p:spPr>
          <a:xfrm>
            <a:off x="642640" y="2190750"/>
            <a:ext cx="2073101"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350"/>
              <a:buFont typeface="Raleway"/>
              <a:buNone/>
            </a:pPr>
            <a:r>
              <a:rPr b="0" i="0" lang="en-US" sz="1350" u="none" cap="none" strike="noStrike">
                <a:solidFill>
                  <a:srgbClr val="3C3939"/>
                </a:solidFill>
                <a:latin typeface="Raleway"/>
                <a:ea typeface="Raleway"/>
                <a:cs typeface="Raleway"/>
                <a:sym typeface="Raleway"/>
              </a:rPr>
              <a:t>Capas claras</a:t>
            </a:r>
            <a:endParaRPr b="0" i="0" sz="1350" u="none" cap="none" strike="noStrike">
              <a:solidFill>
                <a:schemeClr val="dk1"/>
              </a:solidFill>
              <a:latin typeface="Calibri"/>
              <a:ea typeface="Calibri"/>
              <a:cs typeface="Calibri"/>
              <a:sym typeface="Calibri"/>
            </a:endParaRPr>
          </a:p>
        </p:txBody>
      </p:sp>
      <p:sp>
        <p:nvSpPr>
          <p:cNvPr id="246" name="Google Shape;246;p18"/>
          <p:cNvSpPr/>
          <p:nvPr/>
        </p:nvSpPr>
        <p:spPr>
          <a:xfrm>
            <a:off x="642640" y="2497262"/>
            <a:ext cx="2073101" cy="4536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C3939"/>
              </a:buClr>
              <a:buSzPts val="1100"/>
              <a:buFont typeface="Roboto"/>
              <a:buNone/>
            </a:pPr>
            <a:r>
              <a:rPr b="0" i="0" lang="en-US" sz="1100" u="none" cap="none" strike="noStrike">
                <a:solidFill>
                  <a:srgbClr val="3C3939"/>
                </a:solidFill>
                <a:latin typeface="Roboto"/>
                <a:ea typeface="Roboto"/>
                <a:cs typeface="Roboto"/>
                <a:sym typeface="Roboto"/>
              </a:rPr>
              <a:t>Staging → Intermediate → Marts organiza la complejidad</a:t>
            </a:r>
            <a:endParaRPr b="0" i="0" sz="1100" u="none" cap="none" strike="noStrike">
              <a:solidFill>
                <a:schemeClr val="dk1"/>
              </a:solidFill>
              <a:latin typeface="Calibri"/>
              <a:ea typeface="Calibri"/>
              <a:cs typeface="Calibri"/>
              <a:sym typeface="Calibri"/>
            </a:endParaRPr>
          </a:p>
        </p:txBody>
      </p:sp>
      <p:sp>
        <p:nvSpPr>
          <p:cNvPr id="247" name="Google Shape;247;p18"/>
          <p:cNvSpPr/>
          <p:nvPr/>
        </p:nvSpPr>
        <p:spPr>
          <a:xfrm>
            <a:off x="2857500" y="2048991"/>
            <a:ext cx="2356619" cy="1270471"/>
          </a:xfrm>
          <a:custGeom>
            <a:rect b="b" l="l" r="r" t="t"/>
            <a:pathLst>
              <a:path extrusionOk="0" h="1270471" w="2356619">
                <a:moveTo>
                  <a:pt x="0" y="0"/>
                </a:moveTo>
                <a:lnTo>
                  <a:pt x="2307000" y="0"/>
                </a:lnTo>
                <a:cubicBezTo>
                  <a:pt x="2320160" y="0"/>
                  <a:pt x="2332781" y="5228"/>
                  <a:pt x="2342086" y="14533"/>
                </a:cubicBezTo>
                <a:cubicBezTo>
                  <a:pt x="2351391" y="23838"/>
                  <a:pt x="2356619" y="36459"/>
                  <a:pt x="2356619" y="49619"/>
                </a:cubicBezTo>
                <a:lnTo>
                  <a:pt x="2356619" y="1270471"/>
                </a:lnTo>
                <a:lnTo>
                  <a:pt x="0" y="1270471"/>
                </a:lnTo>
                <a:lnTo>
                  <a:pt x="0" y="0"/>
                </a:lnTo>
                <a:close/>
              </a:path>
            </a:pathLst>
          </a:custGeom>
          <a:solidFill>
            <a:srgbClr val="E1E1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8"/>
          <p:cNvSpPr/>
          <p:nvPr/>
        </p:nvSpPr>
        <p:spPr>
          <a:xfrm>
            <a:off x="2857500" y="2048991"/>
            <a:ext cx="19050" cy="1270471"/>
          </a:xfrm>
          <a:prstGeom prst="roundRect">
            <a:avLst>
              <a:gd fmla="val 50000" name="adj"/>
            </a:avLst>
          </a:prstGeom>
          <a:solidFill>
            <a:srgbClr val="C7C7D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8"/>
          <p:cNvSpPr/>
          <p:nvPr/>
        </p:nvSpPr>
        <p:spPr>
          <a:xfrm>
            <a:off x="2999259" y="2190750"/>
            <a:ext cx="2073101"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350"/>
              <a:buFont typeface="Raleway"/>
              <a:buNone/>
            </a:pPr>
            <a:r>
              <a:rPr b="0" i="0" lang="en-US" sz="1350" u="none" cap="none" strike="noStrike">
                <a:solidFill>
                  <a:srgbClr val="3C3939"/>
                </a:solidFill>
                <a:latin typeface="Raleway"/>
                <a:ea typeface="Raleway"/>
                <a:cs typeface="Raleway"/>
                <a:sym typeface="Raleway"/>
              </a:rPr>
              <a:t>Calidad integrada</a:t>
            </a:r>
            <a:endParaRPr b="0" i="0" sz="1350" u="none" cap="none" strike="noStrike">
              <a:solidFill>
                <a:schemeClr val="dk1"/>
              </a:solidFill>
              <a:latin typeface="Calibri"/>
              <a:ea typeface="Calibri"/>
              <a:cs typeface="Calibri"/>
              <a:sym typeface="Calibri"/>
            </a:endParaRPr>
          </a:p>
        </p:txBody>
      </p:sp>
      <p:sp>
        <p:nvSpPr>
          <p:cNvPr id="250" name="Google Shape;250;p18"/>
          <p:cNvSpPr/>
          <p:nvPr/>
        </p:nvSpPr>
        <p:spPr>
          <a:xfrm>
            <a:off x="2999259" y="2497262"/>
            <a:ext cx="2073101" cy="68044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C3939"/>
              </a:buClr>
              <a:buSzPts val="1100"/>
              <a:buFont typeface="Roboto"/>
              <a:buNone/>
            </a:pPr>
            <a:r>
              <a:rPr b="0" i="0" lang="en-US" sz="1100" u="none" cap="none" strike="noStrike">
                <a:solidFill>
                  <a:srgbClr val="3C3939"/>
                </a:solidFill>
                <a:latin typeface="Roboto"/>
                <a:ea typeface="Roboto"/>
                <a:cs typeface="Roboto"/>
                <a:sym typeface="Roboto"/>
              </a:rPr>
              <a:t>Pruebas genéricas y singulares validan supuestos desde el inicio</a:t>
            </a:r>
            <a:endParaRPr b="0" i="0" sz="1100" u="none" cap="none" strike="noStrike">
              <a:solidFill>
                <a:schemeClr val="dk1"/>
              </a:solidFill>
              <a:latin typeface="Calibri"/>
              <a:ea typeface="Calibri"/>
              <a:cs typeface="Calibri"/>
              <a:sym typeface="Calibri"/>
            </a:endParaRPr>
          </a:p>
        </p:txBody>
      </p:sp>
      <p:sp>
        <p:nvSpPr>
          <p:cNvPr id="251" name="Google Shape;251;p18"/>
          <p:cNvSpPr/>
          <p:nvPr/>
        </p:nvSpPr>
        <p:spPr>
          <a:xfrm>
            <a:off x="500881" y="3319463"/>
            <a:ext cx="4713238" cy="1043657"/>
          </a:xfrm>
          <a:custGeom>
            <a:rect b="b" l="l" r="r" t="t"/>
            <a:pathLst>
              <a:path extrusionOk="0" h="1043657" w="4713238">
                <a:moveTo>
                  <a:pt x="0" y="0"/>
                </a:moveTo>
                <a:lnTo>
                  <a:pt x="4713238" y="0"/>
                </a:lnTo>
                <a:lnTo>
                  <a:pt x="4713238" y="994039"/>
                </a:lnTo>
                <a:cubicBezTo>
                  <a:pt x="4713238" y="1021443"/>
                  <a:pt x="4691023" y="1043658"/>
                  <a:pt x="4663619" y="1043658"/>
                </a:cubicBezTo>
                <a:lnTo>
                  <a:pt x="49619" y="1043657"/>
                </a:lnTo>
                <a:cubicBezTo>
                  <a:pt x="22215" y="1043657"/>
                  <a:pt x="0" y="1021442"/>
                  <a:pt x="0" y="994038"/>
                </a:cubicBezTo>
                <a:lnTo>
                  <a:pt x="0" y="0"/>
                </a:lnTo>
                <a:close/>
              </a:path>
            </a:pathLst>
          </a:custGeom>
          <a:solidFill>
            <a:srgbClr val="E1E1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8"/>
          <p:cNvSpPr/>
          <p:nvPr/>
        </p:nvSpPr>
        <p:spPr>
          <a:xfrm>
            <a:off x="500881" y="3319463"/>
            <a:ext cx="4713238" cy="19050"/>
          </a:xfrm>
          <a:prstGeom prst="roundRect">
            <a:avLst>
              <a:gd fmla="val 50000" name="adj"/>
            </a:avLst>
          </a:prstGeom>
          <a:solidFill>
            <a:srgbClr val="C7C7D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8"/>
          <p:cNvSpPr/>
          <p:nvPr/>
        </p:nvSpPr>
        <p:spPr>
          <a:xfrm>
            <a:off x="642640" y="3461221"/>
            <a:ext cx="4429720"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350"/>
              <a:buFont typeface="Raleway"/>
              <a:buNone/>
            </a:pPr>
            <a:r>
              <a:rPr b="0" i="0" lang="en-US" sz="1350" u="none" cap="none" strike="noStrike">
                <a:solidFill>
                  <a:srgbClr val="3C3939"/>
                </a:solidFill>
                <a:latin typeface="Raleway"/>
                <a:ea typeface="Raleway"/>
                <a:cs typeface="Raleway"/>
                <a:sym typeface="Raleway"/>
              </a:rPr>
              <a:t>Trazabilidad total</a:t>
            </a:r>
            <a:endParaRPr b="0" i="0" sz="1350" u="none" cap="none" strike="noStrike">
              <a:solidFill>
                <a:schemeClr val="dk1"/>
              </a:solidFill>
              <a:latin typeface="Calibri"/>
              <a:ea typeface="Calibri"/>
              <a:cs typeface="Calibri"/>
              <a:sym typeface="Calibri"/>
            </a:endParaRPr>
          </a:p>
        </p:txBody>
      </p:sp>
      <p:sp>
        <p:nvSpPr>
          <p:cNvPr id="254" name="Google Shape;254;p18"/>
          <p:cNvSpPr/>
          <p:nvPr/>
        </p:nvSpPr>
        <p:spPr>
          <a:xfrm>
            <a:off x="642640" y="3767733"/>
            <a:ext cx="4429720" cy="4536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C3939"/>
              </a:buClr>
              <a:buSzPts val="1100"/>
              <a:buFont typeface="Roboto"/>
              <a:buNone/>
            </a:pPr>
            <a:r>
              <a:rPr b="0" i="0" lang="en-US" sz="1100" u="none" cap="none" strike="noStrike">
                <a:solidFill>
                  <a:srgbClr val="3C3939"/>
                </a:solidFill>
                <a:latin typeface="Roboto"/>
                <a:ea typeface="Roboto"/>
                <a:cs typeface="Roboto"/>
                <a:sym typeface="Roboto"/>
              </a:rPr>
              <a:t>Linaje y documentación automática hacen los datos auditables y confiables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8" name="Shape 258"/>
        <p:cNvGrpSpPr/>
        <p:nvPr/>
      </p:nvGrpSpPr>
      <p:grpSpPr>
        <a:xfrm>
          <a:off x="0" y="0"/>
          <a:ext cx="0" cy="0"/>
          <a:chOff x="0" y="0"/>
          <a:chExt cx="0" cy="0"/>
        </a:xfrm>
      </p:grpSpPr>
      <p:pic>
        <p:nvPicPr>
          <p:cNvPr descr="For the project guide for this project → https://link.nextwork.org/projects/mcp-data-engineer2?utm_source=youtube&#10;&#10;For ALL hands-on tech projects to add to your resume: https://link.nextwork.org/youtube&#10;&#10;Join our community of members from around the world: https://discord.gg/4fubU2fRxY&#10;&#10;In this project, you will learn Build a Database With Cursor and Supabase MCP. &#10;&#10;&#10;What is dbt&#10;dbt (data build tool) is a transformation framework that lets data teams write version controlled SQL to transform raw warehouse data into clean, analytics ready tables using ELT.&#10;&#10;Why dbt needs PostgreSQL running&#10;dbt does not process data itself. It compiles SQL and runs it inside your database. PostgreSQL is the execution engine that actually joins tables, aggregates data, and materializes models that dbt defines.&#10;&#10;&#10;CONNECT WITH US&#10;&#10;📸  Instagram: https://www.instagram.com/itsnextwork/&#10;&#10;👨‍💻  Linkedin: https://www.linkedin.com/school/itsnextwork/&#10;&#10;🎶 TikTok: https://www.tiktok.com/@itsnextwork&#10;&#10;🌍  Our website: nextwork.org&#10;&#10;#dataengineering #data" id="259" name="Google Shape;259;p19" title="Why so many companies use dbt - data build tool explained">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1000"/>
                                        <p:tgtEl>
                                          <p:spTgt spid="2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3" name="Shape 263"/>
        <p:cNvGrpSpPr/>
        <p:nvPr/>
      </p:nvGrpSpPr>
      <p:grpSpPr>
        <a:xfrm>
          <a:off x="0" y="0"/>
          <a:ext cx="0" cy="0"/>
          <a:chOff x="0" y="0"/>
          <a:chExt cx="0" cy="0"/>
        </a:xfrm>
      </p:grpSpPr>
      <p:sp>
        <p:nvSpPr>
          <p:cNvPr id="264" name="Google Shape;264;p20"/>
          <p:cNvSpPr txBox="1"/>
          <p:nvPr/>
        </p:nvSpPr>
        <p:spPr>
          <a:xfrm>
            <a:off x="3679627" y="225000"/>
            <a:ext cx="4727700" cy="1331100"/>
          </a:xfrm>
          <a:prstGeom prst="rect">
            <a:avLst/>
          </a:prstGeom>
          <a:noFill/>
          <a:ln>
            <a:noFill/>
          </a:ln>
        </p:spPr>
        <p:txBody>
          <a:bodyPr anchorCtr="0" anchor="t" bIns="0" lIns="0" spcFirstLastPara="1" rIns="0" wrap="square" tIns="0">
            <a:spAutoFit/>
          </a:bodyPr>
          <a:lstStyle/>
          <a:p>
            <a:pPr indent="0" lvl="0" marL="0" marR="0" rtl="0" algn="ctr">
              <a:lnSpc>
                <a:spcPct val="92003"/>
              </a:lnSpc>
              <a:spcBef>
                <a:spcPts val="0"/>
              </a:spcBef>
              <a:spcAft>
                <a:spcPts val="0"/>
              </a:spcAft>
              <a:buClr>
                <a:srgbClr val="000000"/>
              </a:buClr>
              <a:buSzPts val="1900"/>
              <a:buFont typeface="Arial"/>
              <a:buNone/>
            </a:pPr>
            <a:r>
              <a:rPr lang="en-US" sz="7500">
                <a:solidFill>
                  <a:schemeClr val="dk1"/>
                </a:solidFill>
              </a:rPr>
              <a:t>Mini taller</a:t>
            </a:r>
            <a:endParaRPr b="0" i="0" sz="7500" u="none" cap="none" strike="noStrike">
              <a:solidFill>
                <a:schemeClr val="dk1"/>
              </a:solidFill>
              <a:latin typeface="Arial"/>
              <a:ea typeface="Arial"/>
              <a:cs typeface="Arial"/>
              <a:sym typeface="Arial"/>
            </a:endParaRPr>
          </a:p>
          <a:p>
            <a:pPr indent="0" lvl="0" marL="0" marR="0" rtl="0" algn="l">
              <a:lnSpc>
                <a:spcPct val="92003"/>
              </a:lnSpc>
              <a:spcBef>
                <a:spcPts val="0"/>
              </a:spcBef>
              <a:spcAft>
                <a:spcPts val="0"/>
              </a:spcAft>
              <a:buClr>
                <a:srgbClr val="000000"/>
              </a:buClr>
              <a:buSzPts val="1900"/>
              <a:buFont typeface="Arial"/>
              <a:buNone/>
            </a:pPr>
            <a:r>
              <a:t/>
            </a:r>
            <a:endParaRPr b="0" i="0" sz="1900" u="none" cap="none" strike="noStrike">
              <a:solidFill>
                <a:schemeClr val="dk1"/>
              </a:solidFill>
              <a:latin typeface="Geo"/>
              <a:ea typeface="Geo"/>
              <a:cs typeface="Geo"/>
              <a:sym typeface="Geo"/>
            </a:endParaRPr>
          </a:p>
        </p:txBody>
      </p:sp>
      <p:sp>
        <p:nvSpPr>
          <p:cNvPr id="265" name="Google Shape;265;p20"/>
          <p:cNvSpPr txBox="1"/>
          <p:nvPr/>
        </p:nvSpPr>
        <p:spPr>
          <a:xfrm>
            <a:off x="4068372" y="2092400"/>
            <a:ext cx="4809300" cy="5388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000000"/>
              </a:buClr>
              <a:buSzPts val="1800"/>
              <a:buFont typeface="Arial"/>
              <a:buNone/>
            </a:pPr>
            <a:r>
              <a:rPr lang="en-US" sz="3500">
                <a:solidFill>
                  <a:schemeClr val="dk1"/>
                </a:solidFill>
                <a:latin typeface="DM Sans"/>
                <a:ea typeface="DM Sans"/>
                <a:cs typeface="DM Sans"/>
                <a:sym typeface="DM Sans"/>
              </a:rPr>
              <a:t>Espera de 10 minutos</a:t>
            </a:r>
            <a:endParaRPr b="0" i="0" sz="3500" u="none" cap="none" strike="noStrike">
              <a:solidFill>
                <a:schemeClr val="dk1"/>
              </a:solidFill>
              <a:latin typeface="DM Sans"/>
              <a:ea typeface="DM Sans"/>
              <a:cs typeface="DM Sans"/>
              <a:sym typeface="DM Sans"/>
            </a:endParaRPr>
          </a:p>
        </p:txBody>
      </p:sp>
      <p:pic>
        <p:nvPicPr>
          <p:cNvPr id="266" name="Google Shape;266;p20"/>
          <p:cNvPicPr preferRelativeResize="0"/>
          <p:nvPr/>
        </p:nvPicPr>
        <p:blipFill rotWithShape="1">
          <a:blip r:embed="rId3">
            <a:alphaModFix/>
          </a:blip>
          <a:srcRect b="0" l="40533" r="24681" t="0"/>
          <a:stretch/>
        </p:blipFill>
        <p:spPr>
          <a:xfrm>
            <a:off x="0" y="0"/>
            <a:ext cx="3315288"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