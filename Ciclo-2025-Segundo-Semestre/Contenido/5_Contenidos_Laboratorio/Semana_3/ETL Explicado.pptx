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embeddedFontLst>
    <p:embeddedFont>
      <p:font typeface="Geo"/>
      <p:regular r:id="rId49"/>
      <p:italic r:id="rId50"/>
    </p:embeddedFont>
    <p:embeddedFont>
      <p:font typeface="Anaheim"/>
      <p:regular r:id="rId51"/>
      <p:bold r:id="rId52"/>
    </p:embeddedFont>
    <p:embeddedFont>
      <p:font typeface="Noto Sans Symbols"/>
      <p:regular r:id="rId53"/>
      <p:bold r:id="rId54"/>
    </p:embeddedFont>
    <p:embeddedFont>
      <p:font typeface="Bricolage Grotesque Medium"/>
      <p:regular r:id="rId55"/>
      <p:bold r:id="rId56"/>
    </p:embeddedFont>
    <p:embeddedFont>
      <p:font typeface="Bricolage Grotesque"/>
      <p:regular r:id="rId57"/>
      <p:bold r:id="rId58"/>
    </p:embeddedFont>
    <p:embeddedFont>
      <p:font typeface="DM San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hBe0Vh1SRRg1HVPbS8COVYnHE7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font" Target="fonts/Ge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DMSans-boldItalic.fntdata"/><Relationship Id="rId61" Type="http://schemas.openxmlformats.org/officeDocument/2006/relationships/font" Target="fonts/DMSans-italic.fntdata"/><Relationship Id="rId20" Type="http://schemas.openxmlformats.org/officeDocument/2006/relationships/slide" Target="slides/slide16.xml"/><Relationship Id="rId63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DMSans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Anaheim-regular.fntdata"/><Relationship Id="rId50" Type="http://schemas.openxmlformats.org/officeDocument/2006/relationships/font" Target="fonts/Geo-italic.fntdata"/><Relationship Id="rId53" Type="http://schemas.openxmlformats.org/officeDocument/2006/relationships/font" Target="fonts/NotoSansSymbols-regular.fntdata"/><Relationship Id="rId52" Type="http://schemas.openxmlformats.org/officeDocument/2006/relationships/font" Target="fonts/Anaheim-bold.fntdata"/><Relationship Id="rId11" Type="http://schemas.openxmlformats.org/officeDocument/2006/relationships/slide" Target="slides/slide7.xml"/><Relationship Id="rId55" Type="http://schemas.openxmlformats.org/officeDocument/2006/relationships/font" Target="fonts/BricolageGrotesqueMedium-regular.fntdata"/><Relationship Id="rId10" Type="http://schemas.openxmlformats.org/officeDocument/2006/relationships/slide" Target="slides/slide6.xml"/><Relationship Id="rId54" Type="http://schemas.openxmlformats.org/officeDocument/2006/relationships/font" Target="fonts/NotoSansSymbols-bold.fntdata"/><Relationship Id="rId13" Type="http://schemas.openxmlformats.org/officeDocument/2006/relationships/slide" Target="slides/slide9.xml"/><Relationship Id="rId57" Type="http://schemas.openxmlformats.org/officeDocument/2006/relationships/font" Target="fonts/BricolageGrotesque-regular.fntdata"/><Relationship Id="rId12" Type="http://schemas.openxmlformats.org/officeDocument/2006/relationships/slide" Target="slides/slide8.xml"/><Relationship Id="rId56" Type="http://schemas.openxmlformats.org/officeDocument/2006/relationships/font" Target="fonts/BricolageGrotesqueMedium-bold.fntdata"/><Relationship Id="rId15" Type="http://schemas.openxmlformats.org/officeDocument/2006/relationships/slide" Target="slides/slide11.xml"/><Relationship Id="rId59" Type="http://schemas.openxmlformats.org/officeDocument/2006/relationships/font" Target="fonts/DMSans-regular.fntdata"/><Relationship Id="rId14" Type="http://schemas.openxmlformats.org/officeDocument/2006/relationships/slide" Target="slides/slide10.xml"/><Relationship Id="rId58" Type="http://schemas.openxmlformats.org/officeDocument/2006/relationships/font" Target="fonts/BricolageGrotesque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765282a0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c765282a02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77339c9cb_3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c77339c9cb_3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77339c9cb_3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c77339c9cb_3_2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77339c9c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c77339c9cb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77339c9cb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c77339c9cb_2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77339c9cb_3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c77339c9cb_3_3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77339c9cb_3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c77339c9cb_3_3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77339c9cb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c77339c9cb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765282a0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c765282a02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765282a0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c765282a02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765282a0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c765282a02_0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765282a02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c765282a02_0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765282a02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c765282a02_0_2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765282a02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c765282a02_0_2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765282a02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c765282a02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765282a02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c765282a02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77339c9cb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c77339c9cb_3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765282a02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c765282a02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77339c9cb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c77339c9cb_3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77339c9cb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c77339c9cb_3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77339c9cb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c77339c9cb_3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77339c9cb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c77339c9cb_3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77339c9c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c77339c9cb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77339c9cb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c77339c9cb_3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77339c9cb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c77339c9cb_3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77339c9cb_3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c77339c9cb_3_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c77339c9cb_3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c77339c9cb_3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c77339c9cb_3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g3c77339c9cb_3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2"/>
          <p:cNvSpPr/>
          <p:nvPr/>
        </p:nvSpPr>
        <p:spPr>
          <a:xfrm>
            <a:off x="2189880" y="-369468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8" name="Google Shape;8;p22"/>
          <p:cNvPicPr preferRelativeResize="0"/>
          <p:nvPr/>
        </p:nvPicPr>
        <p:blipFill rotWithShape="1">
          <a:blip r:embed="rId2">
            <a:alphaModFix/>
          </a:blip>
          <a:srcRect b="2907" l="1027" r="38467" t="3590"/>
          <a:stretch/>
        </p:blipFill>
        <p:spPr>
          <a:xfrm>
            <a:off x="177480" y="167040"/>
            <a:ext cx="439416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2"/>
          <p:cNvSpPr txBox="1"/>
          <p:nvPr>
            <p:ph type="title"/>
          </p:nvPr>
        </p:nvSpPr>
        <p:spPr>
          <a:xfrm>
            <a:off x="1569960" y="1711080"/>
            <a:ext cx="600372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2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4" type="blank">
  <p:cSld name="BLANK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3"/>
          <p:cNvPicPr preferRelativeResize="0"/>
          <p:nvPr/>
        </p:nvPicPr>
        <p:blipFill rotWithShape="1">
          <a:blip r:embed="rId2">
            <a:alphaModFix/>
          </a:blip>
          <a:srcRect b="2907" l="1027" r="61317" t="3590"/>
          <a:stretch/>
        </p:blipFill>
        <p:spPr>
          <a:xfrm>
            <a:off x="177480" y="167040"/>
            <a:ext cx="273420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3"/>
          <p:cNvSpPr txBox="1"/>
          <p:nvPr>
            <p:ph type="title"/>
          </p:nvPr>
        </p:nvSpPr>
        <p:spPr>
          <a:xfrm>
            <a:off x="597600" y="1332000"/>
            <a:ext cx="3589920" cy="24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23"/>
          <p:cNvSpPr/>
          <p:nvPr/>
        </p:nvSpPr>
        <p:spPr>
          <a:xfrm>
            <a:off x="6144840" y="-355068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" name="Google Shape;15;p2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"/>
          <p:cNvSpPr/>
          <p:nvPr/>
        </p:nvSpPr>
        <p:spPr>
          <a:xfrm>
            <a:off x="2189880" y="408276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8" name="Google Shape;18;p24"/>
          <p:cNvPicPr preferRelativeResize="0"/>
          <p:nvPr/>
        </p:nvPicPr>
        <p:blipFill rotWithShape="1">
          <a:blip r:embed="rId2">
            <a:alphaModFix/>
          </a:blip>
          <a:srcRect b="2907" l="10335" r="38467" t="3590"/>
          <a:stretch/>
        </p:blipFill>
        <p:spPr>
          <a:xfrm>
            <a:off x="5248080" y="167040"/>
            <a:ext cx="371844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4"/>
          <p:cNvSpPr txBox="1"/>
          <p:nvPr>
            <p:ph type="title"/>
          </p:nvPr>
        </p:nvSpPr>
        <p:spPr>
          <a:xfrm>
            <a:off x="507600" y="1628640"/>
            <a:ext cx="5183640" cy="188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24"/>
          <p:cNvSpPr txBox="1"/>
          <p:nvPr>
            <p:ph idx="2" type="title"/>
          </p:nvPr>
        </p:nvSpPr>
        <p:spPr>
          <a:xfrm>
            <a:off x="6340320" y="1919880"/>
            <a:ext cx="1335960" cy="1303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2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5"/>
          <p:cNvPicPr preferRelativeResize="0"/>
          <p:nvPr/>
        </p:nvPicPr>
        <p:blipFill rotWithShape="1">
          <a:blip r:embed="rId2">
            <a:alphaModFix/>
          </a:blip>
          <a:srcRect b="2907" l="1030" r="92862" t="3590"/>
          <a:stretch/>
        </p:blipFill>
        <p:spPr>
          <a:xfrm>
            <a:off x="8523720" y="167040"/>
            <a:ext cx="44244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5"/>
          <p:cNvSpPr/>
          <p:nvPr/>
        </p:nvSpPr>
        <p:spPr>
          <a:xfrm>
            <a:off x="-2153520" y="-399672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" name="Google Shape;25;p25"/>
          <p:cNvSpPr txBox="1"/>
          <p:nvPr>
            <p:ph type="title"/>
          </p:nvPr>
        </p:nvSpPr>
        <p:spPr>
          <a:xfrm>
            <a:off x="5329800" y="228600"/>
            <a:ext cx="3584880" cy="666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_1">
  <p:cSld name="ONE_COLUMN_TEXT_1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4627440" y="230040"/>
            <a:ext cx="3905640" cy="758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0" y="0"/>
            <a:ext cx="4294440" cy="514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CUSTOM_3_1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/>
          <p:nvPr/>
        </p:nvSpPr>
        <p:spPr>
          <a:xfrm>
            <a:off x="4689000" y="388440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32" name="Google Shape;32;p27"/>
          <p:cNvPicPr preferRelativeResize="0"/>
          <p:nvPr/>
        </p:nvPicPr>
        <p:blipFill rotWithShape="1">
          <a:blip r:embed="rId2">
            <a:alphaModFix/>
          </a:blip>
          <a:srcRect b="2907" l="16965" r="30236" t="3590"/>
          <a:stretch/>
        </p:blipFill>
        <p:spPr>
          <a:xfrm>
            <a:off x="5135400" y="167040"/>
            <a:ext cx="383436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7"/>
          <p:cNvSpPr txBox="1"/>
          <p:nvPr>
            <p:ph type="title"/>
          </p:nvPr>
        </p:nvSpPr>
        <p:spPr>
          <a:xfrm>
            <a:off x="5184720" y="454320"/>
            <a:ext cx="3713760" cy="17290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27"/>
          <p:cNvSpPr/>
          <p:nvPr/>
        </p:nvSpPr>
        <p:spPr>
          <a:xfrm>
            <a:off x="239040" y="3899520"/>
            <a:ext cx="4945320" cy="555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CREDITS:</a:t>
            </a:r>
            <a:r>
              <a:rPr b="0" i="0" lang="en-US" sz="10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This presentation template was created by </a:t>
            </a:r>
            <a:r>
              <a:rPr b="1" i="0" lang="en-US" sz="1000" u="sng" cap="none" strike="noStrike">
                <a:solidFill>
                  <a:schemeClr val="hlink"/>
                </a:solidFill>
                <a:latin typeface="Anaheim"/>
                <a:ea typeface="Anaheim"/>
                <a:cs typeface="Anaheim"/>
                <a:sym typeface="Anaheim"/>
                <a:hlinkClick r:id="rId3"/>
              </a:rPr>
              <a:t>Slidesgo</a:t>
            </a:r>
            <a:r>
              <a:rPr b="0" i="0" lang="en-US" sz="10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, and includes icons, infographics &amp; images by </a:t>
            </a:r>
            <a:r>
              <a:rPr b="1" i="0" lang="en-US" sz="1000" u="sng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US" sz="1000" u="sng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endParaRPr b="0" i="0" sz="1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/>
          <p:nvPr/>
        </p:nvSpPr>
        <p:spPr>
          <a:xfrm>
            <a:off x="3749400" y="-366336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37" name="Google Shape;37;p28"/>
          <p:cNvPicPr preferRelativeResize="0"/>
          <p:nvPr/>
        </p:nvPicPr>
        <p:blipFill rotWithShape="1">
          <a:blip r:embed="rId2">
            <a:alphaModFix/>
          </a:blip>
          <a:srcRect b="2907" l="0" r="38467" t="3590"/>
          <a:stretch/>
        </p:blipFill>
        <p:spPr>
          <a:xfrm>
            <a:off x="4497120" y="167040"/>
            <a:ext cx="446904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8"/>
          <p:cNvSpPr txBox="1"/>
          <p:nvPr>
            <p:ph hasCustomPrompt="1" type="title"/>
          </p:nvPr>
        </p:nvSpPr>
        <p:spPr>
          <a:xfrm>
            <a:off x="1284120" y="1793520"/>
            <a:ext cx="6575760" cy="1044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/>
          <p:nvPr/>
        </p:nvSpPr>
        <p:spPr>
          <a:xfrm>
            <a:off x="-1615680" y="421812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42" name="Google Shape;42;p30"/>
          <p:cNvPicPr preferRelativeResize="0"/>
          <p:nvPr/>
        </p:nvPicPr>
        <p:blipFill rotWithShape="1">
          <a:blip r:embed="rId2">
            <a:alphaModFix/>
          </a:blip>
          <a:srcRect b="2907" l="1030" r="72640" t="3590"/>
          <a:stretch/>
        </p:blipFill>
        <p:spPr>
          <a:xfrm>
            <a:off x="177480" y="167040"/>
            <a:ext cx="191160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0"/>
          <p:cNvSpPr txBox="1"/>
          <p:nvPr>
            <p:ph type="title"/>
          </p:nvPr>
        </p:nvSpPr>
        <p:spPr>
          <a:xfrm>
            <a:off x="228600" y="2017440"/>
            <a:ext cx="3748320" cy="1108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30"/>
          <p:cNvSpPr txBox="1"/>
          <p:nvPr>
            <p:ph idx="2" type="title"/>
          </p:nvPr>
        </p:nvSpPr>
        <p:spPr>
          <a:xfrm>
            <a:off x="4599720" y="38952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30"/>
          <p:cNvSpPr txBox="1"/>
          <p:nvPr>
            <p:ph idx="3" type="title"/>
          </p:nvPr>
        </p:nvSpPr>
        <p:spPr>
          <a:xfrm>
            <a:off x="4599720" y="96156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30"/>
          <p:cNvSpPr txBox="1"/>
          <p:nvPr>
            <p:ph idx="4" type="title"/>
          </p:nvPr>
        </p:nvSpPr>
        <p:spPr>
          <a:xfrm>
            <a:off x="4599720" y="153360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30"/>
          <p:cNvSpPr txBox="1"/>
          <p:nvPr>
            <p:ph idx="5" type="title"/>
          </p:nvPr>
        </p:nvSpPr>
        <p:spPr>
          <a:xfrm>
            <a:off x="4599720" y="210564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8" name="Google Shape;48;p30"/>
          <p:cNvSpPr txBox="1"/>
          <p:nvPr>
            <p:ph idx="6" type="title"/>
          </p:nvPr>
        </p:nvSpPr>
        <p:spPr>
          <a:xfrm>
            <a:off x="4599720" y="264132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30"/>
          <p:cNvSpPr txBox="1"/>
          <p:nvPr>
            <p:ph idx="7" type="title"/>
          </p:nvPr>
        </p:nvSpPr>
        <p:spPr>
          <a:xfrm>
            <a:off x="4599720" y="321336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30"/>
          <p:cNvSpPr txBox="1"/>
          <p:nvPr>
            <p:ph idx="8" type="title"/>
          </p:nvPr>
        </p:nvSpPr>
        <p:spPr>
          <a:xfrm>
            <a:off x="4599720" y="378540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1" name="Google Shape;51;p30"/>
          <p:cNvSpPr txBox="1"/>
          <p:nvPr>
            <p:ph idx="9" type="title"/>
          </p:nvPr>
        </p:nvSpPr>
        <p:spPr>
          <a:xfrm>
            <a:off x="4599720" y="435744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6">
  <p:cSld name="CUSTOM_6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31"/>
          <p:cNvPicPr preferRelativeResize="0"/>
          <p:nvPr/>
        </p:nvPicPr>
        <p:blipFill rotWithShape="1">
          <a:blip r:embed="rId2">
            <a:alphaModFix/>
          </a:blip>
          <a:srcRect b="2907" l="1030" r="72640" t="3590"/>
          <a:stretch/>
        </p:blipFill>
        <p:spPr>
          <a:xfrm>
            <a:off x="7058160" y="167040"/>
            <a:ext cx="191160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1"/>
          <p:cNvSpPr txBox="1"/>
          <p:nvPr>
            <p:ph type="title"/>
          </p:nvPr>
        </p:nvSpPr>
        <p:spPr>
          <a:xfrm>
            <a:off x="4746240" y="228600"/>
            <a:ext cx="41688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5">
  <p:cSld name="CUSTOM_5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32"/>
          <p:cNvPicPr preferRelativeResize="0"/>
          <p:nvPr/>
        </p:nvPicPr>
        <p:blipFill rotWithShape="1">
          <a:blip r:embed="rId2">
            <a:alphaModFix/>
          </a:blip>
          <a:srcRect b="2907" l="1030" r="77067" t="3590"/>
          <a:stretch/>
        </p:blipFill>
        <p:spPr>
          <a:xfrm>
            <a:off x="173880" y="167040"/>
            <a:ext cx="159012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2"/>
          <p:cNvSpPr txBox="1"/>
          <p:nvPr>
            <p:ph type="title"/>
          </p:nvPr>
        </p:nvSpPr>
        <p:spPr>
          <a:xfrm>
            <a:off x="228600" y="228600"/>
            <a:ext cx="447588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0">
  <p:cSld name="CUSTOM_10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/>
          <p:nvPr/>
        </p:nvSpPr>
        <p:spPr>
          <a:xfrm>
            <a:off x="-3257640" y="364428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60" name="Google Shape;60;p33"/>
          <p:cNvPicPr preferRelativeResize="0"/>
          <p:nvPr/>
        </p:nvPicPr>
        <p:blipFill rotWithShape="1">
          <a:blip r:embed="rId2">
            <a:alphaModFix/>
          </a:blip>
          <a:srcRect b="2907" l="1030" r="92862" t="3590"/>
          <a:stretch/>
        </p:blipFill>
        <p:spPr>
          <a:xfrm>
            <a:off x="173880" y="167040"/>
            <a:ext cx="44244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3"/>
          <p:cNvSpPr txBox="1"/>
          <p:nvPr>
            <p:ph type="title"/>
          </p:nvPr>
        </p:nvSpPr>
        <p:spPr>
          <a:xfrm>
            <a:off x="228600" y="228600"/>
            <a:ext cx="3256920" cy="666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">
  <p:cSld name="CUSTOM_9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4"/>
          <p:cNvSpPr/>
          <p:nvPr/>
        </p:nvSpPr>
        <p:spPr>
          <a:xfrm>
            <a:off x="2189880" y="-369468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64" name="Google Shape;64;p34"/>
          <p:cNvPicPr preferRelativeResize="0"/>
          <p:nvPr/>
        </p:nvPicPr>
        <p:blipFill rotWithShape="1">
          <a:blip r:embed="rId2">
            <a:alphaModFix/>
          </a:blip>
          <a:srcRect b="2907" l="1027" r="38467" t="3590"/>
          <a:stretch/>
        </p:blipFill>
        <p:spPr>
          <a:xfrm>
            <a:off x="177480" y="167040"/>
            <a:ext cx="4394160" cy="480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_1">
  <p:cSld name="CUSTOM_9_1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/>
          <p:nvPr/>
        </p:nvSpPr>
        <p:spPr>
          <a:xfrm>
            <a:off x="2189880" y="343728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67" name="Google Shape;67;p35"/>
          <p:cNvPicPr preferRelativeResize="0"/>
          <p:nvPr/>
        </p:nvPicPr>
        <p:blipFill rotWithShape="1">
          <a:blip r:embed="rId2">
            <a:alphaModFix/>
          </a:blip>
          <a:srcRect b="2907" l="10335" r="38467" t="3590"/>
          <a:stretch/>
        </p:blipFill>
        <p:spPr>
          <a:xfrm>
            <a:off x="5248080" y="167040"/>
            <a:ext cx="3718440" cy="480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>
            <a:off x="228600" y="999360"/>
            <a:ext cx="7703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7"/>
          <p:cNvPicPr preferRelativeResize="0"/>
          <p:nvPr/>
        </p:nvPicPr>
        <p:blipFill rotWithShape="1">
          <a:blip r:embed="rId2">
            <a:alphaModFix/>
          </a:blip>
          <a:srcRect b="2907" l="1030" r="72640" t="3590"/>
          <a:stretch/>
        </p:blipFill>
        <p:spPr>
          <a:xfrm>
            <a:off x="173880" y="167040"/>
            <a:ext cx="191160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7"/>
          <p:cNvSpPr txBox="1"/>
          <p:nvPr>
            <p:ph type="title"/>
          </p:nvPr>
        </p:nvSpPr>
        <p:spPr>
          <a:xfrm>
            <a:off x="228600" y="226440"/>
            <a:ext cx="4557960" cy="658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>
            <a:off x="720000" y="444960"/>
            <a:ext cx="47635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9"/>
          <p:cNvSpPr txBox="1"/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/>
          <p:nvPr>
            <p:ph idx="1"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</a:lstStyle>
          <a:p/>
        </p:txBody>
      </p:sp>
      <p:sp>
        <p:nvSpPr>
          <p:cNvPr id="82" name="Google Shape;82;p41"/>
          <p:cNvSpPr txBox="1"/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765282a02_0_10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85" name="Google Shape;85;g3c765282a02_0_10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86" name="Google Shape;86;g3c765282a02_0_10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TITLEANDBULLETS_B">
  <p:cSld name="CUSTOM_1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65282a02_0_199"/>
          <p:cNvSpPr/>
          <p:nvPr>
            <p:ph idx="2" type="pic"/>
          </p:nvPr>
        </p:nvSpPr>
        <p:spPr>
          <a:xfrm>
            <a:off x="301750" y="2276800"/>
            <a:ext cx="2533200" cy="253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9" name="Google Shape;89;g3c765282a02_0_199"/>
          <p:cNvSpPr txBox="1"/>
          <p:nvPr>
            <p:ph type="title"/>
          </p:nvPr>
        </p:nvSpPr>
        <p:spPr>
          <a:xfrm>
            <a:off x="301750" y="310900"/>
            <a:ext cx="26982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c765282a02_0_199"/>
          <p:cNvSpPr txBox="1"/>
          <p:nvPr/>
        </p:nvSpPr>
        <p:spPr>
          <a:xfrm>
            <a:off x="3252541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1" name="Google Shape;91;g3c765282a02_0_199"/>
          <p:cNvSpPr txBox="1"/>
          <p:nvPr/>
        </p:nvSpPr>
        <p:spPr>
          <a:xfrm>
            <a:off x="3252541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2" name="Google Shape;92;g3c765282a02_0_199"/>
          <p:cNvSpPr txBox="1"/>
          <p:nvPr/>
        </p:nvSpPr>
        <p:spPr>
          <a:xfrm>
            <a:off x="6160333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" name="Google Shape;93;g3c765282a02_0_199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g3c765282a02_0_199"/>
          <p:cNvSpPr txBox="1"/>
          <p:nvPr>
            <p:ph idx="3" type="body"/>
          </p:nvPr>
        </p:nvSpPr>
        <p:spPr>
          <a:xfrm>
            <a:off x="6647122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5" name="Google Shape;95;g3c765282a02_0_199"/>
          <p:cNvSpPr txBox="1"/>
          <p:nvPr>
            <p:ph idx="4" type="body"/>
          </p:nvPr>
        </p:nvSpPr>
        <p:spPr>
          <a:xfrm>
            <a:off x="6647122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g3c765282a02_0_199"/>
          <p:cNvSpPr txBox="1"/>
          <p:nvPr/>
        </p:nvSpPr>
        <p:spPr>
          <a:xfrm>
            <a:off x="6160333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7" name="Google Shape;97;g3c765282a02_0_199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2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77339c9cb_3_19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00" name="Google Shape;100;g3c77339c9cb_3_19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01" name="Google Shape;101;g3c77339c9cb_3_19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77339c9cb_3_28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04" name="Google Shape;104;g3c77339c9cb_3_28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05" name="Google Shape;105;g3c77339c9cb_3_28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_4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77339c9cb_3_37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08" name="Google Shape;108;g3c77339c9cb_3_37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09" name="Google Shape;109;g3c77339c9cb_3_37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youtube.com/watch?v=_Nk0v9qUWk4" TargetMode="External"/><Relationship Id="rId4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2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9" Type="http://schemas.openxmlformats.org/officeDocument/2006/relationships/image" Target="../media/image37.png"/><Relationship Id="rId5" Type="http://schemas.openxmlformats.org/officeDocument/2006/relationships/image" Target="../media/image23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765282a02_0_9"/>
          <p:cNvSpPr/>
          <p:nvPr/>
        </p:nvSpPr>
        <p:spPr>
          <a:xfrm>
            <a:off x="0" y="0"/>
            <a:ext cx="9372600" cy="515493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5" name="Google Shape;115;g3c765282a02_0_9"/>
          <p:cNvGrpSpPr/>
          <p:nvPr/>
        </p:nvGrpSpPr>
        <p:grpSpPr>
          <a:xfrm>
            <a:off x="5406584" y="1065075"/>
            <a:ext cx="3553422" cy="526264"/>
            <a:chOff x="0" y="-47625"/>
            <a:chExt cx="1871700" cy="277200"/>
          </a:xfrm>
        </p:grpSpPr>
        <p:sp>
          <p:nvSpPr>
            <p:cNvPr id="116" name="Google Shape;116;g3c765282a02_0_9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7" name="Google Shape;117;g3c765282a02_0_9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g3c765282a02_0_9"/>
          <p:cNvSpPr txBox="1"/>
          <p:nvPr/>
        </p:nvSpPr>
        <p:spPr>
          <a:xfrm>
            <a:off x="677925" y="2202875"/>
            <a:ext cx="778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SEMINARIO DE SISTEMAS 2 P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c765282a02_0_9"/>
          <p:cNvSpPr txBox="1"/>
          <p:nvPr/>
        </p:nvSpPr>
        <p:spPr>
          <a:xfrm>
            <a:off x="808000" y="2870275"/>
            <a:ext cx="710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JAVIER ANDRÉS VALDEZ GONZÁLEZ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c765282a02_0_9"/>
          <p:cNvSpPr txBox="1"/>
          <p:nvPr/>
        </p:nvSpPr>
        <p:spPr>
          <a:xfrm>
            <a:off x="5477509" y="1226039"/>
            <a:ext cx="97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g3c765282a02_0_9"/>
          <p:cNvGrpSpPr/>
          <p:nvPr/>
        </p:nvGrpSpPr>
        <p:grpSpPr>
          <a:xfrm>
            <a:off x="5406584" y="1483286"/>
            <a:ext cx="3553422" cy="488104"/>
            <a:chOff x="0" y="-47625"/>
            <a:chExt cx="1871700" cy="257100"/>
          </a:xfrm>
        </p:grpSpPr>
        <p:sp>
          <p:nvSpPr>
            <p:cNvPr id="122" name="Google Shape;122;g3c765282a02_0_9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23" name="Google Shape;123;g3c765282a02_0_9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g3c765282a02_0_9"/>
          <p:cNvSpPr txBox="1"/>
          <p:nvPr/>
        </p:nvSpPr>
        <p:spPr>
          <a:xfrm>
            <a:off x="5477509" y="1624868"/>
            <a:ext cx="1298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inicio: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g3c765282a02_0_9"/>
          <p:cNvCxnSpPr/>
          <p:nvPr/>
        </p:nvCxnSpPr>
        <p:spPr>
          <a:xfrm>
            <a:off x="6852947" y="1163239"/>
            <a:ext cx="0" cy="777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g3c765282a02_0_9"/>
          <p:cNvSpPr txBox="1"/>
          <p:nvPr/>
        </p:nvSpPr>
        <p:spPr>
          <a:xfrm>
            <a:off x="6852947" y="1225645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11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c765282a02_0_9"/>
          <p:cNvSpPr txBox="1"/>
          <p:nvPr/>
        </p:nvSpPr>
        <p:spPr>
          <a:xfrm>
            <a:off x="6852947" y="1624868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17:20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77339c9cb_3_206"/>
          <p:cNvSpPr txBox="1"/>
          <p:nvPr/>
        </p:nvSpPr>
        <p:spPr>
          <a:xfrm>
            <a:off x="3679627" y="225000"/>
            <a:ext cx="4727700" cy="13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7500">
                <a:solidFill>
                  <a:srgbClr val="FFFFFF"/>
                </a:solidFill>
              </a:rPr>
              <a:t>Anuncios</a:t>
            </a:r>
            <a:endParaRPr b="0" i="0" sz="7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133" name="Google Shape;133;g3c77339c9cb_3_206"/>
          <p:cNvSpPr txBox="1"/>
          <p:nvPr/>
        </p:nvSpPr>
        <p:spPr>
          <a:xfrm>
            <a:off x="4068371" y="2092400"/>
            <a:ext cx="4809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Calificación Tarea 1</a:t>
            </a:r>
            <a:endParaRPr sz="35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Hoja de </a:t>
            </a:r>
            <a:r>
              <a:rPr lang="en-US" sz="3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calificación</a:t>
            </a:r>
            <a:endParaRPr sz="35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4" name="Google Shape;134;g3c77339c9cb_3_206"/>
          <p:cNvPicPr preferRelativeResize="0"/>
          <p:nvPr/>
        </p:nvPicPr>
        <p:blipFill rotWithShape="1">
          <a:blip r:embed="rId3">
            <a:alphaModFix/>
          </a:blip>
          <a:srcRect b="0" l="40532" r="24680" t="0"/>
          <a:stretch/>
        </p:blipFill>
        <p:spPr>
          <a:xfrm>
            <a:off x="0" y="0"/>
            <a:ext cx="331528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77339c9cb_3_291"/>
          <p:cNvSpPr txBox="1"/>
          <p:nvPr/>
        </p:nvSpPr>
        <p:spPr>
          <a:xfrm>
            <a:off x="601128" y="697124"/>
            <a:ext cx="28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c77339c9cb_3_291"/>
          <p:cNvSpPr txBox="1"/>
          <p:nvPr/>
        </p:nvSpPr>
        <p:spPr>
          <a:xfrm>
            <a:off x="3193312" y="687738"/>
            <a:ext cx="5365500" cy="3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1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Definición de ETL</a:t>
            </a:r>
            <a:endParaRPr sz="1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28600" lvl="1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•"/>
            </a:pPr>
            <a:r>
              <a:rPr lang="en-US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Fases de un ETL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28600" lvl="1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ETL vs ELT</a:t>
            </a:r>
            <a:endParaRPr sz="1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28600" lvl="1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Herramientas de ETL</a:t>
            </a:r>
            <a:endParaRPr sz="1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03200" lvl="1" marL="393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Orquestadores</a:t>
            </a:r>
            <a:endParaRPr sz="1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03200" lvl="1" marL="393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OLAP y su relación con ETL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1" marL="393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Características</a:t>
            </a: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del ETL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1" marL="393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Escalabilidad</a:t>
            </a:r>
            <a:endParaRPr sz="1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03200" lvl="1" marL="393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DM Sans"/>
              <a:buChar char="•"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Desafíos del ETL</a:t>
            </a:r>
            <a:endParaRPr sz="1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03200" lvl="1" marL="393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DM Sans"/>
              <a:buChar char="•"/>
            </a:pPr>
            <a:r>
              <a:rPr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Batch Processing vs. Stream Processing</a:t>
            </a:r>
            <a:endParaRPr sz="1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"/>
          <p:cNvSpPr txBox="1"/>
          <p:nvPr>
            <p:ph type="title"/>
          </p:nvPr>
        </p:nvSpPr>
        <p:spPr>
          <a:xfrm>
            <a:off x="81305" y="1709850"/>
            <a:ext cx="8981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ricolage Grotesque Medium"/>
              <a:buNone/>
            </a:pPr>
            <a:r>
              <a:rPr b="0" lang="en-US" sz="68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ETL</a:t>
            </a:r>
            <a:endParaRPr b="0" sz="6800" u="none" strike="noStrike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ricolage Grotesque Medium"/>
              <a:buNone/>
            </a:pPr>
            <a:r>
              <a:rPr lang="en-US" sz="6800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Extract Transform Load</a:t>
            </a:r>
            <a:endParaRPr sz="6800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>
            <p:ph idx="1" type="subTitle"/>
          </p:nvPr>
        </p:nvSpPr>
        <p:spPr>
          <a:xfrm>
            <a:off x="4122575" y="725393"/>
            <a:ext cx="3847800" cy="38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El proceso ETL es fundamental para consolidar datos provenientes de diversas fuentes en un repositorio analítico confiable. </a:t>
            </a:r>
            <a:endParaRPr b="0" i="0" sz="16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Permite transformar, limpiar y estandarizar la información, facilitando el análisis multidimensional OLAP, y así potenciar la toma de decisiones estratégicas basadas en datos corporativos precisos y consistentes.</a:t>
            </a:r>
            <a:endParaRPr b="0" i="0" sz="16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1" name="Google Shape;151;p2"/>
          <p:cNvSpPr txBox="1"/>
          <p:nvPr>
            <p:ph type="title"/>
          </p:nvPr>
        </p:nvSpPr>
        <p:spPr>
          <a:xfrm>
            <a:off x="600120" y="1333440"/>
            <a:ext cx="3590640" cy="2476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Bricolage Grotesque Medium"/>
              <a:buNone/>
            </a:pPr>
            <a:r>
              <a:rPr b="0" lang="en-US" sz="31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Introducción </a:t>
            </a:r>
            <a:endParaRPr b="0" sz="31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 txBox="1"/>
          <p:nvPr>
            <p:ph type="title"/>
          </p:nvPr>
        </p:nvSpPr>
        <p:spPr>
          <a:xfrm>
            <a:off x="504720" y="1628640"/>
            <a:ext cx="5181120" cy="188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Bricolage Grotesque Medium"/>
              <a:buNone/>
            </a:pPr>
            <a:r>
              <a:rPr b="0" lang="en-US" sz="54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ETL: Conceptos y </a:t>
            </a:r>
            <a:r>
              <a:rPr b="1" lang="en-US" sz="5400" u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Fases </a:t>
            </a:r>
            <a:endParaRPr b="0" sz="5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 txBox="1"/>
          <p:nvPr>
            <p:ph type="title"/>
          </p:nvPr>
        </p:nvSpPr>
        <p:spPr>
          <a:xfrm>
            <a:off x="6343560" y="-4268160"/>
            <a:ext cx="1333080" cy="749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Bricolage Grotesque"/>
              <a:buNone/>
            </a:pPr>
            <a:r>
              <a:rPr b="1" lang="en-US" sz="8000" u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  <a:endParaRPr b="0" sz="8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/>
          <p:nvPr/>
        </p:nvSpPr>
        <p:spPr>
          <a:xfrm>
            <a:off x="476475" y="770877"/>
            <a:ext cx="81912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Definición general del </a:t>
            </a:r>
            <a:r>
              <a:rPr b="1" i="0" lang="en-US" sz="26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proceso </a:t>
            </a: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ETL</a:t>
            </a:r>
            <a:endParaRPr b="0" i="0" sz="2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476468" y="1658295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ETL es un proceso de integración de datos que incluye extracción desde fuentes, transformación mediante reglas de negocio, limpieza y estandarización, y finalmente carga en repositorios analíticos. </a:t>
            </a:r>
            <a:endParaRPr b="0" i="0" sz="21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Este proceso formaliza el significado corporativo de los datos y garantiza consistencia para análisis posteriores.</a:t>
            </a:r>
            <a:endParaRPr b="0" i="0" sz="21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>
            <p:ph idx="1" type="subTitle"/>
          </p:nvPr>
        </p:nvSpPr>
        <p:spPr>
          <a:xfrm>
            <a:off x="4735675" y="704853"/>
            <a:ext cx="3847800" cy="3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Planeación y análisis de fuentes.</a:t>
            </a:r>
            <a:endParaRPr sz="143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Extracción</a:t>
            </a:r>
            <a:endParaRPr sz="143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Staging</a:t>
            </a:r>
            <a:endParaRPr sz="143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Transformación</a:t>
            </a:r>
            <a:endParaRPr sz="143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Carga al modelo dimensional</a:t>
            </a:r>
            <a:endParaRPr sz="143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Auditoría y monitoreo</a:t>
            </a:r>
            <a:endParaRPr sz="143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3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9" name="Google Shape;169;p5"/>
          <p:cNvSpPr txBox="1"/>
          <p:nvPr>
            <p:ph type="title"/>
          </p:nvPr>
        </p:nvSpPr>
        <p:spPr>
          <a:xfrm>
            <a:off x="600120" y="1333440"/>
            <a:ext cx="3590640" cy="2476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Bricolage Grotesque Medium"/>
              <a:buNone/>
            </a:pPr>
            <a:r>
              <a:rPr b="0" lang="en-US" sz="31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Fases principales: </a:t>
            </a:r>
            <a:endParaRPr b="0" sz="31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>
            <a:off x="7020000" y="-2876400"/>
            <a:ext cx="4762080" cy="4762080"/>
          </a:xfrm>
          <a:prstGeom prst="rect">
            <a:avLst/>
          </a:prstGeom>
          <a:noFill/>
          <a:ln>
            <a:noFill/>
          </a:ln>
        </p:spPr>
        <p:txBody>
          <a:bodyPr anchorCtr="0" anchor="t" bIns="2381025" lIns="870823075" spcFirstLastPara="1" rIns="870823075" wrap="square" tIns="23810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-86450"/>
            <a:ext cx="9143999" cy="526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77339c9cb_1_1"/>
          <p:cNvSpPr/>
          <p:nvPr/>
        </p:nvSpPr>
        <p:spPr>
          <a:xfrm>
            <a:off x="7020000" y="-2876400"/>
            <a:ext cx="4762200" cy="47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381025" lIns="870823075" spcFirstLastPara="1" rIns="870823075" wrap="square" tIns="238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►► The Starter Guide for Modern Data (Free) → https://bit.ly/startermds&#10;Get clarity on modern data engineering so you can build better projects &amp; avoid common mistakes        &#10;&#10;Understanding the differences between these two concepts is critical. &#10;&#10;These represent two of the most common approaches for designing a data pipeline.&#10;&#10;As a data engineer, you'll definitely be expected to know these. &#10;&#10;While they are similar, there are some critical differences that you should know. &#10;&#10;In this video we will discuss:&#10; - Both ETL and ELT&#10; - Example tools&#10; - Which I would pick (if I were to start from scratch)&#10;&#10;By the end you will understand the difference between ETL and ELT and why it is critical for any data engineer.&#10;&#10;Timestamps:&#10;00:00 - Intro &#10;00:36 - What is E-T-L&#10;01:38 - What is E-L-T&#10;03:19 - Which is Better?&#10;&#10;Title &amp; Tags:&#10;ETL vs ELT | Modern Data Architectures&#10;#kahandatasolutions #dataengineering #dataops" id="181" name="Google Shape;181;g3c77339c9cb_1_1" title="ETL vs ELT | Modern Data Architecture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7850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c77339c9cb_2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239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c77339c9cb_3_3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575" y="1320950"/>
            <a:ext cx="7332850" cy="25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3c77339c9cb_3_3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647700"/>
            <a:ext cx="5715000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g3c77339c9cb_2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25" y="1414463"/>
            <a:ext cx="8439150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3c765282a02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525" y="821125"/>
            <a:ext cx="8642950" cy="350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g3c765282a02_0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592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864825" y="1428475"/>
            <a:ext cx="40287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Características del ETL </a:t>
            </a:r>
            <a:endParaRPr b="0" i="0" sz="4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descr="image698cd05deaba6" id="218" name="Google Shape;2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Reproducibilidad e </a:t>
            </a:r>
            <a:r>
              <a:rPr b="1" i="0" lang="en-US" sz="26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idempotencia </a:t>
            </a:r>
            <a:endParaRPr b="0" i="0" sz="2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76468" y="1570720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Un proceso ETL orientado debe ser reproducible e idempotente: capaz de ejecutarse múltiples veces sin duplicar datos ni alterar la integridad de dimensiones.</a:t>
            </a:r>
            <a:endParaRPr b="0" i="0" sz="21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Esto se logra mediante controles de llaves, staging persistente y reglas deterministas rigurosas.</a:t>
            </a:r>
            <a:endParaRPr b="0" i="0" sz="21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Trazabilidad, auditoría y </a:t>
            </a:r>
            <a:r>
              <a:rPr b="1" i="0" lang="en-US" sz="26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manejo de </a:t>
            </a: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errores</a:t>
            </a:r>
            <a:endParaRPr b="0" i="0" sz="2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La trazabilidad se sustenta en bitácoras detalladas, registros de conteo y marcas de agua. 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Esto facilita auditorías, resolución de errores, y permite re-ejecuciones controladas, garantizando la calidad y fiabilidad del flujo ETL. Los errores se gestionan explícitamente con cuarentenas para registros inválidos.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descr="image698cd05e08974" id="231" name="Google Shape;2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bia la imagen a algo mas acorde a &quot;Trazabilidad, auditoría y manejo de errores&#10;&quot;" id="232" name="Google Shape;23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0814" y="3313"/>
            <a:ext cx="4614022" cy="5136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765282a02_0_215"/>
          <p:cNvSpPr/>
          <p:nvPr/>
        </p:nvSpPr>
        <p:spPr>
          <a:xfrm>
            <a:off x="476280" y="476280"/>
            <a:ext cx="3619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Orquestadores ETL Clave</a:t>
            </a:r>
            <a:endParaRPr sz="2600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  <p:sp>
        <p:nvSpPr>
          <p:cNvPr id="238" name="Google Shape;238;g3c765282a02_0_215"/>
          <p:cNvSpPr/>
          <p:nvPr/>
        </p:nvSpPr>
        <p:spPr>
          <a:xfrm>
            <a:off x="476280" y="1905120"/>
            <a:ext cx="3619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Facilitan la gestión y monitoreo de flujos ETL</a:t>
            </a:r>
            <a:endParaRPr sz="16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Permiten automatizar la ejecución secuencial de tareas</a:t>
            </a:r>
            <a:endParaRPr sz="16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Mejoran la observabilidad y recuperación ante fallos del proceso</a:t>
            </a:r>
            <a:endParaRPr sz="16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descr="image698cd05e08974" id="239" name="Google Shape;239;g3c765282a02_0_2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bia la imagen de codigo a un ETL" id="240" name="Google Shape;240;g3c765282a02_0_2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0814" y="3313"/>
            <a:ext cx="4614022" cy="5136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g3c765282a02_0_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0950" y="184250"/>
            <a:ext cx="537633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g3c765282a02_0_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4488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g3c765282a02_0_2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00" y="803913"/>
            <a:ext cx="8839200" cy="3535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"/>
          <p:cNvSpPr txBox="1"/>
          <p:nvPr>
            <p:ph idx="1" type="subTitle"/>
          </p:nvPr>
        </p:nvSpPr>
        <p:spPr>
          <a:xfrm>
            <a:off x="4504775" y="988120"/>
            <a:ext cx="38478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La escalabilidad del proceso ETL se logra mediante cargas por lotes, paralelismo controlado e índices adecuados en staging. </a:t>
            </a:r>
            <a:endParaRPr b="0" i="0" sz="15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El rendimiento se optimiza con técnicas de carga masiva cuando es necesario. En términos de seguridad, la conectividad hacia SQL Server requiere configuraciones y drivers específicos, garantizando la protección y acceso seguro a los datos.</a:t>
            </a:r>
            <a:endParaRPr b="0" i="0" sz="15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1" name="Google Shape;261;p10"/>
          <p:cNvSpPr txBox="1"/>
          <p:nvPr>
            <p:ph type="title"/>
          </p:nvPr>
        </p:nvSpPr>
        <p:spPr>
          <a:xfrm>
            <a:off x="600120" y="1333440"/>
            <a:ext cx="3590640" cy="2476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Bricolage Grotesque Medium"/>
              <a:buNone/>
            </a:pPr>
            <a:r>
              <a:rPr b="0" lang="en-US" sz="31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Escalabilidad, rendimiento y </a:t>
            </a:r>
            <a:endParaRPr b="0" sz="31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Bricolage Grotesque"/>
              <a:buNone/>
            </a:pPr>
            <a:r>
              <a:rPr b="1" lang="en-US" sz="3100" u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seguridad </a:t>
            </a:r>
            <a:endParaRPr b="0" sz="31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c765282a02_0_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79313"/>
            <a:ext cx="8839200" cy="3984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g3c765282a02_0_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5175"/>
            <a:ext cx="8839199" cy="4033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76275" y="1428855"/>
            <a:ext cx="36192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OLAP y su </a:t>
            </a:r>
            <a:r>
              <a:rPr b="1" i="0" lang="en-US" sz="40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relación con </a:t>
            </a:r>
            <a:r>
              <a:rPr b="0" i="0" lang="en-US" sz="40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ETL</a:t>
            </a:r>
            <a:endParaRPr b="0" i="0" sz="4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descr="image698cd05e1926b" id="278" name="Google Shape;27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/>
          <p:nvPr/>
        </p:nvSpPr>
        <p:spPr>
          <a:xfrm>
            <a:off x="476280" y="76123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Rol del ETL en la </a:t>
            </a:r>
            <a:r>
              <a:rPr b="1" i="0" lang="en-US" sz="26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construcción de </a:t>
            </a: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cubos OLAP</a:t>
            </a:r>
            <a:endParaRPr b="0" i="0" sz="2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El proceso ETL es esencial para OLAP ya que establece la granularidad de los datos, conforma dimensiones coherentes y asegura sumarizabilidad para evitar inconsistencias en los análisis. </a:t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Garantiza que métricas y claves sean consistentes y reproducibles, lo que sustenta la confiabilidad del cubo OLAP.</a:t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/>
          <p:nvPr/>
        </p:nvSpPr>
        <p:spPr>
          <a:xfrm>
            <a:off x="952560" y="476280"/>
            <a:ext cx="228564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5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1226400" y="1661850"/>
            <a:ext cx="66912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Desafíos</a:t>
            </a:r>
            <a:endParaRPr b="0" i="0" sz="53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/>
          <p:nvPr/>
        </p:nvSpPr>
        <p:spPr>
          <a:xfrm>
            <a:off x="7020000" y="-2876400"/>
            <a:ext cx="4762080" cy="4762080"/>
          </a:xfrm>
          <a:prstGeom prst="rect">
            <a:avLst/>
          </a:prstGeom>
          <a:noFill/>
          <a:ln>
            <a:noFill/>
          </a:ln>
        </p:spPr>
        <p:txBody>
          <a:bodyPr anchorCtr="0" anchor="t" bIns="2381025" lIns="870823075" spcFirstLastPara="1" rIns="870823075" wrap="square" tIns="23810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6"/>
          <p:cNvSpPr txBox="1"/>
          <p:nvPr>
            <p:ph type="title"/>
          </p:nvPr>
        </p:nvSpPr>
        <p:spPr>
          <a:xfrm>
            <a:off x="4629250" y="228600"/>
            <a:ext cx="39048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ricolage Grotesque Medium"/>
              <a:buNone/>
            </a:pPr>
            <a:r>
              <a:rPr b="0" lang="en-US" sz="26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Principales desafíos en procesos ETL (calidad, cargas </a:t>
            </a:r>
            <a:r>
              <a:rPr b="1" lang="en-US" sz="2600" u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incrementales, evolución </a:t>
            </a:r>
            <a:r>
              <a:rPr b="0" lang="en-US" sz="26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de esquemas)</a:t>
            </a:r>
            <a:endParaRPr b="0" sz="26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6"/>
          <p:cNvSpPr txBox="1"/>
          <p:nvPr>
            <p:ph idx="1" type="subTitle"/>
          </p:nvPr>
        </p:nvSpPr>
        <p:spPr>
          <a:xfrm>
            <a:off x="4629245" y="2628535"/>
            <a:ext cx="42954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9999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naheim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Los retos más frecuentes son la heterogeneidad semántica de los datos, la gestión de cargas incrementales y la evolución de esquemas que puede romper los pipelines. 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naheim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Se recomienda aplicar reglas explícitas, perfiles de calidad, CDC para cambios y versionado con validaciones automatizadas para mitigar estos riesgos.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98" name="Google Shape;298;p16"/>
          <p:cNvPicPr preferRelativeResize="0"/>
          <p:nvPr/>
        </p:nvPicPr>
        <p:blipFill rotWithShape="1">
          <a:blip r:embed="rId3">
            <a:alphaModFix/>
          </a:blip>
          <a:srcRect b="3428" l="0" r="0" t="3418"/>
          <a:stretch/>
        </p:blipFill>
        <p:spPr>
          <a:xfrm>
            <a:off x="0" y="0"/>
            <a:ext cx="4294440" cy="514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/>
          <p:nvPr/>
        </p:nvSpPr>
        <p:spPr>
          <a:xfrm>
            <a:off x="476468" y="78563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Gestión de ventanas de carga, </a:t>
            </a:r>
            <a:r>
              <a:rPr b="1" i="0" lang="en-US" sz="26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observabilidad y recuperación </a:t>
            </a: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de fallos</a:t>
            </a:r>
            <a:endParaRPr b="0" i="0" sz="2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Es crítico respetar ventanas de carga operativas y aplicar micro-batches y paralelismo controlado para optimizar tiempos. </a:t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La observabilidad se habilita mediante logging, métricas y alertas para detectar problemas, y la recuperación ante fallos se gestiona con cuarentena de fallos y re-ejecución controlada.</a:t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g3c77339c9cb_3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87" y="56300"/>
            <a:ext cx="8943814" cy="503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g3c765282a02_0_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362" y="-16637"/>
            <a:ext cx="7761275" cy="51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g3c77339c9cb_3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399" y="3750750"/>
            <a:ext cx="1105325" cy="104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c77339c9cb_3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425" y="2330463"/>
            <a:ext cx="1215275" cy="121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g3c77339c9cb_3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375" y="799700"/>
            <a:ext cx="2283377" cy="12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3c77339c9cb_3_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54452" y="2572576"/>
            <a:ext cx="1832376" cy="1832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3c77339c9cb_3_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01937" y="461775"/>
            <a:ext cx="1337400" cy="133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3c77339c9cb_3_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90525" y="346005"/>
            <a:ext cx="3201101" cy="1738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3c77339c9cb_3_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90529" y="2588450"/>
            <a:ext cx="3201096" cy="1800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g3c77339c9cb_3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488" y="152400"/>
            <a:ext cx="536301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g3c77339c9cb_3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43852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3c77339c9cb_3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7275" y="1579900"/>
            <a:ext cx="6085656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c77339c9cb_3_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7225" y="41729"/>
            <a:ext cx="2673174" cy="139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g3c77339c9cb_3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50" y="421025"/>
            <a:ext cx="8839200" cy="4225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"/>
          <p:cNvSpPr txBox="1"/>
          <p:nvPr>
            <p:ph idx="1" type="subTitle"/>
          </p:nvPr>
        </p:nvSpPr>
        <p:spPr>
          <a:xfrm>
            <a:off x="4239940" y="555730"/>
            <a:ext cx="3847800" cy="16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El proceso ETL es un componente fundamental para construir modelos OLAP confiables y eficientes. </a:t>
            </a:r>
            <a:endParaRPr b="0" i="0" sz="144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Su correcta implementación asegura la integridad, consistencia y validez de los datos analíticos, lo que es esencial para la toma de decisiones estratégicas. </a:t>
            </a:r>
            <a:endParaRPr b="0" i="0" sz="144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El uso combinado de SQL Server y Python permite implementar pipelines reproducibles, seguros y escalables, enfrentando los principales desafíos actuales en entornos de datos corporativos.</a:t>
            </a:r>
            <a:endParaRPr b="0" i="0" sz="144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48" name="Google Shape;348;p19"/>
          <p:cNvSpPr txBox="1"/>
          <p:nvPr>
            <p:ph type="title"/>
          </p:nvPr>
        </p:nvSpPr>
        <p:spPr>
          <a:xfrm>
            <a:off x="600120" y="1333440"/>
            <a:ext cx="3590640" cy="2476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Bricolage Grotesque Medium"/>
              <a:buNone/>
            </a:pPr>
            <a:r>
              <a:rPr b="0" lang="en-US" sz="31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Conclusiones </a:t>
            </a:r>
            <a:endParaRPr b="0" sz="31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c77339c9cb_3_0"/>
          <p:cNvSpPr txBox="1"/>
          <p:nvPr>
            <p:ph type="title"/>
          </p:nvPr>
        </p:nvSpPr>
        <p:spPr>
          <a:xfrm>
            <a:off x="81305" y="1709850"/>
            <a:ext cx="8981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Bricolage Grotesque Medium"/>
              <a:buNone/>
            </a:pPr>
            <a:r>
              <a:rPr lang="en-US" sz="6800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Gracias</a:t>
            </a:r>
            <a:endParaRPr sz="6800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77339c9cb_3_4"/>
          <p:cNvSpPr txBox="1"/>
          <p:nvPr>
            <p:ph type="title"/>
          </p:nvPr>
        </p:nvSpPr>
        <p:spPr>
          <a:xfrm>
            <a:off x="81305" y="1709850"/>
            <a:ext cx="8981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Bricolage Grotesque Medium"/>
              <a:buNone/>
            </a:pPr>
            <a:r>
              <a:rPr lang="en-US" sz="6800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¿Dudas?</a:t>
            </a:r>
            <a:endParaRPr sz="6800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77339c9cb_3_60"/>
          <p:cNvSpPr txBox="1"/>
          <p:nvPr>
            <p:ph type="title"/>
          </p:nvPr>
        </p:nvSpPr>
        <p:spPr>
          <a:xfrm>
            <a:off x="81305" y="1709850"/>
            <a:ext cx="8981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Bricolage Grotesque Medium"/>
              <a:buNone/>
            </a:pPr>
            <a:r>
              <a:rPr lang="en-US" sz="6800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¿Comentarios?</a:t>
            </a:r>
            <a:endParaRPr sz="6800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c77339c9cb_3_202"/>
          <p:cNvSpPr txBox="1"/>
          <p:nvPr>
            <p:ph type="title"/>
          </p:nvPr>
        </p:nvSpPr>
        <p:spPr>
          <a:xfrm>
            <a:off x="81305" y="1709850"/>
            <a:ext cx="8981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Bricolage Grotesque Medium"/>
              <a:buNone/>
            </a:pPr>
            <a:r>
              <a:rPr lang="en-US" sz="6800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Lectura Practica 1</a:t>
            </a:r>
            <a:endParaRPr sz="6800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c77339c9cb_3_196"/>
          <p:cNvSpPr txBox="1"/>
          <p:nvPr>
            <p:ph type="title"/>
          </p:nvPr>
        </p:nvSpPr>
        <p:spPr>
          <a:xfrm>
            <a:off x="81305" y="1709850"/>
            <a:ext cx="8981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Bricolage Grotesque Medium"/>
              <a:buNone/>
            </a:pPr>
            <a:r>
              <a:rPr lang="en-US" sz="6800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Ejemplo</a:t>
            </a:r>
            <a:endParaRPr sz="6800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g3c77339c9cb_3_64"/>
          <p:cNvGrpSpPr/>
          <p:nvPr/>
        </p:nvGrpSpPr>
        <p:grpSpPr>
          <a:xfrm>
            <a:off x="259002" y="2746744"/>
            <a:ext cx="2863842" cy="2220675"/>
            <a:chOff x="0" y="-47625"/>
            <a:chExt cx="1508476" cy="1169700"/>
          </a:xfrm>
        </p:grpSpPr>
        <p:sp>
          <p:nvSpPr>
            <p:cNvPr id="379" name="Google Shape;379;g3c77339c9cb_3_64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80" name="Google Shape;380;g3c77339c9cb_3_64"/>
            <p:cNvSpPr txBox="1"/>
            <p:nvPr/>
          </p:nvSpPr>
          <p:spPr>
            <a:xfrm>
              <a:off x="0" y="-47625"/>
              <a:ext cx="15084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g3c77339c9cb_3_64"/>
          <p:cNvSpPr/>
          <p:nvPr/>
        </p:nvSpPr>
        <p:spPr>
          <a:xfrm>
            <a:off x="0" y="0"/>
            <a:ext cx="9144000" cy="515493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2" name="Google Shape;382;g3c77339c9cb_3_64"/>
          <p:cNvGrpSpPr/>
          <p:nvPr/>
        </p:nvGrpSpPr>
        <p:grpSpPr>
          <a:xfrm>
            <a:off x="5294729" y="975902"/>
            <a:ext cx="3553422" cy="526264"/>
            <a:chOff x="0" y="-47625"/>
            <a:chExt cx="1871700" cy="277200"/>
          </a:xfrm>
        </p:grpSpPr>
        <p:sp>
          <p:nvSpPr>
            <p:cNvPr id="383" name="Google Shape;383;g3c77339c9cb_3_64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84" name="Google Shape;384;g3c77339c9cb_3_64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g3c77339c9cb_3_64"/>
          <p:cNvGrpSpPr/>
          <p:nvPr/>
        </p:nvGrpSpPr>
        <p:grpSpPr>
          <a:xfrm>
            <a:off x="5294729" y="1394113"/>
            <a:ext cx="3553422" cy="488104"/>
            <a:chOff x="0" y="-47625"/>
            <a:chExt cx="1871700" cy="257100"/>
          </a:xfrm>
        </p:grpSpPr>
        <p:sp>
          <p:nvSpPr>
            <p:cNvPr id="386" name="Google Shape;386;g3c77339c9cb_3_64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87" name="Google Shape;387;g3c77339c9cb_3_64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88" name="Google Shape;388;g3c77339c9cb_3_64"/>
          <p:cNvCxnSpPr/>
          <p:nvPr/>
        </p:nvCxnSpPr>
        <p:spPr>
          <a:xfrm>
            <a:off x="6741091" y="1074067"/>
            <a:ext cx="0" cy="80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9" name="Google Shape;389;g3c77339c9cb_3_64"/>
          <p:cNvGrpSpPr/>
          <p:nvPr/>
        </p:nvGrpSpPr>
        <p:grpSpPr>
          <a:xfrm>
            <a:off x="5294729" y="1773892"/>
            <a:ext cx="3553422" cy="526264"/>
            <a:chOff x="0" y="-47625"/>
            <a:chExt cx="1871700" cy="277200"/>
          </a:xfrm>
        </p:grpSpPr>
        <p:sp>
          <p:nvSpPr>
            <p:cNvPr id="390" name="Google Shape;390;g3c77339c9cb_3_64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91" name="Google Shape;391;g3c77339c9cb_3_64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92" name="Google Shape;392;g3c77339c9cb_3_64"/>
          <p:cNvCxnSpPr/>
          <p:nvPr/>
        </p:nvCxnSpPr>
        <p:spPr>
          <a:xfrm>
            <a:off x="6741091" y="1872056"/>
            <a:ext cx="0" cy="42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3" name="Google Shape;393;g3c77339c9cb_3_64"/>
          <p:cNvGrpSpPr/>
          <p:nvPr/>
        </p:nvGrpSpPr>
        <p:grpSpPr>
          <a:xfrm>
            <a:off x="259003" y="808262"/>
            <a:ext cx="4648667" cy="526264"/>
            <a:chOff x="0" y="-47625"/>
            <a:chExt cx="2448600" cy="277200"/>
          </a:xfrm>
        </p:grpSpPr>
        <p:sp>
          <p:nvSpPr>
            <p:cNvPr id="394" name="Google Shape;394;g3c77339c9cb_3_64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95" name="Google Shape;395;g3c77339c9cb_3_64"/>
            <p:cNvSpPr txBox="1"/>
            <p:nvPr/>
          </p:nvSpPr>
          <p:spPr>
            <a:xfrm>
              <a:off x="0" y="-47625"/>
              <a:ext cx="2448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" name="Google Shape;396;g3c77339c9cb_3_64"/>
          <p:cNvGrpSpPr/>
          <p:nvPr/>
        </p:nvGrpSpPr>
        <p:grpSpPr>
          <a:xfrm>
            <a:off x="259003" y="1227823"/>
            <a:ext cx="4648667" cy="488104"/>
            <a:chOff x="0" y="-47625"/>
            <a:chExt cx="2448600" cy="257100"/>
          </a:xfrm>
        </p:grpSpPr>
        <p:sp>
          <p:nvSpPr>
            <p:cNvPr id="397" name="Google Shape;397;g3c77339c9cb_3_64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98" name="Google Shape;398;g3c77339c9cb_3_64"/>
            <p:cNvSpPr txBox="1"/>
            <p:nvPr/>
          </p:nvSpPr>
          <p:spPr>
            <a:xfrm>
              <a:off x="0" y="-47625"/>
              <a:ext cx="24486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99" name="Google Shape;399;g3c77339c9cb_3_64"/>
          <p:cNvCxnSpPr/>
          <p:nvPr/>
        </p:nvCxnSpPr>
        <p:spPr>
          <a:xfrm flipH="1">
            <a:off x="2454068" y="898678"/>
            <a:ext cx="2100" cy="419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0" name="Google Shape;400;g3c77339c9cb_3_64"/>
          <p:cNvGrpSpPr/>
          <p:nvPr/>
        </p:nvGrpSpPr>
        <p:grpSpPr>
          <a:xfrm>
            <a:off x="259003" y="1606251"/>
            <a:ext cx="4648667" cy="693712"/>
            <a:chOff x="0" y="-47625"/>
            <a:chExt cx="2448600" cy="365400"/>
          </a:xfrm>
        </p:grpSpPr>
        <p:sp>
          <p:nvSpPr>
            <p:cNvPr id="401" name="Google Shape;401;g3c77339c9cb_3_64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02" name="Google Shape;402;g3c77339c9cb_3_64"/>
            <p:cNvSpPr txBox="1"/>
            <p:nvPr/>
          </p:nvSpPr>
          <p:spPr>
            <a:xfrm>
              <a:off x="0" y="-47625"/>
              <a:ext cx="2448600" cy="36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03" name="Google Shape;403;g3c77339c9cb_3_64"/>
          <p:cNvCxnSpPr/>
          <p:nvPr/>
        </p:nvCxnSpPr>
        <p:spPr>
          <a:xfrm>
            <a:off x="2453907" y="1715846"/>
            <a:ext cx="2400" cy="58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g3c77339c9cb_3_64"/>
          <p:cNvCxnSpPr/>
          <p:nvPr/>
        </p:nvCxnSpPr>
        <p:spPr>
          <a:xfrm flipH="1">
            <a:off x="2454068" y="1313308"/>
            <a:ext cx="2100" cy="40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g3c77339c9cb_3_64"/>
          <p:cNvSpPr txBox="1"/>
          <p:nvPr/>
        </p:nvSpPr>
        <p:spPr>
          <a:xfrm>
            <a:off x="5383885" y="1136472"/>
            <a:ext cx="126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c77339c9cb_3_64"/>
          <p:cNvSpPr txBox="1"/>
          <p:nvPr/>
        </p:nvSpPr>
        <p:spPr>
          <a:xfrm>
            <a:off x="5469684" y="1535695"/>
            <a:ext cx="109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c77339c9cb_3_64"/>
          <p:cNvSpPr txBox="1"/>
          <p:nvPr/>
        </p:nvSpPr>
        <p:spPr>
          <a:xfrm>
            <a:off x="6741091" y="1136472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18: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40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c77339c9cb_3_64"/>
          <p:cNvSpPr txBox="1"/>
          <p:nvPr/>
        </p:nvSpPr>
        <p:spPr>
          <a:xfrm>
            <a:off x="6741091" y="1535695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19:00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3c77339c9cb_3_64"/>
          <p:cNvSpPr txBox="1"/>
          <p:nvPr/>
        </p:nvSpPr>
        <p:spPr>
          <a:xfrm>
            <a:off x="5327218" y="1934524"/>
            <a:ext cx="137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c77339c9cb_3_64"/>
          <p:cNvSpPr txBox="1"/>
          <p:nvPr/>
        </p:nvSpPr>
        <p:spPr>
          <a:xfrm>
            <a:off x="6741091" y="1934461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20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c77339c9cb_3_64"/>
          <p:cNvSpPr txBox="1"/>
          <p:nvPr/>
        </p:nvSpPr>
        <p:spPr>
          <a:xfrm>
            <a:off x="294184" y="965646"/>
            <a:ext cx="208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c77339c9cb_3_64"/>
          <p:cNvSpPr txBox="1"/>
          <p:nvPr/>
        </p:nvSpPr>
        <p:spPr>
          <a:xfrm>
            <a:off x="294184" y="1374167"/>
            <a:ext cx="205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c77339c9cb_3_64"/>
          <p:cNvSpPr txBox="1"/>
          <p:nvPr/>
        </p:nvSpPr>
        <p:spPr>
          <a:xfrm>
            <a:off x="2604036" y="968832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Tarea 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c77339c9cb_3_64"/>
          <p:cNvSpPr txBox="1"/>
          <p:nvPr/>
        </p:nvSpPr>
        <p:spPr>
          <a:xfrm>
            <a:off x="2604036" y="1369405"/>
            <a:ext cx="11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53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c77339c9cb_3_64"/>
          <p:cNvSpPr txBox="1"/>
          <p:nvPr/>
        </p:nvSpPr>
        <p:spPr>
          <a:xfrm>
            <a:off x="294184" y="1758709"/>
            <a:ext cx="20547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6" name="Google Shape;416;g3c77339c9cb_3_64"/>
          <p:cNvSpPr txBox="1"/>
          <p:nvPr/>
        </p:nvSpPr>
        <p:spPr>
          <a:xfrm>
            <a:off x="2560942" y="1870313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c77339c9cb_3_64"/>
          <p:cNvSpPr txBox="1"/>
          <p:nvPr/>
        </p:nvSpPr>
        <p:spPr>
          <a:xfrm>
            <a:off x="259000" y="2369150"/>
            <a:ext cx="858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c77339c9cb_3_64"/>
          <p:cNvSpPr txBox="1"/>
          <p:nvPr/>
        </p:nvSpPr>
        <p:spPr>
          <a:xfrm>
            <a:off x="294184" y="2888263"/>
            <a:ext cx="2803200" cy="22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JOSUE DANIEL SOLIS OSORIO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202001574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NAOMI RASHEL YOS CUJCUJ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202001814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LUIS EMILIO RIVERA YURRITA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202004712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ANGEL GUILLERMO ARREAGA BARRIENTOS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202004762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FREDY SAMUEL QUIJADA CEBALLOS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202004812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 LUCIA FLETES ORDOÑEZ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202010003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RAMIRO AGUSTÍN TÉLLES CARCUZ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202010044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SERGIO SEBASTIÁN SANDOVAL RUIZ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202010298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ANGELA MARÍA ESTHER ESCOBAR ALVAREZ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202100019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AIDA ALEJANDRA MANSILLA ORANTES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202100239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CARLOS JOSE BLANCO GUZMAN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202100250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KEVIN JOSUE SANTOS SALAZAR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202101007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9" name="Google Shape;419;g3c77339c9cb_3_64"/>
          <p:cNvGrpSpPr/>
          <p:nvPr/>
        </p:nvGrpSpPr>
        <p:grpSpPr>
          <a:xfrm>
            <a:off x="3178430" y="2746744"/>
            <a:ext cx="2891064" cy="2220675"/>
            <a:chOff x="0" y="-47625"/>
            <a:chExt cx="1522815" cy="1169700"/>
          </a:xfrm>
        </p:grpSpPr>
        <p:sp>
          <p:nvSpPr>
            <p:cNvPr id="420" name="Google Shape;420;g3c77339c9cb_3_64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21" name="Google Shape;421;g3c77339c9cb_3_64"/>
            <p:cNvSpPr txBox="1"/>
            <p:nvPr/>
          </p:nvSpPr>
          <p:spPr>
            <a:xfrm>
              <a:off x="0" y="-47625"/>
              <a:ext cx="1522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2" name="Google Shape;422;g3c77339c9cb_3_64"/>
          <p:cNvGrpSpPr/>
          <p:nvPr/>
        </p:nvGrpSpPr>
        <p:grpSpPr>
          <a:xfrm>
            <a:off x="6126550" y="2746747"/>
            <a:ext cx="2721371" cy="2220675"/>
            <a:chOff x="0" y="-47625"/>
            <a:chExt cx="1505100" cy="1169700"/>
          </a:xfrm>
        </p:grpSpPr>
        <p:sp>
          <p:nvSpPr>
            <p:cNvPr id="423" name="Google Shape;423;g3c77339c9cb_3_64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24" name="Google Shape;424;g3c77339c9cb_3_64"/>
            <p:cNvSpPr txBox="1"/>
            <p:nvPr/>
          </p:nvSpPr>
          <p:spPr>
            <a:xfrm>
              <a:off x="0" y="-47625"/>
              <a:ext cx="15051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" name="Google Shape;425;g3c77339c9cb_3_64"/>
          <p:cNvSpPr txBox="1"/>
          <p:nvPr/>
        </p:nvSpPr>
        <p:spPr>
          <a:xfrm>
            <a:off x="3223099" y="2867963"/>
            <a:ext cx="2803200" cy="22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JUAN JOSÉ GERARDI HERNÁNDEZ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201900532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KEVIN EDUARDO CASTAÑEDA HERNÁNDEZ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201901801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CLAUDIA PAOLA ALONZO HERNÁNDEZ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201902246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JONATHÁN ALEXANDER SÁNCHEZ BARRIOS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201903022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CARLOS ESTUARDO MONTERROSO SANTOS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201903767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LUIS RAFAEL MÉNDEZ LIVAR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201903887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RONY OMAR MIGUEL LOPEZ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201905750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DANIEL MOISES CHAN PELICO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201906099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BYRON ESTUARDO SOLIS GONZALEZ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201906588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JAVIER ALEJANDRO MONTERROSO LÓPEZ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201700831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BYRON JOSUÉ PAR RANCHO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201701078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KEVIN ESTUARDO SOTOJ GARCÍA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201710130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c77339c9cb_3_64"/>
          <p:cNvSpPr txBox="1"/>
          <p:nvPr/>
        </p:nvSpPr>
        <p:spPr>
          <a:xfrm>
            <a:off x="6150547" y="2889276"/>
            <a:ext cx="2803200" cy="19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JOSHUA ALEXANDER VASQUEZ DEL AGUILA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202102407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JORGE ALEJANDRO DE LEÓN BATRES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202111277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MELVIN ALEXANDER VALENCIA ESTRADA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202111556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JOSÉ DANIEL GUZMÁN HERNÁNDEZ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202111612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EDGAR JOSÍAS CÁN AJQUEJAY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202112012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DOMINIC JUAN PABLO RUANO PEREZ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202200075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ROBERTO MIGUEL GARCÍA SANTIZO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202201724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CARLOS FERNANDO ENRIQUE LOPEZ GARCIA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202210108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LUIS FERNANDO GÓMEZ RENDÓN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201801391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PABLO DANIEL FERNÁNDEZ CHACÓN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201807411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d Maps Workshop by Slidesgo">
  <a:themeElements>
    <a:clrScheme name="Simple Light">
      <a:dk1>
        <a:srgbClr val="FFF5EF"/>
      </a:dk1>
      <a:lt1>
        <a:srgbClr val="132933"/>
      </a:lt1>
      <a:dk2>
        <a:srgbClr val="FFF5EF"/>
      </a:dk2>
      <a:lt2>
        <a:srgbClr val="FFF5E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5E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2026-02-11T18:54:14Z</dcterms:created>
  <dc:creator>Unknown Creator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20.0</vt:r8>
  </property>
</Properties>
</file>