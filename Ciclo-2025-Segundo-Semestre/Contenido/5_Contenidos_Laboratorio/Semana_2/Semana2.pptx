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Corbel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92">
          <p15:clr>
            <a:srgbClr val="A4A3A4"/>
          </p15:clr>
        </p15:guide>
        <p15:guide id="2" pos="3144">
          <p15:clr>
            <a:srgbClr val="A4A3A4"/>
          </p15:clr>
        </p15:guide>
        <p15:guide id="3" orient="horz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50" roundtripDataSignature="AMtx7mjzskKRafAdFSqR+CdL3tUDevHC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730EBA-67B9-491F-9F30-EC18A82D5965}">
  <a:tblStyle styleId="{B1730EBA-67B9-491F-9F30-EC18A82D59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5EC9E08-EDD0-4F1F-803C-94330556F337}" styleName="Table_1">
    <a:wholeTbl>
      <a:tcTxStyle b="off" i="off">
        <a:font>
          <a:latin typeface="Avenir Next LT Pro"/>
          <a:ea typeface="Avenir Next LT Pro"/>
          <a:cs typeface="Avenir Next LT Pro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BE6ED"/>
          </a:solidFill>
        </a:fill>
      </a:tcStyle>
    </a:wholeTbl>
    <a:band1H>
      <a:tcTxStyle/>
      <a:tcStyle>
        <a:fill>
          <a:solidFill>
            <a:srgbClr val="F8CADA"/>
          </a:solidFill>
        </a:fill>
      </a:tcStyle>
    </a:band1H>
    <a:band2H>
      <a:tcTxStyle/>
    </a:band2H>
    <a:band1V>
      <a:tcTxStyle/>
      <a:tcStyle>
        <a:fill>
          <a:solidFill>
            <a:srgbClr val="F8CAD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BE6ED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BE6E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92" orient="horz"/>
        <p:guide pos="3144"/>
        <p:guide pos="9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Corbel-regular.fntdata"/><Relationship Id="rId41" Type="http://schemas.openxmlformats.org/officeDocument/2006/relationships/slide" Target="slides/slide35.xml"/><Relationship Id="rId44" Type="http://schemas.openxmlformats.org/officeDocument/2006/relationships/font" Target="fonts/Corbel-italic.fntdata"/><Relationship Id="rId43" Type="http://schemas.openxmlformats.org/officeDocument/2006/relationships/font" Target="fonts/Corbel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Corbel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85" name="Google Shape;48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03" name="Google Shape;50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1" name="Google Shape;52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9" name="Google Shape;53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7" name="Google Shape;55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66" name="Google Shape;666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87" name="Google Shape;68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veni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8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algn="r">
              <a:buClr>
                <a:srgbClr val="888888"/>
              </a:buClr>
              <a:buSzPts val="1000"/>
              <a:buFont typeface="Avenir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3">
  <p:cSld name="Contenido 3">
    <p:bg>
      <p:bgPr>
        <a:solidFill>
          <a:schemeClr val="dk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342900" lvl="1" marL="9144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2" name="Google Shape;22;p39"/>
          <p:cNvGrpSpPr/>
          <p:nvPr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23" name="Google Shape;23;p39"/>
            <p:cNvSpPr/>
            <p:nvPr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" name="Google Shape;24;p39"/>
            <p:cNvSpPr/>
            <p:nvPr/>
          </p:nvSpPr>
          <p:spPr>
            <a:xfrm>
              <a:off x="2029604" y="2031653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" name="Google Shape;25;p39"/>
            <p:cNvSpPr/>
            <p:nvPr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6" name="Google Shape;26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39"/>
            <p:cNvSpPr/>
            <p:nvPr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" name="Google Shape;29;p39"/>
            <p:cNvSpPr/>
            <p:nvPr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0" name="Google Shape;30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" name="Google Shape;31;p39"/>
            <p:cNvGrpSpPr/>
            <p:nvPr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32" name="Google Shape;32;p39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3" name="Google Shape;33;p39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4" name="Google Shape;34;p39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5" name="Google Shape;35;p39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6" name="Google Shape;36;p39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7" name="Google Shape;37;p39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8" name="Google Shape;38;p39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Google Shape;39;p39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40" name="Google Shape;40;p39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41" name="Google Shape;41;p39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42" name="Google Shape;42;p39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43" name="Google Shape;43;p39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44" name="Google Shape;44;p39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45" name="Google Shape;45;p39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46" name="Google Shape;46;p39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7" name="Google Shape;47;p39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8" name="Google Shape;48;p39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49" name="Google Shape;49;p39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50" name="Google Shape;50;p39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51" name="Google Shape;51;p39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52" name="Google Shape;52;p39"/>
            <p:cNvSpPr/>
            <p:nvPr/>
          </p:nvSpPr>
          <p:spPr>
            <a:xfrm>
              <a:off x="0" y="4043197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3" name="Google Shape;53;p39"/>
            <p:cNvSpPr/>
            <p:nvPr/>
          </p:nvSpPr>
          <p:spPr>
            <a:xfrm>
              <a:off x="0" y="2021358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54" name="Google Shape;54;p39"/>
            <p:cNvCxnSpPr/>
            <p:nvPr/>
          </p:nvCxnSpPr>
          <p:spPr>
            <a:xfrm>
              <a:off x="10632" y="-7753"/>
              <a:ext cx="4052352" cy="4040860"/>
            </a:xfrm>
            <a:prstGeom prst="straightConnector1">
              <a:avLst/>
            </a:prstGeom>
            <a:noFill/>
            <a:ln cap="flat" cmpd="sng" w="508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" name="Google Shape;55;p39"/>
            <p:cNvSpPr/>
            <p:nvPr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7306165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833694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 ">
  <p:cSld name="Título + Subtítulo + Imagen ">
    <p:bg>
      <p:bgPr>
        <a:solidFill>
          <a:schemeClr val="accen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0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62" name="Google Shape;62;p40"/>
          <p:cNvGrpSpPr/>
          <p:nvPr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63" name="Google Shape;63;p40"/>
            <p:cNvSpPr/>
            <p:nvPr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4" name="Google Shape;64;p40"/>
            <p:cNvSpPr/>
            <p:nvPr/>
          </p:nvSpPr>
          <p:spPr>
            <a:xfrm>
              <a:off x="2039471" y="406189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65" name="Google Shape;65;p40"/>
            <p:cNvSpPr/>
            <p:nvPr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66" name="Google Shape;66;p4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" name="Google Shape;67;p40"/>
            <p:cNvGrpSpPr/>
            <p:nvPr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68" name="Google Shape;68;p40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69" name="Google Shape;69;p40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70" name="Google Shape;70;p40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71" name="Google Shape;71;p40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72" name="Google Shape;72;p40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73" name="Google Shape;73;p40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74" name="Google Shape;74;p40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5" name="Google Shape;75;p40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76" name="Google Shape;76;p40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77" name="Google Shape;77;p40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78" name="Google Shape;78;p40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79" name="Google Shape;79;p40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80" name="Google Shape;80;p40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81" name="Google Shape;81;p40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82" name="Google Shape;82;p40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3" name="Google Shape;83;p40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4" name="Google Shape;84;p40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5" name="Google Shape;85;p40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86" name="Google Shape;86;p40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87" name="Google Shape;87;p40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88" name="Google Shape;88;p40"/>
            <p:cNvSpPr/>
            <p:nvPr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>
              <a:off x="9867" y="405160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90" name="Google Shape;90;p40"/>
          <p:cNvSpPr/>
          <p:nvPr>
            <p:ph idx="2" type="pic"/>
          </p:nvPr>
        </p:nvSpPr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1">
  <p:cSld name="Contenido 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1"/>
          <p:cNvSpPr txBox="1"/>
          <p:nvPr>
            <p:ph type="title"/>
          </p:nvPr>
        </p:nvSpPr>
        <p:spPr>
          <a:xfrm>
            <a:off x="762001" y="896112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3" name="Google Shape;93;p41"/>
          <p:cNvGrpSpPr/>
          <p:nvPr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94" name="Google Shape;94;p41"/>
            <p:cNvSpPr/>
            <p:nvPr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" name="Google Shape;95;p41"/>
            <p:cNvSpPr/>
            <p:nvPr/>
          </p:nvSpPr>
          <p:spPr>
            <a:xfrm rot="5400000">
              <a:off x="10160492" y="2024569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41"/>
            <p:cNvSpPr/>
            <p:nvPr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97" name="Google Shape;97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" name="Google Shape;98;p41"/>
            <p:cNvSpPr/>
            <p:nvPr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" name="Google Shape;99;p41"/>
            <p:cNvSpPr/>
            <p:nvPr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41"/>
            <p:cNvSpPr/>
            <p:nvPr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01" name="Google Shape;101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41"/>
            <p:cNvSpPr/>
            <p:nvPr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04" name="Google Shape;104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" name="Google Shape;105;p41"/>
            <p:cNvGrpSpPr/>
            <p:nvPr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106" name="Google Shape;106;p41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07" name="Google Shape;107;p41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08" name="Google Shape;108;p41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09" name="Google Shape;109;p41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10" name="Google Shape;110;p41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11" name="Google Shape;111;p41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12" name="Google Shape;112;p41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13" name="Google Shape;113;p41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14" name="Google Shape;114;p41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15" name="Google Shape;115;p41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16" name="Google Shape;116;p41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17" name="Google Shape;117;p41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18" name="Google Shape;118;p41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19" name="Google Shape;119;p41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20" name="Google Shape;120;p41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1" name="Google Shape;121;p41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2" name="Google Shape;122;p41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3" name="Google Shape;123;p41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24" name="Google Shape;124;p41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25" name="Google Shape;125;p41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26" name="Google Shape;126;p41"/>
            <p:cNvSpPr/>
            <p:nvPr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41"/>
            <p:cNvSpPr/>
            <p:nvPr/>
          </p:nvSpPr>
          <p:spPr>
            <a:xfrm>
              <a:off x="8138160" y="2029968"/>
              <a:ext cx="1014984" cy="201168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128" name="Google Shape;128;p41"/>
            <p:cNvCxnSpPr/>
            <p:nvPr/>
          </p:nvCxnSpPr>
          <p:spPr>
            <a:xfrm flipH="1" rot="10800000">
              <a:off x="8138160" y="2012062"/>
              <a:ext cx="3044952" cy="7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9" name="Google Shape;129;p41"/>
            <p:cNvSpPr/>
            <p:nvPr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130" name="Google Shape;130;p41"/>
          <p:cNvSpPr txBox="1"/>
          <p:nvPr>
            <p:ph idx="10" type="dt"/>
          </p:nvPr>
        </p:nvSpPr>
        <p:spPr>
          <a:xfrm>
            <a:off x="761295" y="6355080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1"/>
          <p:cNvSpPr txBox="1"/>
          <p:nvPr>
            <p:ph idx="11" type="ftr"/>
          </p:nvPr>
        </p:nvSpPr>
        <p:spPr>
          <a:xfrm>
            <a:off x="5499886" y="635508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1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41"/>
          <p:cNvSpPr txBox="1"/>
          <p:nvPr>
            <p:ph idx="1" type="body"/>
          </p:nvPr>
        </p:nvSpPr>
        <p:spPr>
          <a:xfrm>
            <a:off x="762001" y="3058886"/>
            <a:ext cx="659737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  <p15:guide id="4" pos="57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42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136" name="Google Shape;136;p42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p42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" name="Google Shape;140;p42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141" name="Google Shape;141;p42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42" name="Google Shape;142;p42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43" name="Google Shape;143;p42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44" name="Google Shape;144;p4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45" name="Google Shape;145;p42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46" name="Google Shape;146;p4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47" name="Google Shape;147;p4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48" name="Google Shape;148;p42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49" name="Google Shape;149;p42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150" name="Google Shape;150;p42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151" name="Google Shape;151;p42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152" name="Google Shape;152;p42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153" name="Google Shape;153;p42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154" name="Google Shape;154;p42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155" name="Google Shape;155;p42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156" name="Google Shape;156;p42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7" name="Google Shape;157;p42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8" name="Google Shape;158;p42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59" name="Google Shape;159;p42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160" name="Google Shape;160;p42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161" name="Google Shape;161;p42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162" name="Google Shape;162;p42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42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42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42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66" name="Google Shape;166;p4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8" name="Google Shape;168;p42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69" name="Google Shape;169;p42"/>
          <p:cNvSpPr txBox="1"/>
          <p:nvPr>
            <p:ph type="ctrTitle"/>
          </p:nvPr>
        </p:nvSpPr>
        <p:spPr>
          <a:xfrm>
            <a:off x="4714772" y="677918"/>
            <a:ext cx="6856292" cy="3590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3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2" name="Google Shape;172;p43"/>
          <p:cNvGrpSpPr/>
          <p:nvPr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173" name="Google Shape;173;p43"/>
            <p:cNvSpPr/>
            <p:nvPr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43"/>
            <p:cNvSpPr/>
            <p:nvPr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43"/>
            <p:cNvSpPr/>
            <p:nvPr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176" name="Google Shape;176;p4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43"/>
            <p:cNvSpPr/>
            <p:nvPr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78" name="Google Shape;17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400000">
              <a:off x="10880040" y="5394960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43"/>
            <p:cNvSpPr/>
            <p:nvPr/>
          </p:nvSpPr>
          <p:spPr>
            <a:xfrm>
              <a:off x="11250235" y="4949368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80" name="Google Shape;180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43"/>
          <p:cNvSpPr txBox="1"/>
          <p:nvPr>
            <p:ph idx="10" type="dt"/>
          </p:nvPr>
        </p:nvSpPr>
        <p:spPr>
          <a:xfrm>
            <a:off x="771735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1" type="ftr"/>
          </p:nvPr>
        </p:nvSpPr>
        <p:spPr>
          <a:xfrm>
            <a:off x="542448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3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" name="Google Shape;184;p43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43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bg>
      <p:bgPr>
        <a:solidFill>
          <a:schemeClr val="accent3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44"/>
          <p:cNvGrpSpPr/>
          <p:nvPr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188" name="Google Shape;188;p44"/>
            <p:cNvSpPr/>
            <p:nvPr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89" name="Google Shape;189;p4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44"/>
            <p:cNvSpPr/>
            <p:nvPr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>
              <a:off x="4071442" y="4058828"/>
              <a:ext cx="3178103" cy="2799549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93" name="Google Shape;19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4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44"/>
            <p:cNvSpPr/>
            <p:nvPr/>
          </p:nvSpPr>
          <p:spPr>
            <a:xfrm>
              <a:off x="2028568" y="4060579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196" name="Google Shape;196;p4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n patrón seleccionado blanco y negro&#10;&#10;Descripción generada automáticamente con confianza baja" id="197" name="Google Shape;197;p4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06" y="3062893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8" name="Google Shape;198;p44"/>
            <p:cNvGrpSpPr/>
            <p:nvPr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99" name="Google Shape;199;p44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00" name="Google Shape;200;p44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01" name="Google Shape;201;p44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202" name="Google Shape;202;p44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203" name="Google Shape;203;p44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204" name="Google Shape;204;p44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205" name="Google Shape;205;p44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206" name="Google Shape;206;p44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207" name="Google Shape;207;p44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6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208" name="Google Shape;208;p44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6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209" name="Google Shape;209;p44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6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210" name="Google Shape;210;p44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6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211" name="Google Shape;211;p44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6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212" name="Google Shape;212;p44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6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213" name="Google Shape;213;p44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4" name="Google Shape;214;p44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5" name="Google Shape;215;p44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6" name="Google Shape;216;p44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217" name="Google Shape;217;p44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218" name="Google Shape;218;p44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219" name="Google Shape;219;p44"/>
            <p:cNvSpPr/>
            <p:nvPr/>
          </p:nvSpPr>
          <p:spPr>
            <a:xfrm rot="-5400000">
              <a:off x="506891" y="5335524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" name="Google Shape;220;p44"/>
            <p:cNvSpPr/>
            <p:nvPr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44"/>
            <p:cNvSpPr/>
            <p:nvPr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cxnSp>
          <p:nvCxnSpPr>
            <p:cNvPr id="222" name="Google Shape;222;p44"/>
            <p:cNvCxnSpPr/>
            <p:nvPr/>
          </p:nvCxnSpPr>
          <p:spPr>
            <a:xfrm flipH="1" rot="10800000">
              <a:off x="0" y="1990665"/>
              <a:ext cx="4023360" cy="33894"/>
            </a:xfrm>
            <a:prstGeom prst="straightConnector1">
              <a:avLst/>
            </a:prstGeom>
            <a:noFill/>
            <a:ln cap="flat" cmpd="sng" w="508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3" name="Google Shape;223;p44"/>
          <p:cNvSpPr txBox="1"/>
          <p:nvPr>
            <p:ph type="ctrTitle"/>
          </p:nvPr>
        </p:nvSpPr>
        <p:spPr>
          <a:xfrm>
            <a:off x="4974771" y="576943"/>
            <a:ext cx="6449786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4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5" name="Google Shape;225;p44"/>
          <p:cNvSpPr txBox="1"/>
          <p:nvPr>
            <p:ph idx="10" type="dt"/>
          </p:nvPr>
        </p:nvSpPr>
        <p:spPr>
          <a:xfrm>
            <a:off x="7519821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44"/>
          <p:cNvSpPr txBox="1"/>
          <p:nvPr>
            <p:ph idx="11" type="ftr"/>
          </p:nvPr>
        </p:nvSpPr>
        <p:spPr>
          <a:xfrm>
            <a:off x="8727198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44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5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2">
  <p:cSld name="Dos contenidos 2">
    <p:bg>
      <p:bgPr>
        <a:solidFill>
          <a:srgbClr val="BEBAC7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8097646">
            <a:off x="403102" y="-983359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45"/>
          <p:cNvSpPr/>
          <p:nvPr/>
        </p:nvSpPr>
        <p:spPr>
          <a:xfrm rot="-8091810">
            <a:off x="-1025089" y="458228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31" name="Google Shape;2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697467">
            <a:off x="407892" y="1900474"/>
            <a:ext cx="2029968" cy="202996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5"/>
          <p:cNvSpPr/>
          <p:nvPr/>
        </p:nvSpPr>
        <p:spPr>
          <a:xfrm rot="-2700000">
            <a:off x="413443" y="1923515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33" name="Google Shape;23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2708786">
            <a:off x="-1021285" y="3355869"/>
            <a:ext cx="2029968" cy="2029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8110773">
            <a:off x="1859807" y="3357927"/>
            <a:ext cx="2029968" cy="20299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45"/>
          <p:cNvGrpSpPr/>
          <p:nvPr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236" name="Google Shape;236;p45"/>
            <p:cNvSpPr/>
            <p:nvPr/>
          </p:nvSpPr>
          <p:spPr>
            <a:xfrm>
              <a:off x="-13699" y="5839164"/>
              <a:ext cx="2862790" cy="28868"/>
            </a:xfrm>
            <a:custGeom>
              <a:rect b="b" l="l" r="r" t="t"/>
              <a:pathLst>
                <a:path extrusionOk="0" h="28868" w="2862790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45"/>
            <p:cNvSpPr/>
            <p:nvPr/>
          </p:nvSpPr>
          <p:spPr>
            <a:xfrm>
              <a:off x="47246" y="5900109"/>
              <a:ext cx="2740900" cy="28868"/>
            </a:xfrm>
            <a:custGeom>
              <a:rect b="b" l="l" r="r" t="t"/>
              <a:pathLst>
                <a:path extrusionOk="0" h="28868" w="2740900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45"/>
            <p:cNvSpPr/>
            <p:nvPr/>
          </p:nvSpPr>
          <p:spPr>
            <a:xfrm>
              <a:off x="108992" y="5960251"/>
              <a:ext cx="2619012" cy="29671"/>
            </a:xfrm>
            <a:custGeom>
              <a:rect b="b" l="l" r="r" t="t"/>
              <a:pathLst>
                <a:path extrusionOk="0" h="29671" w="2619012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45"/>
            <p:cNvSpPr/>
            <p:nvPr/>
          </p:nvSpPr>
          <p:spPr>
            <a:xfrm>
              <a:off x="169937" y="6021196"/>
              <a:ext cx="2497122" cy="29670"/>
            </a:xfrm>
            <a:custGeom>
              <a:rect b="b" l="l" r="r" t="t"/>
              <a:pathLst>
                <a:path extrusionOk="0" h="29670" w="2497122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45"/>
            <p:cNvSpPr/>
            <p:nvPr/>
          </p:nvSpPr>
          <p:spPr>
            <a:xfrm>
              <a:off x="229279" y="6082140"/>
              <a:ext cx="2376837" cy="28869"/>
            </a:xfrm>
            <a:custGeom>
              <a:rect b="b" l="l" r="r" t="t"/>
              <a:pathLst>
                <a:path extrusionOk="0" h="28869" w="2376837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45"/>
            <p:cNvSpPr/>
            <p:nvPr/>
          </p:nvSpPr>
          <p:spPr>
            <a:xfrm>
              <a:off x="290222" y="6143085"/>
              <a:ext cx="2254948" cy="28868"/>
            </a:xfrm>
            <a:custGeom>
              <a:rect b="b" l="l" r="r" t="t"/>
              <a:pathLst>
                <a:path extrusionOk="0" h="28868" w="225494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45"/>
            <p:cNvSpPr/>
            <p:nvPr/>
          </p:nvSpPr>
          <p:spPr>
            <a:xfrm>
              <a:off x="351970" y="6203227"/>
              <a:ext cx="2133059" cy="29671"/>
            </a:xfrm>
            <a:custGeom>
              <a:rect b="b" l="l" r="r" t="t"/>
              <a:pathLst>
                <a:path extrusionOk="0" h="29671" w="2133059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45"/>
            <p:cNvSpPr/>
            <p:nvPr/>
          </p:nvSpPr>
          <p:spPr>
            <a:xfrm>
              <a:off x="411310" y="6264172"/>
              <a:ext cx="2012774" cy="28868"/>
            </a:xfrm>
            <a:custGeom>
              <a:rect b="b" l="l" r="r" t="t"/>
              <a:pathLst>
                <a:path extrusionOk="0" h="28868" w="2012774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45"/>
            <p:cNvSpPr/>
            <p:nvPr/>
          </p:nvSpPr>
          <p:spPr>
            <a:xfrm>
              <a:off x="472255" y="6325117"/>
              <a:ext cx="1890884" cy="28868"/>
            </a:xfrm>
            <a:custGeom>
              <a:rect b="b" l="l" r="r" t="t"/>
              <a:pathLst>
                <a:path extrusionOk="0" h="28868" w="1890884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45"/>
            <p:cNvSpPr/>
            <p:nvPr/>
          </p:nvSpPr>
          <p:spPr>
            <a:xfrm>
              <a:off x="533199" y="6386061"/>
              <a:ext cx="1768996" cy="28869"/>
            </a:xfrm>
            <a:custGeom>
              <a:rect b="b" l="l" r="r" t="t"/>
              <a:pathLst>
                <a:path extrusionOk="0" h="28869" w="1768996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45"/>
            <p:cNvSpPr/>
            <p:nvPr/>
          </p:nvSpPr>
          <p:spPr>
            <a:xfrm>
              <a:off x="594946" y="6446204"/>
              <a:ext cx="1647106" cy="29670"/>
            </a:xfrm>
            <a:custGeom>
              <a:rect b="b" l="l" r="r" t="t"/>
              <a:pathLst>
                <a:path extrusionOk="0" h="29670" w="1647106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45"/>
            <p:cNvSpPr/>
            <p:nvPr/>
          </p:nvSpPr>
          <p:spPr>
            <a:xfrm>
              <a:off x="654287" y="6507148"/>
              <a:ext cx="1526821" cy="28869"/>
            </a:xfrm>
            <a:custGeom>
              <a:rect b="b" l="l" r="r" t="t"/>
              <a:pathLst>
                <a:path extrusionOk="0" h="28869" w="1526821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45"/>
            <p:cNvSpPr/>
            <p:nvPr/>
          </p:nvSpPr>
          <p:spPr>
            <a:xfrm>
              <a:off x="715231" y="6568093"/>
              <a:ext cx="1404932" cy="28868"/>
            </a:xfrm>
            <a:custGeom>
              <a:rect b="b" l="l" r="r" t="t"/>
              <a:pathLst>
                <a:path extrusionOk="0" h="28868" w="1404932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9" name="Google Shape;249;p45"/>
            <p:cNvSpPr/>
            <p:nvPr/>
          </p:nvSpPr>
          <p:spPr>
            <a:xfrm>
              <a:off x="776977" y="6628235"/>
              <a:ext cx="1283044" cy="29671"/>
            </a:xfrm>
            <a:custGeom>
              <a:rect b="b" l="l" r="r" t="t"/>
              <a:pathLst>
                <a:path extrusionOk="0" h="29671" w="1283044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0" name="Google Shape;250;p45"/>
            <p:cNvSpPr/>
            <p:nvPr/>
          </p:nvSpPr>
          <p:spPr>
            <a:xfrm>
              <a:off x="837922" y="6689180"/>
              <a:ext cx="1161154" cy="29670"/>
            </a:xfrm>
            <a:custGeom>
              <a:rect b="b" l="l" r="r" t="t"/>
              <a:pathLst>
                <a:path extrusionOk="0" h="29670" w="1161154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1" name="Google Shape;251;p45"/>
            <p:cNvSpPr/>
            <p:nvPr/>
          </p:nvSpPr>
          <p:spPr>
            <a:xfrm>
              <a:off x="897263" y="6750124"/>
              <a:ext cx="1040868" cy="28869"/>
            </a:xfrm>
            <a:custGeom>
              <a:rect b="b" l="l" r="r" t="t"/>
              <a:pathLst>
                <a:path extrusionOk="0" h="28869" w="1040868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2" name="Google Shape;252;p45"/>
            <p:cNvSpPr/>
            <p:nvPr/>
          </p:nvSpPr>
          <p:spPr>
            <a:xfrm>
              <a:off x="958207" y="6811069"/>
              <a:ext cx="918980" cy="28869"/>
            </a:xfrm>
            <a:custGeom>
              <a:rect b="b" l="l" r="r" t="t"/>
              <a:pathLst>
                <a:path extrusionOk="0" h="28869" w="918980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sp>
        <p:nvSpPr>
          <p:cNvPr id="253" name="Google Shape;253;p45"/>
          <p:cNvSpPr/>
          <p:nvPr/>
        </p:nvSpPr>
        <p:spPr>
          <a:xfrm>
            <a:off x="1793659" y="5801762"/>
            <a:ext cx="1075475" cy="1058335"/>
          </a:xfrm>
          <a:custGeom>
            <a:rect b="b" l="l" r="r" t="t"/>
            <a:pathLst>
              <a:path extrusionOk="0" h="1062720" w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4" name="Google Shape;254;p45"/>
          <p:cNvSpPr/>
          <p:nvPr/>
        </p:nvSpPr>
        <p:spPr>
          <a:xfrm>
            <a:off x="1035546" y="6829131"/>
            <a:ext cx="918980" cy="28869"/>
          </a:xfrm>
          <a:custGeom>
            <a:rect b="b" l="l" r="r" t="t"/>
            <a:pathLst>
              <a:path extrusionOk="0" h="28869" w="918980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5" name="Google Shape;255;p45"/>
          <p:cNvSpPr txBox="1"/>
          <p:nvPr>
            <p:ph type="title"/>
          </p:nvPr>
        </p:nvSpPr>
        <p:spPr>
          <a:xfrm>
            <a:off x="3520440" y="896111"/>
            <a:ext cx="788976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520440" y="3259056"/>
            <a:ext cx="299466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5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45"/>
          <p:cNvSpPr txBox="1"/>
          <p:nvPr>
            <p:ph idx="10" type="dt"/>
          </p:nvPr>
        </p:nvSpPr>
        <p:spPr>
          <a:xfrm>
            <a:off x="352372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5"/>
          <p:cNvSpPr txBox="1"/>
          <p:nvPr>
            <p:ph idx="11" type="ftr"/>
          </p:nvPr>
        </p:nvSpPr>
        <p:spPr>
          <a:xfrm>
            <a:off x="6642161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5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bg>
      <p:bgPr>
        <a:solidFill>
          <a:schemeClr val="dk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6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762000" y="2417197"/>
            <a:ext cx="4278313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46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6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6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3">
  <p:cSld name="Dos contenidos 3">
    <p:bg>
      <p:bgPr>
        <a:solidFill>
          <a:schemeClr val="accent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70" name="Google Shape;270;p47"/>
          <p:cNvGrpSpPr/>
          <p:nvPr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271" name="Google Shape;271;p47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47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47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4" name="Google Shape;274;p47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" name="Google Shape;275;p47"/>
            <p:cNvSpPr/>
            <p:nvPr/>
          </p:nvSpPr>
          <p:spPr>
            <a:xfrm rot="10800000">
              <a:off x="100582" y="2936725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76" name="Google Shape;276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8" name="Google Shape;278;p47"/>
          <p:cNvSpPr txBox="1"/>
          <p:nvPr>
            <p:ph idx="1" type="body"/>
          </p:nvPr>
        </p:nvSpPr>
        <p:spPr>
          <a:xfrm>
            <a:off x="1552575" y="2481940"/>
            <a:ext cx="6477952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47"/>
          <p:cNvSpPr txBox="1"/>
          <p:nvPr>
            <p:ph idx="2" type="body"/>
          </p:nvPr>
        </p:nvSpPr>
        <p:spPr>
          <a:xfrm>
            <a:off x="8372723" y="2481940"/>
            <a:ext cx="3046391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eriod"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eriod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rabicParenR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alphaLcParenR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AutoNum type="romanLcPeriod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0" name="Google Shape;280;p47"/>
          <p:cNvSpPr txBox="1"/>
          <p:nvPr>
            <p:ph idx="10" type="dt"/>
          </p:nvPr>
        </p:nvSpPr>
        <p:spPr>
          <a:xfrm>
            <a:off x="1554480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7"/>
          <p:cNvSpPr txBox="1"/>
          <p:nvPr>
            <p:ph idx="11" type="ftr"/>
          </p:nvPr>
        </p:nvSpPr>
        <p:spPr>
          <a:xfrm>
            <a:off x="5744527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7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39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/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8"/>
          <p:cNvSpPr txBox="1"/>
          <p:nvPr>
            <p:ph idx="1" type="body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5pPr>
            <a:lvl6pPr indent="-394335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6pPr>
            <a:lvl7pPr indent="-394335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7pPr>
            <a:lvl8pPr indent="-394334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610"/>
              <a:buChar char="•"/>
              <a:defRPr/>
            </a:lvl8pPr>
            <a:lvl9pPr indent="-394334" lvl="8" marL="411480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610"/>
              <a:buChar char="•"/>
              <a:defRPr/>
            </a:lvl9pPr>
          </a:lstStyle>
          <a:p/>
        </p:txBody>
      </p:sp>
      <p:sp>
        <p:nvSpPr>
          <p:cNvPr id="286" name="Google Shape;286;p48"/>
          <p:cNvSpPr txBox="1"/>
          <p:nvPr>
            <p:ph idx="10" type="dt"/>
          </p:nvPr>
        </p:nvSpPr>
        <p:spPr>
          <a:xfrm>
            <a:off x="9732656" y="5883276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287" name="Google Shape;287;p48"/>
          <p:cNvSpPr txBox="1"/>
          <p:nvPr>
            <p:ph idx="11" type="ftr"/>
          </p:nvPr>
        </p:nvSpPr>
        <p:spPr>
          <a:xfrm>
            <a:off x="2572280" y="5883276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/>
        </p:txBody>
      </p:sp>
      <p:sp>
        <p:nvSpPr>
          <p:cNvPr id="288" name="Google Shape;288;p48"/>
          <p:cNvSpPr txBox="1"/>
          <p:nvPr>
            <p:ph idx="12" type="sldNum"/>
          </p:nvPr>
        </p:nvSpPr>
        <p:spPr>
          <a:xfrm>
            <a:off x="10951857" y="586713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rbel"/>
              <a:buNone/>
              <a:defRPr sz="1000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Imagen">
  <p:cSld name="Título + Imagen">
    <p:bg>
      <p:bgPr>
        <a:solidFill>
          <a:schemeClr val="accent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9"/>
          <p:cNvSpPr txBox="1"/>
          <p:nvPr>
            <p:ph type="ctrTitle"/>
          </p:nvPr>
        </p:nvSpPr>
        <p:spPr>
          <a:xfrm>
            <a:off x="4833694" y="660358"/>
            <a:ext cx="6594768" cy="553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  <a:defRPr sz="48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9"/>
          <p:cNvSpPr/>
          <p:nvPr>
            <p:ph idx="2" type="pic"/>
          </p:nvPr>
        </p:nvSpPr>
        <p:spPr>
          <a:xfrm rot="10800000">
            <a:off x="1" y="761322"/>
            <a:ext cx="4076118" cy="609667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92" name="Google Shape;292;p49"/>
          <p:cNvGrpSpPr/>
          <p:nvPr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293" name="Google Shape;293;p49"/>
            <p:cNvSpPr/>
            <p:nvPr/>
          </p:nvSpPr>
          <p:spPr>
            <a:xfrm flipH="1" rot="10800000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49"/>
            <p:cNvSpPr/>
            <p:nvPr/>
          </p:nvSpPr>
          <p:spPr>
            <a:xfrm rot="10800000">
              <a:off x="0" y="766136"/>
              <a:ext cx="2029968" cy="2029968"/>
            </a:xfrm>
            <a:custGeom>
              <a:rect b="b" l="l" r="r" t="t"/>
              <a:pathLst>
                <a:path extrusionOk="0" h="2029968" w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5" name="Google Shape;295;p49"/>
            <p:cNvSpPr/>
            <p:nvPr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296" name="Google Shape;296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7" name="Google Shape;297;p49"/>
            <p:cNvSpPr/>
            <p:nvPr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descr="Un patrón seleccionado blanco y negro&#10;&#10;Descripción generada automáticamente con confianza baja" id="298" name="Google Shape;29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imagen">
  <p:cSld name="Contenido + imagen">
    <p:bg>
      <p:bgPr>
        <a:solidFill>
          <a:schemeClr val="accen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50"/>
          <p:cNvSpPr/>
          <p:nvPr>
            <p:ph idx="2" type="pic"/>
          </p:nvPr>
        </p:nvSpPr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50"/>
          <p:cNvSpPr/>
          <p:nvPr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03" name="Google Shape;30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1338" y="5865203"/>
            <a:ext cx="2019299" cy="99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0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4pPr>
            <a:lvl5pPr indent="-342900" lvl="4" marL="228600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50"/>
          <p:cNvSpPr txBox="1"/>
          <p:nvPr>
            <p:ph idx="10" type="dt"/>
          </p:nvPr>
        </p:nvSpPr>
        <p:spPr>
          <a:xfrm>
            <a:off x="380395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50"/>
          <p:cNvSpPr txBox="1"/>
          <p:nvPr>
            <p:ph idx="11" type="ftr"/>
          </p:nvPr>
        </p:nvSpPr>
        <p:spPr>
          <a:xfrm>
            <a:off x="6788630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0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8" name="Google Shape;308;p50"/>
          <p:cNvGrpSpPr/>
          <p:nvPr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309" name="Google Shape;309;p50"/>
            <p:cNvSpPr/>
            <p:nvPr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0" name="Google Shape;310;p50"/>
            <p:cNvSpPr/>
            <p:nvPr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50"/>
            <p:cNvSpPr/>
            <p:nvPr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12" name="Google Shape;31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50"/>
            <p:cNvSpPr/>
            <p:nvPr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4" name="Google Shape;314;p50"/>
            <p:cNvSpPr/>
            <p:nvPr/>
          </p:nvSpPr>
          <p:spPr>
            <a:xfrm rot="10800000">
              <a:off x="100582" y="2932749"/>
              <a:ext cx="914400" cy="1828800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15" name="Google Shape;315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6" name="Google Shape;316;p50"/>
          <p:cNvSpPr/>
          <p:nvPr/>
        </p:nvSpPr>
        <p:spPr>
          <a:xfrm>
            <a:off x="1011339" y="2834159"/>
            <a:ext cx="2029968" cy="2029968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52">
          <p15:clr>
            <a:srgbClr val="FBAE40"/>
          </p15:clr>
        </p15:guide>
        <p15:guide id="2" pos="7104">
          <p15:clr>
            <a:srgbClr val="FBAE40"/>
          </p15:clr>
        </p15:guide>
        <p15:guide id="3" pos="739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sa">
  <p:cSld name="Mesa">
    <p:bg>
      <p:bgPr>
        <a:solidFill>
          <a:schemeClr val="dk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51"/>
          <p:cNvSpPr/>
          <p:nvPr/>
        </p:nvSpPr>
        <p:spPr>
          <a:xfrm rot="10800000">
            <a:off x="11177016" y="0"/>
            <a:ext cx="1014984" cy="1014984"/>
          </a:xfrm>
          <a:custGeom>
            <a:rect b="b" l="l" r="r" t="t"/>
            <a:pathLst>
              <a:path extrusionOk="0" h="2029968" w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20" name="Google Shape;320;p51"/>
          <p:cNvSpPr txBox="1"/>
          <p:nvPr>
            <p:ph idx="10" type="dt"/>
          </p:nvPr>
        </p:nvSpPr>
        <p:spPr>
          <a:xfrm>
            <a:off x="767443" y="6353175"/>
            <a:ext cx="10972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idx="11" type="ftr"/>
          </p:nvPr>
        </p:nvSpPr>
        <p:spPr>
          <a:xfrm>
            <a:off x="5273449" y="6350000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2" type="title">
  <p:cSld name="TITLE">
    <p:bg>
      <p:bgPr>
        <a:solidFill>
          <a:schemeClr val="accent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52"/>
          <p:cNvGrpSpPr/>
          <p:nvPr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25" name="Google Shape;325;p52"/>
            <p:cNvSpPr/>
            <p:nvPr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52"/>
            <p:cNvSpPr/>
            <p:nvPr/>
          </p:nvSpPr>
          <p:spPr>
            <a:xfrm>
              <a:off x="0" y="0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" name="Google Shape;327;p52"/>
            <p:cNvSpPr/>
            <p:nvPr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" name="Google Shape;328;p52"/>
            <p:cNvSpPr/>
            <p:nvPr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52"/>
            <p:cNvSpPr/>
            <p:nvPr/>
          </p:nvSpPr>
          <p:spPr>
            <a:xfrm>
              <a:off x="4054172" y="4069080"/>
              <a:ext cx="2788920" cy="2788920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330" name="Google Shape;330;p52"/>
            <p:cNvGrpSpPr/>
            <p:nvPr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331" name="Google Shape;331;p52"/>
              <p:cNvGrpSpPr/>
              <p:nvPr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332" name="Google Shape;332;p52"/>
                <p:cNvGrpSpPr/>
                <p:nvPr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333" name="Google Shape;333;p52"/>
                  <p:cNvGrpSpPr/>
                  <p:nvPr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34" name="Google Shape;334;p52"/>
                    <p:cNvGrpSpPr/>
                    <p:nvPr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5" name="Google Shape;335;p52"/>
                      <p:cNvGrpSpPr/>
                      <p:nvPr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36" name="Google Shape;336;p52"/>
                        <p:cNvGrpSpPr/>
                        <p:nvPr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37" name="Google Shape;337;p52"/>
                          <p:cNvGrpSpPr/>
                          <p:nvPr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38" name="Google Shape;338;p52"/>
                            <p:cNvSpPr/>
                            <p:nvPr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  <p:sp>
                          <p:nvSpPr>
                            <p:cNvPr id="339" name="Google Shape;339;p52"/>
                            <p:cNvSpPr/>
                            <p:nvPr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cap="flat" cmpd="sng" w="25400">
                              <a:solidFill>
                                <a:schemeClr val="accent1"/>
                              </a:solidFill>
                              <a:prstDash val="solid"/>
                              <a:miter lim="800000"/>
                              <a:headEnd len="sm" w="sm" type="none"/>
                              <a:tailEnd len="sm" w="sm" type="none"/>
                            </a:ln>
                          </p:spPr>
                          <p:txBody>
                            <a:bodyPr anchorCtr="0" anchor="ctr" bIns="45700" lIns="91425" spcFirstLastPara="1" rIns="91425" wrap="square" tIns="45700">
                              <a:noAutofit/>
                            </a:bodyPr>
                            <a:lstStyle/>
                            <a:p>
                              <a:pPr indent="0" lvl="0" marL="0" marR="0" rtl="0" algn="ctr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r>
                                <a:rPr lang="en-US" sz="1800">
                                  <a:solidFill>
                                    <a:schemeClr val="dk1"/>
                                  </a:solidFill>
                                  <a:latin typeface="Avenir"/>
                                  <a:ea typeface="Avenir"/>
                                  <a:cs typeface="Avenir"/>
                                  <a:sym typeface="Avenir"/>
                                </a:rPr>
                                <a:t> </a:t>
                              </a:r>
                              <a:endParaRPr/>
                            </a:p>
                          </p:txBody>
                        </p:sp>
                      </p:grpSp>
                      <p:sp>
                        <p:nvSpPr>
                          <p:cNvPr id="340" name="Google Shape;340;p52"/>
                          <p:cNvSpPr/>
                          <p:nvPr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cap="flat" cmpd="sng" w="25400">
                            <a:solidFill>
                              <a:schemeClr val="accent1"/>
                            </a:solidFill>
                            <a:prstDash val="solid"/>
                            <a:miter lim="800000"/>
                            <a:headEnd len="sm" w="sm" type="none"/>
                            <a:tailEnd len="sm" w="sm" type="none"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1800">
                                <a:solidFill>
                                  <a:schemeClr val="dk1"/>
                                </a:solidFill>
                                <a:latin typeface="Avenir"/>
                                <a:ea typeface="Avenir"/>
                                <a:cs typeface="Avenir"/>
                                <a:sym typeface="Avenir"/>
                              </a:rPr>
                              <a:t> </a:t>
                            </a:r>
                            <a:endParaRPr/>
                          </a:p>
                        </p:txBody>
                      </p:sp>
                    </p:grpSp>
                    <p:sp>
                      <p:nvSpPr>
                        <p:cNvPr id="341" name="Google Shape;341;p52"/>
                        <p:cNvSpPr/>
                        <p:nvPr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cap="flat" cmpd="sng" w="25400">
                          <a:solidFill>
                            <a:schemeClr val="accent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800">
                              <a:solidFill>
                                <a:schemeClr val="dk1"/>
                              </a:solidFill>
                              <a:latin typeface="Avenir"/>
                              <a:ea typeface="Avenir"/>
                              <a:cs typeface="Avenir"/>
                              <a:sym typeface="Avenir"/>
                            </a:rPr>
                            <a:t> </a:t>
                          </a:r>
                          <a:endParaRPr/>
                        </a:p>
                      </p:txBody>
                    </p:sp>
                  </p:grpSp>
                  <p:sp>
                    <p:nvSpPr>
                      <p:cNvPr id="342" name="Google Shape;342;p52"/>
                      <p:cNvSpPr/>
                      <p:nvPr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cap="flat" cmpd="sng" w="25400">
                        <a:solidFill>
                          <a:schemeClr val="accent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solidFill>
                              <a:schemeClr val="dk1"/>
                            </a:solidFill>
                            <a:latin typeface="Avenir"/>
                            <a:ea typeface="Avenir"/>
                            <a:cs typeface="Avenir"/>
                            <a:sym typeface="Avenir"/>
                          </a:rPr>
                          <a:t> </a:t>
                        </a:r>
                        <a:endParaRPr/>
                      </a:p>
                    </p:txBody>
                  </p:sp>
                </p:grpSp>
                <p:sp>
                  <p:nvSpPr>
                    <p:cNvPr id="343" name="Google Shape;343;p52"/>
                    <p:cNvSpPr/>
                    <p:nvPr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cap="flat" cmpd="sng" w="25400">
                      <a:solidFill>
                        <a:schemeClr val="accent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 </a:t>
                      </a:r>
                      <a:endParaRPr/>
                    </a:p>
                  </p:txBody>
                </p:sp>
              </p:grpSp>
              <p:sp>
                <p:nvSpPr>
                  <p:cNvPr id="344" name="Google Shape;344;p52"/>
                  <p:cNvSpPr/>
                  <p:nvPr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cap="flat" cmpd="sng" w="25400">
                    <a:solidFill>
                      <a:schemeClr val="accent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Avenir"/>
                        <a:ea typeface="Avenir"/>
                        <a:cs typeface="Avenir"/>
                        <a:sym typeface="Avenir"/>
                      </a:rPr>
                      <a:t> </a:t>
                    </a:r>
                    <a:endParaRPr/>
                  </a:p>
                </p:txBody>
              </p:sp>
            </p:grpSp>
            <p:sp>
              <p:nvSpPr>
                <p:cNvPr id="345" name="Google Shape;345;p52"/>
                <p:cNvSpPr/>
                <p:nvPr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6" name="Google Shape;346;p52"/>
                <p:cNvSpPr/>
                <p:nvPr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7" name="Google Shape;347;p52"/>
                <p:cNvSpPr/>
                <p:nvPr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8" name="Google Shape;348;p52"/>
                <p:cNvSpPr/>
                <p:nvPr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  <p:sp>
              <p:nvSpPr>
                <p:cNvPr id="349" name="Google Shape;349;p52"/>
                <p:cNvSpPr/>
                <p:nvPr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cap="flat" cmpd="sng" w="25400">
                  <a:solidFill>
                    <a:schemeClr val="accent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venir"/>
                      <a:ea typeface="Avenir"/>
                      <a:cs typeface="Avenir"/>
                      <a:sym typeface="Avenir"/>
                    </a:rPr>
                    <a:t> </a:t>
                  </a:r>
                  <a:endParaRPr/>
                </a:p>
              </p:txBody>
            </p:sp>
          </p:grpSp>
          <p:sp>
            <p:nvSpPr>
              <p:cNvPr id="350" name="Google Shape;350;p52"/>
              <p:cNvSpPr/>
              <p:nvPr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cap="flat" cmpd="sng" w="25400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venir"/>
                    <a:ea typeface="Avenir"/>
                    <a:cs typeface="Avenir"/>
                    <a:sym typeface="Avenir"/>
                  </a:rPr>
                  <a:t> </a:t>
                </a:r>
                <a:endParaRPr/>
              </a:p>
            </p:txBody>
          </p:sp>
        </p:grpSp>
        <p:sp>
          <p:nvSpPr>
            <p:cNvPr id="351" name="Google Shape;351;p52"/>
            <p:cNvSpPr/>
            <p:nvPr/>
          </p:nvSpPr>
          <p:spPr>
            <a:xfrm rot="10800000">
              <a:off x="1013527" y="2043171"/>
              <a:ext cx="1014984" cy="2029968"/>
            </a:xfrm>
            <a:custGeom>
              <a:rect b="b" l="l" r="r" t="t"/>
              <a:pathLst>
                <a:path extrusionOk="0" h="1828800" w="915648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D4D0D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2" name="Google Shape;352;p52"/>
            <p:cNvSpPr/>
            <p:nvPr/>
          </p:nvSpPr>
          <p:spPr>
            <a:xfrm rot="5400000">
              <a:off x="2028432" y="4821048"/>
              <a:ext cx="2029968" cy="2029968"/>
            </a:xfrm>
            <a:custGeom>
              <a:rect b="b" l="l" r="r" t="t"/>
              <a:pathLst>
                <a:path extrusionOk="0" h="1828800" w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" name="Google Shape;353;p52"/>
            <p:cNvSpPr/>
            <p:nvPr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4" name="Google Shape;354;p52"/>
            <p:cNvSpPr/>
            <p:nvPr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pic>
          <p:nvPicPr>
            <p:cNvPr id="355" name="Google Shape;355;p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4078224"/>
              <a:ext cx="2029968" cy="20299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7" name="Google Shape;357;p52"/>
            <p:cNvCxnSpPr/>
            <p:nvPr/>
          </p:nvCxnSpPr>
          <p:spPr>
            <a:xfrm>
              <a:off x="974376" y="989441"/>
              <a:ext cx="5867327" cy="5867206"/>
            </a:xfrm>
            <a:prstGeom prst="straightConnector1">
              <a:avLst/>
            </a:prstGeom>
            <a:noFill/>
            <a:ln cap="flat" cmpd="sng" w="381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8" name="Google Shape;358;p52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  <a:defRPr sz="44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52"/>
          <p:cNvSpPr txBox="1"/>
          <p:nvPr>
            <p:ph idx="1" type="subTitle"/>
          </p:nvPr>
        </p:nvSpPr>
        <p:spPr>
          <a:xfrm>
            <a:off x="5896340" y="3423773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3240">
          <p15:clr>
            <a:srgbClr val="FBAE40"/>
          </p15:clr>
        </p15:guide>
        <p15:guide id="4" orient="horz" pos="2260">
          <p15:clr>
            <a:srgbClr val="FBAE40"/>
          </p15:clr>
        </p15:guide>
        <p15:guide id="5" pos="729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  <a:defRPr b="1" i="0" sz="4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2" name="Google Shape;12;p37"/>
          <p:cNvSpPr txBox="1"/>
          <p:nvPr>
            <p:ph idx="10" type="dt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3" name="Google Shape;1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4" name="Google Shape;14;p37"/>
          <p:cNvSpPr txBox="1"/>
          <p:nvPr>
            <p:ph idx="12" type="sldNum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76">
          <p15:clr>
            <a:srgbClr val="5ACBF0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pos="1272">
          <p15:clr>
            <a:srgbClr val="9FCC3B"/>
          </p15:clr>
        </p15:guide>
        <p15:guide id="6" pos="2544">
          <p15:clr>
            <a:srgbClr val="9FCC3B"/>
          </p15:clr>
        </p15:guide>
        <p15:guide id="7" pos="5112">
          <p15:clr>
            <a:srgbClr val="9FCC3B"/>
          </p15:clr>
        </p15:guide>
        <p15:guide id="8" pos="6408">
          <p15:clr>
            <a:srgbClr val="9FCC3B"/>
          </p15:clr>
        </p15:guide>
        <p15:guide id="9" pos="3940">
          <p15:clr>
            <a:srgbClr val="F26B43"/>
          </p15:clr>
        </p15:guide>
        <p15:guide id="10" pos="710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5" name="Google Shape;365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{B1730EBA-67B9-491F-9F30-EC18A82D5965}</a:tableStyleId>
              </a:tblPr>
              <a:tblGrid>
                <a:gridCol w="2024275"/>
                <a:gridCol w="289650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 28/01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Avenir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 17:20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venir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366" name="Google Shape;366;p1"/>
          <p:cNvSpPr txBox="1"/>
          <p:nvPr/>
        </p:nvSpPr>
        <p:spPr>
          <a:xfrm>
            <a:off x="1920233" y="3011068"/>
            <a:ext cx="9056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Seminario de Sistemas 2 </a:t>
            </a:r>
            <a:endParaRPr b="1" sz="3333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"/>
          <p:cNvSpPr txBox="1"/>
          <p:nvPr>
            <p:ph type="title"/>
          </p:nvPr>
        </p:nvSpPr>
        <p:spPr>
          <a:xfrm>
            <a:off x="4933950" y="429461"/>
            <a:ext cx="6343650" cy="2197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endParaRPr/>
          </a:p>
        </p:txBody>
      </p:sp>
      <p:sp>
        <p:nvSpPr>
          <p:cNvPr id="373" name="Google Shape;373;p2"/>
          <p:cNvSpPr txBox="1"/>
          <p:nvPr>
            <p:ph idx="1" type="body"/>
          </p:nvPr>
        </p:nvSpPr>
        <p:spPr>
          <a:xfrm>
            <a:off x="4938713" y="2627087"/>
            <a:ext cx="6338887" cy="3341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¿Qué es BI?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Datos para la toma de decisiones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Niveles de madurez analítica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Tipos de información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Introducción al análisis OLAP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Ventajas del análisis multidimensional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OLAP vs herramientas de visualización</a:t>
            </a:r>
            <a:endParaRPr/>
          </a:p>
        </p:txBody>
      </p:sp>
      <p:sp>
        <p:nvSpPr>
          <p:cNvPr id="374" name="Google Shape;374;p2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"/>
          <p:cNvSpPr txBox="1"/>
          <p:nvPr>
            <p:ph type="title"/>
          </p:nvPr>
        </p:nvSpPr>
        <p:spPr>
          <a:xfrm>
            <a:off x="4933950" y="429461"/>
            <a:ext cx="6343650" cy="26684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COMPETENCIAS QUE DESARROLLAREMOS</a:t>
            </a:r>
            <a:endParaRPr/>
          </a:p>
        </p:txBody>
      </p:sp>
      <p:sp>
        <p:nvSpPr>
          <p:cNvPr id="380" name="Google Shape;380;p3"/>
          <p:cNvSpPr txBox="1"/>
          <p:nvPr>
            <p:ph idx="1" type="body"/>
          </p:nvPr>
        </p:nvSpPr>
        <p:spPr>
          <a:xfrm>
            <a:off x="4938712" y="3299953"/>
            <a:ext cx="6338888" cy="2668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Diseña modelos de análisis multidimensional y cubos OLAP utilizando herramientas como Power BI y Excel para representar datos y facilitar la toma de decisiones en contextos empresariales.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81" name="Google Shape;381;p3"/>
          <p:cNvSpPr txBox="1"/>
          <p:nvPr>
            <p:ph idx="12" type="sldNum"/>
          </p:nvPr>
        </p:nvSpPr>
        <p:spPr>
          <a:xfrm>
            <a:off x="1096735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¿QUÉ ES EL BUSINESS INTELLIGENCE?</a:t>
            </a:r>
            <a:endParaRPr b="1" i="0" sz="48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Vista de ángulo bajo de edificios altos" id="388" name="Google Shape;388;p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" r="42" t="0"/>
          <a:stretch/>
        </p:blipFill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"/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90" name="Google Shape;390;p4"/>
          <p:cNvCxnSpPr/>
          <p:nvPr/>
        </p:nvCxnSpPr>
        <p:spPr>
          <a:xfrm>
            <a:off x="-97971" y="1909602"/>
            <a:ext cx="4160955" cy="4149155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1" name="Google Shape;391;p4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"/>
          <p:cNvSpPr txBox="1"/>
          <p:nvPr>
            <p:ph idx="1" type="body"/>
          </p:nvPr>
        </p:nvSpPr>
        <p:spPr>
          <a:xfrm>
            <a:off x="762000" y="2483041"/>
            <a:ext cx="6597650" cy="32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Business Intelligence (Inteligencia de Negocios) es una combinación de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análisis de negocios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minería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visualización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herramientas e infraestructura de datos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; que ayudan a empresas (negocios) a tomar decisiones basadas en los datos.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Es el uso de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Técnicas, Herramientas y Capacidades 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para generar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conocimiento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y que esta se transforme en buenas tomas de decisiones para ir un paso delante de la competencia. </a:t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98" name="Google Shape;398;p5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"/>
          <p:cNvSpPr txBox="1"/>
          <p:nvPr>
            <p:ph type="ctrTitle"/>
          </p:nvPr>
        </p:nvSpPr>
        <p:spPr>
          <a:xfrm>
            <a:off x="4714772" y="677918"/>
            <a:ext cx="7193570" cy="5389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rPr b="0"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ORIGINALMENTE, EL BUSINESS INTELLIGENCE TRADICIONAL SURGIÓ EN LA DÉCADA DE 1960 COMO UN </a:t>
            </a: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SISTEMA PARA COMPARTIR INFORMACIÓN ENTRE ORGANIZACIONES. </a:t>
            </a:r>
            <a:br>
              <a:rPr b="0"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</a:br>
            <a:br>
              <a:rPr b="0"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0"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EN LA DÉCADA DE 1980 SE DESARROLLÓ AÚN MÁS JUNTO CON LOS MODELOS INFORMÁTICOS. </a:t>
            </a:r>
            <a:r>
              <a:rPr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SE UTILIZÓ PARA TOMAR DECISIONES Y TRANSFORMAR DATOS EN INFORMACIÓN ANTES DE CONVERTIRSE EN UN PRODUCTO ESPECÍFICO DE LOS EQUIPOS DE BI</a:t>
            </a:r>
            <a:r>
              <a:rPr b="0" lang="en-US" sz="1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CON SOLUCIONES DE SERVICIO BASADAS EN TI.</a:t>
            </a:r>
            <a:endParaRPr b="0"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veni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QUE ES EL BI?</a:t>
            </a:r>
            <a:endParaRPr/>
          </a:p>
        </p:txBody>
      </p:sp>
      <p:sp>
        <p:nvSpPr>
          <p:cNvPr id="409" name="Google Shape;409;p7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7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Es mucho más que “algo” específico; es un término general que incluye los procesos y métodos para recopilar, almacenar y analizar datos de actividades u operaciones de negocios para optimizar el rendimiento. Todo eso se combina para crear una vista integral de una empresa y ayudar a las personas a tomar decisiones que sean mejores y más útiles. </a:t>
            </a:r>
            <a:endParaRPr/>
          </a:p>
        </p:txBody>
      </p:sp>
      <p:sp>
        <p:nvSpPr>
          <p:cNvPr id="411" name="Google Shape;411;p7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Minería de datos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Generación de informes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Metricas de rendimiento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Analisis descriptivos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Consultas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Visualización de datos 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Análisis visual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Preparación de datos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"/>
          <p:cNvSpPr txBox="1"/>
          <p:nvPr>
            <p:ph type="title"/>
          </p:nvPr>
        </p:nvSpPr>
        <p:spPr>
          <a:xfrm>
            <a:off x="771736" y="896112"/>
            <a:ext cx="93892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lang="en-US"/>
              <a:t>POR QUE IMPORTA?</a:t>
            </a:r>
            <a:endParaRPr/>
          </a:p>
        </p:txBody>
      </p:sp>
      <p:sp>
        <p:nvSpPr>
          <p:cNvPr id="417" name="Google Shape;417;p8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8"/>
          <p:cNvSpPr txBox="1"/>
          <p:nvPr>
            <p:ph idx="1" type="body"/>
          </p:nvPr>
        </p:nvSpPr>
        <p:spPr>
          <a:xfrm>
            <a:off x="771734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Los analistas pueden aprovechar las innumerables ventajas del Business Intelligence para </a:t>
            </a:r>
            <a:r>
              <a:rPr b="1" lang="en-US"/>
              <a:t>establecer valores de referencia de rendimiento y de la competencia.</a:t>
            </a:r>
            <a:r>
              <a:rPr lang="en-US"/>
              <a:t> De esta manera, la organización podrá operar de manera más ágil y eficiente.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 txBox="1"/>
          <p:nvPr>
            <p:ph idx="2" type="body"/>
          </p:nvPr>
        </p:nvSpPr>
        <p:spPr>
          <a:xfrm>
            <a:off x="5645989" y="2590800"/>
            <a:ext cx="451503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Identificar maneras de aumentar los beneficios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Analizar el comportamiento de los clientes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Comparar los datos con la información de la competencia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Hacer un seguimiento del rendimiento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Optimizar las operaciones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Predecir el éxito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Identificar las tendencias del mercado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Detectar los inconvenientes o problemas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/>
          <p:nvPr>
            <p:ph type="ctrTitle"/>
          </p:nvPr>
        </p:nvSpPr>
        <p:spPr>
          <a:xfrm>
            <a:off x="4974771" y="576943"/>
            <a:ext cx="5924877" cy="27855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ANALIZA EL PASADO PARA SACAR INFORMACIÓN</a:t>
            </a:r>
            <a:endParaRPr/>
          </a:p>
        </p:txBody>
      </p:sp>
      <p:sp>
        <p:nvSpPr>
          <p:cNvPr id="426" name="Google Shape;426;p9"/>
          <p:cNvSpPr txBox="1"/>
          <p:nvPr>
            <p:ph idx="1" type="subTitle"/>
          </p:nvPr>
        </p:nvSpPr>
        <p:spPr>
          <a:xfrm>
            <a:off x="4974772" y="3373686"/>
            <a:ext cx="6449785" cy="1029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Analítica descriptiva y diagnóstica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27" name="Google Shape;427;p9"/>
          <p:cNvSpPr txBox="1"/>
          <p:nvPr>
            <p:ph idx="12" type="sldNum"/>
          </p:nvPr>
        </p:nvSpPr>
        <p:spPr>
          <a:xfrm>
            <a:off x="11123295" y="6352847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0"/>
          <p:cNvSpPr txBox="1"/>
          <p:nvPr>
            <p:ph type="title"/>
          </p:nvPr>
        </p:nvSpPr>
        <p:spPr>
          <a:xfrm>
            <a:off x="771736" y="896112"/>
            <a:ext cx="4279235" cy="1252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BUSINESS </a:t>
            </a:r>
            <a:b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INTELLIGENCE</a:t>
            </a:r>
            <a:endParaRPr/>
          </a:p>
        </p:txBody>
      </p:sp>
      <p:sp>
        <p:nvSpPr>
          <p:cNvPr id="434" name="Google Shape;434;p10"/>
          <p:cNvSpPr txBox="1"/>
          <p:nvPr>
            <p:ph idx="1" type="body"/>
          </p:nvPr>
        </p:nvSpPr>
        <p:spPr>
          <a:xfrm>
            <a:off x="771524" y="2590800"/>
            <a:ext cx="4650867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Análisis descriptivo y diagnositco.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Analiza pasado y presente.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Nivel técnico medio.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Uso de SSIS, Power BI, Tableau, SQL </a:t>
            </a:r>
            <a:endParaRPr/>
          </a:p>
        </p:txBody>
      </p:sp>
      <p:sp>
        <p:nvSpPr>
          <p:cNvPr id="435" name="Google Shape;435;p10"/>
          <p:cNvSpPr txBox="1"/>
          <p:nvPr>
            <p:ph idx="2" type="body"/>
          </p:nvPr>
        </p:nvSpPr>
        <p:spPr>
          <a:xfrm>
            <a:off x="5646738" y="2590800"/>
            <a:ext cx="451485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Análisis predictivo/prescriptivo.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Analiza pasado y proyecta los datos.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Nivel técnico alto en estadística y programación.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Uso de Py, R, Jupyter, SQL.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6" name="Google Shape;436;p10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5764545" y="896112"/>
            <a:ext cx="4279235" cy="1252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7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venir"/>
              <a:buNone/>
            </a:pPr>
            <a:r>
              <a:rPr b="1" lang="en-US" sz="4400" cap="non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ANÁLISIS DE DATOS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2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44" name="Google Shape;4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3443" y="872899"/>
            <a:ext cx="5928859" cy="5486956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2"/>
          <p:cNvSpPr txBox="1"/>
          <p:nvPr>
            <p:ph type="title"/>
          </p:nvPr>
        </p:nvSpPr>
        <p:spPr>
          <a:xfrm>
            <a:off x="771736" y="871130"/>
            <a:ext cx="4678971" cy="1276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venir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QUE HACE DENTRO DE UNA ORGANIZACIÓN?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3"/>
          <p:cNvSpPr txBox="1"/>
          <p:nvPr>
            <p:ph type="title"/>
          </p:nvPr>
        </p:nvSpPr>
        <p:spPr>
          <a:xfrm>
            <a:off x="3520440" y="896111"/>
            <a:ext cx="7653528" cy="20393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AHORA HABLEMOS DE ANÁLISIS DE NEGOCIOS</a:t>
            </a:r>
            <a:endParaRPr/>
          </a:p>
        </p:txBody>
      </p:sp>
      <p:sp>
        <p:nvSpPr>
          <p:cNvPr id="452" name="Google Shape;452;p13"/>
          <p:cNvSpPr txBox="1"/>
          <p:nvPr>
            <p:ph idx="1" type="body"/>
          </p:nvPr>
        </p:nvSpPr>
        <p:spPr>
          <a:xfrm>
            <a:off x="3520440" y="3259056"/>
            <a:ext cx="2926080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BI ayuda a los usuarios a extraer conclusiones a partir del análisis de datos (Data Analytics). Los científicos de datos exploran en profundidad los aspectos específicos de los datos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3" name="Google Shape;453;p13"/>
          <p:cNvSpPr txBox="1"/>
          <p:nvPr>
            <p:ph idx="2" type="body"/>
          </p:nvPr>
        </p:nvSpPr>
        <p:spPr>
          <a:xfrm>
            <a:off x="6826432" y="3253740"/>
            <a:ext cx="4580088" cy="3006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Según el glosario de TI de Gartner,</a:t>
            </a: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“el análisis de negocios incluye la minería de datos, el análisis predictivo, el análisis aplicado y las estadísticas”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 En resumen, las organizaciones realizan Business Analytics, BA o análisis de negocios como parte de la estrategia de inteligencia de negocios de mayor escala.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54" name="Google Shape;454;p13"/>
          <p:cNvSpPr txBox="1"/>
          <p:nvPr>
            <p:ph idx="12" type="sldNum"/>
          </p:nvPr>
        </p:nvSpPr>
        <p:spPr>
          <a:xfrm>
            <a:off x="10949320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rgbClr val="3F3F3F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rgbClr val="3F3F3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 txBox="1"/>
          <p:nvPr>
            <p:ph type="title"/>
          </p:nvPr>
        </p:nvSpPr>
        <p:spPr>
          <a:xfrm>
            <a:off x="762000" y="896112"/>
            <a:ext cx="10668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BI TRADICIONAL VS MODERNO</a:t>
            </a:r>
            <a:endParaRPr/>
          </a:p>
        </p:txBody>
      </p:sp>
      <p:sp>
        <p:nvSpPr>
          <p:cNvPr id="461" name="Google Shape;461;p14"/>
          <p:cNvSpPr txBox="1"/>
          <p:nvPr>
            <p:ph idx="1" type="body"/>
          </p:nvPr>
        </p:nvSpPr>
        <p:spPr>
          <a:xfrm>
            <a:off x="762001" y="2417197"/>
            <a:ext cx="3842084" cy="3737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Históricamente, las herramientas de inteligencia de negocios seguían un modelo tradicional. Eso implicaba una metodología vertical, en la que </a:t>
            </a:r>
            <a:r>
              <a:rPr b="1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inteligencia empresarial era impulsada por la organización de TI</a:t>
            </a: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todas las preguntas de análisis, o la mayoría, se respondían con informes estáticos.</a:t>
            </a:r>
            <a:endParaRPr b="0" i="0" sz="1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462" name="Google Shape;462;p14"/>
          <p:cNvGraphicFramePr/>
          <p:nvPr/>
        </p:nvGraphicFramePr>
        <p:xfrm>
          <a:off x="5241925" y="24177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{F5EC9E08-EDD0-4F1F-803C-94330556F337}</a:tableStyleId>
              </a:tblPr>
              <a:tblGrid>
                <a:gridCol w="2979300"/>
                <a:gridCol w="2778400"/>
              </a:tblGrid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BI Tradicional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000000"/>
                          </a:solidFill>
                        </a:rPr>
                        <a:t>BI Moderno</a:t>
                      </a:r>
                      <a:endParaRPr b="1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Estático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Interactivo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Ciclos lentos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Rápida y cambiante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Colas largas de reproceso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Ciclos iterativos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Informes </a:t>
                      </a:r>
                      <a:endParaRPr b="0" i="0" sz="18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</a:rPr>
                        <a:t>Dashboards personalizados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63" name="Google Shape;463;p14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venir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SELF SERVICE BUSINESS INTELLIGENCE (SSBI) EN LA EMPRESA</a:t>
            </a:r>
            <a:endParaRPr b="1" i="0" sz="44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0" name="Google Shape;470;p15"/>
          <p:cNvSpPr txBox="1"/>
          <p:nvPr>
            <p:ph idx="1" type="body"/>
          </p:nvPr>
        </p:nvSpPr>
        <p:spPr>
          <a:xfrm>
            <a:off x="1552575" y="2481940"/>
            <a:ext cx="5844921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En la actualidad, cada vez más organizaciones están optando por un modelo de inteligencia de negocios moderno, caracterizado por una </a:t>
            </a:r>
            <a:r>
              <a:rPr b="1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metodología de autoservicio</a:t>
            </a: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 para abordar los datos. </a:t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71" name="Google Shape;471;p15"/>
          <p:cNvSpPr txBox="1"/>
          <p:nvPr>
            <p:ph idx="2" type="body"/>
          </p:nvPr>
        </p:nvSpPr>
        <p:spPr>
          <a:xfrm>
            <a:off x="8372723" y="2481940"/>
            <a:ext cx="3207772" cy="3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venir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Gestionada y administrada por TI</a:t>
            </a:r>
            <a:endParaRPr/>
          </a:p>
        </p:txBody>
      </p:sp>
      <p:sp>
        <p:nvSpPr>
          <p:cNvPr id="472" name="Google Shape;472;p15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NIVELES DE MADUREZ ANALÍTICA </a:t>
            </a:r>
            <a:endParaRPr/>
          </a:p>
        </p:txBody>
      </p:sp>
      <p:pic>
        <p:nvPicPr>
          <p:cNvPr descr="Vista de ángulo bajo de edificios altos" id="479" name="Google Shape;479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" r="42" t="0"/>
          <a:stretch/>
        </p:blipFill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6"/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481" name="Google Shape;481;p16"/>
          <p:cNvCxnSpPr/>
          <p:nvPr/>
        </p:nvCxnSpPr>
        <p:spPr>
          <a:xfrm>
            <a:off x="-97971" y="1909602"/>
            <a:ext cx="4160955" cy="4149155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2" name="Google Shape;482;p16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488" name="Google Shape;488;p17"/>
          <p:cNvGrpSpPr/>
          <p:nvPr/>
        </p:nvGrpSpPr>
        <p:grpSpPr>
          <a:xfrm>
            <a:off x="1087456" y="1"/>
            <a:ext cx="5014913" cy="6862763"/>
            <a:chOff x="2928938" y="-4763"/>
            <a:chExt cx="5014912" cy="6862763"/>
          </a:xfrm>
        </p:grpSpPr>
        <p:sp>
          <p:nvSpPr>
            <p:cNvPr id="489" name="Google Shape;489;p1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0" name="Google Shape;490;p1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1" name="Google Shape;491;p1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2" name="Google Shape;492;p1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3" name="Google Shape;493;p1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4" name="Google Shape;494;p1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495" name="Google Shape;495;p17"/>
          <p:cNvSpPr/>
          <p:nvPr/>
        </p:nvSpPr>
        <p:spPr>
          <a:xfrm>
            <a:off x="648929" y="667808"/>
            <a:ext cx="10894142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6" name="Google Shape;496;p17"/>
          <p:cNvSpPr txBox="1"/>
          <p:nvPr>
            <p:ph type="title"/>
          </p:nvPr>
        </p:nvSpPr>
        <p:spPr>
          <a:xfrm>
            <a:off x="1189702" y="1261872"/>
            <a:ext cx="314553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mpac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Principiante analítico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17"/>
          <p:cNvCxnSpPr/>
          <p:nvPr/>
        </p:nvCxnSpPr>
        <p:spPr>
          <a:xfrm>
            <a:off x="4654295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p17"/>
          <p:cNvSpPr txBox="1"/>
          <p:nvPr>
            <p:ph idx="1" type="body"/>
          </p:nvPr>
        </p:nvSpPr>
        <p:spPr>
          <a:xfrm>
            <a:off x="5007932" y="1261873"/>
            <a:ext cx="5951013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-285764" lvl="0" marL="2857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empresa o negocio está empezando a utilizar la analítica (ya llevan un tiempo en el mercado), se basa puramente en instinto y generación de informes estadísticos.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8940353" y="4078375"/>
            <a:ext cx="3088167" cy="305447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9207631" y="4489158"/>
            <a:ext cx="2553600" cy="2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1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Estadística crucial:</a:t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Cuando se comparan empresas que integran la inteligencia artificial (IA) y la analítica en sus operaciones, un 44 % de los líderes destaca una mayor productividad frente a solo un 20 % para los demás.</a:t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06" name="Google Shape;506;p18"/>
          <p:cNvGrpSpPr/>
          <p:nvPr/>
        </p:nvGrpSpPr>
        <p:grpSpPr>
          <a:xfrm>
            <a:off x="1087456" y="1"/>
            <a:ext cx="5014913" cy="6862763"/>
            <a:chOff x="2928938" y="-4763"/>
            <a:chExt cx="5014912" cy="6862763"/>
          </a:xfrm>
        </p:grpSpPr>
        <p:sp>
          <p:nvSpPr>
            <p:cNvPr id="507" name="Google Shape;507;p1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13" name="Google Shape;513;p18"/>
          <p:cNvSpPr/>
          <p:nvPr/>
        </p:nvSpPr>
        <p:spPr>
          <a:xfrm>
            <a:off x="648929" y="667808"/>
            <a:ext cx="10894142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4" name="Google Shape;514;p18"/>
          <p:cNvSpPr txBox="1"/>
          <p:nvPr>
            <p:ph type="title"/>
          </p:nvPr>
        </p:nvSpPr>
        <p:spPr>
          <a:xfrm>
            <a:off x="1189702" y="1261872"/>
            <a:ext cx="314553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mpac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Analítica localizada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5" name="Google Shape;515;p18"/>
          <p:cNvCxnSpPr/>
          <p:nvPr/>
        </p:nvCxnSpPr>
        <p:spPr>
          <a:xfrm>
            <a:off x="4654295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8"/>
          <p:cNvSpPr txBox="1"/>
          <p:nvPr>
            <p:ph idx="1" type="body"/>
          </p:nvPr>
        </p:nvSpPr>
        <p:spPr>
          <a:xfrm>
            <a:off x="5007932" y="1261873"/>
            <a:ext cx="5951013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-285764" lvl="0" marL="2857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 un más tiempo invertido y avance del negocio la empresa o negocio empieza a invertir en analítica y empieza a utilizarla para informar toma de decisiones específicas.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9384018" y="4093800"/>
            <a:ext cx="2775881" cy="2745599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27450" lIns="54900" spcFirstLastPara="1" rIns="54900" wrap="square" tIns="27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1"/>
              <a:buFont typeface="Arial"/>
              <a:buNone/>
            </a:pPr>
            <a:r>
              <a:t/>
            </a:r>
            <a:endParaRPr b="0" i="0" sz="1081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8" name="Google Shape;518;p18"/>
          <p:cNvSpPr txBox="1"/>
          <p:nvPr/>
        </p:nvSpPr>
        <p:spPr>
          <a:xfrm>
            <a:off x="9659827" y="4496478"/>
            <a:ext cx="2300800" cy="104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15"/>
              <a:buFont typeface="Open Sans"/>
              <a:buNone/>
            </a:pPr>
            <a:r>
              <a:rPr b="1" i="0" lang="en-US" sz="12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Estadística crucial:</a:t>
            </a:r>
            <a:endParaRPr b="0" i="0" sz="8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15"/>
              <a:buFont typeface="Open Sans"/>
              <a:buNone/>
            </a:pPr>
            <a:r>
              <a:rPr b="0" i="0" lang="en-US" sz="12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55 % de las organizaciones informa un aumento de su inversión en IA.</a:t>
            </a:r>
            <a:endParaRPr b="0" i="0" sz="1081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24" name="Google Shape;524;p19"/>
          <p:cNvGrpSpPr/>
          <p:nvPr/>
        </p:nvGrpSpPr>
        <p:grpSpPr>
          <a:xfrm>
            <a:off x="1087456" y="1"/>
            <a:ext cx="5014913" cy="6862763"/>
            <a:chOff x="2928938" y="-4763"/>
            <a:chExt cx="5014912" cy="6862763"/>
          </a:xfrm>
        </p:grpSpPr>
        <p:sp>
          <p:nvSpPr>
            <p:cNvPr id="525" name="Google Shape;525;p19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31" name="Google Shape;531;p19"/>
          <p:cNvSpPr/>
          <p:nvPr/>
        </p:nvSpPr>
        <p:spPr>
          <a:xfrm>
            <a:off x="648929" y="667808"/>
            <a:ext cx="10894142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2" name="Google Shape;532;p19"/>
          <p:cNvSpPr txBox="1"/>
          <p:nvPr>
            <p:ph type="title"/>
          </p:nvPr>
        </p:nvSpPr>
        <p:spPr>
          <a:xfrm>
            <a:off x="1189702" y="1261872"/>
            <a:ext cx="314553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mpac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Aspiraciones analíticas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3" name="Google Shape;533;p19"/>
          <p:cNvCxnSpPr/>
          <p:nvPr/>
        </p:nvCxnSpPr>
        <p:spPr>
          <a:xfrm>
            <a:off x="4654295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4" name="Google Shape;534;p19"/>
          <p:cNvSpPr txBox="1"/>
          <p:nvPr>
            <p:ph idx="1" type="body"/>
          </p:nvPr>
        </p:nvSpPr>
        <p:spPr>
          <a:xfrm>
            <a:off x="5007932" y="1261873"/>
            <a:ext cx="5951013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-285764" lvl="0" marL="2857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esta etapa la empresa ya aumenta el uso de la analítica debido a que ven las mejoras y beneficios que esta ofrece (se convierten en una empresa basada en datos)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9078678" y="3791800"/>
            <a:ext cx="3084312" cy="3050665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6" name="Google Shape;536;p19"/>
          <p:cNvSpPr txBox="1"/>
          <p:nvPr/>
        </p:nvSpPr>
        <p:spPr>
          <a:xfrm>
            <a:off x="9384793" y="4238720"/>
            <a:ext cx="2553680" cy="2025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1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Estadística crucial:</a:t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Solo un 91.9 % de las organizaciones citan la cultura, y no la tecnología, como la única barrera para convertirse en una empresa basada en datos.</a:t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42" name="Google Shape;542;p20"/>
          <p:cNvGrpSpPr/>
          <p:nvPr/>
        </p:nvGrpSpPr>
        <p:grpSpPr>
          <a:xfrm>
            <a:off x="1087456" y="1"/>
            <a:ext cx="5014913" cy="6862763"/>
            <a:chOff x="2928938" y="-4763"/>
            <a:chExt cx="5014912" cy="6862763"/>
          </a:xfrm>
        </p:grpSpPr>
        <p:sp>
          <p:nvSpPr>
            <p:cNvPr id="543" name="Google Shape;543;p20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49" name="Google Shape;549;p20"/>
          <p:cNvSpPr/>
          <p:nvPr/>
        </p:nvSpPr>
        <p:spPr>
          <a:xfrm>
            <a:off x="648929" y="667808"/>
            <a:ext cx="10894142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0" name="Google Shape;550;p20"/>
          <p:cNvSpPr txBox="1"/>
          <p:nvPr>
            <p:ph type="title"/>
          </p:nvPr>
        </p:nvSpPr>
        <p:spPr>
          <a:xfrm>
            <a:off x="1189702" y="1261872"/>
            <a:ext cx="314553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mpac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Empresas analíticas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20"/>
          <p:cNvCxnSpPr/>
          <p:nvPr/>
        </p:nvCxnSpPr>
        <p:spPr>
          <a:xfrm>
            <a:off x="4654295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20"/>
          <p:cNvSpPr txBox="1"/>
          <p:nvPr>
            <p:ph idx="1" type="body"/>
          </p:nvPr>
        </p:nvSpPr>
        <p:spPr>
          <a:xfrm>
            <a:off x="5007932" y="1261873"/>
            <a:ext cx="5951013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-285764" lvl="0" marL="2857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esta etapa la empresa o negocio ya ha adoptado de manera completa la analítica, todas las decisiones son impulsadas ampliamente por esta.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9078678" y="3791800"/>
            <a:ext cx="3084312" cy="3050665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4" name="Google Shape;554;p20"/>
          <p:cNvSpPr txBox="1"/>
          <p:nvPr/>
        </p:nvSpPr>
        <p:spPr>
          <a:xfrm>
            <a:off x="9384793" y="4238720"/>
            <a:ext cx="2553680" cy="2025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1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Estadística crucial:</a:t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Gartner estima que la mala calidad de los datos les cuesta a las organizaciones un promedio de USD 12.9 millones y ello afecta negativamente a la toma de decisiones.</a:t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560" name="Google Shape;560;p21"/>
          <p:cNvGrpSpPr/>
          <p:nvPr/>
        </p:nvGrpSpPr>
        <p:grpSpPr>
          <a:xfrm>
            <a:off x="1087456" y="1"/>
            <a:ext cx="5014913" cy="6862763"/>
            <a:chOff x="2928938" y="-4763"/>
            <a:chExt cx="5014912" cy="6862763"/>
          </a:xfrm>
        </p:grpSpPr>
        <p:sp>
          <p:nvSpPr>
            <p:cNvPr id="561" name="Google Shape;561;p21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2" name="Google Shape;562;p21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3" name="Google Shape;563;p21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4" name="Google Shape;564;p21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5" name="Google Shape;565;p21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6" name="Google Shape;566;p21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67" name="Google Shape;567;p21"/>
          <p:cNvSpPr/>
          <p:nvPr/>
        </p:nvSpPr>
        <p:spPr>
          <a:xfrm>
            <a:off x="648929" y="667808"/>
            <a:ext cx="10894142" cy="5580592"/>
          </a:xfrm>
          <a:prstGeom prst="rect">
            <a:avLst/>
          </a:prstGeom>
          <a:solidFill>
            <a:schemeClr val="dk2"/>
          </a:solidFill>
          <a:ln cap="sq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rotWithShape="0" algn="ctr">
              <a:srgbClr val="000000">
                <a:alpha val="40000"/>
              </a:srgbClr>
            </a:outerShdw>
          </a:effectLst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8" name="Google Shape;568;p21"/>
          <p:cNvSpPr txBox="1"/>
          <p:nvPr>
            <p:ph type="title"/>
          </p:nvPr>
        </p:nvSpPr>
        <p:spPr>
          <a:xfrm>
            <a:off x="1189702" y="1261872"/>
            <a:ext cx="3145536" cy="4334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Impact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Competidores analíticos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21"/>
          <p:cNvCxnSpPr/>
          <p:nvPr/>
        </p:nvCxnSpPr>
        <p:spPr>
          <a:xfrm>
            <a:off x="4654295" y="1920240"/>
            <a:ext cx="0" cy="3017520"/>
          </a:xfrm>
          <a:prstGeom prst="straightConnector1">
            <a:avLst/>
          </a:prstGeom>
          <a:noFill/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0" name="Google Shape;570;p21"/>
          <p:cNvSpPr txBox="1"/>
          <p:nvPr>
            <p:ph idx="1" type="body"/>
          </p:nvPr>
        </p:nvSpPr>
        <p:spPr>
          <a:xfrm>
            <a:off x="5007932" y="1261873"/>
            <a:ext cx="5951013" cy="4449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-285764" lvl="0" marL="28576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esta etapa ya no solo se utiliza la analítica para obtener una ventaja competitiva, sino busca revolucionar el sector.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9078678" y="3791800"/>
            <a:ext cx="3084312" cy="3050665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0450" lIns="60950" spcFirstLastPara="1" rIns="60950" wrap="square" tIns="30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2" name="Google Shape;572;p21"/>
          <p:cNvSpPr txBox="1"/>
          <p:nvPr/>
        </p:nvSpPr>
        <p:spPr>
          <a:xfrm>
            <a:off x="9384793" y="4238720"/>
            <a:ext cx="255368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1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Estadística crucial:</a:t>
            </a:r>
            <a:endParaRPr b="0" i="0" sz="6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14"/>
              <a:buFont typeface="Open Sans"/>
              <a:buNone/>
            </a:pPr>
            <a:r>
              <a:rPr b="0" i="0" lang="en-US" sz="13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empresas que pueden personalizar las ofertas “generan un 40 % más de ingresos que la media”.</a:t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 shot of a chart&#10;&#10;AI-generated content may be incorrect." id="577" name="Google Shape;5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947" y="892723"/>
            <a:ext cx="9802482" cy="5518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5734" y="526211"/>
            <a:ext cx="10281248" cy="5805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4"/>
          <p:cNvSpPr txBox="1"/>
          <p:nvPr>
            <p:ph type="title"/>
          </p:nvPr>
        </p:nvSpPr>
        <p:spPr>
          <a:xfrm>
            <a:off x="3807877" y="898524"/>
            <a:ext cx="7606895" cy="2029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QUE ES LA INFORMACIÓN?</a:t>
            </a:r>
            <a:endParaRPr/>
          </a:p>
        </p:txBody>
      </p:sp>
      <p:pic>
        <p:nvPicPr>
          <p:cNvPr descr="Mujer caminando en una oficina" id="589" name="Google Shape;589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5913" r="35913" t="0"/>
          <a:stretch/>
        </p:blipFill>
        <p:spPr>
          <a:xfrm>
            <a:off x="1011337" y="9212"/>
            <a:ext cx="2029967" cy="485054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4"/>
          <p:cNvSpPr txBox="1"/>
          <p:nvPr>
            <p:ph idx="1" type="body"/>
          </p:nvPr>
        </p:nvSpPr>
        <p:spPr>
          <a:xfrm>
            <a:off x="3803953" y="3259138"/>
            <a:ext cx="7615274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La información (general) es cualquier dato obtenido por una persona, independientemente de su forma de presentación.</a:t>
            </a:r>
            <a:endParaRPr b="0" i="0" sz="18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85750" lvl="0" marL="285750" marR="0" rtl="0" algn="l">
              <a:lnSpc>
                <a:spcPct val="625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Datos + Contexto </a:t>
            </a:r>
            <a:endParaRPr/>
          </a:p>
          <a:p>
            <a:pPr indent="0" lvl="0" marL="0" marR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592" name="Google Shape;592;p24"/>
          <p:cNvCxnSpPr/>
          <p:nvPr/>
        </p:nvCxnSpPr>
        <p:spPr>
          <a:xfrm flipH="1" rot="10800000">
            <a:off x="0" y="2824876"/>
            <a:ext cx="2011680" cy="7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3" name="Google Shape;593;p24"/>
          <p:cNvSpPr txBox="1"/>
          <p:nvPr>
            <p:ph idx="12" type="sldNum"/>
          </p:nvPr>
        </p:nvSpPr>
        <p:spPr>
          <a:xfrm>
            <a:off x="10962027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5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CÓMO SE DIVIDE LA INFORMACIÓN?</a:t>
            </a:r>
            <a:endParaRPr/>
          </a:p>
        </p:txBody>
      </p:sp>
      <p:graphicFrame>
        <p:nvGraphicFramePr>
          <p:cNvPr id="600" name="Google Shape;600;p25"/>
          <p:cNvGraphicFramePr/>
          <p:nvPr/>
        </p:nvGraphicFramePr>
        <p:xfrm>
          <a:off x="1632858" y="2388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{F5EC9E08-EDD0-4F1F-803C-94330556F337}</a:tableStyleId>
              </a:tblPr>
              <a:tblGrid>
                <a:gridCol w="3444225"/>
                <a:gridCol w="3253200"/>
                <a:gridCol w="2005850"/>
              </a:tblGrid>
              <a:tr h="78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Tipo de información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Ejemplo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Estructurada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organizados en tablas o bases de datos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Ventas por producto en Excel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No estructurada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sin formato definido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Correos, imágenes, videos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Semiestructurada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con cierta organización pero no tabular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Archivos XML, JSON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01" name="Google Shape;601;p25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CÓMO SE DIVIDE LA INFORMACIÓN?</a:t>
            </a:r>
            <a:endParaRPr/>
          </a:p>
        </p:txBody>
      </p:sp>
      <p:graphicFrame>
        <p:nvGraphicFramePr>
          <p:cNvPr id="608" name="Google Shape;608;p26"/>
          <p:cNvGraphicFramePr/>
          <p:nvPr/>
        </p:nvGraphicFramePr>
        <p:xfrm>
          <a:off x="1632858" y="2388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{F5EC9E08-EDD0-4F1F-803C-94330556F337}</a:tableStyleId>
              </a:tblPr>
              <a:tblGrid>
                <a:gridCol w="3444225"/>
                <a:gridCol w="3253200"/>
                <a:gridCol w="2005850"/>
              </a:tblGrid>
              <a:tr h="78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Tipo de información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Ejemplo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Interna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Generada dentro de la organización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Reportes financieros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Externa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Proviene del entorno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de mercado, redes sociales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09" name="Google Shape;609;p26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7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CÓMO SE DIVIDE LA INFORMACIÓN?</a:t>
            </a:r>
            <a:endParaRPr/>
          </a:p>
        </p:txBody>
      </p:sp>
      <p:graphicFrame>
        <p:nvGraphicFramePr>
          <p:cNvPr id="616" name="Google Shape;616;p27"/>
          <p:cNvGraphicFramePr/>
          <p:nvPr/>
        </p:nvGraphicFramePr>
        <p:xfrm>
          <a:off x="1632858" y="2388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{F5EC9E08-EDD0-4F1F-803C-94330556F337}</a:tableStyleId>
              </a:tblPr>
              <a:tblGrid>
                <a:gridCol w="3444225"/>
                <a:gridCol w="3253200"/>
                <a:gridCol w="2265150"/>
              </a:tblGrid>
              <a:tr h="78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Tipo de información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Ejemplo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8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Pública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Accesible para todos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Estadísticas gubernamentales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Privada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Acceso restringido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Datos personales de empleados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35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Confidencial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Altamente protegida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Fórmulas de productos, estrategias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17" name="Google Shape;617;p27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8"/>
          <p:cNvSpPr txBox="1"/>
          <p:nvPr>
            <p:ph type="ctrTitle"/>
          </p:nvPr>
        </p:nvSpPr>
        <p:spPr>
          <a:xfrm>
            <a:off x="4833694" y="544285"/>
            <a:ext cx="6594768" cy="3445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venir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OLAP</a:t>
            </a:r>
            <a:endParaRPr/>
          </a:p>
        </p:txBody>
      </p:sp>
      <p:pic>
        <p:nvPicPr>
          <p:cNvPr descr="Vista de ángulo bajo de edificios altos" id="624" name="Google Shape;624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" r="42" t="0"/>
          <a:stretch/>
        </p:blipFill>
        <p:spPr>
          <a:xfrm>
            <a:off x="0" y="-1"/>
            <a:ext cx="4076118" cy="6096678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28"/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626" name="Google Shape;626;p28"/>
          <p:cNvCxnSpPr/>
          <p:nvPr/>
        </p:nvCxnSpPr>
        <p:spPr>
          <a:xfrm>
            <a:off x="-97971" y="1909602"/>
            <a:ext cx="4160955" cy="4149155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27" name="Google Shape;627;p28"/>
          <p:cNvSpPr txBox="1"/>
          <p:nvPr>
            <p:ph idx="1" type="subTitle"/>
          </p:nvPr>
        </p:nvSpPr>
        <p:spPr>
          <a:xfrm>
            <a:off x="4829789" y="4130045"/>
            <a:ext cx="6594768" cy="1951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9"/>
          <p:cNvSpPr txBox="1"/>
          <p:nvPr>
            <p:ph type="title"/>
          </p:nvPr>
        </p:nvSpPr>
        <p:spPr>
          <a:xfrm>
            <a:off x="762001" y="378527"/>
            <a:ext cx="6589150" cy="1988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/>
              <a:t>¿QUÉ ES EL PROCESAMIENTO ANALÍTICO EN LÍNEA?</a:t>
            </a:r>
            <a:endParaRPr/>
          </a:p>
        </p:txBody>
      </p:sp>
      <p:sp>
        <p:nvSpPr>
          <p:cNvPr id="633" name="Google Shape;633;p29"/>
          <p:cNvSpPr txBox="1"/>
          <p:nvPr>
            <p:ph idx="12" type="sldNum"/>
          </p:nvPr>
        </p:nvSpPr>
        <p:spPr>
          <a:xfrm>
            <a:off x="11274091" y="635508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29"/>
          <p:cNvSpPr txBox="1"/>
          <p:nvPr>
            <p:ph idx="1" type="body"/>
          </p:nvPr>
        </p:nvSpPr>
        <p:spPr>
          <a:xfrm>
            <a:off x="575095" y="3058886"/>
            <a:ext cx="7790692" cy="3296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 </a:t>
            </a:r>
            <a:r>
              <a:rPr b="1" lang="en-US"/>
              <a:t>Toma de decisiones más rápida</a:t>
            </a:r>
            <a:r>
              <a:rPr lang="en-US"/>
              <a:t> OLAP acelera el análisis al integrar y precalcular datos, permitiendo respuestas inmediatas en entornos de alta demanda.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‍</a:t>
            </a:r>
            <a:r>
              <a:rPr b="1" lang="en-US"/>
              <a:t>Accesible para usuarios no técnicos</a:t>
            </a:r>
            <a:r>
              <a:rPr lang="en-US"/>
              <a:t> Permite que personal empresarial genere informes y análisis complejos sin necesidad de manejar bases de datos ni escribir código.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 </a:t>
            </a:r>
            <a:r>
              <a:rPr b="1" lang="en-US"/>
              <a:t>Vista de datos integrada</a:t>
            </a:r>
            <a:r>
              <a:rPr lang="en-US"/>
              <a:t> Ofrece una plataforma común para departamentos como marketing, finanzas y operaciones, favoreciendo una visión estratégica global. 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en-US"/>
              <a:t>Análisis hipotético y predictivo </a:t>
            </a:r>
            <a:r>
              <a:rPr lang="en-US"/>
              <a:t>Facilita la simulación de escenarios para evaluar el impacto de decisiones en diferentes áreas de la organización.</a:t>
            </a:r>
            <a:endParaRPr/>
          </a:p>
          <a:p>
            <a:pPr indent="0" lvl="0" marL="0" rtl="0" algn="l">
              <a:lnSpc>
                <a:spcPct val="11111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/>
              <a:t>¿COMO FUNCIONA OLAP?</a:t>
            </a:r>
            <a:endParaRPr/>
          </a:p>
        </p:txBody>
      </p:sp>
      <p:sp>
        <p:nvSpPr>
          <p:cNvPr id="640" name="Google Shape;640;p30"/>
          <p:cNvSpPr txBox="1"/>
          <p:nvPr>
            <p:ph idx="1" type="body"/>
          </p:nvPr>
        </p:nvSpPr>
        <p:spPr>
          <a:xfrm>
            <a:off x="1552575" y="2481940"/>
            <a:ext cx="9842253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/>
              <a:t>Recopilación de datos</a:t>
            </a:r>
            <a:r>
              <a:rPr lang="en-US"/>
              <a:t> </a:t>
            </a:r>
            <a:r>
              <a:rPr lang="en-US"/>
              <a:t>El servidor </a:t>
            </a:r>
            <a:r>
              <a:rPr lang="en-US"/>
              <a:t>OLAP obtiene información desde múltiples fuentes, como bases de datos relacionales y almacenes de datos.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/>
              <a:t>ETL – Extracción, Transformación y Carga</a:t>
            </a:r>
            <a:r>
              <a:rPr lang="en-US"/>
              <a:t> Las herramientas ETL depuran, integran y preparan los datos para almacenarlos en un cubo OLAP, según dimensiones específicas.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/>
              <a:t>Cubo OLAP</a:t>
            </a:r>
            <a:r>
              <a:rPr lang="en-US"/>
              <a:t> Contiene los datos ya precalculados y estructurados en forma multidimensional, facilitando consultas y análisis veloces.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/>
              <a:t>Análisis e informes</a:t>
            </a:r>
            <a:r>
              <a:rPr lang="en-US"/>
              <a:t> Los usuarios emplean herramientas OLAP para crear informes y realizar exploraciones complejas sin necesidad de conocimientos técnicos.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n-US"/>
              <a:t>Consultas MDX </a:t>
            </a:r>
            <a:r>
              <a:rPr lang="en-US"/>
              <a:t>El sistema utiliza Expresiones Multidimensionales (MDX), un lenguaje similar a SQL, para consultar y manipular los datos del cubo.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41" name="Google Shape;641;p30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1"/>
          <p:cNvSpPr txBox="1"/>
          <p:nvPr>
            <p:ph type="title"/>
          </p:nvPr>
        </p:nvSpPr>
        <p:spPr>
          <a:xfrm>
            <a:off x="764155" y="896112"/>
            <a:ext cx="106658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4E7F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rgbClr val="224E7F"/>
                </a:solidFill>
                <a:latin typeface="Avenir"/>
                <a:ea typeface="Avenir"/>
                <a:cs typeface="Avenir"/>
                <a:sym typeface="Avenir"/>
              </a:rPr>
              <a:t>¿CUÁLES SON LOS TIPOS DE OLAP?</a:t>
            </a:r>
            <a:endParaRPr b="1" i="0" sz="44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8" name="Google Shape;648;p31"/>
          <p:cNvSpPr txBox="1"/>
          <p:nvPr>
            <p:ph idx="12" type="sldNum"/>
          </p:nvPr>
        </p:nvSpPr>
        <p:spPr>
          <a:xfrm>
            <a:off x="1096817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sz="1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649" name="Google Shape;649;p31"/>
          <p:cNvGraphicFramePr/>
          <p:nvPr/>
        </p:nvGraphicFramePr>
        <p:xfrm>
          <a:off x="1078302" y="171090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{F5EC9E08-EDD0-4F1F-803C-94330556F337}</a:tableStyleId>
              </a:tblPr>
              <a:tblGrid>
                <a:gridCol w="2528275"/>
                <a:gridCol w="2528275"/>
                <a:gridCol w="2528275"/>
                <a:gridCol w="2528275"/>
              </a:tblGrid>
              <a:tr h="31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Características principales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Ventajas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Desventajas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</a:tr>
              <a:tr h="84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MOLAP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Utiliza un cubo multidimensional con datos precalculados almacenados en el hipercubo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Análisis rápido, excelente rendimiento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Menor flexibilidad, limitado para datos muy detallados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</a:tr>
              <a:tr h="71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ROLAP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Utiliza bases de datos relacionales, realiza consultas en tiempo real mediante SQL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Maneja grandes volúmenes de datos con gran detalle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Consultas más lentas, mayor carga de procesamiento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8E8"/>
                    </a:solidFill>
                  </a:tcPr>
                </a:tc>
              </a:tr>
              <a:tr h="84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b="1" lang="en-US" sz="1800"/>
                        <a:t>HOLAP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Combina MOLAP y ROLAP: cubo para datos agregados y base relacional para datos detallados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Equilibrio entre velocidad y capacidad de detalle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venir"/>
                        <a:buNone/>
                      </a:pPr>
                      <a:r>
                        <a:rPr lang="en-US" sz="1800"/>
                        <a:t>Más complejo de implementar y mantener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C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/>
              <a:t>QUE ES EL MODELADO DE DATOS EN OLAP</a:t>
            </a:r>
            <a:endParaRPr/>
          </a:p>
        </p:txBody>
      </p:sp>
      <p:sp>
        <p:nvSpPr>
          <p:cNvPr id="655" name="Google Shape;655;p32"/>
          <p:cNvSpPr txBox="1"/>
          <p:nvPr>
            <p:ph idx="1" type="body"/>
          </p:nvPr>
        </p:nvSpPr>
        <p:spPr>
          <a:xfrm>
            <a:off x="1552575" y="2481940"/>
            <a:ext cx="9842253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El modelado de datos en OLAP permite representar la información empresarial de forma </a:t>
            </a:r>
            <a:r>
              <a:rPr b="1" lang="en-US" sz="2000">
                <a:solidFill>
                  <a:schemeClr val="dk2"/>
                </a:solidFill>
              </a:rPr>
              <a:t>estructurada y multidimensional</a:t>
            </a:r>
            <a:r>
              <a:rPr lang="en-US" sz="2000">
                <a:solidFill>
                  <a:schemeClr val="dk2"/>
                </a:solidFill>
              </a:rPr>
              <a:t> para facilitar el análisis avanzado.</a:t>
            </a:r>
            <a:endParaRPr sz="2000">
              <a:solidFill>
                <a:schemeClr val="dk2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2"/>
                </a:solidFill>
              </a:rPr>
              <a:t>Se utiliza en sistemas OLAP, especialmente en </a:t>
            </a:r>
            <a:r>
              <a:rPr b="1" lang="en-US" sz="2000">
                <a:solidFill>
                  <a:schemeClr val="dk2"/>
                </a:solidFill>
              </a:rPr>
              <a:t>ROLAP</a:t>
            </a:r>
            <a:r>
              <a:rPr lang="en-US" sz="2000">
                <a:solidFill>
                  <a:schemeClr val="dk2"/>
                </a:solidFill>
              </a:rPr>
              <a:t>, para organizar datos directamente desde bases relacionales.</a:t>
            </a:r>
            <a:endParaRPr sz="2000">
              <a:solidFill>
                <a:schemeClr val="dk2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2"/>
                </a:solidFill>
              </a:rPr>
              <a:t>Los datos se almacenan siguiendo esquemas como el </a:t>
            </a:r>
            <a:r>
              <a:rPr b="1" lang="en-US" sz="2000">
                <a:solidFill>
                  <a:schemeClr val="dk2"/>
                </a:solidFill>
              </a:rPr>
              <a:t>esquema en estrella</a:t>
            </a:r>
            <a:r>
              <a:rPr lang="en-US" sz="2000">
                <a:solidFill>
                  <a:schemeClr val="dk2"/>
                </a:solidFill>
              </a:rPr>
              <a:t> y el </a:t>
            </a:r>
            <a:r>
              <a:rPr b="1" lang="en-US" sz="2000">
                <a:solidFill>
                  <a:schemeClr val="dk2"/>
                </a:solidFill>
              </a:rPr>
              <a:t>esquema de copo de nieve</a:t>
            </a:r>
            <a:r>
              <a:rPr lang="en-US" sz="2000">
                <a:solidFill>
                  <a:schemeClr val="dk2"/>
                </a:solidFill>
              </a:rPr>
              <a:t>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El modelo multidimensional agiliza el análisis, permite segmentar los datos y ejecutar consultas desde distintos puntos de vista</a:t>
            </a:r>
            <a:r>
              <a:rPr lang="en-US" sz="2000">
                <a:solidFill>
                  <a:schemeClr val="dk2"/>
                </a:solidFill>
              </a:rPr>
              <a:t>.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56" name="Google Shape;656;p32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3"/>
          <p:cNvSpPr txBox="1"/>
          <p:nvPr>
            <p:ph type="title"/>
          </p:nvPr>
        </p:nvSpPr>
        <p:spPr>
          <a:xfrm>
            <a:off x="1552574" y="896111"/>
            <a:ext cx="9866540" cy="1358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lang="en-US"/>
              <a:t>QUE ES EL MODELADO DE DATOS EN OLAP</a:t>
            </a:r>
            <a:endParaRPr/>
          </a:p>
        </p:txBody>
      </p:sp>
      <p:sp>
        <p:nvSpPr>
          <p:cNvPr id="662" name="Google Shape;662;p33"/>
          <p:cNvSpPr txBox="1"/>
          <p:nvPr>
            <p:ph idx="1" type="body"/>
          </p:nvPr>
        </p:nvSpPr>
        <p:spPr>
          <a:xfrm>
            <a:off x="1552575" y="2481940"/>
            <a:ext cx="9842253" cy="3635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Los analistas de negocios llevan a cabo varias operaciones analíticas básicas con un cubo multidimensional de procesamiento analítico en línea (</a:t>
            </a:r>
            <a:r>
              <a:rPr b="1" lang="en-US" sz="2000">
                <a:solidFill>
                  <a:schemeClr val="dk2"/>
                </a:solidFill>
              </a:rPr>
              <a:t>MOLAP</a:t>
            </a:r>
            <a:r>
              <a:rPr lang="en-US" sz="2000">
                <a:solidFill>
                  <a:schemeClr val="dk2"/>
                </a:solidFill>
              </a:rPr>
              <a:t>).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Consolidación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Profundización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División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Corte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</a:rPr>
              <a:t>Rotación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 txBox="1"/>
          <p:nvPr>
            <p:ph idx="12" type="sldNum"/>
          </p:nvPr>
        </p:nvSpPr>
        <p:spPr>
          <a:xfrm>
            <a:off x="11123295" y="6356350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9" name="Google Shape;669;p34"/>
          <p:cNvSpPr/>
          <p:nvPr/>
        </p:nvSpPr>
        <p:spPr>
          <a:xfrm flipH="1" rot="10800000">
            <a:off x="-1" y="-1"/>
            <a:ext cx="4403709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0" name="Google Shape;670;p34"/>
          <p:cNvSpPr txBox="1"/>
          <p:nvPr>
            <p:ph type="title"/>
          </p:nvPr>
        </p:nvSpPr>
        <p:spPr>
          <a:xfrm>
            <a:off x="535021" y="685800"/>
            <a:ext cx="26399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Impact"/>
              <a:buNone/>
            </a:pPr>
            <a:r>
              <a:rPr b="0" i="0" lang="en-US" sz="3734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373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1" name="Google Shape;671;p34"/>
          <p:cNvGrpSpPr/>
          <p:nvPr/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672" name="Google Shape;672;p3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678" name="Google Shape;678;p34"/>
          <p:cNvGrpSpPr/>
          <p:nvPr/>
        </p:nvGrpSpPr>
        <p:grpSpPr>
          <a:xfrm>
            <a:off x="5010150" y="819930"/>
            <a:ext cx="6492875" cy="4837141"/>
            <a:chOff x="0" y="201194"/>
            <a:chExt cx="9739312" cy="7255711"/>
          </a:xfrm>
        </p:grpSpPr>
        <p:sp>
          <p:nvSpPr>
            <p:cNvPr id="679" name="Google Shape;679;p34"/>
            <p:cNvSpPr/>
            <p:nvPr/>
          </p:nvSpPr>
          <p:spPr>
            <a:xfrm>
              <a:off x="0" y="201194"/>
              <a:ext cx="9739312" cy="235521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34"/>
            <p:cNvSpPr txBox="1"/>
            <p:nvPr/>
          </p:nvSpPr>
          <p:spPr>
            <a:xfrm>
              <a:off x="114972" y="316166"/>
              <a:ext cx="9509368" cy="212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orbe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Inteligencia de Negocios es una combinación de análisis de negocios, minería, visualización, herramientas e infraestructura de datos; que ayudan a empresas a tomar decisiones basadas en los datos.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0" y="2651444"/>
              <a:ext cx="9739312" cy="2355210"/>
            </a:xfrm>
            <a:prstGeom prst="roundRect">
              <a:avLst>
                <a:gd fmla="val 16667" name="adj"/>
              </a:avLst>
            </a:prstGeom>
            <a:solidFill>
              <a:srgbClr val="C6D245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34"/>
            <p:cNvSpPr txBox="1"/>
            <p:nvPr/>
          </p:nvSpPr>
          <p:spPr>
            <a:xfrm>
              <a:off x="114972" y="2766416"/>
              <a:ext cx="9509368" cy="212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orbe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Niveles de madurez analítica; principiante analítico, analítica localizada, aspiraciones analíticas, empresas analíticas y competidores analíticos.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0" y="5101695"/>
              <a:ext cx="9739312" cy="235521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34"/>
            <p:cNvSpPr txBox="1"/>
            <p:nvPr/>
          </p:nvSpPr>
          <p:spPr>
            <a:xfrm>
              <a:off x="114972" y="5216667"/>
              <a:ext cx="9509368" cy="21252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00"/>
                <a:buFont typeface="Corbel"/>
                <a:buNone/>
              </a:pPr>
              <a:r>
                <a:rPr b="0" i="0" lang="en-US" sz="22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La información es cualquier dato obtenido por una persona, independientemente de su forma de presentación.</a:t>
              </a:r>
              <a:endPara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9EAEA"/>
            </a:gs>
            <a:gs pos="100000">
              <a:srgbClr val="A3A5A6"/>
            </a:gs>
          </a:gsLst>
          <a:lin ang="5400000" scaled="0"/>
        </a:gra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EAEA"/>
              </a:gs>
              <a:gs pos="100000">
                <a:srgbClr val="A3A5A6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0" name="Google Shape;690;p35"/>
          <p:cNvSpPr/>
          <p:nvPr/>
        </p:nvSpPr>
        <p:spPr>
          <a:xfrm flipH="1" rot="10800000">
            <a:off x="-1" y="-1"/>
            <a:ext cx="4403709" cy="6858001"/>
          </a:xfrm>
          <a:custGeom>
            <a:rect b="b" l="l" r="r" t="t"/>
            <a:pathLst>
              <a:path extrusionOk="0" h="6858001" w="4403709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>
            <a:gsLst>
              <a:gs pos="0">
                <a:srgbClr val="636363"/>
              </a:gs>
              <a:gs pos="100000">
                <a:schemeClr val="dk1"/>
              </a:gs>
            </a:gsLst>
            <a:lin ang="5400000" scaled="0"/>
          </a:gradFill>
          <a:ln>
            <a:noFill/>
          </a:ln>
        </p:spPr>
        <p:txBody>
          <a:bodyPr anchorCtr="0" anchor="ctr" bIns="30450" lIns="60950" spcFirstLastPara="1" rIns="60950" wrap="square" tIns="30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1" name="Google Shape;691;p35"/>
          <p:cNvSpPr txBox="1"/>
          <p:nvPr>
            <p:ph type="title"/>
          </p:nvPr>
        </p:nvSpPr>
        <p:spPr>
          <a:xfrm>
            <a:off x="535021" y="685800"/>
            <a:ext cx="2639962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0450" lIns="60950" spcFirstLastPara="1" rIns="60950" wrap="square" tIns="304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Impact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VALOR y ACTITUD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2" name="Google Shape;692;p35"/>
          <p:cNvGrpSpPr/>
          <p:nvPr/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693" name="Google Shape;693;p3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4" name="Google Shape;694;p3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5" name="Google Shape;695;p3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6" name="Google Shape;696;p3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7" name="Google Shape;697;p3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98" name="Google Shape;698;p3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30450" lIns="60950" spcFirstLastPara="1" rIns="60950" wrap="square" tIns="30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699" name="Google Shape;699;p35"/>
          <p:cNvGrpSpPr/>
          <p:nvPr/>
        </p:nvGrpSpPr>
        <p:grpSpPr>
          <a:xfrm>
            <a:off x="5010150" y="826545"/>
            <a:ext cx="6492875" cy="4823909"/>
            <a:chOff x="0" y="211117"/>
            <a:chExt cx="9739312" cy="7235864"/>
          </a:xfrm>
        </p:grpSpPr>
        <p:sp>
          <p:nvSpPr>
            <p:cNvPr id="700" name="Google Shape;700;p35"/>
            <p:cNvSpPr/>
            <p:nvPr/>
          </p:nvSpPr>
          <p:spPr>
            <a:xfrm>
              <a:off x="0" y="521077"/>
              <a:ext cx="9739312" cy="1488374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5"/>
            <p:cNvSpPr txBox="1"/>
            <p:nvPr/>
          </p:nvSpPr>
          <p:spPr>
            <a:xfrm>
              <a:off x="0" y="521077"/>
              <a:ext cx="9739312" cy="148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fomenta al discutir qué es BI, motivando al estudiante a reflexionar sobre cómo se toman decisiones con datos y si dichas decisiones son objetivas o manipuladas.</a:t>
              </a:r>
              <a:endPara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2" name="Google Shape;702;p35"/>
            <p:cNvSpPr/>
            <p:nvPr/>
          </p:nvSpPr>
          <p:spPr>
            <a:xfrm>
              <a:off x="486965" y="211117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35"/>
            <p:cNvSpPr txBox="1"/>
            <p:nvPr/>
          </p:nvSpPr>
          <p:spPr>
            <a:xfrm>
              <a:off x="517227" y="241379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Pensamiento crítico</a:t>
              </a:r>
              <a:endPara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4" name="Google Shape;704;p35"/>
            <p:cNvSpPr/>
            <p:nvPr/>
          </p:nvSpPr>
          <p:spPr>
            <a:xfrm>
              <a:off x="0" y="2432812"/>
              <a:ext cx="9739312" cy="1190700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ABCD4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5"/>
            <p:cNvSpPr txBox="1"/>
            <p:nvPr/>
          </p:nvSpPr>
          <p:spPr>
            <a:xfrm>
              <a:off x="0" y="2432812"/>
              <a:ext cx="9739312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desarrolla al introducir el rol de los datos en la toma de decisiones organizacionales, promoviendo el uso ético y preciso de la información.</a:t>
              </a:r>
              <a:endPara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6" name="Google Shape;706;p35"/>
            <p:cNvSpPr/>
            <p:nvPr/>
          </p:nvSpPr>
          <p:spPr>
            <a:xfrm>
              <a:off x="486965" y="2122852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ABCD48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5"/>
            <p:cNvSpPr txBox="1"/>
            <p:nvPr/>
          </p:nvSpPr>
          <p:spPr>
            <a:xfrm>
              <a:off x="517227" y="2153114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Responsabilidad</a:t>
              </a:r>
              <a:endPara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0" y="4046872"/>
              <a:ext cx="9739312" cy="1488374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D7C9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35"/>
            <p:cNvSpPr txBox="1"/>
            <p:nvPr/>
          </p:nvSpPr>
          <p:spPr>
            <a:xfrm>
              <a:off x="0" y="4046872"/>
              <a:ext cx="9739312" cy="148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aplica al comparar los niveles de madurez analítica y tipos de información, lo cual exige una interpretación cuidadosa y estructurada del contenido.</a:t>
              </a:r>
              <a:endPara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486965" y="3736912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D7C942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5"/>
            <p:cNvSpPr txBox="1"/>
            <p:nvPr/>
          </p:nvSpPr>
          <p:spPr>
            <a:xfrm>
              <a:off x="517227" y="3767174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Rigor analítico</a:t>
              </a:r>
              <a:endPara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2" name="Google Shape;712;p35"/>
            <p:cNvSpPr/>
            <p:nvPr/>
          </p:nvSpPr>
          <p:spPr>
            <a:xfrm>
              <a:off x="0" y="5958607"/>
              <a:ext cx="9739312" cy="1488374"/>
            </a:xfrm>
            <a:prstGeom prst="rect">
              <a:avLst/>
            </a:prstGeom>
            <a:solidFill>
              <a:schemeClr val="lt1">
                <a:alpha val="89411"/>
              </a:schemeClr>
            </a:solidFill>
            <a:ln cap="rnd" cmpd="sng" w="15875">
              <a:solidFill>
                <a:srgbClr val="E19C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35"/>
            <p:cNvSpPr txBox="1"/>
            <p:nvPr/>
          </p:nvSpPr>
          <p:spPr>
            <a:xfrm>
              <a:off x="0" y="5958607"/>
              <a:ext cx="9739312" cy="1488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503900" spcFirstLastPara="1" rIns="503900" wrap="square" tIns="291575">
              <a:noAutofit/>
            </a:bodyPr>
            <a:lstStyle/>
            <a:p>
              <a:pPr indent="-152408" lvl="1" marL="15240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orbel"/>
                <a:buChar char="•"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rPr>
                <a:t>Se impulsa al presentar OLAP como enfoque innovador para modelar y analizar datos, ampliando el pensamiento del estudiante sobre herramientas más allá de Excel o reportes simples.</a:t>
              </a:r>
              <a:endPara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486965" y="5648647"/>
              <a:ext cx="6817518" cy="619920"/>
            </a:xfrm>
            <a:prstGeom prst="roundRect">
              <a:avLst>
                <a:gd fmla="val 16667" name="adj"/>
              </a:avLst>
            </a:prstGeom>
            <a:solidFill>
              <a:srgbClr val="E19C3D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0950" lIns="60950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r>
                <a:t/>
              </a:r>
              <a:endParaRPr b="0" i="0" sz="6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5"/>
            <p:cNvSpPr txBox="1"/>
            <p:nvPr/>
          </p:nvSpPr>
          <p:spPr>
            <a:xfrm>
              <a:off x="517227" y="5678909"/>
              <a:ext cx="6756994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71775" spcFirstLastPara="1" rIns="17177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orbe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Innovación</a:t>
              </a:r>
              <a:endParaRPr b="0" i="0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1300">
        <p14:pan dir="u"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"/>
          <p:cNvSpPr txBox="1"/>
          <p:nvPr>
            <p:ph type="ctrTitle"/>
          </p:nvPr>
        </p:nvSpPr>
        <p:spPr>
          <a:xfrm>
            <a:off x="5900245" y="544285"/>
            <a:ext cx="5528217" cy="268538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venir"/>
              <a:buNone/>
            </a:pPr>
            <a:r>
              <a:rPr b="1" i="0" lang="en-US" sz="44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MUCHAS GRACIAS</a:t>
            </a:r>
            <a:endParaRPr/>
          </a:p>
        </p:txBody>
      </p:sp>
      <p:sp>
        <p:nvSpPr>
          <p:cNvPr id="722" name="Google Shape;722;p36"/>
          <p:cNvSpPr txBox="1"/>
          <p:nvPr>
            <p:ph idx="1" type="subTitle"/>
          </p:nvPr>
        </p:nvSpPr>
        <p:spPr>
          <a:xfrm>
            <a:off x="5896340" y="3036527"/>
            <a:ext cx="5528217" cy="2029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¿Dudas?</a:t>
            </a:r>
            <a:endParaRPr b="0" i="0" sz="3200" u="none" cap="none" strike="noStrike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23" name="Google Shape;723;p36"/>
          <p:cNvSpPr txBox="1"/>
          <p:nvPr/>
        </p:nvSpPr>
        <p:spPr>
          <a:xfrm>
            <a:off x="5898629" y="4412104"/>
            <a:ext cx="572874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rsonalizar">
  <a:themeElements>
    <a:clrScheme name="Custom 74">
      <a:dk1>
        <a:srgbClr val="000000"/>
      </a:dk1>
      <a:lt1>
        <a:srgbClr val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2025-07-23T04:06:01Z</dcterms:created>
  <dc:creator>Gerhard Benjamin Ardon Valdez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0x010100136620AD586DB74D9B634F89107014C5</vt:lpwstr>
  </property>
</Properties>
</file>