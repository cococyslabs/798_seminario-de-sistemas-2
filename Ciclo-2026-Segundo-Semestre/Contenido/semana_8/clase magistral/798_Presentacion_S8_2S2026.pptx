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Geo"/>
      <p:regular r:id="rId18"/>
      <p: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aleway Light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  <p:embeddedFont>
      <p:font typeface="Open Sans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alewayLight-regular.fnt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Light-boldItalic.fntdata"/><Relationship Id="rId30" Type="http://schemas.openxmlformats.org/officeDocument/2006/relationships/font" Target="fonts/RalewayLight-italic.fntdata"/><Relationship Id="rId11" Type="http://schemas.openxmlformats.org/officeDocument/2006/relationships/slide" Target="slides/slide7.xml"/><Relationship Id="rId33" Type="http://schemas.openxmlformats.org/officeDocument/2006/relationships/font" Target="fonts/DMSans-bold.fntdata"/><Relationship Id="rId10" Type="http://schemas.openxmlformats.org/officeDocument/2006/relationships/slide" Target="slides/slide6.xml"/><Relationship Id="rId32" Type="http://schemas.openxmlformats.org/officeDocument/2006/relationships/font" Target="fonts/DMSans-regular.fntdata"/><Relationship Id="rId13" Type="http://schemas.openxmlformats.org/officeDocument/2006/relationships/slide" Target="slides/slide9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8.xml"/><Relationship Id="rId34" Type="http://schemas.openxmlformats.org/officeDocument/2006/relationships/font" Target="fonts/DMSans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Open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Geo-italic.fntdata"/><Relationship Id="rId18" Type="http://schemas.openxmlformats.org/officeDocument/2006/relationships/font" Target="fonts/Ge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a77188b10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fa77188b10_0_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a77188b10_0_7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9" name="Google Shape;39;g3fa77188b10_0_7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a77188b10_0_13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25" lIns="95225" spcFirstLastPara="1" rIns="95225" wrap="square" tIns="95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3" name="Google Shape;223;g3fa77188b10_0_13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6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6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174325" y="4600575"/>
            <a:ext cx="3645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" name="Google Shape;32;p6"/>
          <p:cNvGrpSpPr/>
          <p:nvPr/>
        </p:nvGrpSpPr>
        <p:grpSpPr>
          <a:xfrm>
            <a:off x="5406584" y="1065075"/>
            <a:ext cx="3553422" cy="526264"/>
            <a:chOff x="0" y="-47625"/>
            <a:chExt cx="1871700" cy="277200"/>
          </a:xfrm>
        </p:grpSpPr>
        <p:sp>
          <p:nvSpPr>
            <p:cNvPr id="33" name="Google Shape;33;p6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" name="Google Shape;34;p6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6"/>
          <p:cNvSpPr txBox="1"/>
          <p:nvPr/>
        </p:nvSpPr>
        <p:spPr>
          <a:xfrm>
            <a:off x="5477509" y="1226039"/>
            <a:ext cx="97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6852947" y="122564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09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>
            <a:off x="3679627" y="225000"/>
            <a:ext cx="4727700" cy="13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7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4068372" y="2092400"/>
            <a:ext cx="4809300" cy="2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Horarios Calificación Práctica 2</a:t>
            </a:r>
            <a:endParaRPr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 4</a:t>
            </a:r>
            <a:endParaRPr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33152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Orquestación de Pipelines con Apache Airflow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DAGs, automatización, dbt y operación de procesos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/>
          <p:nvPr/>
        </p:nvSpPr>
        <p:spPr>
          <a:xfrm>
            <a:off x="496119" y="525735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¿Qué es un Pipeline de Datos?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496119" y="1624310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956816" y="1672977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Secuencia organizada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956816" y="1979488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Una secuencia organizada de etapas que produce un resultado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496119" y="271663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956816" y="2765301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Automatización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956816" y="3071813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Permite ejecutar operaciones sin repetir manualmente sus instrucciones.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496119" y="3808958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956816" y="3857625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Orquestación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956816" y="4164137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Coordina varias operaciones considerando dependencias, condiciones y recursos.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Conceptos Clave: DAG, Tarea y Operador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1990055"/>
            <a:ext cx="1631305" cy="181890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3711997" y="2150864"/>
            <a:ext cx="1233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3711997" y="2514079"/>
            <a:ext cx="1233488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Grafo dirigido sin ciclos donde los nodos representan tareas y las aristas, dependencias.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052" y="1990055"/>
            <a:ext cx="1631379" cy="181890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/>
          <p:nvPr/>
        </p:nvSpPr>
        <p:spPr>
          <a:xfrm>
            <a:off x="5485061" y="2150864"/>
            <a:ext cx="12335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Task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485061" y="2514079"/>
            <a:ext cx="123356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Unidad de trabajo del flujo.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1190" y="1990055"/>
            <a:ext cx="1631379" cy="181890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7258199" y="2150864"/>
            <a:ext cx="12335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7258199" y="2514079"/>
            <a:ext cx="123356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Implementación reutilizable para un tipo de operación.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7807800" y="4689900"/>
            <a:ext cx="1336200" cy="4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Componentes de Apache Airflow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619" y="1507331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1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DAG Processor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642640" y="2263973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Procesa los archivos que definen los flujos.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6342" y="1507331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Scheduler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Decide cuándo programar tareas según el calendario y sus dependencias.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619" y="3269307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Executor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Determina el mecanismo con el que se ejecuta el trabajo programado.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6342" y="3269307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Workers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789363" y="4025950"/>
            <a:ext cx="371199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Ejecutan las tareas; su distribución depende del executor.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7807800" y="4689900"/>
            <a:ext cx="1336200" cy="4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496119" y="396255"/>
            <a:ext cx="8151763" cy="3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Programación, Intervalos y Reintentos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04" y="1001762"/>
            <a:ext cx="4948833" cy="36401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955966" y="3168823"/>
            <a:ext cx="1487005" cy="18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Calendario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2743676" y="2210532"/>
            <a:ext cx="1229257" cy="18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Zona horaria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184418" y="3062668"/>
            <a:ext cx="1110297" cy="37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Intervalo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2849419" y="3703732"/>
            <a:ext cx="1044207" cy="37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Inicio vs Periodo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1587117" y="1585990"/>
            <a:ext cx="912030" cy="185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Reintentos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7859" y="1620962"/>
            <a:ext cx="2684711" cy="803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6125840" y="1635249"/>
            <a:ext cx="2526729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Calendario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125840" y="1908721"/>
            <a:ext cx="2526729" cy="500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Expresa cuándo se generan ejecuciones programadas. Usar zona horaria explícita y fecha inicial fija.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7859" y="2582540"/>
            <a:ext cx="2684711" cy="63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6125840" y="2596828"/>
            <a:ext cx="2526729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Intervalo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6125840" y="2870299"/>
            <a:ext cx="2526729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El tiempo de inicio real y el periodo procesado son conceptos distintos.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7859" y="3377133"/>
            <a:ext cx="2684711" cy="64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/>
          <p:nvPr/>
        </p:nvSpPr>
        <p:spPr>
          <a:xfrm>
            <a:off x="6125840" y="3391421"/>
            <a:ext cx="2526729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Reintentos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6125840" y="3664893"/>
            <a:ext cx="2526729" cy="34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retries=2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permite dos reintentos después del intento inicial.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7807800" y="4689900"/>
            <a:ext cx="1336200" cy="4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494" y="375717"/>
            <a:ext cx="3293938" cy="43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/>
          <p:nvPr/>
        </p:nvSpPr>
        <p:spPr>
          <a:xfrm>
            <a:off x="496119" y="417835"/>
            <a:ext cx="4722763" cy="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650"/>
              <a:buFont typeface="Raleway"/>
              <a:buNone/>
            </a:pPr>
            <a:r>
              <a:rPr b="0" i="0" lang="en-US" sz="26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Ejemplo: Pipeline ETL de Ventas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455613"/>
            <a:ext cx="675605" cy="81066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1300460" y="1590675"/>
            <a:ext cx="391842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Extracción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1300460" y="1879029"/>
            <a:ext cx="391842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Extrae tres ventas incorporadas en el código.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266280"/>
            <a:ext cx="675605" cy="8106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/>
          <p:nvPr/>
        </p:nvSpPr>
        <p:spPr>
          <a:xfrm>
            <a:off x="1300460" y="2401342"/>
            <a:ext cx="391842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Transformación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1300460" y="2689696"/>
            <a:ext cx="391842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Calcula el total, valida reglas mínimas y escribe una salida JSON.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076947"/>
            <a:ext cx="675605" cy="980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/>
          <p:nvPr/>
        </p:nvSpPr>
        <p:spPr>
          <a:xfrm>
            <a:off x="1300460" y="3212009"/>
            <a:ext cx="391842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Validación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1300460" y="3500363"/>
            <a:ext cx="3918421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Contrato exige identificadores únicos, cantidades positivas y precios no negativos.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Integración con dbt, SQL y el Warehouse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20849"/>
            <a:ext cx="3986733" cy="398673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/>
          <p:nvPr/>
        </p:nvSpPr>
        <p:spPr>
          <a:xfrm>
            <a:off x="4665911" y="2456855"/>
            <a:ext cx="3986733" cy="11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Responsabilidades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4665911" y="2608734"/>
            <a:ext cx="4443933" cy="88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Airflow coordina el proceso completo; dbt administra las dependencias entre sus modelos.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4665911" y="2734940"/>
            <a:ext cx="3986733" cy="11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dbt build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4665911" y="2886819"/>
            <a:ext cx="4443933" cy="88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Ejecuta recursos seleccionados, incluidos modelos y pruebas, siguiendo su grafo de dependencias.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7807800" y="4689900"/>
            <a:ext cx="1336200" cy="4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496119" y="401389"/>
            <a:ext cx="8151763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50"/>
              <a:buFont typeface="Raleway"/>
              <a:buNone/>
            </a:pPr>
            <a:r>
              <a:rPr b="0" i="0" lang="en-US" sz="2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Monitoreo, Alertas y Manejo de Fallos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59632"/>
            <a:ext cx="2533278" cy="161314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5"/>
          <p:cNvSpPr/>
          <p:nvPr/>
        </p:nvSpPr>
        <p:spPr>
          <a:xfrm>
            <a:off x="1664717" y="2144985"/>
            <a:ext cx="196007" cy="24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41077" y="2586410"/>
            <a:ext cx="2243361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Estados de tarea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641077" y="2911004"/>
            <a:ext cx="2243361" cy="616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scheduled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running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up_for_retry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failed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upstream_failed</a:t>
            </a: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en-US" sz="10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skipped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9873" y="2059632"/>
            <a:ext cx="2533278" cy="16131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/>
          <p:nvPr/>
        </p:nvSpPr>
        <p:spPr>
          <a:xfrm>
            <a:off x="4318471" y="2144985"/>
            <a:ext cx="196007" cy="24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3294831" y="2586410"/>
            <a:ext cx="2243361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Logs recomendados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3294831" y="2911004"/>
            <a:ext cx="2243361" cy="602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Registrar periodo procesado, filas leídas, filas rechazadas y destino de salida.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6703" y="1125959"/>
            <a:ext cx="2645866" cy="26458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/>
          <p:nvPr/>
        </p:nvSpPr>
        <p:spPr>
          <a:xfrm>
            <a:off x="6006703" y="3907334"/>
            <a:ext cx="2645866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aleway"/>
              <a:buNone/>
            </a:pPr>
            <a:r>
              <a:rPr b="0" i="0" lang="en-US" sz="1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Recuperación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006703" y="4231928"/>
            <a:ext cx="2645866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Localizar el fallo, corregir la causa, limpiar el estado y verificar resultados.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103" y="369912"/>
            <a:ext cx="3302719" cy="44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496119" y="432271"/>
            <a:ext cx="472276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50"/>
              <a:buFont typeface="Raleway"/>
              <a:buNone/>
            </a:pPr>
            <a:r>
              <a:rPr b="0" i="0" lang="en-US" sz="2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Despliegue Local con Docker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96119" y="995437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 Light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496119" y="1195685"/>
            <a:ext cx="4722763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496119" y="1287363"/>
            <a:ext cx="4722763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496119" y="1552054"/>
            <a:ext cx="4722763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Docker con contenedores Linux y Docker Compose v2.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496119" y="1950095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 Light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496119" y="2150343"/>
            <a:ext cx="4722763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496119" y="2242021"/>
            <a:ext cx="4722763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Memoria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496119" y="2506712"/>
            <a:ext cx="4722763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Mínimo 4 GB de memoria para Docker; se recomienda 8 GB.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496119" y="2904753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 Light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96119" y="3105001"/>
            <a:ext cx="4722763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496119" y="3196679"/>
            <a:ext cx="4722763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Interfaz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496119" y="3461370"/>
            <a:ext cx="4722763" cy="195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Disponible en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http://localhost:8080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496119" y="3864173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 Light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496119" y="4064422"/>
            <a:ext cx="4722763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496119" y="4156100"/>
            <a:ext cx="4722763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Credenciales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496119" y="4420791"/>
            <a:ext cx="4722763" cy="195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Usuario y contraseña iniciales: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airflow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/>
          <p:nvPr/>
        </p:nvSpPr>
        <p:spPr>
          <a:xfrm>
            <a:off x="496119" y="1568500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Buenas Prácticas Operacionales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496119" y="2295004"/>
            <a:ext cx="2622724" cy="1279996"/>
          </a:xfrm>
          <a:prstGeom prst="roundRect">
            <a:avLst>
              <a:gd fmla="val 465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642640" y="2441525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Idempotencia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642640" y="2748037"/>
            <a:ext cx="232968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tareas deben tolerar reejecución, utilizar periodos identificables y evitar efectos secundarios.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3260601" y="2295004"/>
            <a:ext cx="2622724" cy="1279996"/>
          </a:xfrm>
          <a:prstGeom prst="roundRect">
            <a:avLst>
              <a:gd fmla="val 465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3407122" y="2441525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Bitácora de lote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3407122" y="2748037"/>
            <a:ext cx="232968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Conservar un registro con identificador de lote, periodo, estado, conteo y versión del 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6025083" y="2295004"/>
            <a:ext cx="2622724" cy="1279996"/>
          </a:xfrm>
          <a:prstGeom prst="roundRect">
            <a:avLst>
              <a:gd fmla="val 465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6171605" y="2441525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Publicación controlada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6171605" y="2748037"/>
            <a:ext cx="23296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 publicación debe depender de controles relevantes para 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8"/>
          <p:cNvGrpSpPr/>
          <p:nvPr/>
        </p:nvGrpSpPr>
        <p:grpSpPr>
          <a:xfrm>
            <a:off x="259002" y="2746744"/>
            <a:ext cx="2863842" cy="2220675"/>
            <a:chOff x="0" y="-47625"/>
            <a:chExt cx="1508476" cy="1169700"/>
          </a:xfrm>
        </p:grpSpPr>
        <p:sp>
          <p:nvSpPr>
            <p:cNvPr id="226" name="Google Shape;226;p18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7" name="Google Shape;227;p18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8"/>
          <p:cNvSpPr/>
          <p:nvPr/>
        </p:nvSpPr>
        <p:spPr>
          <a:xfrm>
            <a:off x="0" y="0"/>
            <a:ext cx="9144000" cy="515493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18"/>
          <p:cNvGrpSpPr/>
          <p:nvPr/>
        </p:nvGrpSpPr>
        <p:grpSpPr>
          <a:xfrm>
            <a:off x="5294729" y="975902"/>
            <a:ext cx="3553422" cy="526264"/>
            <a:chOff x="0" y="-47625"/>
            <a:chExt cx="1871700" cy="277200"/>
          </a:xfrm>
        </p:grpSpPr>
        <p:sp>
          <p:nvSpPr>
            <p:cNvPr id="230" name="Google Shape;230;p18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1" name="Google Shape;231;p18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8"/>
          <p:cNvGrpSpPr/>
          <p:nvPr/>
        </p:nvGrpSpPr>
        <p:grpSpPr>
          <a:xfrm>
            <a:off x="5294729" y="1394113"/>
            <a:ext cx="3553422" cy="488104"/>
            <a:chOff x="0" y="-47625"/>
            <a:chExt cx="1871700" cy="25710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4" name="Google Shape;234;p18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5" name="Google Shape;235;p18"/>
          <p:cNvCxnSpPr/>
          <p:nvPr/>
        </p:nvCxnSpPr>
        <p:spPr>
          <a:xfrm>
            <a:off x="6741091" y="1074067"/>
            <a:ext cx="0" cy="80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6" name="Google Shape;236;p18"/>
          <p:cNvGrpSpPr/>
          <p:nvPr/>
        </p:nvGrpSpPr>
        <p:grpSpPr>
          <a:xfrm>
            <a:off x="5294729" y="1773891"/>
            <a:ext cx="3553422" cy="526264"/>
            <a:chOff x="0" y="-47625"/>
            <a:chExt cx="1871700" cy="277200"/>
          </a:xfrm>
        </p:grpSpPr>
        <p:sp>
          <p:nvSpPr>
            <p:cNvPr id="237" name="Google Shape;237;p18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8" name="Google Shape;238;p18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9" name="Google Shape;239;p18"/>
          <p:cNvCxnSpPr/>
          <p:nvPr/>
        </p:nvCxnSpPr>
        <p:spPr>
          <a:xfrm>
            <a:off x="6741091" y="1872056"/>
            <a:ext cx="0" cy="4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8"/>
          <p:cNvGrpSpPr/>
          <p:nvPr/>
        </p:nvGrpSpPr>
        <p:grpSpPr>
          <a:xfrm>
            <a:off x="259003" y="808262"/>
            <a:ext cx="4648667" cy="526264"/>
            <a:chOff x="0" y="-47625"/>
            <a:chExt cx="2448600" cy="277200"/>
          </a:xfrm>
        </p:grpSpPr>
        <p:sp>
          <p:nvSpPr>
            <p:cNvPr id="241" name="Google Shape;241;p18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2" name="Google Shape;242;p18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18"/>
          <p:cNvGrpSpPr/>
          <p:nvPr/>
        </p:nvGrpSpPr>
        <p:grpSpPr>
          <a:xfrm>
            <a:off x="259003" y="1227823"/>
            <a:ext cx="4648667" cy="488104"/>
            <a:chOff x="0" y="-47625"/>
            <a:chExt cx="2448600" cy="257100"/>
          </a:xfrm>
        </p:grpSpPr>
        <p:sp>
          <p:nvSpPr>
            <p:cNvPr id="244" name="Google Shape;244;p18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5" name="Google Shape;245;p18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6" name="Google Shape;246;p18"/>
          <p:cNvCxnSpPr/>
          <p:nvPr/>
        </p:nvCxnSpPr>
        <p:spPr>
          <a:xfrm flipH="1">
            <a:off x="2454068" y="898678"/>
            <a:ext cx="2100" cy="419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p18"/>
          <p:cNvGrpSpPr/>
          <p:nvPr/>
        </p:nvGrpSpPr>
        <p:grpSpPr>
          <a:xfrm>
            <a:off x="259003" y="1606252"/>
            <a:ext cx="4648667" cy="693712"/>
            <a:chOff x="0" y="-47625"/>
            <a:chExt cx="2448600" cy="365400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9" name="Google Shape;249;p18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0" name="Google Shape;250;p18"/>
          <p:cNvCxnSpPr/>
          <p:nvPr/>
        </p:nvCxnSpPr>
        <p:spPr>
          <a:xfrm>
            <a:off x="2453907" y="1715846"/>
            <a:ext cx="2400" cy="58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8"/>
          <p:cNvCxnSpPr/>
          <p:nvPr/>
        </p:nvCxnSpPr>
        <p:spPr>
          <a:xfrm flipH="1">
            <a:off x="2454068" y="1313308"/>
            <a:ext cx="2100" cy="40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8"/>
          <p:cNvSpPr txBox="1"/>
          <p:nvPr/>
        </p:nvSpPr>
        <p:spPr>
          <a:xfrm>
            <a:off x="5383885" y="1136472"/>
            <a:ext cx="126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5469684" y="1535695"/>
            <a:ext cx="109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6741091" y="1136472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20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6741091" y="153569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327218" y="1934524"/>
            <a:ext cx="137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6741091" y="1934461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294184" y="965646"/>
            <a:ext cx="20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294184" y="1374167"/>
            <a:ext cx="205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2604036" y="968832"/>
            <a:ext cx="210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2604036" y="1369405"/>
            <a:ext cx="11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27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294184" y="1758709"/>
            <a:ext cx="20547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2560942" y="1870313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259000" y="2369150"/>
            <a:ext cx="858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294188" y="2888261"/>
            <a:ext cx="280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6" name="Google Shape;266;p18"/>
          <p:cNvGrpSpPr/>
          <p:nvPr/>
        </p:nvGrpSpPr>
        <p:grpSpPr>
          <a:xfrm>
            <a:off x="3178430" y="2746744"/>
            <a:ext cx="2891064" cy="2220675"/>
            <a:chOff x="0" y="-47625"/>
            <a:chExt cx="1522815" cy="1169700"/>
          </a:xfrm>
        </p:grpSpPr>
        <p:sp>
          <p:nvSpPr>
            <p:cNvPr id="267" name="Google Shape;267;p18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8" name="Google Shape;268;p18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8"/>
          <p:cNvGrpSpPr/>
          <p:nvPr/>
        </p:nvGrpSpPr>
        <p:grpSpPr>
          <a:xfrm>
            <a:off x="6126550" y="2746747"/>
            <a:ext cx="2721371" cy="2220675"/>
            <a:chOff x="0" y="-47625"/>
            <a:chExt cx="1505100" cy="1169700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1" name="Google Shape;271;p18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8"/>
          <p:cNvSpPr txBox="1"/>
          <p:nvPr/>
        </p:nvSpPr>
        <p:spPr>
          <a:xfrm>
            <a:off x="3223099" y="2867963"/>
            <a:ext cx="28032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6150547" y="2889275"/>
            <a:ext cx="28032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3210369" y="2888261"/>
            <a:ext cx="280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