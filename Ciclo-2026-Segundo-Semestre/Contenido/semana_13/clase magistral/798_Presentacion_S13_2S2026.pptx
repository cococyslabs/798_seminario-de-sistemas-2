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embeddedFontLst>
    <p:embeddedFont>
      <p:font typeface="Geo"/>
      <p:regular r:id="rId26"/>
      <p:italic r:id="rId27"/>
    </p:embeddedFont>
    <p:embeddedFont>
      <p:font typeface="Montserrat Medium"/>
      <p:regular r:id="rId28"/>
      <p:bold r:id="rId29"/>
      <p:italic r:id="rId30"/>
      <p:boldItalic r:id="rId31"/>
    </p:embeddedFont>
    <p:embeddedFont>
      <p:font typeface="Source Sans 3"/>
      <p:regular r:id="rId32"/>
      <p:bold r:id="rId33"/>
      <p:italic r:id="rId34"/>
      <p:boldItalic r:id="rId35"/>
    </p:embeddedFont>
    <p:embeddedFont>
      <p:font typeface="Lora"/>
      <p:regular r:id="rId36"/>
      <p:bold r:id="rId37"/>
      <p:italic r:id="rId38"/>
      <p:boldItalic r:id="rId39"/>
    </p:embeddedFont>
    <p:embeddedFont>
      <p:font typeface="Montserrat Light"/>
      <p:regular r:id="rId40"/>
      <p:bold r:id="rId41"/>
      <p:italic r:id="rId42"/>
      <p:boldItalic r:id="rId43"/>
    </p:embeddedFont>
    <p:embeddedFont>
      <p:font typeface="DM Sans"/>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jI3vmcvC62/vidB/EnZFlp5soq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Light-regular.fntdata"/><Relationship Id="rId42" Type="http://schemas.openxmlformats.org/officeDocument/2006/relationships/font" Target="fonts/MontserratLight-italic.fntdata"/><Relationship Id="rId41" Type="http://schemas.openxmlformats.org/officeDocument/2006/relationships/font" Target="fonts/MontserratLight-bold.fntdata"/><Relationship Id="rId44" Type="http://schemas.openxmlformats.org/officeDocument/2006/relationships/font" Target="fonts/DMSans-regular.fntdata"/><Relationship Id="rId43" Type="http://schemas.openxmlformats.org/officeDocument/2006/relationships/font" Target="fonts/MontserratLight-boldItalic.fntdata"/><Relationship Id="rId46" Type="http://schemas.openxmlformats.org/officeDocument/2006/relationships/font" Target="fonts/DMSans-italic.fntdata"/><Relationship Id="rId45" Type="http://schemas.openxmlformats.org/officeDocument/2006/relationships/font" Target="fonts/DM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DMSans-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boldItalic.fntdata"/><Relationship Id="rId30" Type="http://schemas.openxmlformats.org/officeDocument/2006/relationships/font" Target="fonts/MontserratMedium-italic.fntdata"/><Relationship Id="rId33" Type="http://schemas.openxmlformats.org/officeDocument/2006/relationships/font" Target="fonts/SourceSans3-bold.fntdata"/><Relationship Id="rId32" Type="http://schemas.openxmlformats.org/officeDocument/2006/relationships/font" Target="fonts/SourceSans3-regular.fntdata"/><Relationship Id="rId35" Type="http://schemas.openxmlformats.org/officeDocument/2006/relationships/font" Target="fonts/SourceSans3-boldItalic.fntdata"/><Relationship Id="rId34" Type="http://schemas.openxmlformats.org/officeDocument/2006/relationships/font" Target="fonts/SourceSans3-italic.fntdata"/><Relationship Id="rId37" Type="http://schemas.openxmlformats.org/officeDocument/2006/relationships/font" Target="fonts/Lora-bold.fntdata"/><Relationship Id="rId36" Type="http://schemas.openxmlformats.org/officeDocument/2006/relationships/font" Target="fonts/Lora-regular.fntdata"/><Relationship Id="rId39" Type="http://schemas.openxmlformats.org/officeDocument/2006/relationships/font" Target="fonts/Lora-boldItalic.fntdata"/><Relationship Id="rId38" Type="http://schemas.openxmlformats.org/officeDocument/2006/relationships/font" Target="fonts/Lora-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Geo-regular.fntdata"/><Relationship Id="rId25" Type="http://schemas.openxmlformats.org/officeDocument/2006/relationships/slide" Target="slides/slide20.xml"/><Relationship Id="rId28" Type="http://schemas.openxmlformats.org/officeDocument/2006/relationships/font" Target="fonts/MontserratMedium-regular.fntdata"/><Relationship Id="rId27" Type="http://schemas.openxmlformats.org/officeDocument/2006/relationships/font" Target="fonts/Geo-italic.fntdata"/><Relationship Id="rId29" Type="http://schemas.openxmlformats.org/officeDocument/2006/relationships/font" Target="fonts/MontserratMedium-bold.fntdata"/><Relationship Id="rId51" Type="http://schemas.openxmlformats.org/officeDocument/2006/relationships/font" Target="fonts/OpenSans-boldItalic.fntdata"/><Relationship Id="rId50" Type="http://schemas.openxmlformats.org/officeDocument/2006/relationships/font" Target="fonts/OpenSans-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71" name="Google Shape;71;p1: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0f47ba9f2cb7171_0_44:notes"/>
          <p:cNvSpPr txBox="1"/>
          <p:nvPr>
            <p:ph idx="1" type="body"/>
          </p:nvPr>
        </p:nvSpPr>
        <p:spPr>
          <a:xfrm>
            <a:off x="514350" y="4343400"/>
            <a:ext cx="4114800" cy="4114800"/>
          </a:xfrm>
          <a:prstGeom prst="rect">
            <a:avLst/>
          </a:prstGeom>
          <a:noFill/>
          <a:ln>
            <a:noFill/>
          </a:ln>
        </p:spPr>
        <p:txBody>
          <a:bodyPr anchorCtr="0" anchor="t" bIns="95225" lIns="95225" spcFirstLastPara="1" rIns="95225" wrap="square" tIns="95225">
            <a:noAutofit/>
          </a:bodyPr>
          <a:lstStyle/>
          <a:p>
            <a:pPr indent="0" lvl="0" marL="0" rtl="0" algn="l">
              <a:lnSpc>
                <a:spcPct val="100000"/>
              </a:lnSpc>
              <a:spcBef>
                <a:spcPts val="0"/>
              </a:spcBef>
              <a:spcAft>
                <a:spcPts val="0"/>
              </a:spcAft>
              <a:buSzPts val="1200"/>
              <a:buNone/>
            </a:pPr>
            <a:r>
              <a:t/>
            </a:r>
            <a:endParaRPr/>
          </a:p>
        </p:txBody>
      </p:sp>
      <p:sp>
        <p:nvSpPr>
          <p:cNvPr id="85" name="Google Shape;85;h30f47ba9f2cb7171_0_4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9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5" name="Google Shape;13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2" name="Google Shape;15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4" name="Google Shape;1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1" name="Google Shape;19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3" name="Google Shape;22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0" name="Google Shape;24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1" name="Google Shape;25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30f47ba9f2cb7171_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h30f47ba9f2cb7171_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8" name="Google Shape;278;h30f47ba9f2cb7171_0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5" name="Google Shape;28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07" name="Google Shape;30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8" name="Google Shape;32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53" name="Google Shape;35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80" name="Google Shape;38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4" name="Google Shape;394;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11" name="Google Shape;41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30f47ba9f2cb7171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h30f47ba9f2cb7171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38" name="Google Shape;438;h30f47ba9f2cb7171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 3">
    <p:spTree>
      <p:nvGrpSpPr>
        <p:cNvPr id="16" name="Shape 16"/>
        <p:cNvGrpSpPr/>
        <p:nvPr/>
      </p:nvGrpSpPr>
      <p:grpSpPr>
        <a:xfrm>
          <a:off x="0" y="0"/>
          <a:ext cx="0" cy="0"/>
          <a:chOff x="0" y="0"/>
          <a:chExt cx="0" cy="0"/>
        </a:xfrm>
      </p:grpSpPr>
      <p:sp>
        <p:nvSpPr>
          <p:cNvPr id="17" name="Google Shape;17;p21"/>
          <p:cNvSpPr txBox="1"/>
          <p:nvPr>
            <p:ph idx="10" type="dt"/>
          </p:nvPr>
        </p:nvSpPr>
        <p:spPr>
          <a:xfrm>
            <a:off x="228600" y="3178175"/>
            <a:ext cx="1066800" cy="1825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1" type="ftr"/>
          </p:nvPr>
        </p:nvSpPr>
        <p:spPr>
          <a:xfrm>
            <a:off x="1562100" y="3178175"/>
            <a:ext cx="1447800" cy="1825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2" type="sldNum"/>
          </p:nvPr>
        </p:nvSpPr>
        <p:spPr>
          <a:xfrm>
            <a:off x="3276600" y="3178175"/>
            <a:ext cx="1066800" cy="1825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20" name="Shape 20"/>
        <p:cNvGrpSpPr/>
        <p:nvPr/>
      </p:nvGrpSpPr>
      <p:grpSpPr>
        <a:xfrm>
          <a:off x="0" y="0"/>
          <a:ext cx="0" cy="0"/>
          <a:chOff x="0" y="0"/>
          <a:chExt cx="0" cy="0"/>
        </a:xfrm>
      </p:grpSpPr>
      <p:sp>
        <p:nvSpPr>
          <p:cNvPr id="21" name="Google Shape;21;p27"/>
          <p:cNvSpPr txBox="1"/>
          <p:nvPr>
            <p:ph idx="10" type="dt"/>
          </p:nvPr>
        </p:nvSpPr>
        <p:spPr>
          <a:xfrm>
            <a:off x="228600" y="3178175"/>
            <a:ext cx="1066800" cy="1827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700"/>
            </a:lvl1pPr>
            <a:lvl2pPr lvl="1" algn="l">
              <a:lnSpc>
                <a:spcPct val="100000"/>
              </a:lnSpc>
              <a:spcBef>
                <a:spcPts val="0"/>
              </a:spcBef>
              <a:spcAft>
                <a:spcPts val="0"/>
              </a:spcAft>
              <a:buSzPts val="1400"/>
              <a:buNone/>
              <a:defRPr sz="700"/>
            </a:lvl2pPr>
            <a:lvl3pPr lvl="2" algn="l">
              <a:lnSpc>
                <a:spcPct val="100000"/>
              </a:lnSpc>
              <a:spcBef>
                <a:spcPts val="0"/>
              </a:spcBef>
              <a:spcAft>
                <a:spcPts val="0"/>
              </a:spcAft>
              <a:buSzPts val="1400"/>
              <a:buNone/>
              <a:defRPr sz="700"/>
            </a:lvl3pPr>
            <a:lvl4pPr lvl="3" algn="l">
              <a:lnSpc>
                <a:spcPct val="100000"/>
              </a:lnSpc>
              <a:spcBef>
                <a:spcPts val="0"/>
              </a:spcBef>
              <a:spcAft>
                <a:spcPts val="0"/>
              </a:spcAft>
              <a:buSzPts val="1400"/>
              <a:buNone/>
              <a:defRPr sz="700"/>
            </a:lvl4pPr>
            <a:lvl5pPr lvl="4" algn="l">
              <a:lnSpc>
                <a:spcPct val="100000"/>
              </a:lnSpc>
              <a:spcBef>
                <a:spcPts val="0"/>
              </a:spcBef>
              <a:spcAft>
                <a:spcPts val="0"/>
              </a:spcAft>
              <a:buSzPts val="1400"/>
              <a:buNone/>
              <a:defRPr sz="700"/>
            </a:lvl5pPr>
            <a:lvl6pPr lvl="5" algn="l">
              <a:lnSpc>
                <a:spcPct val="100000"/>
              </a:lnSpc>
              <a:spcBef>
                <a:spcPts val="0"/>
              </a:spcBef>
              <a:spcAft>
                <a:spcPts val="0"/>
              </a:spcAft>
              <a:buSzPts val="1400"/>
              <a:buNone/>
              <a:defRPr sz="700"/>
            </a:lvl6pPr>
            <a:lvl7pPr lvl="6" algn="l">
              <a:lnSpc>
                <a:spcPct val="100000"/>
              </a:lnSpc>
              <a:spcBef>
                <a:spcPts val="0"/>
              </a:spcBef>
              <a:spcAft>
                <a:spcPts val="0"/>
              </a:spcAft>
              <a:buSzPts val="1400"/>
              <a:buNone/>
              <a:defRPr sz="700"/>
            </a:lvl7pPr>
            <a:lvl8pPr lvl="7" algn="l">
              <a:lnSpc>
                <a:spcPct val="100000"/>
              </a:lnSpc>
              <a:spcBef>
                <a:spcPts val="0"/>
              </a:spcBef>
              <a:spcAft>
                <a:spcPts val="0"/>
              </a:spcAft>
              <a:buSzPts val="1400"/>
              <a:buNone/>
              <a:defRPr sz="700"/>
            </a:lvl8pPr>
            <a:lvl9pPr lvl="8" algn="l">
              <a:lnSpc>
                <a:spcPct val="100000"/>
              </a:lnSpc>
              <a:spcBef>
                <a:spcPts val="0"/>
              </a:spcBef>
              <a:spcAft>
                <a:spcPts val="0"/>
              </a:spcAft>
              <a:buSzPts val="1400"/>
              <a:buNone/>
              <a:defRPr sz="700"/>
            </a:lvl9pPr>
          </a:lstStyle>
          <a:p/>
        </p:txBody>
      </p:sp>
      <p:sp>
        <p:nvSpPr>
          <p:cNvPr id="22" name="Google Shape;22;p27"/>
          <p:cNvSpPr txBox="1"/>
          <p:nvPr>
            <p:ph idx="11" type="ftr"/>
          </p:nvPr>
        </p:nvSpPr>
        <p:spPr>
          <a:xfrm>
            <a:off x="1562100" y="3178175"/>
            <a:ext cx="1447800" cy="1827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700"/>
            </a:lvl1pPr>
            <a:lvl2pPr lvl="1" algn="l">
              <a:lnSpc>
                <a:spcPct val="100000"/>
              </a:lnSpc>
              <a:spcBef>
                <a:spcPts val="0"/>
              </a:spcBef>
              <a:spcAft>
                <a:spcPts val="0"/>
              </a:spcAft>
              <a:buSzPts val="1400"/>
              <a:buNone/>
              <a:defRPr sz="700"/>
            </a:lvl2pPr>
            <a:lvl3pPr lvl="2" algn="l">
              <a:lnSpc>
                <a:spcPct val="100000"/>
              </a:lnSpc>
              <a:spcBef>
                <a:spcPts val="0"/>
              </a:spcBef>
              <a:spcAft>
                <a:spcPts val="0"/>
              </a:spcAft>
              <a:buSzPts val="1400"/>
              <a:buNone/>
              <a:defRPr sz="700"/>
            </a:lvl3pPr>
            <a:lvl4pPr lvl="3" algn="l">
              <a:lnSpc>
                <a:spcPct val="100000"/>
              </a:lnSpc>
              <a:spcBef>
                <a:spcPts val="0"/>
              </a:spcBef>
              <a:spcAft>
                <a:spcPts val="0"/>
              </a:spcAft>
              <a:buSzPts val="1400"/>
              <a:buNone/>
              <a:defRPr sz="700"/>
            </a:lvl4pPr>
            <a:lvl5pPr lvl="4" algn="l">
              <a:lnSpc>
                <a:spcPct val="100000"/>
              </a:lnSpc>
              <a:spcBef>
                <a:spcPts val="0"/>
              </a:spcBef>
              <a:spcAft>
                <a:spcPts val="0"/>
              </a:spcAft>
              <a:buSzPts val="1400"/>
              <a:buNone/>
              <a:defRPr sz="700"/>
            </a:lvl5pPr>
            <a:lvl6pPr lvl="5" algn="l">
              <a:lnSpc>
                <a:spcPct val="100000"/>
              </a:lnSpc>
              <a:spcBef>
                <a:spcPts val="0"/>
              </a:spcBef>
              <a:spcAft>
                <a:spcPts val="0"/>
              </a:spcAft>
              <a:buSzPts val="1400"/>
              <a:buNone/>
              <a:defRPr sz="700"/>
            </a:lvl6pPr>
            <a:lvl7pPr lvl="6" algn="l">
              <a:lnSpc>
                <a:spcPct val="100000"/>
              </a:lnSpc>
              <a:spcBef>
                <a:spcPts val="0"/>
              </a:spcBef>
              <a:spcAft>
                <a:spcPts val="0"/>
              </a:spcAft>
              <a:buSzPts val="1400"/>
              <a:buNone/>
              <a:defRPr sz="700"/>
            </a:lvl7pPr>
            <a:lvl8pPr lvl="7" algn="l">
              <a:lnSpc>
                <a:spcPct val="100000"/>
              </a:lnSpc>
              <a:spcBef>
                <a:spcPts val="0"/>
              </a:spcBef>
              <a:spcAft>
                <a:spcPts val="0"/>
              </a:spcAft>
              <a:buSzPts val="1400"/>
              <a:buNone/>
              <a:defRPr sz="700"/>
            </a:lvl8pPr>
            <a:lvl9pPr lvl="8" algn="l">
              <a:lnSpc>
                <a:spcPct val="100000"/>
              </a:lnSpc>
              <a:spcBef>
                <a:spcPts val="0"/>
              </a:spcBef>
              <a:spcAft>
                <a:spcPts val="0"/>
              </a:spcAft>
              <a:buSzPts val="1400"/>
              <a:buNone/>
              <a:defRPr sz="700"/>
            </a:lvl9pPr>
          </a:lstStyle>
          <a:p/>
        </p:txBody>
      </p:sp>
      <p:sp>
        <p:nvSpPr>
          <p:cNvPr id="23" name="Google Shape;23;p27"/>
          <p:cNvSpPr txBox="1"/>
          <p:nvPr>
            <p:ph idx="12" type="sldNum"/>
          </p:nvPr>
        </p:nvSpPr>
        <p:spPr>
          <a:xfrm>
            <a:off x="3276600" y="3178175"/>
            <a:ext cx="1066800" cy="1827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p:spTree>
      <p:nvGrpSpPr>
        <p:cNvPr id="24" name="Shape 24"/>
        <p:cNvGrpSpPr/>
        <p:nvPr/>
      </p:nvGrpSpPr>
      <p:grpSpPr>
        <a:xfrm>
          <a:off x="0" y="0"/>
          <a:ext cx="0" cy="0"/>
          <a:chOff x="0" y="0"/>
          <a:chExt cx="0" cy="0"/>
        </a:xfrm>
      </p:grpSpPr>
      <p:sp>
        <p:nvSpPr>
          <p:cNvPr id="25" name="Google Shape;25;p28"/>
          <p:cNvSpPr txBox="1"/>
          <p:nvPr>
            <p:ph idx="10" type="dt"/>
          </p:nvPr>
        </p:nvSpPr>
        <p:spPr>
          <a:xfrm>
            <a:off x="228600" y="3178175"/>
            <a:ext cx="1066800" cy="1827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700"/>
            </a:lvl1pPr>
            <a:lvl2pPr lvl="1" algn="l">
              <a:lnSpc>
                <a:spcPct val="100000"/>
              </a:lnSpc>
              <a:spcBef>
                <a:spcPts val="0"/>
              </a:spcBef>
              <a:spcAft>
                <a:spcPts val="0"/>
              </a:spcAft>
              <a:buSzPts val="1400"/>
              <a:buNone/>
              <a:defRPr sz="700"/>
            </a:lvl2pPr>
            <a:lvl3pPr lvl="2" algn="l">
              <a:lnSpc>
                <a:spcPct val="100000"/>
              </a:lnSpc>
              <a:spcBef>
                <a:spcPts val="0"/>
              </a:spcBef>
              <a:spcAft>
                <a:spcPts val="0"/>
              </a:spcAft>
              <a:buSzPts val="1400"/>
              <a:buNone/>
              <a:defRPr sz="700"/>
            </a:lvl3pPr>
            <a:lvl4pPr lvl="3" algn="l">
              <a:lnSpc>
                <a:spcPct val="100000"/>
              </a:lnSpc>
              <a:spcBef>
                <a:spcPts val="0"/>
              </a:spcBef>
              <a:spcAft>
                <a:spcPts val="0"/>
              </a:spcAft>
              <a:buSzPts val="1400"/>
              <a:buNone/>
              <a:defRPr sz="700"/>
            </a:lvl4pPr>
            <a:lvl5pPr lvl="4" algn="l">
              <a:lnSpc>
                <a:spcPct val="100000"/>
              </a:lnSpc>
              <a:spcBef>
                <a:spcPts val="0"/>
              </a:spcBef>
              <a:spcAft>
                <a:spcPts val="0"/>
              </a:spcAft>
              <a:buSzPts val="1400"/>
              <a:buNone/>
              <a:defRPr sz="700"/>
            </a:lvl5pPr>
            <a:lvl6pPr lvl="5" algn="l">
              <a:lnSpc>
                <a:spcPct val="100000"/>
              </a:lnSpc>
              <a:spcBef>
                <a:spcPts val="0"/>
              </a:spcBef>
              <a:spcAft>
                <a:spcPts val="0"/>
              </a:spcAft>
              <a:buSzPts val="1400"/>
              <a:buNone/>
              <a:defRPr sz="700"/>
            </a:lvl6pPr>
            <a:lvl7pPr lvl="6" algn="l">
              <a:lnSpc>
                <a:spcPct val="100000"/>
              </a:lnSpc>
              <a:spcBef>
                <a:spcPts val="0"/>
              </a:spcBef>
              <a:spcAft>
                <a:spcPts val="0"/>
              </a:spcAft>
              <a:buSzPts val="1400"/>
              <a:buNone/>
              <a:defRPr sz="700"/>
            </a:lvl7pPr>
            <a:lvl8pPr lvl="7" algn="l">
              <a:lnSpc>
                <a:spcPct val="100000"/>
              </a:lnSpc>
              <a:spcBef>
                <a:spcPts val="0"/>
              </a:spcBef>
              <a:spcAft>
                <a:spcPts val="0"/>
              </a:spcAft>
              <a:buSzPts val="1400"/>
              <a:buNone/>
              <a:defRPr sz="700"/>
            </a:lvl8pPr>
            <a:lvl9pPr lvl="8" algn="l">
              <a:lnSpc>
                <a:spcPct val="100000"/>
              </a:lnSpc>
              <a:spcBef>
                <a:spcPts val="0"/>
              </a:spcBef>
              <a:spcAft>
                <a:spcPts val="0"/>
              </a:spcAft>
              <a:buSzPts val="1400"/>
              <a:buNone/>
              <a:defRPr sz="700"/>
            </a:lvl9pPr>
          </a:lstStyle>
          <a:p/>
        </p:txBody>
      </p:sp>
      <p:sp>
        <p:nvSpPr>
          <p:cNvPr id="26" name="Google Shape;26;p28"/>
          <p:cNvSpPr txBox="1"/>
          <p:nvPr>
            <p:ph idx="11" type="ftr"/>
          </p:nvPr>
        </p:nvSpPr>
        <p:spPr>
          <a:xfrm>
            <a:off x="1562100" y="3178175"/>
            <a:ext cx="1447800" cy="1827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700"/>
            </a:lvl1pPr>
            <a:lvl2pPr lvl="1" algn="l">
              <a:lnSpc>
                <a:spcPct val="100000"/>
              </a:lnSpc>
              <a:spcBef>
                <a:spcPts val="0"/>
              </a:spcBef>
              <a:spcAft>
                <a:spcPts val="0"/>
              </a:spcAft>
              <a:buSzPts val="1400"/>
              <a:buNone/>
              <a:defRPr sz="700"/>
            </a:lvl2pPr>
            <a:lvl3pPr lvl="2" algn="l">
              <a:lnSpc>
                <a:spcPct val="100000"/>
              </a:lnSpc>
              <a:spcBef>
                <a:spcPts val="0"/>
              </a:spcBef>
              <a:spcAft>
                <a:spcPts val="0"/>
              </a:spcAft>
              <a:buSzPts val="1400"/>
              <a:buNone/>
              <a:defRPr sz="700"/>
            </a:lvl3pPr>
            <a:lvl4pPr lvl="3" algn="l">
              <a:lnSpc>
                <a:spcPct val="100000"/>
              </a:lnSpc>
              <a:spcBef>
                <a:spcPts val="0"/>
              </a:spcBef>
              <a:spcAft>
                <a:spcPts val="0"/>
              </a:spcAft>
              <a:buSzPts val="1400"/>
              <a:buNone/>
              <a:defRPr sz="700"/>
            </a:lvl4pPr>
            <a:lvl5pPr lvl="4" algn="l">
              <a:lnSpc>
                <a:spcPct val="100000"/>
              </a:lnSpc>
              <a:spcBef>
                <a:spcPts val="0"/>
              </a:spcBef>
              <a:spcAft>
                <a:spcPts val="0"/>
              </a:spcAft>
              <a:buSzPts val="1400"/>
              <a:buNone/>
              <a:defRPr sz="700"/>
            </a:lvl5pPr>
            <a:lvl6pPr lvl="5" algn="l">
              <a:lnSpc>
                <a:spcPct val="100000"/>
              </a:lnSpc>
              <a:spcBef>
                <a:spcPts val="0"/>
              </a:spcBef>
              <a:spcAft>
                <a:spcPts val="0"/>
              </a:spcAft>
              <a:buSzPts val="1400"/>
              <a:buNone/>
              <a:defRPr sz="700"/>
            </a:lvl6pPr>
            <a:lvl7pPr lvl="6" algn="l">
              <a:lnSpc>
                <a:spcPct val="100000"/>
              </a:lnSpc>
              <a:spcBef>
                <a:spcPts val="0"/>
              </a:spcBef>
              <a:spcAft>
                <a:spcPts val="0"/>
              </a:spcAft>
              <a:buSzPts val="1400"/>
              <a:buNone/>
              <a:defRPr sz="700"/>
            </a:lvl7pPr>
            <a:lvl8pPr lvl="7" algn="l">
              <a:lnSpc>
                <a:spcPct val="100000"/>
              </a:lnSpc>
              <a:spcBef>
                <a:spcPts val="0"/>
              </a:spcBef>
              <a:spcAft>
                <a:spcPts val="0"/>
              </a:spcAft>
              <a:buSzPts val="1400"/>
              <a:buNone/>
              <a:defRPr sz="700"/>
            </a:lvl8pPr>
            <a:lvl9pPr lvl="8" algn="l">
              <a:lnSpc>
                <a:spcPct val="100000"/>
              </a:lnSpc>
              <a:spcBef>
                <a:spcPts val="0"/>
              </a:spcBef>
              <a:spcAft>
                <a:spcPts val="0"/>
              </a:spcAft>
              <a:buSzPts val="1400"/>
              <a:buNone/>
              <a:defRPr sz="700"/>
            </a:lvl9pPr>
          </a:lstStyle>
          <a:p/>
        </p:txBody>
      </p:sp>
      <p:sp>
        <p:nvSpPr>
          <p:cNvPr id="27" name="Google Shape;27;p28"/>
          <p:cNvSpPr txBox="1"/>
          <p:nvPr>
            <p:ph idx="12" type="sldNum"/>
          </p:nvPr>
        </p:nvSpPr>
        <p:spPr>
          <a:xfrm>
            <a:off x="3276600" y="3178175"/>
            <a:ext cx="1066800" cy="1827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28" name="Shape 28"/>
        <p:cNvGrpSpPr/>
        <p:nvPr/>
      </p:nvGrpSpPr>
      <p:grpSpPr>
        <a:xfrm>
          <a:off x="0" y="0"/>
          <a:ext cx="0" cy="0"/>
          <a:chOff x="0" y="0"/>
          <a:chExt cx="0" cy="0"/>
        </a:xfrm>
      </p:grpSpPr>
      <p:sp>
        <p:nvSpPr>
          <p:cNvPr id="29" name="Google Shape;29;p29"/>
          <p:cNvSpPr/>
          <p:nvPr/>
        </p:nvSpPr>
        <p:spPr>
          <a:xfrm>
            <a:off x="0" y="0"/>
            <a:ext cx="9144000" cy="51435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30" name="Google Shape;30;p29"/>
          <p:cNvSpPr txBox="1"/>
          <p:nvPr>
            <p:ph type="ctrTitle"/>
          </p:nvPr>
        </p:nvSpPr>
        <p:spPr>
          <a:xfrm>
            <a:off x="4808537" y="166839"/>
            <a:ext cx="1083627" cy="3078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 type="subTitle"/>
          </p:nvPr>
        </p:nvSpPr>
        <p:spPr>
          <a:xfrm>
            <a:off x="1371600" y="2880360"/>
            <a:ext cx="6400800" cy="3424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225">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 name="Shape 35"/>
        <p:cNvGrpSpPr/>
        <p:nvPr/>
      </p:nvGrpSpPr>
      <p:grpSpPr>
        <a:xfrm>
          <a:off x="0" y="0"/>
          <a:ext cx="0" cy="0"/>
          <a:chOff x="0" y="0"/>
          <a:chExt cx="0" cy="0"/>
        </a:xfrm>
      </p:grpSpPr>
      <p:sp>
        <p:nvSpPr>
          <p:cNvPr id="36" name="Google Shape;36;p30"/>
          <p:cNvSpPr/>
          <p:nvPr/>
        </p:nvSpPr>
        <p:spPr>
          <a:xfrm>
            <a:off x="0" y="0"/>
            <a:ext cx="9144000" cy="51435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37" name="Google Shape;37;p30"/>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 name="Shape 40"/>
        <p:cNvGrpSpPr/>
        <p:nvPr/>
      </p:nvGrpSpPr>
      <p:grpSpPr>
        <a:xfrm>
          <a:off x="0" y="0"/>
          <a:ext cx="0" cy="0"/>
          <a:chOff x="0" y="0"/>
          <a:chExt cx="0" cy="0"/>
        </a:xfrm>
      </p:grpSpPr>
      <p:sp>
        <p:nvSpPr>
          <p:cNvPr id="41" name="Google Shape;41;p31"/>
          <p:cNvSpPr/>
          <p:nvPr/>
        </p:nvSpPr>
        <p:spPr>
          <a:xfrm>
            <a:off x="0" y="0"/>
            <a:ext cx="9144000" cy="51435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42" name="Google Shape;42;p31"/>
          <p:cNvSpPr txBox="1"/>
          <p:nvPr>
            <p:ph type="title"/>
          </p:nvPr>
        </p:nvSpPr>
        <p:spPr>
          <a:xfrm>
            <a:off x="452748" y="147703"/>
            <a:ext cx="402907" cy="31845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1"/>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1"/>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1"/>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6" name="Shape 46"/>
        <p:cNvGrpSpPr/>
        <p:nvPr/>
      </p:nvGrpSpPr>
      <p:grpSpPr>
        <a:xfrm>
          <a:off x="0" y="0"/>
          <a:ext cx="0" cy="0"/>
          <a:chOff x="0" y="0"/>
          <a:chExt cx="0" cy="0"/>
        </a:xfrm>
      </p:grpSpPr>
      <p:sp>
        <p:nvSpPr>
          <p:cNvPr id="47" name="Google Shape;47;p32"/>
          <p:cNvSpPr txBox="1"/>
          <p:nvPr>
            <p:ph type="title"/>
          </p:nvPr>
        </p:nvSpPr>
        <p:spPr>
          <a:xfrm>
            <a:off x="452748" y="147703"/>
            <a:ext cx="402907" cy="31845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2"/>
          <p:cNvSpPr txBox="1"/>
          <p:nvPr>
            <p:ph idx="1" type="body"/>
          </p:nvPr>
        </p:nvSpPr>
        <p:spPr>
          <a:xfrm>
            <a:off x="452757" y="885582"/>
            <a:ext cx="3822700" cy="34245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225">
                <a:solidFill>
                  <a:schemeClr val="dk1"/>
                </a:solidFill>
                <a:latin typeface="Montserrat Medium"/>
                <a:ea typeface="Montserrat Medium"/>
                <a:cs typeface="Montserrat Medium"/>
                <a:sym typeface="Montserrat Medium"/>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32"/>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2"/>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2" name="Shape 52"/>
        <p:cNvGrpSpPr/>
        <p:nvPr/>
      </p:nvGrpSpPr>
      <p:grpSpPr>
        <a:xfrm>
          <a:off x="0" y="0"/>
          <a:ext cx="0" cy="0"/>
          <a:chOff x="0" y="0"/>
          <a:chExt cx="0" cy="0"/>
        </a:xfrm>
      </p:grpSpPr>
      <p:sp>
        <p:nvSpPr>
          <p:cNvPr id="53" name="Google Shape;53;p33"/>
          <p:cNvSpPr txBox="1"/>
          <p:nvPr>
            <p:ph type="title"/>
          </p:nvPr>
        </p:nvSpPr>
        <p:spPr>
          <a:xfrm>
            <a:off x="452748" y="147703"/>
            <a:ext cx="402907" cy="31845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3"/>
          <p:cNvSpPr txBox="1"/>
          <p:nvPr>
            <p:ph idx="1" type="body"/>
          </p:nvPr>
        </p:nvSpPr>
        <p:spPr>
          <a:xfrm>
            <a:off x="457200" y="1183006"/>
            <a:ext cx="3977640" cy="684803"/>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33"/>
          <p:cNvSpPr txBox="1"/>
          <p:nvPr>
            <p:ph idx="2" type="body"/>
          </p:nvPr>
        </p:nvSpPr>
        <p:spPr>
          <a:xfrm>
            <a:off x="4709160" y="1183006"/>
            <a:ext cx="3977640" cy="684803"/>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33"/>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3"/>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p:cSld name="BLANK_3">
    <p:spTree>
      <p:nvGrpSpPr>
        <p:cNvPr id="59" name="Shape 59"/>
        <p:cNvGrpSpPr/>
        <p:nvPr/>
      </p:nvGrpSpPr>
      <p:grpSpPr>
        <a:xfrm>
          <a:off x="0" y="0"/>
          <a:ext cx="0" cy="0"/>
          <a:chOff x="0" y="0"/>
          <a:chExt cx="0" cy="0"/>
        </a:xfrm>
      </p:grpSpPr>
      <p:sp>
        <p:nvSpPr>
          <p:cNvPr id="60" name="Google Shape;60;h30f47ba9f2cb7171_0_10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61" name="Google Shape;61;h30f47ba9f2cb7171_0_10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62" name="Google Shape;62;h30f47ba9f2cb7171_0_10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64" name="Shape 64"/>
        <p:cNvGrpSpPr/>
        <p:nvPr/>
      </p:nvGrpSpPr>
      <p:grpSpPr>
        <a:xfrm>
          <a:off x="0" y="0"/>
          <a:ext cx="0" cy="0"/>
          <a:chOff x="0" y="0"/>
          <a:chExt cx="0" cy="0"/>
        </a:xfrm>
      </p:grpSpPr>
      <p:sp>
        <p:nvSpPr>
          <p:cNvPr id="65" name="Google Shape;65;p23"/>
          <p:cNvSpPr/>
          <p:nvPr/>
        </p:nvSpPr>
        <p:spPr>
          <a:xfrm>
            <a:off x="0" y="0"/>
            <a:ext cx="9144000" cy="5143500"/>
          </a:xfrm>
          <a:prstGeom prst="rect">
            <a:avLst/>
          </a:prstGeom>
          <a:solidFill>
            <a:srgbClr val="181A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23"/>
          <p:cNvSpPr/>
          <p:nvPr/>
        </p:nvSpPr>
        <p:spPr>
          <a:xfrm>
            <a:off x="0" y="0"/>
            <a:ext cx="9144000" cy="5143500"/>
          </a:xfrm>
          <a:prstGeom prst="rect">
            <a:avLst/>
          </a:prstGeom>
          <a:solidFill>
            <a:srgbClr val="2528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7" name="Google Shape;67;p2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8" name="Shape 6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p:nvPr/>
        </p:nvSpPr>
        <p:spPr>
          <a:xfrm>
            <a:off x="0" y="0"/>
            <a:ext cx="9144000" cy="51435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7" name="Google Shape;7;p20"/>
          <p:cNvSpPr/>
          <p:nvPr/>
        </p:nvSpPr>
        <p:spPr>
          <a:xfrm>
            <a:off x="0" y="4676775"/>
            <a:ext cx="4342448" cy="13462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8" name="Google Shape;8;p20"/>
          <p:cNvSpPr/>
          <p:nvPr/>
        </p:nvSpPr>
        <p:spPr>
          <a:xfrm>
            <a:off x="7298748" y="4672014"/>
            <a:ext cx="1145540" cy="139382"/>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9" name="Google Shape;9;p20"/>
          <p:cNvSpPr/>
          <p:nvPr/>
        </p:nvSpPr>
        <p:spPr>
          <a:xfrm>
            <a:off x="4786122" y="4676775"/>
            <a:ext cx="2290763" cy="13462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10" name="Google Shape;10;p20"/>
          <p:cNvSpPr/>
          <p:nvPr/>
        </p:nvSpPr>
        <p:spPr>
          <a:xfrm>
            <a:off x="8555050" y="4672014"/>
            <a:ext cx="588962" cy="139382"/>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900" u="none" cap="none" strike="noStrike">
              <a:solidFill>
                <a:srgbClr val="000000"/>
              </a:solidFill>
              <a:latin typeface="Arial"/>
              <a:ea typeface="Arial"/>
              <a:cs typeface="Arial"/>
              <a:sym typeface="Arial"/>
            </a:endParaRPr>
          </a:p>
        </p:txBody>
      </p:sp>
      <p:sp>
        <p:nvSpPr>
          <p:cNvPr id="11" name="Google Shape;11;p20"/>
          <p:cNvSpPr txBox="1"/>
          <p:nvPr>
            <p:ph type="title"/>
          </p:nvPr>
        </p:nvSpPr>
        <p:spPr>
          <a:xfrm>
            <a:off x="452748" y="147703"/>
            <a:ext cx="402907" cy="615553"/>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0"/>
          <p:cNvSpPr txBox="1"/>
          <p:nvPr>
            <p:ph idx="1" type="body"/>
          </p:nvPr>
        </p:nvSpPr>
        <p:spPr>
          <a:xfrm>
            <a:off x="452757" y="885583"/>
            <a:ext cx="3822700" cy="684803"/>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4450" u="none" cap="none" strike="noStrike">
                <a:solidFill>
                  <a:schemeClr val="dk1"/>
                </a:solidFill>
                <a:latin typeface="Montserrat Medium"/>
                <a:ea typeface="Montserrat Medium"/>
                <a:cs typeface="Montserrat Medium"/>
                <a:sym typeface="Montserrat Medium"/>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3" name="Google Shape;13;p20"/>
          <p:cNvSpPr txBox="1"/>
          <p:nvPr>
            <p:ph idx="11" type="ftr"/>
          </p:nvPr>
        </p:nvSpPr>
        <p:spPr>
          <a:xfrm>
            <a:off x="3108960" y="4783455"/>
            <a:ext cx="2926080" cy="1385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9pPr>
          </a:lstStyle>
          <a:p/>
        </p:txBody>
      </p:sp>
      <p:sp>
        <p:nvSpPr>
          <p:cNvPr id="14" name="Google Shape;14;p20"/>
          <p:cNvSpPr txBox="1"/>
          <p:nvPr>
            <p:ph idx="10" type="dt"/>
          </p:nvPr>
        </p:nvSpPr>
        <p:spPr>
          <a:xfrm>
            <a:off x="457200" y="4783455"/>
            <a:ext cx="2103120" cy="1385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900" u="none" cap="none" strike="noStrike">
                <a:solidFill>
                  <a:srgbClr val="000000"/>
                </a:solidFill>
                <a:latin typeface="Arial"/>
                <a:ea typeface="Arial"/>
                <a:cs typeface="Arial"/>
                <a:sym typeface="Arial"/>
              </a:defRPr>
            </a:lvl9pPr>
          </a:lstStyle>
          <a:p/>
        </p:txBody>
      </p:sp>
      <p:sp>
        <p:nvSpPr>
          <p:cNvPr id="15" name="Google Shape;15;p20"/>
          <p:cNvSpPr txBox="1"/>
          <p:nvPr>
            <p:ph idx="12" type="sldNum"/>
          </p:nvPr>
        </p:nvSpPr>
        <p:spPr>
          <a:xfrm>
            <a:off x="6583681" y="4783455"/>
            <a:ext cx="2103120" cy="1385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34.png"/><Relationship Id="rId7" Type="http://schemas.openxmlformats.org/officeDocument/2006/relationships/image" Target="../media/image12.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1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www.youtube.com/watch?v=7w7_QWPS9L8" TargetMode="External"/><Relationship Id="rId5"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24.jpg"/><Relationship Id="rId4" Type="http://schemas.openxmlformats.org/officeDocument/2006/relationships/image" Target="../media/image20.jpg"/><Relationship Id="rId5" Type="http://schemas.openxmlformats.org/officeDocument/2006/relationships/image" Target="../media/image28.jpg"/><Relationship Id="rId6" Type="http://schemas.openxmlformats.org/officeDocument/2006/relationships/image" Target="../media/image18.png"/><Relationship Id="rId7"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10.png"/><Relationship Id="rId8"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0.jpg"/><Relationship Id="rId4" Type="http://schemas.openxmlformats.org/officeDocument/2006/relationships/image" Target="../media/image14.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9.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2.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hyperlink" Target="http://www.youtube.com/watch?v=YuTHRfwTRjQ" TargetMode="External"/><Relationship Id="rId5"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74" name="Google Shape;74;p1"/>
          <p:cNvSpPr/>
          <p:nvPr/>
        </p:nvSpPr>
        <p:spPr>
          <a:xfrm>
            <a:off x="984925" y="1515076"/>
            <a:ext cx="7527936"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75" name="Google Shape;75;p1"/>
          <p:cNvSpPr txBox="1"/>
          <p:nvPr/>
        </p:nvSpPr>
        <p:spPr>
          <a:xfrm>
            <a:off x="2896307" y="3145566"/>
            <a:ext cx="3351450" cy="775597"/>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1200" u="none" cap="none" strike="noStrike">
                <a:solidFill>
                  <a:srgbClr val="000000"/>
                </a:solidFill>
                <a:latin typeface="Open Sans"/>
                <a:ea typeface="Open Sans"/>
                <a:cs typeface="Open Sans"/>
                <a:sym typeface="Open Sans"/>
              </a:rPr>
              <a:t>Escuela de Ingeniería de Ciencias Y Sistemas</a:t>
            </a:r>
            <a:endParaRPr b="0" i="0" sz="7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6" name="Google Shape;76;p1"/>
          <p:cNvSpPr txBox="1"/>
          <p:nvPr/>
        </p:nvSpPr>
        <p:spPr>
          <a:xfrm>
            <a:off x="144827" y="4777556"/>
            <a:ext cx="36459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a:latin typeface="Open Sans"/>
                <a:ea typeface="Open Sans"/>
                <a:cs typeface="Open Sans"/>
                <a:sym typeface="Open Sans"/>
              </a:rPr>
              <a:t>Javier Andrés Valdez González</a:t>
            </a:r>
            <a:endParaRPr b="0" i="0" sz="1400" u="none" cap="none" strike="noStrike">
              <a:solidFill>
                <a:srgbClr val="000000"/>
              </a:solidFill>
              <a:latin typeface="Arial"/>
              <a:ea typeface="Arial"/>
              <a:cs typeface="Arial"/>
              <a:sym typeface="Arial"/>
            </a:endParaRPr>
          </a:p>
        </p:txBody>
      </p:sp>
      <p:sp>
        <p:nvSpPr>
          <p:cNvPr id="77" name="Google Shape;77;p1"/>
          <p:cNvSpPr txBox="1"/>
          <p:nvPr/>
        </p:nvSpPr>
        <p:spPr>
          <a:xfrm>
            <a:off x="1452118" y="1900975"/>
            <a:ext cx="6593550" cy="711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2100" u="none" cap="none" strike="noStrike">
                <a:solidFill>
                  <a:srgbClr val="000000"/>
                </a:solidFill>
                <a:latin typeface="Open Sans"/>
                <a:ea typeface="Open Sans"/>
                <a:cs typeface="Open Sans"/>
                <a:sym typeface="Open Sans"/>
              </a:rPr>
              <a:t>SEMINARIO DE SISTEMAS 2 </a:t>
            </a:r>
            <a:r>
              <a:rPr b="1" lang="en-US" sz="2100">
                <a:latin typeface="Open Sans"/>
                <a:ea typeface="Open Sans"/>
                <a:cs typeface="Open Sans"/>
                <a:sym typeface="Open Sans"/>
              </a:rPr>
              <a:t>P</a:t>
            </a:r>
            <a:endParaRPr b="1" i="0" sz="2100" u="none" cap="none" strike="noStrike">
              <a:solidFill>
                <a:srgbClr val="000000"/>
              </a:solidFill>
              <a:latin typeface="Open Sans"/>
              <a:ea typeface="Open Sans"/>
              <a:cs typeface="Open Sans"/>
              <a:sym typeface="Open Sans"/>
            </a:endParaRPr>
          </a:p>
        </p:txBody>
      </p:sp>
      <p:grpSp>
        <p:nvGrpSpPr>
          <p:cNvPr id="78" name="Google Shape;78;p1"/>
          <p:cNvGrpSpPr/>
          <p:nvPr/>
        </p:nvGrpSpPr>
        <p:grpSpPr>
          <a:xfrm>
            <a:off x="5406584" y="1065079"/>
            <a:ext cx="3553329" cy="526250"/>
            <a:chOff x="0" y="-47625"/>
            <a:chExt cx="1871700" cy="277200"/>
          </a:xfrm>
        </p:grpSpPr>
        <p:sp>
          <p:nvSpPr>
            <p:cNvPr id="79" name="Google Shape;79;p1"/>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80" name="Google Shape;80;p1"/>
            <p:cNvSpPr txBox="1"/>
            <p:nvPr/>
          </p:nvSpPr>
          <p:spPr>
            <a:xfrm>
              <a:off x="0" y="-47625"/>
              <a:ext cx="1871700" cy="277200"/>
            </a:xfrm>
            <a:prstGeom prst="rect">
              <a:avLst/>
            </a:prstGeom>
            <a:noFill/>
            <a:ln>
              <a:noFill/>
            </a:ln>
          </p:spPr>
          <p:txBody>
            <a:bodyPr anchorCtr="0" anchor="ctr" bIns="25400" lIns="25400" spcFirstLastPara="1" rIns="25400" wrap="square" tIns="25400">
              <a:noAutofit/>
            </a:bodyPr>
            <a:lstStyle/>
            <a:p>
              <a:pPr indent="0" lvl="0" marL="0" marR="0" rtl="0" algn="ctr">
                <a:lnSpc>
                  <a:spcPct val="202222"/>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sp>
        <p:nvSpPr>
          <p:cNvPr id="81" name="Google Shape;81;p1"/>
          <p:cNvSpPr txBox="1"/>
          <p:nvPr/>
        </p:nvSpPr>
        <p:spPr>
          <a:xfrm>
            <a:off x="5477509" y="1226040"/>
            <a:ext cx="977550" cy="32316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500" u="none" cap="none" strike="noStrike">
                <a:solidFill>
                  <a:srgbClr val="000000"/>
                </a:solidFill>
                <a:latin typeface="DM Sans"/>
                <a:ea typeface="DM Sans"/>
                <a:cs typeface="DM Sans"/>
                <a:sym typeface="DM Sans"/>
              </a:rPr>
              <a:t>Día, Fecha: </a:t>
            </a:r>
            <a:endParaRPr b="0" i="0" sz="700" u="none" cap="none" strike="noStrike">
              <a:solidFill>
                <a:srgbClr val="000000"/>
              </a:solidFill>
              <a:latin typeface="Arial"/>
              <a:ea typeface="Arial"/>
              <a:cs typeface="Arial"/>
              <a:sym typeface="Arial"/>
            </a:endParaRPr>
          </a:p>
        </p:txBody>
      </p:sp>
      <p:sp>
        <p:nvSpPr>
          <p:cNvPr id="82" name="Google Shape;82;p1"/>
          <p:cNvSpPr txBox="1"/>
          <p:nvPr/>
        </p:nvSpPr>
        <p:spPr>
          <a:xfrm>
            <a:off x="6852947" y="1225645"/>
            <a:ext cx="2106900" cy="23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500" u="none" cap="none" strike="noStrike">
                <a:solidFill>
                  <a:srgbClr val="000000"/>
                </a:solidFill>
                <a:latin typeface="DM Sans"/>
                <a:ea typeface="DM Sans"/>
                <a:cs typeface="DM Sans"/>
                <a:sym typeface="DM Sans"/>
              </a:rPr>
              <a:t>Miércoles, </a:t>
            </a:r>
            <a:r>
              <a:rPr lang="en-US" sz="1500">
                <a:latin typeface="DM Sans"/>
                <a:ea typeface="DM Sans"/>
                <a:cs typeface="DM Sans"/>
                <a:sym typeface="DM Sans"/>
              </a:rPr>
              <a:t>21</a:t>
            </a:r>
            <a:r>
              <a:rPr b="0" i="0" lang="en-US" sz="1500" u="none" cap="none" strike="noStrike">
                <a:solidFill>
                  <a:srgbClr val="000000"/>
                </a:solidFill>
                <a:latin typeface="DM Sans"/>
                <a:ea typeface="DM Sans"/>
                <a:cs typeface="DM Sans"/>
                <a:sym typeface="DM Sans"/>
              </a:rPr>
              <a:t>/10/2026</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h30f47ba9f2cb7171_0_44"/>
          <p:cNvSpPr txBox="1"/>
          <p:nvPr/>
        </p:nvSpPr>
        <p:spPr>
          <a:xfrm>
            <a:off x="3679627" y="225000"/>
            <a:ext cx="4727700" cy="13311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1900"/>
              <a:buFont typeface="Arial"/>
              <a:buNone/>
            </a:pPr>
            <a:r>
              <a:rPr b="0" i="0" lang="en-US" sz="7500" u="none" cap="none" strike="noStrike">
                <a:solidFill>
                  <a:schemeClr val="dk1"/>
                </a:solidFill>
                <a:latin typeface="Arial"/>
                <a:ea typeface="Arial"/>
                <a:cs typeface="Arial"/>
                <a:sym typeface="Arial"/>
              </a:rPr>
              <a:t>Anuncios</a:t>
            </a:r>
            <a:endParaRPr b="0" i="0" sz="75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1900"/>
              <a:buFont typeface="Arial"/>
              <a:buNone/>
            </a:pPr>
            <a:r>
              <a:t/>
            </a:r>
            <a:endParaRPr b="0" i="0" sz="1900" u="none" cap="none" strike="noStrike">
              <a:solidFill>
                <a:srgbClr val="FFFFFF"/>
              </a:solidFill>
              <a:latin typeface="Geo"/>
              <a:ea typeface="Geo"/>
              <a:cs typeface="Geo"/>
              <a:sym typeface="Geo"/>
            </a:endParaRPr>
          </a:p>
        </p:txBody>
      </p:sp>
      <p:sp>
        <p:nvSpPr>
          <p:cNvPr id="88" name="Google Shape;88;h30f47ba9f2cb7171_0_44"/>
          <p:cNvSpPr txBox="1"/>
          <p:nvPr/>
        </p:nvSpPr>
        <p:spPr>
          <a:xfrm>
            <a:off x="4068372" y="2092400"/>
            <a:ext cx="4809300" cy="24015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800"/>
              <a:buFont typeface="Arial"/>
              <a:buNone/>
            </a:pPr>
            <a:r>
              <a:rPr lang="en-US" sz="3000">
                <a:solidFill>
                  <a:schemeClr val="dk1"/>
                </a:solidFill>
                <a:latin typeface="DM Sans"/>
                <a:ea typeface="DM Sans"/>
                <a:cs typeface="DM Sans"/>
                <a:sym typeface="DM Sans"/>
              </a:rPr>
              <a:t>C</a:t>
            </a:r>
            <a:r>
              <a:rPr b="0" i="0" lang="en-US" sz="3000" u="none" cap="none" strike="noStrike">
                <a:solidFill>
                  <a:schemeClr val="dk1"/>
                </a:solidFill>
                <a:latin typeface="DM Sans"/>
                <a:ea typeface="DM Sans"/>
                <a:cs typeface="DM Sans"/>
                <a:sym typeface="DM Sans"/>
              </a:rPr>
              <a:t>alificación proyecto </a:t>
            </a:r>
            <a:r>
              <a:rPr lang="en-US" sz="3000">
                <a:solidFill>
                  <a:schemeClr val="dk1"/>
                </a:solidFill>
                <a:latin typeface="DM Sans"/>
                <a:ea typeface="DM Sans"/>
                <a:cs typeface="DM Sans"/>
                <a:sym typeface="DM Sans"/>
              </a:rPr>
              <a:t>2</a:t>
            </a:r>
            <a:endParaRPr sz="30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1800"/>
              <a:buFont typeface="Arial"/>
              <a:buNone/>
            </a:pPr>
            <a:r>
              <a:rPr lang="en-US" sz="3000">
                <a:solidFill>
                  <a:schemeClr val="dk1"/>
                </a:solidFill>
                <a:latin typeface="DM Sans"/>
                <a:ea typeface="DM Sans"/>
                <a:cs typeface="DM Sans"/>
                <a:sym typeface="DM Sans"/>
              </a:rPr>
              <a:t>Examen final laboratorio</a:t>
            </a:r>
            <a:endParaRPr sz="30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1800"/>
              <a:buFont typeface="Arial"/>
              <a:buNone/>
            </a:pPr>
            <a:r>
              <a:t/>
            </a:r>
            <a:endParaRPr b="0" i="0" sz="3000" u="none" cap="none" strike="noStrike">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1800"/>
              <a:buFont typeface="Arial"/>
              <a:buNone/>
            </a:pPr>
            <a:r>
              <a:t/>
            </a:r>
            <a:endParaRPr b="0" i="0" sz="3000" u="none" cap="none" strike="noStrike">
              <a:solidFill>
                <a:schemeClr val="dk1"/>
              </a:solidFill>
              <a:latin typeface="DM Sans"/>
              <a:ea typeface="DM Sans"/>
              <a:cs typeface="DM Sans"/>
              <a:sym typeface="DM Sans"/>
            </a:endParaRPr>
          </a:p>
        </p:txBody>
      </p:sp>
      <p:pic>
        <p:nvPicPr>
          <p:cNvPr id="89" name="Google Shape;89;h30f47ba9f2cb7171_0_44"/>
          <p:cNvPicPr preferRelativeResize="0"/>
          <p:nvPr/>
        </p:nvPicPr>
        <p:blipFill rotWithShape="1">
          <a:blip r:embed="rId3">
            <a:alphaModFix/>
          </a:blip>
          <a:srcRect b="0" l="40533" r="24681" t="0"/>
          <a:stretch/>
        </p:blipFill>
        <p:spPr>
          <a:xfrm>
            <a:off x="0" y="0"/>
            <a:ext cx="3315288"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preencoded.png" id="95" name="Google Shape;95;p2"/>
          <p:cNvPicPr preferRelativeResize="0"/>
          <p:nvPr/>
        </p:nvPicPr>
        <p:blipFill rotWithShape="1">
          <a:blip r:embed="rId3">
            <a:alphaModFix/>
          </a:blip>
          <a:srcRect b="0" l="0" r="0" t="0"/>
          <a:stretch/>
        </p:blipFill>
        <p:spPr>
          <a:xfrm>
            <a:off x="5715000" y="0"/>
            <a:ext cx="3429000" cy="5144467"/>
          </a:xfrm>
          <a:prstGeom prst="rect">
            <a:avLst/>
          </a:prstGeom>
          <a:noFill/>
          <a:ln>
            <a:noFill/>
          </a:ln>
        </p:spPr>
      </p:pic>
      <p:sp>
        <p:nvSpPr>
          <p:cNvPr id="96" name="Google Shape;96;p2"/>
          <p:cNvSpPr/>
          <p:nvPr/>
        </p:nvSpPr>
        <p:spPr>
          <a:xfrm>
            <a:off x="523577" y="359941"/>
            <a:ext cx="712589" cy="195709"/>
          </a:xfrm>
          <a:prstGeom prst="roundRect">
            <a:avLst>
              <a:gd fmla="val 7901" name="adj"/>
            </a:avLst>
          </a:pr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2"/>
          <p:cNvSpPr/>
          <p:nvPr/>
        </p:nvSpPr>
        <p:spPr>
          <a:xfrm>
            <a:off x="600894" y="398562"/>
            <a:ext cx="1015157" cy="118467"/>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PARTE 1 DE 2</a:t>
            </a:r>
            <a:endParaRPr sz="800">
              <a:solidFill>
                <a:schemeClr val="dk1"/>
              </a:solidFill>
              <a:latin typeface="Calibri"/>
              <a:ea typeface="Calibri"/>
              <a:cs typeface="Calibri"/>
              <a:sym typeface="Calibri"/>
            </a:endParaRPr>
          </a:p>
        </p:txBody>
      </p:sp>
      <p:sp>
        <p:nvSpPr>
          <p:cNvPr id="98" name="Google Shape;98;p2"/>
          <p:cNvSpPr/>
          <p:nvPr/>
        </p:nvSpPr>
        <p:spPr>
          <a:xfrm>
            <a:off x="523577" y="606326"/>
            <a:ext cx="4667845" cy="757982"/>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2E75B5"/>
              </a:buClr>
              <a:buSzPts val="2350"/>
              <a:buFont typeface="Lora"/>
              <a:buNone/>
            </a:pPr>
            <a:r>
              <a:rPr lang="en-US" sz="2350">
                <a:solidFill>
                  <a:srgbClr val="2E75B5"/>
                </a:solidFill>
                <a:latin typeface="Lora"/>
                <a:ea typeface="Lora"/>
                <a:cs typeface="Lora"/>
                <a:sym typeface="Lora"/>
              </a:rPr>
              <a:t>Ciclo de Vida de un Proyecto de Datos</a:t>
            </a:r>
            <a:endParaRPr sz="2350">
              <a:solidFill>
                <a:srgbClr val="2E75B5"/>
              </a:solidFill>
              <a:latin typeface="Calibri"/>
              <a:ea typeface="Calibri"/>
              <a:cs typeface="Calibri"/>
              <a:sym typeface="Calibri"/>
            </a:endParaRPr>
          </a:p>
        </p:txBody>
      </p:sp>
      <p:sp>
        <p:nvSpPr>
          <p:cNvPr id="99" name="Google Shape;99;p2"/>
          <p:cNvSpPr/>
          <p:nvPr/>
        </p:nvSpPr>
        <p:spPr>
          <a:xfrm>
            <a:off x="523577" y="1554584"/>
            <a:ext cx="4667845" cy="1568946"/>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2E75B5"/>
              </a:buClr>
              <a:buSzPts val="3250"/>
              <a:buFont typeface="Lora"/>
              <a:buNone/>
            </a:pPr>
            <a:r>
              <a:rPr lang="en-US" sz="3250">
                <a:solidFill>
                  <a:srgbClr val="2E75B5"/>
                </a:solidFill>
                <a:latin typeface="Lora"/>
                <a:ea typeface="Lora"/>
                <a:cs typeface="Lora"/>
                <a:sym typeface="Lora"/>
              </a:rPr>
              <a:t>De una necesidad del negocio a una solución basada en datos</a:t>
            </a:r>
            <a:endParaRPr sz="3250">
              <a:solidFill>
                <a:srgbClr val="2E75B5"/>
              </a:solidFill>
              <a:latin typeface="Calibri"/>
              <a:ea typeface="Calibri"/>
              <a:cs typeface="Calibri"/>
              <a:sym typeface="Calibri"/>
            </a:endParaRPr>
          </a:p>
        </p:txBody>
      </p:sp>
      <p:sp>
        <p:nvSpPr>
          <p:cNvPr id="100" name="Google Shape;100;p2"/>
          <p:cNvSpPr/>
          <p:nvPr/>
        </p:nvSpPr>
        <p:spPr>
          <a:xfrm>
            <a:off x="523577" y="3313807"/>
            <a:ext cx="4667845" cy="613693"/>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Un proyecto de datos bien estructurado transforma preguntas del negocio en soluciones que generan valor real. Este marco guía cada etapa del proceso, desde la identificación del problema hasta la entrega de resultados accionables.</a:t>
            </a:r>
            <a:endParaRPr sz="1000">
              <a:solidFill>
                <a:schemeClr val="dk1"/>
              </a:solidFill>
              <a:latin typeface="Calibri"/>
              <a:ea typeface="Calibri"/>
              <a:cs typeface="Calibri"/>
              <a:sym typeface="Calibri"/>
            </a:endParaRPr>
          </a:p>
        </p:txBody>
      </p:sp>
      <p:sp>
        <p:nvSpPr>
          <p:cNvPr id="101" name="Google Shape;101;p2"/>
          <p:cNvSpPr/>
          <p:nvPr/>
        </p:nvSpPr>
        <p:spPr>
          <a:xfrm>
            <a:off x="523577" y="4070152"/>
            <a:ext cx="4667845" cy="714375"/>
          </a:xfrm>
          <a:prstGeom prst="roundRect">
            <a:avLst>
              <a:gd fmla="val 2706" name="adj"/>
            </a:avLst>
          </a:prstGeom>
          <a:solidFill>
            <a:srgbClr val="002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538135"/>
              </a:solidFill>
              <a:highlight>
                <a:srgbClr val="FFFF00"/>
              </a:highlight>
              <a:latin typeface="Calibri"/>
              <a:ea typeface="Calibri"/>
              <a:cs typeface="Calibri"/>
              <a:sym typeface="Calibri"/>
            </a:endParaRPr>
          </a:p>
        </p:txBody>
      </p:sp>
      <p:pic>
        <p:nvPicPr>
          <p:cNvPr descr="preencoded.png" id="102" name="Google Shape;102;p2"/>
          <p:cNvPicPr preferRelativeResize="0"/>
          <p:nvPr/>
        </p:nvPicPr>
        <p:blipFill rotWithShape="1">
          <a:blip r:embed="rId4">
            <a:alphaModFix/>
          </a:blip>
          <a:srcRect b="0" l="0" r="0" t="0"/>
          <a:stretch/>
        </p:blipFill>
        <p:spPr>
          <a:xfrm>
            <a:off x="652388" y="4251722"/>
            <a:ext cx="161032" cy="128811"/>
          </a:xfrm>
          <a:prstGeom prst="rect">
            <a:avLst/>
          </a:prstGeom>
          <a:noFill/>
          <a:ln>
            <a:noFill/>
          </a:ln>
        </p:spPr>
      </p:pic>
      <p:sp>
        <p:nvSpPr>
          <p:cNvPr id="103" name="Google Shape;103;p2"/>
          <p:cNvSpPr/>
          <p:nvPr/>
        </p:nvSpPr>
        <p:spPr>
          <a:xfrm>
            <a:off x="942231" y="4229100"/>
            <a:ext cx="4120381" cy="409129"/>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FFFFFF"/>
              </a:buClr>
              <a:buSzPts val="1000"/>
              <a:buFont typeface="Source Sans 3"/>
              <a:buNone/>
            </a:pPr>
            <a:r>
              <a:rPr b="1" lang="en-US" sz="1000">
                <a:solidFill>
                  <a:srgbClr val="FFFFFF"/>
                </a:solidFill>
                <a:latin typeface="Source Sans 3"/>
                <a:ea typeface="Source Sans 3"/>
                <a:cs typeface="Source Sans 3"/>
                <a:sym typeface="Source Sans 3"/>
              </a:rPr>
              <a:t>Mensaje clave:</a:t>
            </a:r>
            <a:r>
              <a:rPr lang="en-US" sz="1000">
                <a:solidFill>
                  <a:srgbClr val="FFFFFF"/>
                </a:solidFill>
                <a:latin typeface="Source Sans 3"/>
                <a:ea typeface="Source Sans 3"/>
                <a:cs typeface="Source Sans 3"/>
                <a:sym typeface="Source Sans 3"/>
              </a:rPr>
              <a:t> El proyecto de datos debe generar valor, no solo producir tecnología.</a:t>
            </a:r>
            <a:endParaRPr sz="1000">
              <a:solidFill>
                <a:schemeClr val="dk1"/>
              </a:solidFill>
              <a:latin typeface="Calibri"/>
              <a:ea typeface="Calibri"/>
              <a:cs typeface="Calibri"/>
              <a:sym typeface="Calibri"/>
            </a:endParaRPr>
          </a:p>
        </p:txBody>
      </p:sp>
      <p:sp>
        <p:nvSpPr>
          <p:cNvPr id="104" name="Google Shape;104;p2"/>
          <p:cNvSpPr/>
          <p:nvPr/>
        </p:nvSpPr>
        <p:spPr>
          <a:xfrm>
            <a:off x="536168" y="209327"/>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a:t>
            </a:r>
            <a:r>
              <a:rPr b="0" i="0" lang="en-US" sz="750" u="none" cap="none" strike="noStrike">
                <a:solidFill>
                  <a:srgbClr val="538135"/>
                </a:solidFill>
                <a:latin typeface="Source Sans 3"/>
                <a:ea typeface="Source Sans 3"/>
                <a:cs typeface="Source Sans 3"/>
                <a:sym typeface="Source Sans 3"/>
              </a:rPr>
              <a:t> </a:t>
            </a:r>
            <a:r>
              <a:rPr b="0" i="0" lang="en-US" sz="750" u="none" cap="none" strike="noStrike">
                <a:solidFill>
                  <a:srgbClr val="2E75B5"/>
                </a:solidFill>
                <a:latin typeface="Source Sans 3"/>
                <a:ea typeface="Source Sans 3"/>
                <a:cs typeface="Source Sans 3"/>
                <a:sym typeface="Source Sans 3"/>
              </a:rPr>
              <a:t>2</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523577" y="397743"/>
            <a:ext cx="8096845" cy="30078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850"/>
              <a:buFont typeface="Lora"/>
              <a:buNone/>
            </a:pPr>
            <a:r>
              <a:rPr lang="en-US" sz="1850">
                <a:solidFill>
                  <a:srgbClr val="2E75B5"/>
                </a:solidFill>
                <a:latin typeface="Lora"/>
                <a:ea typeface="Lora"/>
                <a:cs typeface="Lora"/>
                <a:sym typeface="Lora"/>
              </a:rPr>
              <a:t>De una Necesidad a un Proyecto de Datos</a:t>
            </a:r>
            <a:endParaRPr sz="1850">
              <a:solidFill>
                <a:srgbClr val="2E75B5"/>
              </a:solidFill>
              <a:latin typeface="Calibri"/>
              <a:ea typeface="Calibri"/>
              <a:cs typeface="Calibri"/>
              <a:sym typeface="Calibri"/>
            </a:endParaRPr>
          </a:p>
        </p:txBody>
      </p:sp>
      <p:sp>
        <p:nvSpPr>
          <p:cNvPr id="111" name="Google Shape;111;p3"/>
          <p:cNvSpPr/>
          <p:nvPr/>
        </p:nvSpPr>
        <p:spPr>
          <a:xfrm>
            <a:off x="523577" y="858292"/>
            <a:ext cx="8096845" cy="291257"/>
          </a:xfrm>
          <a:prstGeom prst="rect">
            <a:avLst/>
          </a:prstGeom>
          <a:noFill/>
          <a:ln>
            <a:noFill/>
          </a:ln>
        </p:spPr>
        <p:txBody>
          <a:bodyPr anchorCtr="0" anchor="t" bIns="0" lIns="0" spcFirstLastPara="1" rIns="0" wrap="square" tIns="0">
            <a:norm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Todo proyecto de datos comienza con una necesidad que requiere ser comprendida o resuelta. El punto de partida no es una herramienta ni un modelo: es una pregunta clara sobre el negocio. Esta secuencia de cinco etapas define el camino desde el problema hasta la decisión.</a:t>
            </a:r>
            <a:endParaRPr sz="800">
              <a:solidFill>
                <a:schemeClr val="dk1"/>
              </a:solidFill>
              <a:latin typeface="Calibri"/>
              <a:ea typeface="Calibri"/>
              <a:cs typeface="Calibri"/>
              <a:sym typeface="Calibri"/>
            </a:endParaRPr>
          </a:p>
        </p:txBody>
      </p:sp>
      <p:pic>
        <p:nvPicPr>
          <p:cNvPr descr="preencoded.png" id="112" name="Google Shape;112;p3"/>
          <p:cNvPicPr preferRelativeResize="0"/>
          <p:nvPr/>
        </p:nvPicPr>
        <p:blipFill rotWithShape="1">
          <a:blip r:embed="rId3">
            <a:alphaModFix/>
          </a:blip>
          <a:srcRect b="0" l="0" r="0" t="0"/>
          <a:stretch/>
        </p:blipFill>
        <p:spPr>
          <a:xfrm>
            <a:off x="523577" y="1239366"/>
            <a:ext cx="511299" cy="613618"/>
          </a:xfrm>
          <a:prstGeom prst="rect">
            <a:avLst/>
          </a:prstGeom>
          <a:noFill/>
          <a:ln>
            <a:noFill/>
          </a:ln>
        </p:spPr>
      </p:pic>
      <p:sp>
        <p:nvSpPr>
          <p:cNvPr id="113" name="Google Shape;113;p3"/>
          <p:cNvSpPr/>
          <p:nvPr/>
        </p:nvSpPr>
        <p:spPr>
          <a:xfrm>
            <a:off x="1114723" y="1341611"/>
            <a:ext cx="7505700" cy="150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900"/>
              <a:buFont typeface="Lora"/>
              <a:buNone/>
            </a:pPr>
            <a:r>
              <a:rPr lang="en-US" sz="900">
                <a:solidFill>
                  <a:srgbClr val="D6E5EF"/>
                </a:solidFill>
                <a:latin typeface="Lora"/>
                <a:ea typeface="Lora"/>
                <a:cs typeface="Lora"/>
                <a:sym typeface="Lora"/>
              </a:rPr>
              <a:t>Problema</a:t>
            </a:r>
            <a:endParaRPr sz="900">
              <a:solidFill>
                <a:schemeClr val="dk1"/>
              </a:solidFill>
              <a:latin typeface="Calibri"/>
              <a:ea typeface="Calibri"/>
              <a:cs typeface="Calibri"/>
              <a:sym typeface="Calibri"/>
            </a:endParaRPr>
          </a:p>
        </p:txBody>
      </p:sp>
      <p:sp>
        <p:nvSpPr>
          <p:cNvPr id="114" name="Google Shape;114;p3"/>
          <p:cNvSpPr/>
          <p:nvPr/>
        </p:nvSpPr>
        <p:spPr>
          <a:xfrm>
            <a:off x="1114723" y="1539925"/>
            <a:ext cx="7505700"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Necesidad o situación del negocio que debe abordarse</a:t>
            </a:r>
            <a:endParaRPr sz="800">
              <a:solidFill>
                <a:schemeClr val="dk1"/>
              </a:solidFill>
              <a:latin typeface="Calibri"/>
              <a:ea typeface="Calibri"/>
              <a:cs typeface="Calibri"/>
              <a:sym typeface="Calibri"/>
            </a:endParaRPr>
          </a:p>
        </p:txBody>
      </p:sp>
      <p:pic>
        <p:nvPicPr>
          <p:cNvPr descr="preencoded.png" id="115" name="Google Shape;115;p3"/>
          <p:cNvPicPr preferRelativeResize="0"/>
          <p:nvPr/>
        </p:nvPicPr>
        <p:blipFill rotWithShape="1">
          <a:blip r:embed="rId4">
            <a:alphaModFix/>
          </a:blip>
          <a:srcRect b="0" l="0" r="0" t="0"/>
          <a:stretch/>
        </p:blipFill>
        <p:spPr>
          <a:xfrm>
            <a:off x="523577" y="1852985"/>
            <a:ext cx="511299" cy="613618"/>
          </a:xfrm>
          <a:prstGeom prst="rect">
            <a:avLst/>
          </a:prstGeom>
          <a:noFill/>
          <a:ln>
            <a:noFill/>
          </a:ln>
        </p:spPr>
      </p:pic>
      <p:sp>
        <p:nvSpPr>
          <p:cNvPr id="116" name="Google Shape;116;p3"/>
          <p:cNvSpPr/>
          <p:nvPr/>
        </p:nvSpPr>
        <p:spPr>
          <a:xfrm>
            <a:off x="1114723" y="1955229"/>
            <a:ext cx="7505700" cy="150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900"/>
              <a:buFont typeface="Lora"/>
              <a:buNone/>
            </a:pPr>
            <a:r>
              <a:rPr lang="en-US" sz="900">
                <a:solidFill>
                  <a:srgbClr val="D6E5EF"/>
                </a:solidFill>
                <a:latin typeface="Lora"/>
                <a:ea typeface="Lora"/>
                <a:cs typeface="Lora"/>
                <a:sym typeface="Lora"/>
              </a:rPr>
              <a:t>Pregunta</a:t>
            </a:r>
            <a:endParaRPr sz="900">
              <a:solidFill>
                <a:schemeClr val="dk1"/>
              </a:solidFill>
              <a:latin typeface="Calibri"/>
              <a:ea typeface="Calibri"/>
              <a:cs typeface="Calibri"/>
              <a:sym typeface="Calibri"/>
            </a:endParaRPr>
          </a:p>
        </p:txBody>
      </p:sp>
      <p:sp>
        <p:nvSpPr>
          <p:cNvPr id="117" name="Google Shape;117;p3"/>
          <p:cNvSpPr/>
          <p:nvPr/>
        </p:nvSpPr>
        <p:spPr>
          <a:xfrm>
            <a:off x="1114723" y="2153543"/>
            <a:ext cx="7505700"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Formulación precisa de lo que se quiere entender</a:t>
            </a:r>
            <a:endParaRPr sz="800">
              <a:solidFill>
                <a:schemeClr val="dk1"/>
              </a:solidFill>
              <a:latin typeface="Calibri"/>
              <a:ea typeface="Calibri"/>
              <a:cs typeface="Calibri"/>
              <a:sym typeface="Calibri"/>
            </a:endParaRPr>
          </a:p>
        </p:txBody>
      </p:sp>
      <p:pic>
        <p:nvPicPr>
          <p:cNvPr descr="preencoded.png" id="118" name="Google Shape;118;p3"/>
          <p:cNvPicPr preferRelativeResize="0"/>
          <p:nvPr/>
        </p:nvPicPr>
        <p:blipFill rotWithShape="1">
          <a:blip r:embed="rId5">
            <a:alphaModFix/>
          </a:blip>
          <a:srcRect b="0" l="0" r="0" t="0"/>
          <a:stretch/>
        </p:blipFill>
        <p:spPr>
          <a:xfrm>
            <a:off x="523577" y="2466603"/>
            <a:ext cx="511299" cy="613618"/>
          </a:xfrm>
          <a:prstGeom prst="rect">
            <a:avLst/>
          </a:prstGeom>
          <a:noFill/>
          <a:ln>
            <a:noFill/>
          </a:ln>
        </p:spPr>
      </p:pic>
      <p:sp>
        <p:nvSpPr>
          <p:cNvPr id="119" name="Google Shape;119;p3"/>
          <p:cNvSpPr/>
          <p:nvPr/>
        </p:nvSpPr>
        <p:spPr>
          <a:xfrm>
            <a:off x="1114723" y="2568848"/>
            <a:ext cx="7505700" cy="150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900"/>
              <a:buFont typeface="Lora"/>
              <a:buNone/>
            </a:pPr>
            <a:r>
              <a:rPr lang="en-US" sz="900">
                <a:solidFill>
                  <a:srgbClr val="D6E5EF"/>
                </a:solidFill>
                <a:latin typeface="Lora"/>
                <a:ea typeface="Lora"/>
                <a:cs typeface="Lora"/>
                <a:sym typeface="Lora"/>
              </a:rPr>
              <a:t>Datos</a:t>
            </a:r>
            <a:endParaRPr sz="900">
              <a:solidFill>
                <a:schemeClr val="dk1"/>
              </a:solidFill>
              <a:latin typeface="Calibri"/>
              <a:ea typeface="Calibri"/>
              <a:cs typeface="Calibri"/>
              <a:sym typeface="Calibri"/>
            </a:endParaRPr>
          </a:p>
        </p:txBody>
      </p:sp>
      <p:sp>
        <p:nvSpPr>
          <p:cNvPr id="120" name="Google Shape;120;p3"/>
          <p:cNvSpPr/>
          <p:nvPr/>
        </p:nvSpPr>
        <p:spPr>
          <a:xfrm>
            <a:off x="1114723" y="2767161"/>
            <a:ext cx="7505700"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Información necesaria para responder la pregunta</a:t>
            </a:r>
            <a:endParaRPr sz="800">
              <a:solidFill>
                <a:schemeClr val="dk1"/>
              </a:solidFill>
              <a:latin typeface="Calibri"/>
              <a:ea typeface="Calibri"/>
              <a:cs typeface="Calibri"/>
              <a:sym typeface="Calibri"/>
            </a:endParaRPr>
          </a:p>
        </p:txBody>
      </p:sp>
      <p:pic>
        <p:nvPicPr>
          <p:cNvPr descr="preencoded.png" id="121" name="Google Shape;121;p3"/>
          <p:cNvPicPr preferRelativeResize="0"/>
          <p:nvPr/>
        </p:nvPicPr>
        <p:blipFill rotWithShape="1">
          <a:blip r:embed="rId6">
            <a:alphaModFix/>
          </a:blip>
          <a:srcRect b="0" l="0" r="0" t="0"/>
          <a:stretch/>
        </p:blipFill>
        <p:spPr>
          <a:xfrm>
            <a:off x="523577" y="3080221"/>
            <a:ext cx="511299" cy="613618"/>
          </a:xfrm>
          <a:prstGeom prst="rect">
            <a:avLst/>
          </a:prstGeom>
          <a:noFill/>
          <a:ln>
            <a:noFill/>
          </a:ln>
        </p:spPr>
      </p:pic>
      <p:sp>
        <p:nvSpPr>
          <p:cNvPr id="122" name="Google Shape;122;p3"/>
          <p:cNvSpPr/>
          <p:nvPr/>
        </p:nvSpPr>
        <p:spPr>
          <a:xfrm>
            <a:off x="1114723" y="3182466"/>
            <a:ext cx="7505700" cy="150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900"/>
              <a:buFont typeface="Lora"/>
              <a:buNone/>
            </a:pPr>
            <a:r>
              <a:rPr lang="en-US" sz="900">
                <a:solidFill>
                  <a:srgbClr val="D6E5EF"/>
                </a:solidFill>
                <a:latin typeface="Lora"/>
                <a:ea typeface="Lora"/>
                <a:cs typeface="Lora"/>
                <a:sym typeface="Lora"/>
              </a:rPr>
              <a:t>Solución</a:t>
            </a:r>
            <a:endParaRPr sz="900">
              <a:solidFill>
                <a:schemeClr val="dk1"/>
              </a:solidFill>
              <a:latin typeface="Calibri"/>
              <a:ea typeface="Calibri"/>
              <a:cs typeface="Calibri"/>
              <a:sym typeface="Calibri"/>
            </a:endParaRPr>
          </a:p>
        </p:txBody>
      </p:sp>
      <p:sp>
        <p:nvSpPr>
          <p:cNvPr id="123" name="Google Shape;123;p3"/>
          <p:cNvSpPr/>
          <p:nvPr/>
        </p:nvSpPr>
        <p:spPr>
          <a:xfrm>
            <a:off x="1114723" y="3380780"/>
            <a:ext cx="7505700"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Análisis o modelo que transforma datos en conocimiento</a:t>
            </a:r>
            <a:endParaRPr sz="800">
              <a:solidFill>
                <a:schemeClr val="dk1"/>
              </a:solidFill>
              <a:latin typeface="Calibri"/>
              <a:ea typeface="Calibri"/>
              <a:cs typeface="Calibri"/>
              <a:sym typeface="Calibri"/>
            </a:endParaRPr>
          </a:p>
        </p:txBody>
      </p:sp>
      <p:pic>
        <p:nvPicPr>
          <p:cNvPr descr="preencoded.png" id="124" name="Google Shape;124;p3"/>
          <p:cNvPicPr preferRelativeResize="0"/>
          <p:nvPr/>
        </p:nvPicPr>
        <p:blipFill rotWithShape="1">
          <a:blip r:embed="rId7">
            <a:alphaModFix/>
          </a:blip>
          <a:srcRect b="0" l="0" r="0" t="0"/>
          <a:stretch/>
        </p:blipFill>
        <p:spPr>
          <a:xfrm>
            <a:off x="523577" y="3693840"/>
            <a:ext cx="511299" cy="613618"/>
          </a:xfrm>
          <a:prstGeom prst="rect">
            <a:avLst/>
          </a:prstGeom>
          <a:noFill/>
          <a:ln>
            <a:noFill/>
          </a:ln>
        </p:spPr>
      </p:pic>
      <p:sp>
        <p:nvSpPr>
          <p:cNvPr id="125" name="Google Shape;125;p3"/>
          <p:cNvSpPr/>
          <p:nvPr/>
        </p:nvSpPr>
        <p:spPr>
          <a:xfrm>
            <a:off x="1114723" y="3796085"/>
            <a:ext cx="7505700" cy="150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900"/>
              <a:buFont typeface="Lora"/>
              <a:buNone/>
            </a:pPr>
            <a:r>
              <a:rPr lang="en-US" sz="900">
                <a:solidFill>
                  <a:srgbClr val="D6E5EF"/>
                </a:solidFill>
                <a:latin typeface="Lora"/>
                <a:ea typeface="Lora"/>
                <a:cs typeface="Lora"/>
                <a:sym typeface="Lora"/>
              </a:rPr>
              <a:t>Decisión</a:t>
            </a:r>
            <a:endParaRPr sz="900">
              <a:solidFill>
                <a:schemeClr val="dk1"/>
              </a:solidFill>
              <a:latin typeface="Calibri"/>
              <a:ea typeface="Calibri"/>
              <a:cs typeface="Calibri"/>
              <a:sym typeface="Calibri"/>
            </a:endParaRPr>
          </a:p>
        </p:txBody>
      </p:sp>
      <p:sp>
        <p:nvSpPr>
          <p:cNvPr id="126" name="Google Shape;126;p3"/>
          <p:cNvSpPr/>
          <p:nvPr/>
        </p:nvSpPr>
        <p:spPr>
          <a:xfrm>
            <a:off x="1114723" y="3994398"/>
            <a:ext cx="7505700"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Acción concreta basada en evidencia</a:t>
            </a:r>
            <a:endParaRPr sz="800">
              <a:solidFill>
                <a:schemeClr val="dk1"/>
              </a:solidFill>
              <a:latin typeface="Calibri"/>
              <a:ea typeface="Calibri"/>
              <a:cs typeface="Calibri"/>
              <a:sym typeface="Calibri"/>
            </a:endParaRPr>
          </a:p>
        </p:txBody>
      </p:sp>
      <p:sp>
        <p:nvSpPr>
          <p:cNvPr id="127" name="Google Shape;127;p3"/>
          <p:cNvSpPr/>
          <p:nvPr/>
        </p:nvSpPr>
        <p:spPr>
          <a:xfrm>
            <a:off x="523577" y="4397276"/>
            <a:ext cx="8096845" cy="348407"/>
          </a:xfrm>
          <a:prstGeom prst="roundRect">
            <a:avLst>
              <a:gd fmla="val 4403" name="adj"/>
            </a:avLst>
          </a:prstGeom>
          <a:solidFill>
            <a:srgbClr val="1E4E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2E75B5"/>
              </a:solidFill>
              <a:latin typeface="Calibri"/>
              <a:ea typeface="Calibri"/>
              <a:cs typeface="Calibri"/>
              <a:sym typeface="Calibri"/>
            </a:endParaRPr>
          </a:p>
        </p:txBody>
      </p:sp>
      <p:pic>
        <p:nvPicPr>
          <p:cNvPr descr="preencoded.png" id="128" name="Google Shape;128;p3"/>
          <p:cNvPicPr preferRelativeResize="0"/>
          <p:nvPr/>
        </p:nvPicPr>
        <p:blipFill rotWithShape="1">
          <a:blip r:embed="rId8">
            <a:alphaModFix/>
          </a:blip>
          <a:srcRect b="0" l="0" r="0" t="0"/>
          <a:stretch/>
        </p:blipFill>
        <p:spPr>
          <a:xfrm>
            <a:off x="625822" y="4535537"/>
            <a:ext cx="127769" cy="102245"/>
          </a:xfrm>
          <a:prstGeom prst="rect">
            <a:avLst/>
          </a:prstGeom>
          <a:noFill/>
          <a:ln>
            <a:noFill/>
          </a:ln>
        </p:spPr>
      </p:pic>
      <p:sp>
        <p:nvSpPr>
          <p:cNvPr id="129" name="Google Shape;129;p3"/>
          <p:cNvSpPr/>
          <p:nvPr/>
        </p:nvSpPr>
        <p:spPr>
          <a:xfrm>
            <a:off x="855836" y="4502646"/>
            <a:ext cx="8119542" cy="1456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FFFFFF"/>
              </a:buClr>
              <a:buSzPts val="800"/>
              <a:buFont typeface="Source Sans 3"/>
              <a:buNone/>
            </a:pPr>
            <a:r>
              <a:rPr b="1" lang="en-US" sz="800">
                <a:solidFill>
                  <a:srgbClr val="FFFFFF"/>
                </a:solidFill>
                <a:latin typeface="Source Sans 3"/>
                <a:ea typeface="Source Sans 3"/>
                <a:cs typeface="Source Sans 3"/>
                <a:sym typeface="Source Sans 3"/>
              </a:rPr>
              <a:t>Ejemplo NYC Taxi:</a:t>
            </a:r>
            <a:r>
              <a:rPr lang="en-US" sz="800">
                <a:solidFill>
                  <a:srgbClr val="FFFFFF"/>
                </a:solidFill>
                <a:latin typeface="Source Sans 3"/>
                <a:ea typeface="Source Sans 3"/>
                <a:cs typeface="Source Sans 3"/>
                <a:sym typeface="Source Sans 3"/>
              </a:rPr>
              <a:t> ¿Qué factores se relacionan con propinas altas en los viajes de taxi?</a:t>
            </a:r>
            <a:endParaRPr sz="800">
              <a:solidFill>
                <a:schemeClr val="dk1"/>
              </a:solidFill>
              <a:latin typeface="Calibri"/>
              <a:ea typeface="Calibri"/>
              <a:cs typeface="Calibri"/>
              <a:sym typeface="Calibri"/>
            </a:endParaRPr>
          </a:p>
        </p:txBody>
      </p:sp>
      <p:pic>
        <p:nvPicPr>
          <p:cNvPr id="130" name="Google Shape;130;p3"/>
          <p:cNvPicPr preferRelativeResize="0"/>
          <p:nvPr/>
        </p:nvPicPr>
        <p:blipFill rotWithShape="1">
          <a:blip r:embed="rId9">
            <a:alphaModFix/>
          </a:blip>
          <a:srcRect b="0" l="0" r="0" t="0"/>
          <a:stretch/>
        </p:blipFill>
        <p:spPr>
          <a:xfrm>
            <a:off x="7849555" y="4873470"/>
            <a:ext cx="1294445" cy="234833"/>
          </a:xfrm>
          <a:prstGeom prst="rect">
            <a:avLst/>
          </a:prstGeom>
          <a:noFill/>
          <a:ln>
            <a:noFill/>
          </a:ln>
        </p:spPr>
      </p:pic>
      <p:sp>
        <p:nvSpPr>
          <p:cNvPr id="131" name="Google Shape;131;p3"/>
          <p:cNvSpPr/>
          <p:nvPr/>
        </p:nvSpPr>
        <p:spPr>
          <a:xfrm>
            <a:off x="545425" y="230461"/>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a:t>
            </a:r>
            <a:r>
              <a:rPr lang="en-US" sz="750">
                <a:solidFill>
                  <a:srgbClr val="2E75B5"/>
                </a:solidFill>
                <a:latin typeface="Source Sans 3"/>
                <a:ea typeface="Source Sans 3"/>
                <a:cs typeface="Source Sans 3"/>
                <a:sym typeface="Source Sans 3"/>
              </a:rPr>
              <a:t>3</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p:nvPr/>
        </p:nvSpPr>
        <p:spPr>
          <a:xfrm>
            <a:off x="523577" y="493216"/>
            <a:ext cx="8096845"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400"/>
              <a:buFont typeface="Lora"/>
              <a:buNone/>
            </a:pPr>
            <a:r>
              <a:rPr lang="en-US" sz="2400">
                <a:solidFill>
                  <a:srgbClr val="2E75B5"/>
                </a:solidFill>
                <a:latin typeface="Lora"/>
                <a:ea typeface="Lora"/>
                <a:cs typeface="Lora"/>
                <a:sym typeface="Lora"/>
              </a:rPr>
              <a:t>Identificación del Problema y Objetivos</a:t>
            </a:r>
            <a:endParaRPr sz="2400">
              <a:solidFill>
                <a:srgbClr val="2E75B5"/>
              </a:solidFill>
              <a:latin typeface="Calibri"/>
              <a:ea typeface="Calibri"/>
              <a:cs typeface="Calibri"/>
              <a:sym typeface="Calibri"/>
            </a:endParaRPr>
          </a:p>
        </p:txBody>
      </p:sp>
      <p:sp>
        <p:nvSpPr>
          <p:cNvPr id="138" name="Google Shape;138;p4"/>
          <p:cNvSpPr/>
          <p:nvPr/>
        </p:nvSpPr>
        <p:spPr>
          <a:xfrm>
            <a:off x="523577" y="1139949"/>
            <a:ext cx="8096845"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Una necesidad vaga no puede guiar un proyecto. Convertirla en un objetivo concreto y medible es el primer paso crítico. Tres bloques conectados estructuran esta fase: el problema define el contexto, el objetivo establece qué se quiere lograr y el resultado esperado indica cómo se medirá el éxito.</a:t>
            </a:r>
            <a:endParaRPr sz="1000">
              <a:solidFill>
                <a:schemeClr val="dk1"/>
              </a:solidFill>
              <a:latin typeface="Calibri"/>
              <a:ea typeface="Calibri"/>
              <a:cs typeface="Calibri"/>
              <a:sym typeface="Calibri"/>
            </a:endParaRPr>
          </a:p>
        </p:txBody>
      </p:sp>
      <p:sp>
        <p:nvSpPr>
          <p:cNvPr id="139" name="Google Shape;139;p4"/>
          <p:cNvSpPr/>
          <p:nvPr/>
        </p:nvSpPr>
        <p:spPr>
          <a:xfrm>
            <a:off x="429295" y="1915418"/>
            <a:ext cx="4077295" cy="2064097"/>
          </a:xfrm>
          <a:prstGeom prst="roundRect">
            <a:avLst>
              <a:gd fmla="val 951" name="adj"/>
            </a:avLst>
          </a:prstGeom>
          <a:solidFill>
            <a:srgbClr val="9CC2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4"/>
          <p:cNvSpPr/>
          <p:nvPr/>
        </p:nvSpPr>
        <p:spPr>
          <a:xfrm>
            <a:off x="560189" y="2046312"/>
            <a:ext cx="3815507"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Lora"/>
              <a:buNone/>
            </a:pPr>
            <a:r>
              <a:rPr lang="en-US" sz="1200">
                <a:solidFill>
                  <a:srgbClr val="000000"/>
                </a:solidFill>
                <a:latin typeface="Lora"/>
                <a:ea typeface="Lora"/>
                <a:cs typeface="Lora"/>
                <a:sym typeface="Lora"/>
              </a:rPr>
              <a:t>Preguntas clave</a:t>
            </a:r>
            <a:endParaRPr sz="1200">
              <a:solidFill>
                <a:schemeClr val="dk1"/>
              </a:solidFill>
              <a:latin typeface="Calibri"/>
              <a:ea typeface="Calibri"/>
              <a:cs typeface="Calibri"/>
              <a:sym typeface="Calibri"/>
            </a:endParaRPr>
          </a:p>
        </p:txBody>
      </p:sp>
      <p:sp>
        <p:nvSpPr>
          <p:cNvPr id="141" name="Google Shape;141;p4"/>
          <p:cNvSpPr/>
          <p:nvPr/>
        </p:nvSpPr>
        <p:spPr>
          <a:xfrm>
            <a:off x="560189" y="2369716"/>
            <a:ext cx="3815507" cy="974899"/>
          </a:xfrm>
          <a:prstGeom prst="rect">
            <a:avLst/>
          </a:prstGeom>
          <a:noFill/>
          <a:ln>
            <a:noFill/>
          </a:ln>
        </p:spPr>
        <p:txBody>
          <a:bodyPr anchorCtr="0" anchor="t" bIns="0" lIns="0" spcFirstLastPara="1" rIns="0" wrap="square" tIns="0">
            <a:normAutofit/>
          </a:bodyPr>
          <a:lstStyle/>
          <a:p>
            <a:pPr indent="-203200" lvl="0" marL="203200" marR="0" rtl="0" algn="l">
              <a:lnSpc>
                <a:spcPct val="133000"/>
              </a:lnSpc>
              <a:spcBef>
                <a:spcPts val="0"/>
              </a:spcBef>
              <a:spcAft>
                <a:spcPts val="0"/>
              </a:spcAft>
              <a:buClr>
                <a:srgbClr val="000000"/>
              </a:buClr>
              <a:buSzPts val="1000"/>
              <a:buFont typeface="Source Sans 3"/>
              <a:buChar char="•"/>
            </a:pPr>
            <a:r>
              <a:rPr lang="en-US" sz="1000">
                <a:solidFill>
                  <a:srgbClr val="000000"/>
                </a:solidFill>
                <a:latin typeface="Source Sans 3"/>
                <a:ea typeface="Source Sans 3"/>
                <a:cs typeface="Source Sans 3"/>
                <a:sym typeface="Source Sans 3"/>
              </a:rPr>
              <a:t>¿Cuál es el problema?</a:t>
            </a:r>
            <a:endParaRPr sz="1000">
              <a:solidFill>
                <a:schemeClr val="dk1"/>
              </a:solidFill>
              <a:latin typeface="Calibri"/>
              <a:ea typeface="Calibri"/>
              <a:cs typeface="Calibri"/>
              <a:sym typeface="Calibri"/>
            </a:endParaRPr>
          </a:p>
          <a:p>
            <a:pPr indent="-203200" lvl="0" marL="203200" marR="0" rtl="0" algn="l">
              <a:lnSpc>
                <a:spcPct val="133000"/>
              </a:lnSpc>
              <a:spcBef>
                <a:spcPts val="0"/>
              </a:spcBef>
              <a:spcAft>
                <a:spcPts val="0"/>
              </a:spcAft>
              <a:buClr>
                <a:srgbClr val="000000"/>
              </a:buClr>
              <a:buSzPts val="1000"/>
              <a:buFont typeface="Source Sans 3"/>
              <a:buChar char="•"/>
            </a:pPr>
            <a:r>
              <a:rPr lang="en-US" sz="1000">
                <a:solidFill>
                  <a:srgbClr val="000000"/>
                </a:solidFill>
                <a:latin typeface="Source Sans 3"/>
                <a:ea typeface="Source Sans 3"/>
                <a:cs typeface="Source Sans 3"/>
                <a:sym typeface="Source Sans 3"/>
              </a:rPr>
              <a:t>¿A quién afecta?</a:t>
            </a:r>
            <a:endParaRPr sz="1000">
              <a:solidFill>
                <a:schemeClr val="dk1"/>
              </a:solidFill>
              <a:latin typeface="Calibri"/>
              <a:ea typeface="Calibri"/>
              <a:cs typeface="Calibri"/>
              <a:sym typeface="Calibri"/>
            </a:endParaRPr>
          </a:p>
          <a:p>
            <a:pPr indent="-203200" lvl="0" marL="203200" marR="0" rtl="0" algn="l">
              <a:lnSpc>
                <a:spcPct val="133000"/>
              </a:lnSpc>
              <a:spcBef>
                <a:spcPts val="0"/>
              </a:spcBef>
              <a:spcAft>
                <a:spcPts val="0"/>
              </a:spcAft>
              <a:buClr>
                <a:srgbClr val="000000"/>
              </a:buClr>
              <a:buSzPts val="1000"/>
              <a:buFont typeface="Source Sans 3"/>
              <a:buChar char="•"/>
            </a:pPr>
            <a:r>
              <a:rPr lang="en-US" sz="1000">
                <a:solidFill>
                  <a:srgbClr val="000000"/>
                </a:solidFill>
                <a:latin typeface="Source Sans 3"/>
                <a:ea typeface="Source Sans 3"/>
                <a:cs typeface="Source Sans 3"/>
                <a:sym typeface="Source Sans 3"/>
              </a:rPr>
              <a:t>¿Qué queremos lograr?</a:t>
            </a:r>
            <a:endParaRPr sz="1000">
              <a:solidFill>
                <a:schemeClr val="dk1"/>
              </a:solidFill>
              <a:latin typeface="Calibri"/>
              <a:ea typeface="Calibri"/>
              <a:cs typeface="Calibri"/>
              <a:sym typeface="Calibri"/>
            </a:endParaRPr>
          </a:p>
          <a:p>
            <a:pPr indent="-203200" lvl="0" marL="203200" marR="0" rtl="0" algn="l">
              <a:lnSpc>
                <a:spcPct val="133000"/>
              </a:lnSpc>
              <a:spcBef>
                <a:spcPts val="0"/>
              </a:spcBef>
              <a:spcAft>
                <a:spcPts val="0"/>
              </a:spcAft>
              <a:buClr>
                <a:srgbClr val="000000"/>
              </a:buClr>
              <a:buSzPts val="1000"/>
              <a:buFont typeface="Source Sans 3"/>
              <a:buChar char="•"/>
            </a:pPr>
            <a:r>
              <a:rPr lang="en-US" sz="1000">
                <a:solidFill>
                  <a:srgbClr val="000000"/>
                </a:solidFill>
                <a:latin typeface="Source Sans 3"/>
                <a:ea typeface="Source Sans 3"/>
                <a:cs typeface="Source Sans 3"/>
                <a:sym typeface="Source Sans 3"/>
              </a:rPr>
              <a:t>¿Cómo sabremos si el resultado es útil?</a:t>
            </a:r>
            <a:endParaRPr sz="1000">
              <a:solidFill>
                <a:schemeClr val="dk1"/>
              </a:solidFill>
              <a:latin typeface="Calibri"/>
              <a:ea typeface="Calibri"/>
              <a:cs typeface="Calibri"/>
              <a:sym typeface="Calibri"/>
            </a:endParaRPr>
          </a:p>
        </p:txBody>
      </p:sp>
      <p:sp>
        <p:nvSpPr>
          <p:cNvPr id="142" name="Google Shape;142;p4"/>
          <p:cNvSpPr/>
          <p:nvPr/>
        </p:nvSpPr>
        <p:spPr>
          <a:xfrm>
            <a:off x="4736455" y="2046312"/>
            <a:ext cx="388873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200"/>
              <a:buFont typeface="Lora"/>
              <a:buNone/>
            </a:pPr>
            <a:r>
              <a:rPr lang="en-US" sz="1200">
                <a:solidFill>
                  <a:srgbClr val="2E75B5"/>
                </a:solidFill>
                <a:latin typeface="Lora"/>
                <a:ea typeface="Lora"/>
                <a:cs typeface="Lora"/>
                <a:sym typeface="Lora"/>
              </a:rPr>
              <a:t>Ejemplo</a:t>
            </a:r>
            <a:r>
              <a:rPr lang="en-US" sz="1200">
                <a:solidFill>
                  <a:srgbClr val="F98AC7"/>
                </a:solidFill>
                <a:latin typeface="Lora"/>
                <a:ea typeface="Lora"/>
                <a:cs typeface="Lora"/>
                <a:sym typeface="Lora"/>
              </a:rPr>
              <a:t> </a:t>
            </a:r>
            <a:r>
              <a:rPr lang="en-US" sz="1200">
                <a:solidFill>
                  <a:srgbClr val="2E75B5"/>
                </a:solidFill>
                <a:latin typeface="Lora"/>
                <a:ea typeface="Lora"/>
                <a:cs typeface="Lora"/>
                <a:sym typeface="Lora"/>
              </a:rPr>
              <a:t>NYC Taxi</a:t>
            </a:r>
            <a:endParaRPr sz="1200">
              <a:solidFill>
                <a:srgbClr val="2E75B5"/>
              </a:solidFill>
              <a:latin typeface="Calibri"/>
              <a:ea typeface="Calibri"/>
              <a:cs typeface="Calibri"/>
              <a:sym typeface="Calibri"/>
            </a:endParaRPr>
          </a:p>
        </p:txBody>
      </p:sp>
      <p:sp>
        <p:nvSpPr>
          <p:cNvPr id="143" name="Google Shape;143;p4"/>
          <p:cNvSpPr/>
          <p:nvPr/>
        </p:nvSpPr>
        <p:spPr>
          <a:xfrm>
            <a:off x="4736455" y="2369716"/>
            <a:ext cx="3888730" cy="14920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1" lang="en-US" sz="1000">
                <a:solidFill>
                  <a:srgbClr val="D6E5EF"/>
                </a:solidFill>
                <a:latin typeface="Source Sans 3"/>
                <a:ea typeface="Source Sans 3"/>
                <a:cs typeface="Source Sans 3"/>
                <a:sym typeface="Source Sans 3"/>
              </a:rPr>
              <a:t>Problema:</a:t>
            </a:r>
            <a:r>
              <a:rPr lang="en-US" sz="1000">
                <a:solidFill>
                  <a:srgbClr val="D6E5EF"/>
                </a:solidFill>
                <a:latin typeface="Source Sans 3"/>
                <a:ea typeface="Source Sans 3"/>
                <a:cs typeface="Source Sans 3"/>
                <a:sym typeface="Source Sans 3"/>
              </a:rPr>
              <a:t> Comprender qué condiciones se relacionan con propinas altas en los viajes.</a:t>
            </a:r>
            <a:endParaRPr sz="1000">
              <a:solidFill>
                <a:schemeClr val="dk1"/>
              </a:solidFill>
              <a:latin typeface="Calibri"/>
              <a:ea typeface="Calibri"/>
              <a:cs typeface="Calibri"/>
              <a:sym typeface="Calibri"/>
            </a:endParaRPr>
          </a:p>
          <a:p>
            <a:pPr indent="0" lvl="0" marL="0" marR="0" rtl="0" algn="l">
              <a:lnSpc>
                <a:spcPct val="133000"/>
              </a:lnSpc>
              <a:spcBef>
                <a:spcPts val="900"/>
              </a:spcBef>
              <a:spcAft>
                <a:spcPts val="0"/>
              </a:spcAft>
              <a:buClr>
                <a:srgbClr val="D6E5EF"/>
              </a:buClr>
              <a:buSzPts val="1000"/>
              <a:buFont typeface="Source Sans 3"/>
              <a:buNone/>
            </a:pPr>
            <a:r>
              <a:rPr b="1" lang="en-US" sz="1000">
                <a:solidFill>
                  <a:srgbClr val="D6E5EF"/>
                </a:solidFill>
                <a:latin typeface="Source Sans 3"/>
                <a:ea typeface="Source Sans 3"/>
                <a:cs typeface="Source Sans 3"/>
                <a:sym typeface="Source Sans 3"/>
              </a:rPr>
              <a:t>Objetivo:</a:t>
            </a:r>
            <a:r>
              <a:rPr lang="en-US" sz="1000">
                <a:solidFill>
                  <a:srgbClr val="D6E5EF"/>
                </a:solidFill>
                <a:latin typeface="Source Sans 3"/>
                <a:ea typeface="Source Sans 3"/>
                <a:cs typeface="Source Sans 3"/>
                <a:sym typeface="Source Sans 3"/>
              </a:rPr>
              <a:t> Identificar características de los viajes que permitan diferenciar patrones de propina.</a:t>
            </a:r>
            <a:endParaRPr sz="1000">
              <a:solidFill>
                <a:schemeClr val="dk1"/>
              </a:solidFill>
              <a:latin typeface="Calibri"/>
              <a:ea typeface="Calibri"/>
              <a:cs typeface="Calibri"/>
              <a:sym typeface="Calibri"/>
            </a:endParaRPr>
          </a:p>
          <a:p>
            <a:pPr indent="0" lvl="0" marL="0" marR="0" rtl="0" algn="l">
              <a:lnSpc>
                <a:spcPct val="133000"/>
              </a:lnSpc>
              <a:spcBef>
                <a:spcPts val="900"/>
              </a:spcBef>
              <a:spcAft>
                <a:spcPts val="0"/>
              </a:spcAft>
              <a:buClr>
                <a:srgbClr val="D6E5EF"/>
              </a:buClr>
              <a:buSzPts val="1000"/>
              <a:buFont typeface="Source Sans 3"/>
              <a:buNone/>
            </a:pPr>
            <a:r>
              <a:rPr b="1" lang="en-US" sz="1000">
                <a:solidFill>
                  <a:srgbClr val="D6E5EF"/>
                </a:solidFill>
                <a:latin typeface="Source Sans 3"/>
                <a:ea typeface="Source Sans 3"/>
                <a:cs typeface="Source Sans 3"/>
                <a:sym typeface="Source Sans 3"/>
              </a:rPr>
              <a:t>Resultado esperado:</a:t>
            </a:r>
            <a:r>
              <a:rPr lang="en-US" sz="1000">
                <a:solidFill>
                  <a:srgbClr val="D6E5EF"/>
                </a:solidFill>
                <a:latin typeface="Source Sans 3"/>
                <a:ea typeface="Source Sans 3"/>
                <a:cs typeface="Source Sans 3"/>
                <a:sym typeface="Source Sans 3"/>
              </a:rPr>
              <a:t> Un modelo o análisis que identifique los factores más relevantes.</a:t>
            </a:r>
            <a:endParaRPr sz="1000">
              <a:solidFill>
                <a:schemeClr val="dk1"/>
              </a:solidFill>
              <a:latin typeface="Calibri"/>
              <a:ea typeface="Calibri"/>
              <a:cs typeface="Calibri"/>
              <a:sym typeface="Calibri"/>
            </a:endParaRPr>
          </a:p>
        </p:txBody>
      </p:sp>
      <p:sp>
        <p:nvSpPr>
          <p:cNvPr id="144" name="Google Shape;144;p4"/>
          <p:cNvSpPr/>
          <p:nvPr/>
        </p:nvSpPr>
        <p:spPr>
          <a:xfrm>
            <a:off x="523577" y="4126781"/>
            <a:ext cx="8096845" cy="523429"/>
          </a:xfrm>
          <a:prstGeom prst="roundRect">
            <a:avLst>
              <a:gd fmla="val 3752" name="adj"/>
            </a:avLst>
          </a:prstGeom>
          <a:solidFill>
            <a:srgbClr val="1E4E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5" name="Google Shape;145;p4"/>
          <p:cNvPicPr preferRelativeResize="0"/>
          <p:nvPr/>
        </p:nvPicPr>
        <p:blipFill rotWithShape="1">
          <a:blip r:embed="rId3">
            <a:alphaModFix/>
          </a:blip>
          <a:srcRect b="0" l="0" r="0" t="0"/>
          <a:stretch/>
        </p:blipFill>
        <p:spPr>
          <a:xfrm>
            <a:off x="654472" y="4313858"/>
            <a:ext cx="163637" cy="130894"/>
          </a:xfrm>
          <a:prstGeom prst="rect">
            <a:avLst/>
          </a:prstGeom>
          <a:noFill/>
          <a:ln>
            <a:noFill/>
          </a:ln>
        </p:spPr>
      </p:pic>
      <p:sp>
        <p:nvSpPr>
          <p:cNvPr id="146" name="Google Shape;146;p4"/>
          <p:cNvSpPr/>
          <p:nvPr/>
        </p:nvSpPr>
        <p:spPr>
          <a:xfrm>
            <a:off x="949003" y="4290343"/>
            <a:ext cx="799772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00"/>
              <a:buFont typeface="Source Sans 3"/>
              <a:buNone/>
            </a:pPr>
            <a:r>
              <a:rPr b="1" lang="en-US" sz="1000">
                <a:solidFill>
                  <a:srgbClr val="FFFFFF"/>
                </a:solidFill>
                <a:latin typeface="Source Sans 3"/>
                <a:ea typeface="Source Sans 3"/>
                <a:cs typeface="Source Sans 3"/>
                <a:sym typeface="Source Sans 3"/>
              </a:rPr>
              <a:t>Importante:</a:t>
            </a:r>
            <a:r>
              <a:rPr lang="en-US" sz="1000">
                <a:solidFill>
                  <a:srgbClr val="FFFFFF"/>
                </a:solidFill>
                <a:latin typeface="Source Sans 3"/>
                <a:ea typeface="Source Sans 3"/>
                <a:cs typeface="Source Sans 3"/>
                <a:sym typeface="Source Sans 3"/>
              </a:rPr>
              <a:t> "Hacer Machine Learning" no es un objetivo de negocio; es una posible forma de construir una solución.</a:t>
            </a:r>
            <a:endParaRPr sz="1000">
              <a:solidFill>
                <a:schemeClr val="dk1"/>
              </a:solidFill>
              <a:latin typeface="Calibri"/>
              <a:ea typeface="Calibri"/>
              <a:cs typeface="Calibri"/>
              <a:sym typeface="Calibri"/>
            </a:endParaRPr>
          </a:p>
        </p:txBody>
      </p:sp>
      <p:pic>
        <p:nvPicPr>
          <p:cNvPr id="147" name="Google Shape;147;p4"/>
          <p:cNvPicPr preferRelativeResize="0"/>
          <p:nvPr/>
        </p:nvPicPr>
        <p:blipFill rotWithShape="1">
          <a:blip r:embed="rId4">
            <a:alphaModFix/>
          </a:blip>
          <a:srcRect b="0" l="0" r="0" t="0"/>
          <a:stretch/>
        </p:blipFill>
        <p:spPr>
          <a:xfrm>
            <a:off x="7375171" y="4813772"/>
            <a:ext cx="1722269" cy="312447"/>
          </a:xfrm>
          <a:prstGeom prst="rect">
            <a:avLst/>
          </a:prstGeom>
          <a:noFill/>
          <a:ln>
            <a:noFill/>
          </a:ln>
        </p:spPr>
      </p:pic>
      <p:sp>
        <p:nvSpPr>
          <p:cNvPr id="148" name="Google Shape;148;p4"/>
          <p:cNvSpPr/>
          <p:nvPr/>
        </p:nvSpPr>
        <p:spPr>
          <a:xfrm>
            <a:off x="545425" y="230461"/>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4</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p:nvPr/>
        </p:nvSpPr>
        <p:spPr>
          <a:xfrm>
            <a:off x="523577" y="374377"/>
            <a:ext cx="8096845" cy="342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150"/>
              <a:buFont typeface="Lora"/>
              <a:buNone/>
            </a:pPr>
            <a:r>
              <a:rPr lang="en-US" sz="2150">
                <a:solidFill>
                  <a:srgbClr val="2E75B5"/>
                </a:solidFill>
                <a:latin typeface="Lora"/>
                <a:ea typeface="Lora"/>
                <a:cs typeface="Lora"/>
                <a:sym typeface="Lora"/>
              </a:rPr>
              <a:t>Requerimientos de Datos</a:t>
            </a:r>
            <a:endParaRPr sz="2150">
              <a:solidFill>
                <a:srgbClr val="2E75B5"/>
              </a:solidFill>
              <a:latin typeface="Calibri"/>
              <a:ea typeface="Calibri"/>
              <a:cs typeface="Calibri"/>
              <a:sym typeface="Calibri"/>
            </a:endParaRPr>
          </a:p>
        </p:txBody>
      </p:sp>
      <p:sp>
        <p:nvSpPr>
          <p:cNvPr id="155" name="Google Shape;155;p5"/>
          <p:cNvSpPr/>
          <p:nvPr/>
        </p:nvSpPr>
        <p:spPr>
          <a:xfrm>
            <a:off x="523577" y="924892"/>
            <a:ext cx="8096845"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D6E5EF"/>
              </a:buClr>
              <a:buSzPts val="900"/>
              <a:buFont typeface="Source Sans 3"/>
              <a:buNone/>
            </a:pPr>
            <a:r>
              <a:rPr lang="en-US" sz="900">
                <a:solidFill>
                  <a:srgbClr val="D6E5EF"/>
                </a:solidFill>
                <a:latin typeface="Source Sans 3"/>
                <a:ea typeface="Source Sans 3"/>
                <a:cs typeface="Source Sans 3"/>
                <a:sym typeface="Source Sans 3"/>
              </a:rPr>
              <a:t>Una vez definido el problema, se debe determinar qué información se necesita y si está disponible. Esta fase evita sorpresas costosas en etapas posteriores del proyecto.</a:t>
            </a:r>
            <a:endParaRPr sz="900">
              <a:solidFill>
                <a:schemeClr val="dk1"/>
              </a:solidFill>
              <a:latin typeface="Calibri"/>
              <a:ea typeface="Calibri"/>
              <a:cs typeface="Calibri"/>
              <a:sym typeface="Calibri"/>
            </a:endParaRPr>
          </a:p>
        </p:txBody>
      </p:sp>
      <p:sp>
        <p:nvSpPr>
          <p:cNvPr id="156" name="Google Shape;156;p5"/>
          <p:cNvSpPr/>
          <p:nvPr/>
        </p:nvSpPr>
        <p:spPr>
          <a:xfrm>
            <a:off x="523577" y="1394371"/>
            <a:ext cx="3996482" cy="1273001"/>
          </a:xfrm>
          <a:prstGeom prst="roundRect">
            <a:avLst>
              <a:gd fmla="val 1374" name="adj"/>
            </a:avLst>
          </a:prstGeom>
          <a:solidFill>
            <a:srgbClr val="4447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5"/>
          <p:cNvSpPr/>
          <p:nvPr/>
        </p:nvSpPr>
        <p:spPr>
          <a:xfrm>
            <a:off x="640110" y="1510903"/>
            <a:ext cx="349746" cy="349746"/>
          </a:xfrm>
          <a:prstGeom prst="ellipse">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58" name="Google Shape;158;p5"/>
          <p:cNvSpPr/>
          <p:nvPr/>
        </p:nvSpPr>
        <p:spPr>
          <a:xfrm>
            <a:off x="736253" y="1607046"/>
            <a:ext cx="157386" cy="157386"/>
          </a:xfrm>
          <a:prstGeom prst="rect">
            <a:avLst/>
          </a:prstGeom>
          <a:noFill/>
          <a:ln>
            <a:noFill/>
          </a:ln>
        </p:spPr>
      </p:sp>
      <p:sp>
        <p:nvSpPr>
          <p:cNvPr id="159" name="Google Shape;159;p5"/>
          <p:cNvSpPr/>
          <p:nvPr/>
        </p:nvSpPr>
        <p:spPr>
          <a:xfrm>
            <a:off x="640110" y="1964457"/>
            <a:ext cx="3763417"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lang="en-US" sz="1050">
                <a:solidFill>
                  <a:srgbClr val="D6E5EF"/>
                </a:solidFill>
                <a:latin typeface="Lora"/>
                <a:ea typeface="Lora"/>
                <a:cs typeface="Lora"/>
                <a:sym typeface="Lora"/>
              </a:rPr>
              <a:t>Información</a:t>
            </a:r>
            <a:endParaRPr sz="1050">
              <a:solidFill>
                <a:schemeClr val="dk1"/>
              </a:solidFill>
              <a:latin typeface="Calibri"/>
              <a:ea typeface="Calibri"/>
              <a:cs typeface="Calibri"/>
              <a:sym typeface="Calibri"/>
            </a:endParaRPr>
          </a:p>
        </p:txBody>
      </p:sp>
      <p:sp>
        <p:nvSpPr>
          <p:cNvPr id="160" name="Google Shape;160;p5"/>
          <p:cNvSpPr/>
          <p:nvPr/>
        </p:nvSpPr>
        <p:spPr>
          <a:xfrm>
            <a:off x="640110" y="2198117"/>
            <a:ext cx="3763417"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D6E5EF"/>
              </a:buClr>
              <a:buSzPts val="900"/>
              <a:buFont typeface="Source Sans 3"/>
              <a:buNone/>
            </a:pPr>
            <a:r>
              <a:rPr lang="en-US" sz="900">
                <a:solidFill>
                  <a:srgbClr val="D6E5EF"/>
                </a:solidFill>
                <a:latin typeface="Source Sans 3"/>
                <a:ea typeface="Source Sans 3"/>
                <a:cs typeface="Source Sans 3"/>
                <a:sym typeface="Source Sans 3"/>
              </a:rPr>
              <a:t>¿Qué variables necesitamos? Identificar los campos y atributos relevantes para el análisis.</a:t>
            </a:r>
            <a:endParaRPr sz="900">
              <a:solidFill>
                <a:schemeClr val="dk1"/>
              </a:solidFill>
              <a:latin typeface="Calibri"/>
              <a:ea typeface="Calibri"/>
              <a:cs typeface="Calibri"/>
              <a:sym typeface="Calibri"/>
            </a:endParaRPr>
          </a:p>
        </p:txBody>
      </p:sp>
      <p:sp>
        <p:nvSpPr>
          <p:cNvPr id="161" name="Google Shape;161;p5"/>
          <p:cNvSpPr/>
          <p:nvPr/>
        </p:nvSpPr>
        <p:spPr>
          <a:xfrm>
            <a:off x="4623867" y="1394371"/>
            <a:ext cx="3996556" cy="1273001"/>
          </a:xfrm>
          <a:prstGeom prst="roundRect">
            <a:avLst>
              <a:gd fmla="val 1374" name="adj"/>
            </a:avLst>
          </a:prstGeom>
          <a:solidFill>
            <a:srgbClr val="4447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5"/>
          <p:cNvSpPr/>
          <p:nvPr/>
        </p:nvSpPr>
        <p:spPr>
          <a:xfrm>
            <a:off x="4740399" y="1510903"/>
            <a:ext cx="349746" cy="349746"/>
          </a:xfrm>
          <a:prstGeom prst="ellipse">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63" name="Google Shape;163;p5"/>
          <p:cNvSpPr/>
          <p:nvPr/>
        </p:nvSpPr>
        <p:spPr>
          <a:xfrm>
            <a:off x="4836542" y="1607046"/>
            <a:ext cx="157386" cy="157386"/>
          </a:xfrm>
          <a:prstGeom prst="rect">
            <a:avLst/>
          </a:prstGeom>
          <a:noFill/>
          <a:ln>
            <a:noFill/>
          </a:ln>
        </p:spPr>
      </p:sp>
      <p:sp>
        <p:nvSpPr>
          <p:cNvPr id="164" name="Google Shape;164;p5"/>
          <p:cNvSpPr/>
          <p:nvPr/>
        </p:nvSpPr>
        <p:spPr>
          <a:xfrm>
            <a:off x="4740399" y="1964457"/>
            <a:ext cx="3763491"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lang="en-US" sz="1050">
                <a:solidFill>
                  <a:srgbClr val="D6E5EF"/>
                </a:solidFill>
                <a:latin typeface="Lora"/>
                <a:ea typeface="Lora"/>
                <a:cs typeface="Lora"/>
                <a:sym typeface="Lora"/>
              </a:rPr>
              <a:t>Origen</a:t>
            </a:r>
            <a:endParaRPr sz="1050">
              <a:solidFill>
                <a:schemeClr val="dk1"/>
              </a:solidFill>
              <a:latin typeface="Calibri"/>
              <a:ea typeface="Calibri"/>
              <a:cs typeface="Calibri"/>
              <a:sym typeface="Calibri"/>
            </a:endParaRPr>
          </a:p>
        </p:txBody>
      </p:sp>
      <p:sp>
        <p:nvSpPr>
          <p:cNvPr id="165" name="Google Shape;165;p5"/>
          <p:cNvSpPr/>
          <p:nvPr/>
        </p:nvSpPr>
        <p:spPr>
          <a:xfrm>
            <a:off x="4740399" y="2198117"/>
            <a:ext cx="3763491"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D6E5EF"/>
              </a:buClr>
              <a:buSzPts val="900"/>
              <a:buFont typeface="Source Sans 3"/>
              <a:buNone/>
            </a:pPr>
            <a:r>
              <a:rPr lang="en-US" sz="900">
                <a:solidFill>
                  <a:srgbClr val="D6E5EF"/>
                </a:solidFill>
                <a:latin typeface="Source Sans 3"/>
                <a:ea typeface="Source Sans 3"/>
                <a:cs typeface="Source Sans 3"/>
                <a:sym typeface="Source Sans 3"/>
              </a:rPr>
              <a:t>¿Dónde se encuentran los datos? Bases de datos, archivos, APIs o sistemas externos.</a:t>
            </a:r>
            <a:endParaRPr sz="900">
              <a:solidFill>
                <a:schemeClr val="dk1"/>
              </a:solidFill>
              <a:latin typeface="Calibri"/>
              <a:ea typeface="Calibri"/>
              <a:cs typeface="Calibri"/>
              <a:sym typeface="Calibri"/>
            </a:endParaRPr>
          </a:p>
        </p:txBody>
      </p:sp>
      <p:sp>
        <p:nvSpPr>
          <p:cNvPr id="166" name="Google Shape;166;p5"/>
          <p:cNvSpPr/>
          <p:nvPr/>
        </p:nvSpPr>
        <p:spPr>
          <a:xfrm>
            <a:off x="523577" y="2771180"/>
            <a:ext cx="3996482" cy="1273001"/>
          </a:xfrm>
          <a:prstGeom prst="roundRect">
            <a:avLst>
              <a:gd fmla="val 1374" name="adj"/>
            </a:avLst>
          </a:prstGeom>
          <a:solidFill>
            <a:srgbClr val="4447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5"/>
          <p:cNvSpPr/>
          <p:nvPr/>
        </p:nvSpPr>
        <p:spPr>
          <a:xfrm>
            <a:off x="640110" y="2887712"/>
            <a:ext cx="349746" cy="349746"/>
          </a:xfrm>
          <a:prstGeom prst="ellipse">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68" name="Google Shape;168;p5"/>
          <p:cNvSpPr/>
          <p:nvPr/>
        </p:nvSpPr>
        <p:spPr>
          <a:xfrm>
            <a:off x="736253" y="2983855"/>
            <a:ext cx="157386" cy="157386"/>
          </a:xfrm>
          <a:prstGeom prst="rect">
            <a:avLst/>
          </a:prstGeom>
          <a:noFill/>
          <a:ln>
            <a:noFill/>
          </a:ln>
        </p:spPr>
      </p:sp>
      <p:sp>
        <p:nvSpPr>
          <p:cNvPr id="169" name="Google Shape;169;p5"/>
          <p:cNvSpPr/>
          <p:nvPr/>
        </p:nvSpPr>
        <p:spPr>
          <a:xfrm>
            <a:off x="640110" y="3341266"/>
            <a:ext cx="3763417"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lang="en-US" sz="1050">
                <a:solidFill>
                  <a:srgbClr val="D6E5EF"/>
                </a:solidFill>
                <a:latin typeface="Lora"/>
                <a:ea typeface="Lora"/>
                <a:cs typeface="Lora"/>
                <a:sym typeface="Lora"/>
              </a:rPr>
              <a:t>Disponibilidad</a:t>
            </a:r>
            <a:endParaRPr sz="1050">
              <a:solidFill>
                <a:schemeClr val="dk1"/>
              </a:solidFill>
              <a:latin typeface="Calibri"/>
              <a:ea typeface="Calibri"/>
              <a:cs typeface="Calibri"/>
              <a:sym typeface="Calibri"/>
            </a:endParaRPr>
          </a:p>
        </p:txBody>
      </p:sp>
      <p:sp>
        <p:nvSpPr>
          <p:cNvPr id="170" name="Google Shape;170;p5"/>
          <p:cNvSpPr/>
          <p:nvPr/>
        </p:nvSpPr>
        <p:spPr>
          <a:xfrm>
            <a:off x="640110" y="3574926"/>
            <a:ext cx="3763417"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lang="en-US" sz="900">
                <a:solidFill>
                  <a:srgbClr val="D6E5EF"/>
                </a:solidFill>
                <a:latin typeface="Source Sans 3"/>
                <a:ea typeface="Source Sans 3"/>
                <a:cs typeface="Source Sans 3"/>
                <a:sym typeface="Source Sans 3"/>
              </a:rPr>
              <a:t>¿Tenemos acceso real? Verificar permisos, licencias y condiciones de uso.</a:t>
            </a:r>
            <a:endParaRPr sz="900">
              <a:solidFill>
                <a:schemeClr val="dk1"/>
              </a:solidFill>
              <a:latin typeface="Calibri"/>
              <a:ea typeface="Calibri"/>
              <a:cs typeface="Calibri"/>
              <a:sym typeface="Calibri"/>
            </a:endParaRPr>
          </a:p>
        </p:txBody>
      </p:sp>
      <p:sp>
        <p:nvSpPr>
          <p:cNvPr id="171" name="Google Shape;171;p5"/>
          <p:cNvSpPr/>
          <p:nvPr/>
        </p:nvSpPr>
        <p:spPr>
          <a:xfrm>
            <a:off x="4623867" y="2771180"/>
            <a:ext cx="3996556" cy="1273001"/>
          </a:xfrm>
          <a:prstGeom prst="roundRect">
            <a:avLst>
              <a:gd fmla="val 1374" name="adj"/>
            </a:avLst>
          </a:prstGeom>
          <a:solidFill>
            <a:srgbClr val="4447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5"/>
          <p:cNvSpPr/>
          <p:nvPr/>
        </p:nvSpPr>
        <p:spPr>
          <a:xfrm>
            <a:off x="4740399" y="2887712"/>
            <a:ext cx="349746" cy="349746"/>
          </a:xfrm>
          <a:prstGeom prst="ellipse">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73" name="Google Shape;173;p5"/>
          <p:cNvSpPr/>
          <p:nvPr/>
        </p:nvSpPr>
        <p:spPr>
          <a:xfrm>
            <a:off x="4836542" y="2983855"/>
            <a:ext cx="157386" cy="157386"/>
          </a:xfrm>
          <a:prstGeom prst="rect">
            <a:avLst/>
          </a:prstGeom>
          <a:noFill/>
          <a:ln>
            <a:noFill/>
          </a:ln>
        </p:spPr>
      </p:sp>
      <p:sp>
        <p:nvSpPr>
          <p:cNvPr id="174" name="Google Shape;174;p5"/>
          <p:cNvSpPr/>
          <p:nvPr/>
        </p:nvSpPr>
        <p:spPr>
          <a:xfrm>
            <a:off x="4740399" y="3341266"/>
            <a:ext cx="3763491"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lang="en-US" sz="1050">
                <a:solidFill>
                  <a:srgbClr val="D6E5EF"/>
                </a:solidFill>
                <a:latin typeface="Lora"/>
                <a:ea typeface="Lora"/>
                <a:cs typeface="Lora"/>
                <a:sym typeface="Lora"/>
              </a:rPr>
              <a:t>Restricciones</a:t>
            </a:r>
            <a:endParaRPr sz="1050">
              <a:solidFill>
                <a:schemeClr val="dk1"/>
              </a:solidFill>
              <a:latin typeface="Calibri"/>
              <a:ea typeface="Calibri"/>
              <a:cs typeface="Calibri"/>
              <a:sym typeface="Calibri"/>
            </a:endParaRPr>
          </a:p>
        </p:txBody>
      </p:sp>
      <p:sp>
        <p:nvSpPr>
          <p:cNvPr id="175" name="Google Shape;175;p5"/>
          <p:cNvSpPr/>
          <p:nvPr/>
        </p:nvSpPr>
        <p:spPr>
          <a:xfrm>
            <a:off x="4740399" y="3574926"/>
            <a:ext cx="3763491"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D6E5EF"/>
              </a:buClr>
              <a:buSzPts val="900"/>
              <a:buFont typeface="Source Sans 3"/>
              <a:buNone/>
            </a:pPr>
            <a:r>
              <a:rPr lang="en-US" sz="900">
                <a:solidFill>
                  <a:srgbClr val="D6E5EF"/>
                </a:solidFill>
                <a:latin typeface="Source Sans 3"/>
                <a:ea typeface="Source Sans 3"/>
                <a:cs typeface="Source Sans 3"/>
                <a:sym typeface="Source Sans 3"/>
              </a:rPr>
              <a:t>Privacidad, permisos, calidad o limitaciones técnicas que condicionan el proyecto.</a:t>
            </a:r>
            <a:endParaRPr sz="900">
              <a:solidFill>
                <a:schemeClr val="dk1"/>
              </a:solidFill>
              <a:latin typeface="Calibri"/>
              <a:ea typeface="Calibri"/>
              <a:cs typeface="Calibri"/>
              <a:sym typeface="Calibri"/>
            </a:endParaRPr>
          </a:p>
        </p:txBody>
      </p:sp>
      <p:sp>
        <p:nvSpPr>
          <p:cNvPr id="176" name="Google Shape;176;p5"/>
          <p:cNvSpPr/>
          <p:nvPr/>
        </p:nvSpPr>
        <p:spPr>
          <a:xfrm>
            <a:off x="523577" y="4160937"/>
            <a:ext cx="8096845" cy="608112"/>
          </a:xfrm>
          <a:prstGeom prst="roundRect">
            <a:avLst>
              <a:gd fmla="val 2876" name="adj"/>
            </a:avLst>
          </a:prstGeom>
          <a:solidFill>
            <a:srgbClr val="1E4E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7" name="Google Shape;177;p5"/>
          <p:cNvPicPr preferRelativeResize="0"/>
          <p:nvPr/>
        </p:nvPicPr>
        <p:blipFill rotWithShape="1">
          <a:blip r:embed="rId3">
            <a:alphaModFix/>
          </a:blip>
          <a:srcRect b="0" l="0" r="0" t="0"/>
          <a:stretch/>
        </p:blipFill>
        <p:spPr>
          <a:xfrm>
            <a:off x="640110" y="4323606"/>
            <a:ext cx="145703" cy="116532"/>
          </a:xfrm>
          <a:prstGeom prst="rect">
            <a:avLst/>
          </a:prstGeom>
          <a:noFill/>
          <a:ln>
            <a:noFill/>
          </a:ln>
        </p:spPr>
      </p:pic>
      <p:sp>
        <p:nvSpPr>
          <p:cNvPr id="178" name="Google Shape;178;p5"/>
          <p:cNvSpPr/>
          <p:nvPr/>
        </p:nvSpPr>
        <p:spPr>
          <a:xfrm>
            <a:off x="902345" y="4293840"/>
            <a:ext cx="7601545"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FFFFFF"/>
              </a:buClr>
              <a:buSzPts val="900"/>
              <a:buFont typeface="Source Sans 3"/>
              <a:buNone/>
            </a:pPr>
            <a:r>
              <a:rPr b="1" lang="en-US" sz="900">
                <a:solidFill>
                  <a:srgbClr val="FFFFFF"/>
                </a:solidFill>
                <a:latin typeface="Source Sans 3"/>
                <a:ea typeface="Source Sans 3"/>
                <a:cs typeface="Source Sans 3"/>
                <a:sym typeface="Source Sans 3"/>
              </a:rPr>
              <a:t>Ejemplo NYC Taxi:</a:t>
            </a:r>
            <a:r>
              <a:rPr lang="en-US" sz="900">
                <a:solidFill>
                  <a:srgbClr val="FFFFFF"/>
                </a:solidFill>
                <a:latin typeface="Source Sans 3"/>
                <a:ea typeface="Source Sans 3"/>
                <a:cs typeface="Source Sans 3"/>
                <a:sym typeface="Source Sans 3"/>
              </a:rPr>
              <a:t> Distancia, fecha y hora, tarifa, zona, tipo de pago y propina. No siempre se dispone de todos los datos ideales; los requerimientos deben ajustarse a la realidad.</a:t>
            </a:r>
            <a:endParaRPr sz="900">
              <a:solidFill>
                <a:schemeClr val="dk1"/>
              </a:solidFill>
              <a:latin typeface="Calibri"/>
              <a:ea typeface="Calibri"/>
              <a:cs typeface="Calibri"/>
              <a:sym typeface="Calibri"/>
            </a:endParaRPr>
          </a:p>
        </p:txBody>
      </p:sp>
      <p:pic>
        <p:nvPicPr>
          <p:cNvPr id="179" name="Google Shape;179;p5"/>
          <p:cNvPicPr preferRelativeResize="0"/>
          <p:nvPr/>
        </p:nvPicPr>
        <p:blipFill rotWithShape="1">
          <a:blip r:embed="rId4">
            <a:alphaModFix/>
          </a:blip>
          <a:srcRect b="0" l="0" r="0" t="0"/>
          <a:stretch/>
        </p:blipFill>
        <p:spPr>
          <a:xfrm>
            <a:off x="7505114" y="4847724"/>
            <a:ext cx="1638886" cy="297320"/>
          </a:xfrm>
          <a:prstGeom prst="rect">
            <a:avLst/>
          </a:prstGeom>
          <a:noFill/>
          <a:ln>
            <a:noFill/>
          </a:ln>
        </p:spPr>
      </p:pic>
      <p:sp>
        <p:nvSpPr>
          <p:cNvPr id="180" name="Google Shape;180;p5"/>
          <p:cNvSpPr/>
          <p:nvPr/>
        </p:nvSpPr>
        <p:spPr>
          <a:xfrm>
            <a:off x="545425" y="230461"/>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5</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6"/>
          <p:cNvPicPr preferRelativeResize="0"/>
          <p:nvPr/>
        </p:nvPicPr>
        <p:blipFill rotWithShape="1">
          <a:blip r:embed="rId3">
            <a:alphaModFix/>
          </a:blip>
          <a:srcRect b="0" l="0" r="0" t="0"/>
          <a:stretch/>
        </p:blipFill>
        <p:spPr>
          <a:xfrm>
            <a:off x="7744265" y="4835791"/>
            <a:ext cx="1333358" cy="279709"/>
          </a:xfrm>
          <a:prstGeom prst="rect">
            <a:avLst/>
          </a:prstGeom>
          <a:noFill/>
          <a:ln>
            <a:noFill/>
          </a:ln>
        </p:spPr>
      </p:pic>
      <p:pic>
        <p:nvPicPr>
          <p:cNvPr id="187" name="Google Shape;187;p6"/>
          <p:cNvPicPr preferRelativeResize="0"/>
          <p:nvPr/>
        </p:nvPicPr>
        <p:blipFill rotWithShape="1">
          <a:blip r:embed="rId4">
            <a:alphaModFix/>
          </a:blip>
          <a:srcRect b="0" l="0" r="0" t="0"/>
          <a:stretch/>
        </p:blipFill>
        <p:spPr>
          <a:xfrm>
            <a:off x="607103" y="13429"/>
            <a:ext cx="7695106" cy="51300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p:nvPr/>
        </p:nvSpPr>
        <p:spPr>
          <a:xfrm>
            <a:off x="523577" y="474464"/>
            <a:ext cx="8096845"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400"/>
              <a:buFont typeface="Lora"/>
              <a:buNone/>
            </a:pPr>
            <a:r>
              <a:rPr lang="en-US" sz="2400">
                <a:solidFill>
                  <a:srgbClr val="2E75B5"/>
                </a:solidFill>
                <a:latin typeface="Lora"/>
                <a:ea typeface="Lora"/>
                <a:cs typeface="Lora"/>
                <a:sym typeface="Lora"/>
              </a:rPr>
              <a:t>Preparación y Calidad de los Datos</a:t>
            </a:r>
            <a:endParaRPr sz="2400">
              <a:solidFill>
                <a:srgbClr val="2E75B5"/>
              </a:solidFill>
              <a:latin typeface="Calibri"/>
              <a:ea typeface="Calibri"/>
              <a:cs typeface="Calibri"/>
              <a:sym typeface="Calibri"/>
            </a:endParaRPr>
          </a:p>
        </p:txBody>
      </p:sp>
      <p:sp>
        <p:nvSpPr>
          <p:cNvPr id="194" name="Google Shape;194;p7"/>
          <p:cNvSpPr/>
          <p:nvPr/>
        </p:nvSpPr>
        <p:spPr>
          <a:xfrm>
            <a:off x="523577" y="1121197"/>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Los datos crudos rara vez están listos para usarse. Deben limpiarse, transformarse y validarse antes de cualquier análisis o modelado. Esta etapa consume gran parte del tiempo total del proyecto.</a:t>
            </a:r>
            <a:endParaRPr sz="1000">
              <a:solidFill>
                <a:schemeClr val="dk1"/>
              </a:solidFill>
              <a:latin typeface="Calibri"/>
              <a:ea typeface="Calibri"/>
              <a:cs typeface="Calibri"/>
              <a:sym typeface="Calibri"/>
            </a:endParaRPr>
          </a:p>
        </p:txBody>
      </p:sp>
      <p:sp>
        <p:nvSpPr>
          <p:cNvPr id="195" name="Google Shape;195;p7"/>
          <p:cNvSpPr/>
          <p:nvPr/>
        </p:nvSpPr>
        <p:spPr>
          <a:xfrm>
            <a:off x="523577" y="1687264"/>
            <a:ext cx="2617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Lora"/>
              <a:buNone/>
            </a:pPr>
            <a:r>
              <a:rPr lang="en-US" sz="1000">
                <a:solidFill>
                  <a:srgbClr val="D6E5EF"/>
                </a:solidFill>
                <a:latin typeface="Lora"/>
                <a:ea typeface="Lora"/>
                <a:cs typeface="Lora"/>
                <a:sym typeface="Lora"/>
              </a:rPr>
              <a:t>01</a:t>
            </a:r>
            <a:endParaRPr sz="1000">
              <a:solidFill>
                <a:schemeClr val="dk1"/>
              </a:solidFill>
              <a:latin typeface="Calibri"/>
              <a:ea typeface="Calibri"/>
              <a:cs typeface="Calibri"/>
              <a:sym typeface="Calibri"/>
            </a:endParaRPr>
          </a:p>
        </p:txBody>
      </p:sp>
      <p:sp>
        <p:nvSpPr>
          <p:cNvPr id="196" name="Google Shape;196;p7"/>
          <p:cNvSpPr/>
          <p:nvPr/>
        </p:nvSpPr>
        <p:spPr>
          <a:xfrm>
            <a:off x="523577" y="1895401"/>
            <a:ext cx="2611636" cy="14288"/>
          </a:xfrm>
          <a:prstGeom prst="rect">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7"/>
          <p:cNvSpPr/>
          <p:nvPr/>
        </p:nvSpPr>
        <p:spPr>
          <a:xfrm>
            <a:off x="523577" y="1989386"/>
            <a:ext cx="2611636"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lang="en-US" sz="1200">
                <a:solidFill>
                  <a:srgbClr val="D6E5EF"/>
                </a:solidFill>
                <a:latin typeface="Lora"/>
                <a:ea typeface="Lora"/>
                <a:cs typeface="Lora"/>
                <a:sym typeface="Lora"/>
              </a:rPr>
              <a:t>Datos Crudos</a:t>
            </a:r>
            <a:endParaRPr sz="1200">
              <a:solidFill>
                <a:schemeClr val="dk1"/>
              </a:solidFill>
              <a:latin typeface="Calibri"/>
              <a:ea typeface="Calibri"/>
              <a:cs typeface="Calibri"/>
              <a:sym typeface="Calibri"/>
            </a:endParaRPr>
          </a:p>
        </p:txBody>
      </p:sp>
      <p:sp>
        <p:nvSpPr>
          <p:cNvPr id="198" name="Google Shape;198;p7"/>
          <p:cNvSpPr/>
          <p:nvPr/>
        </p:nvSpPr>
        <p:spPr>
          <a:xfrm>
            <a:off x="523577" y="2260402"/>
            <a:ext cx="2611636"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Información sin procesar, tal como se obtuvo de las fuentes</a:t>
            </a:r>
            <a:endParaRPr sz="1000">
              <a:solidFill>
                <a:schemeClr val="dk1"/>
              </a:solidFill>
              <a:latin typeface="Calibri"/>
              <a:ea typeface="Calibri"/>
              <a:cs typeface="Calibri"/>
              <a:sym typeface="Calibri"/>
            </a:endParaRPr>
          </a:p>
        </p:txBody>
      </p:sp>
      <p:sp>
        <p:nvSpPr>
          <p:cNvPr id="199" name="Google Shape;199;p7"/>
          <p:cNvSpPr/>
          <p:nvPr/>
        </p:nvSpPr>
        <p:spPr>
          <a:xfrm>
            <a:off x="3266108" y="1687264"/>
            <a:ext cx="2617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Lora"/>
              <a:buNone/>
            </a:pPr>
            <a:r>
              <a:rPr lang="en-US" sz="1000">
                <a:solidFill>
                  <a:srgbClr val="D6E5EF"/>
                </a:solidFill>
                <a:latin typeface="Lora"/>
                <a:ea typeface="Lora"/>
                <a:cs typeface="Lora"/>
                <a:sym typeface="Lora"/>
              </a:rPr>
              <a:t>02</a:t>
            </a:r>
            <a:endParaRPr sz="1000">
              <a:solidFill>
                <a:schemeClr val="dk1"/>
              </a:solidFill>
              <a:latin typeface="Calibri"/>
              <a:ea typeface="Calibri"/>
              <a:cs typeface="Calibri"/>
              <a:sym typeface="Calibri"/>
            </a:endParaRPr>
          </a:p>
        </p:txBody>
      </p:sp>
      <p:sp>
        <p:nvSpPr>
          <p:cNvPr id="200" name="Google Shape;200;p7"/>
          <p:cNvSpPr/>
          <p:nvPr/>
        </p:nvSpPr>
        <p:spPr>
          <a:xfrm>
            <a:off x="3266108" y="1895401"/>
            <a:ext cx="2611710" cy="14288"/>
          </a:xfrm>
          <a:prstGeom prst="rect">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7"/>
          <p:cNvSpPr/>
          <p:nvPr/>
        </p:nvSpPr>
        <p:spPr>
          <a:xfrm>
            <a:off x="3266108" y="1989386"/>
            <a:ext cx="261171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lang="en-US" sz="1200">
                <a:solidFill>
                  <a:srgbClr val="D6E5EF"/>
                </a:solidFill>
                <a:latin typeface="Lora"/>
                <a:ea typeface="Lora"/>
                <a:cs typeface="Lora"/>
                <a:sym typeface="Lora"/>
              </a:rPr>
              <a:t>Limpieza</a:t>
            </a:r>
            <a:endParaRPr sz="1200">
              <a:solidFill>
                <a:schemeClr val="dk1"/>
              </a:solidFill>
              <a:latin typeface="Calibri"/>
              <a:ea typeface="Calibri"/>
              <a:cs typeface="Calibri"/>
              <a:sym typeface="Calibri"/>
            </a:endParaRPr>
          </a:p>
        </p:txBody>
      </p:sp>
      <p:sp>
        <p:nvSpPr>
          <p:cNvPr id="202" name="Google Shape;202;p7"/>
          <p:cNvSpPr/>
          <p:nvPr/>
        </p:nvSpPr>
        <p:spPr>
          <a:xfrm>
            <a:off x="3266108" y="2260402"/>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Corrección de valores faltantes, duplicados e inconsistencias</a:t>
            </a:r>
            <a:endParaRPr sz="1000">
              <a:solidFill>
                <a:schemeClr val="dk1"/>
              </a:solidFill>
              <a:latin typeface="Calibri"/>
              <a:ea typeface="Calibri"/>
              <a:cs typeface="Calibri"/>
              <a:sym typeface="Calibri"/>
            </a:endParaRPr>
          </a:p>
        </p:txBody>
      </p:sp>
      <p:sp>
        <p:nvSpPr>
          <p:cNvPr id="203" name="Google Shape;203;p7"/>
          <p:cNvSpPr/>
          <p:nvPr/>
        </p:nvSpPr>
        <p:spPr>
          <a:xfrm>
            <a:off x="6008712" y="1687264"/>
            <a:ext cx="2617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Lora"/>
              <a:buNone/>
            </a:pPr>
            <a:r>
              <a:rPr lang="en-US" sz="1000">
                <a:solidFill>
                  <a:srgbClr val="D6E5EF"/>
                </a:solidFill>
                <a:latin typeface="Lora"/>
                <a:ea typeface="Lora"/>
                <a:cs typeface="Lora"/>
                <a:sym typeface="Lora"/>
              </a:rPr>
              <a:t>03</a:t>
            </a:r>
            <a:endParaRPr sz="1000">
              <a:solidFill>
                <a:schemeClr val="dk1"/>
              </a:solidFill>
              <a:latin typeface="Calibri"/>
              <a:ea typeface="Calibri"/>
              <a:cs typeface="Calibri"/>
              <a:sym typeface="Calibri"/>
            </a:endParaRPr>
          </a:p>
        </p:txBody>
      </p:sp>
      <p:sp>
        <p:nvSpPr>
          <p:cNvPr id="204" name="Google Shape;204;p7"/>
          <p:cNvSpPr/>
          <p:nvPr/>
        </p:nvSpPr>
        <p:spPr>
          <a:xfrm>
            <a:off x="6008712" y="1895401"/>
            <a:ext cx="2611710" cy="14288"/>
          </a:xfrm>
          <a:prstGeom prst="rect">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7"/>
          <p:cNvSpPr/>
          <p:nvPr/>
        </p:nvSpPr>
        <p:spPr>
          <a:xfrm>
            <a:off x="6008712" y="1989386"/>
            <a:ext cx="261171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lang="en-US" sz="1200">
                <a:solidFill>
                  <a:srgbClr val="D6E5EF"/>
                </a:solidFill>
                <a:latin typeface="Lora"/>
                <a:ea typeface="Lora"/>
                <a:cs typeface="Lora"/>
                <a:sym typeface="Lora"/>
              </a:rPr>
              <a:t>Transformación</a:t>
            </a:r>
            <a:endParaRPr sz="1200">
              <a:solidFill>
                <a:schemeClr val="dk1"/>
              </a:solidFill>
              <a:latin typeface="Calibri"/>
              <a:ea typeface="Calibri"/>
              <a:cs typeface="Calibri"/>
              <a:sym typeface="Calibri"/>
            </a:endParaRPr>
          </a:p>
        </p:txBody>
      </p:sp>
      <p:sp>
        <p:nvSpPr>
          <p:cNvPr id="206" name="Google Shape;206;p7"/>
          <p:cNvSpPr/>
          <p:nvPr/>
        </p:nvSpPr>
        <p:spPr>
          <a:xfrm>
            <a:off x="6008712" y="2260402"/>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Normalización, codificación y estructuración de variables</a:t>
            </a:r>
            <a:endParaRPr sz="1000">
              <a:solidFill>
                <a:schemeClr val="dk1"/>
              </a:solidFill>
              <a:latin typeface="Calibri"/>
              <a:ea typeface="Calibri"/>
              <a:cs typeface="Calibri"/>
              <a:sym typeface="Calibri"/>
            </a:endParaRPr>
          </a:p>
        </p:txBody>
      </p:sp>
      <p:sp>
        <p:nvSpPr>
          <p:cNvPr id="207" name="Google Shape;207;p7"/>
          <p:cNvSpPr/>
          <p:nvPr/>
        </p:nvSpPr>
        <p:spPr>
          <a:xfrm>
            <a:off x="523577" y="2908250"/>
            <a:ext cx="2617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Lora"/>
              <a:buNone/>
            </a:pPr>
            <a:r>
              <a:rPr lang="en-US" sz="1000">
                <a:solidFill>
                  <a:srgbClr val="D6E5EF"/>
                </a:solidFill>
                <a:latin typeface="Lora"/>
                <a:ea typeface="Lora"/>
                <a:cs typeface="Lora"/>
                <a:sym typeface="Lora"/>
              </a:rPr>
              <a:t>04</a:t>
            </a:r>
            <a:endParaRPr sz="1000">
              <a:solidFill>
                <a:schemeClr val="dk1"/>
              </a:solidFill>
              <a:latin typeface="Calibri"/>
              <a:ea typeface="Calibri"/>
              <a:cs typeface="Calibri"/>
              <a:sym typeface="Calibri"/>
            </a:endParaRPr>
          </a:p>
        </p:txBody>
      </p:sp>
      <p:sp>
        <p:nvSpPr>
          <p:cNvPr id="208" name="Google Shape;208;p7"/>
          <p:cNvSpPr/>
          <p:nvPr/>
        </p:nvSpPr>
        <p:spPr>
          <a:xfrm>
            <a:off x="523577" y="3103290"/>
            <a:ext cx="3982938" cy="14288"/>
          </a:xfrm>
          <a:prstGeom prst="rect">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p:nvPr/>
        </p:nvSpPr>
        <p:spPr>
          <a:xfrm>
            <a:off x="523577" y="3210371"/>
            <a:ext cx="3982938"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lang="en-US" sz="1200">
                <a:solidFill>
                  <a:srgbClr val="D6E5EF"/>
                </a:solidFill>
                <a:latin typeface="Lora"/>
                <a:ea typeface="Lora"/>
                <a:cs typeface="Lora"/>
                <a:sym typeface="Lora"/>
              </a:rPr>
              <a:t>Validación</a:t>
            </a:r>
            <a:endParaRPr sz="1200">
              <a:solidFill>
                <a:schemeClr val="dk1"/>
              </a:solidFill>
              <a:latin typeface="Calibri"/>
              <a:ea typeface="Calibri"/>
              <a:cs typeface="Calibri"/>
              <a:sym typeface="Calibri"/>
            </a:endParaRPr>
          </a:p>
        </p:txBody>
      </p:sp>
      <p:sp>
        <p:nvSpPr>
          <p:cNvPr id="210" name="Google Shape;210;p7"/>
          <p:cNvSpPr/>
          <p:nvPr/>
        </p:nvSpPr>
        <p:spPr>
          <a:xfrm>
            <a:off x="523577" y="3481388"/>
            <a:ext cx="3982938"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Verificación de reglas de calidad, rangos y coherencia</a:t>
            </a:r>
            <a:endParaRPr sz="1000">
              <a:solidFill>
                <a:schemeClr val="dk1"/>
              </a:solidFill>
              <a:latin typeface="Calibri"/>
              <a:ea typeface="Calibri"/>
              <a:cs typeface="Calibri"/>
              <a:sym typeface="Calibri"/>
            </a:endParaRPr>
          </a:p>
        </p:txBody>
      </p:sp>
      <p:sp>
        <p:nvSpPr>
          <p:cNvPr id="211" name="Google Shape;211;p7"/>
          <p:cNvSpPr/>
          <p:nvPr/>
        </p:nvSpPr>
        <p:spPr>
          <a:xfrm>
            <a:off x="4637410" y="2908250"/>
            <a:ext cx="2617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Lora"/>
              <a:buNone/>
            </a:pPr>
            <a:r>
              <a:rPr lang="en-US" sz="1000">
                <a:solidFill>
                  <a:srgbClr val="D6E5EF"/>
                </a:solidFill>
                <a:latin typeface="Lora"/>
                <a:ea typeface="Lora"/>
                <a:cs typeface="Lora"/>
                <a:sym typeface="Lora"/>
              </a:rPr>
              <a:t>05</a:t>
            </a:r>
            <a:endParaRPr sz="1000">
              <a:solidFill>
                <a:schemeClr val="dk1"/>
              </a:solidFill>
              <a:latin typeface="Calibri"/>
              <a:ea typeface="Calibri"/>
              <a:cs typeface="Calibri"/>
              <a:sym typeface="Calibri"/>
            </a:endParaRPr>
          </a:p>
        </p:txBody>
      </p:sp>
      <p:sp>
        <p:nvSpPr>
          <p:cNvPr id="212" name="Google Shape;212;p7"/>
          <p:cNvSpPr/>
          <p:nvPr/>
        </p:nvSpPr>
        <p:spPr>
          <a:xfrm>
            <a:off x="4637410" y="3103290"/>
            <a:ext cx="3983013" cy="14288"/>
          </a:xfrm>
          <a:prstGeom prst="rect">
            <a:avLst/>
          </a:prstGeom>
          <a:solidFill>
            <a:srgbClr val="6EB9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7"/>
          <p:cNvSpPr/>
          <p:nvPr/>
        </p:nvSpPr>
        <p:spPr>
          <a:xfrm>
            <a:off x="4637410" y="3210371"/>
            <a:ext cx="398301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lang="en-US" sz="1200">
                <a:solidFill>
                  <a:srgbClr val="D6E5EF"/>
                </a:solidFill>
                <a:latin typeface="Lora"/>
                <a:ea typeface="Lora"/>
                <a:cs typeface="Lora"/>
                <a:sym typeface="Lora"/>
              </a:rPr>
              <a:t>Datos Preparados</a:t>
            </a:r>
            <a:endParaRPr sz="1200">
              <a:solidFill>
                <a:schemeClr val="dk1"/>
              </a:solidFill>
              <a:latin typeface="Calibri"/>
              <a:ea typeface="Calibri"/>
              <a:cs typeface="Calibri"/>
              <a:sym typeface="Calibri"/>
            </a:endParaRPr>
          </a:p>
        </p:txBody>
      </p:sp>
      <p:sp>
        <p:nvSpPr>
          <p:cNvPr id="214" name="Google Shape;214;p7"/>
          <p:cNvSpPr/>
          <p:nvPr/>
        </p:nvSpPr>
        <p:spPr>
          <a:xfrm>
            <a:off x="4637410" y="3481388"/>
            <a:ext cx="3983013"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D6E5EF"/>
              </a:buClr>
              <a:buSzPts val="1000"/>
              <a:buFont typeface="Source Sans 3"/>
              <a:buNone/>
            </a:pPr>
            <a:r>
              <a:rPr lang="en-US" sz="1000">
                <a:solidFill>
                  <a:srgbClr val="D6E5EF"/>
                </a:solidFill>
                <a:latin typeface="Source Sans 3"/>
                <a:ea typeface="Source Sans 3"/>
                <a:cs typeface="Source Sans 3"/>
                <a:sym typeface="Source Sans 3"/>
              </a:rPr>
              <a:t>Dataset limpio, consistente y listo para analizar o modelar</a:t>
            </a:r>
            <a:endParaRPr sz="1000">
              <a:solidFill>
                <a:schemeClr val="dk1"/>
              </a:solidFill>
              <a:latin typeface="Calibri"/>
              <a:ea typeface="Calibri"/>
              <a:cs typeface="Calibri"/>
              <a:sym typeface="Calibri"/>
            </a:endParaRPr>
          </a:p>
        </p:txBody>
      </p:sp>
      <p:sp>
        <p:nvSpPr>
          <p:cNvPr id="215" name="Google Shape;215;p7"/>
          <p:cNvSpPr/>
          <p:nvPr/>
        </p:nvSpPr>
        <p:spPr>
          <a:xfrm>
            <a:off x="523577" y="3910087"/>
            <a:ext cx="8096845" cy="732830"/>
          </a:xfrm>
          <a:prstGeom prst="roundRect">
            <a:avLst>
              <a:gd fmla="val 2680" name="adj"/>
            </a:avLst>
          </a:prstGeom>
          <a:solidFill>
            <a:srgbClr val="4B3F0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16" name="Google Shape;216;p7"/>
          <p:cNvPicPr preferRelativeResize="0"/>
          <p:nvPr/>
        </p:nvPicPr>
        <p:blipFill rotWithShape="1">
          <a:blip r:embed="rId3">
            <a:alphaModFix/>
          </a:blip>
          <a:srcRect b="0" l="0" r="0" t="0"/>
          <a:stretch/>
        </p:blipFill>
        <p:spPr>
          <a:xfrm>
            <a:off x="654472" y="4097164"/>
            <a:ext cx="163637" cy="130894"/>
          </a:xfrm>
          <a:prstGeom prst="rect">
            <a:avLst/>
          </a:prstGeom>
          <a:noFill/>
          <a:ln>
            <a:noFill/>
          </a:ln>
        </p:spPr>
      </p:pic>
      <p:sp>
        <p:nvSpPr>
          <p:cNvPr id="217" name="Google Shape;217;p7"/>
          <p:cNvSpPr/>
          <p:nvPr/>
        </p:nvSpPr>
        <p:spPr>
          <a:xfrm>
            <a:off x="949003" y="4099768"/>
            <a:ext cx="7540526"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FFFFFF"/>
              </a:buClr>
              <a:buSzPts val="1000"/>
              <a:buFont typeface="Source Sans 3"/>
              <a:buNone/>
            </a:pPr>
            <a:r>
              <a:rPr b="1" lang="en-US" sz="1000">
                <a:solidFill>
                  <a:srgbClr val="FFFFFF"/>
                </a:solidFill>
                <a:latin typeface="Source Sans 3"/>
                <a:ea typeface="Source Sans 3"/>
                <a:cs typeface="Source Sans 3"/>
                <a:sym typeface="Source Sans 3"/>
              </a:rPr>
              <a:t>Regla fundamental:</a:t>
            </a:r>
            <a:r>
              <a:rPr lang="en-US" sz="1000">
                <a:solidFill>
                  <a:srgbClr val="FFFFFF"/>
                </a:solidFill>
                <a:latin typeface="Source Sans 3"/>
                <a:ea typeface="Source Sans 3"/>
                <a:cs typeface="Source Sans 3"/>
                <a:sym typeface="Source Sans 3"/>
              </a:rPr>
              <a:t> Datos incorrectos producen resultados incorrectos, incluso cuando el análisis o el modelo estén bien construidos. </a:t>
            </a:r>
            <a:r>
              <a:rPr b="1" lang="en-US" sz="1000">
                <a:solidFill>
                  <a:srgbClr val="FFFFFF"/>
                </a:solidFill>
                <a:latin typeface="Source Sans 3"/>
                <a:ea typeface="Source Sans 3"/>
                <a:cs typeface="Source Sans 3"/>
                <a:sym typeface="Source Sans 3"/>
              </a:rPr>
              <a:t>Ejemplo NYC Taxi:</a:t>
            </a:r>
            <a:r>
              <a:rPr lang="en-US" sz="1000">
                <a:solidFill>
                  <a:srgbClr val="FFFFFF"/>
                </a:solidFill>
                <a:latin typeface="Source Sans 3"/>
                <a:ea typeface="Source Sans 3"/>
                <a:cs typeface="Source Sans 3"/>
                <a:sym typeface="Source Sans 3"/>
              </a:rPr>
              <a:t> Revisar viajes con distancia cero, tarifas fuera de rango y registros incompletos.</a:t>
            </a:r>
            <a:endParaRPr sz="1000">
              <a:solidFill>
                <a:schemeClr val="dk1"/>
              </a:solidFill>
              <a:latin typeface="Calibri"/>
              <a:ea typeface="Calibri"/>
              <a:cs typeface="Calibri"/>
              <a:sym typeface="Calibri"/>
            </a:endParaRPr>
          </a:p>
        </p:txBody>
      </p:sp>
      <p:pic>
        <p:nvPicPr>
          <p:cNvPr id="218" name="Google Shape;218;p7"/>
          <p:cNvPicPr preferRelativeResize="0"/>
          <p:nvPr/>
        </p:nvPicPr>
        <p:blipFill rotWithShape="1">
          <a:blip r:embed="rId4">
            <a:alphaModFix/>
          </a:blip>
          <a:srcRect b="0" l="0" r="0" t="0"/>
          <a:stretch/>
        </p:blipFill>
        <p:spPr>
          <a:xfrm>
            <a:off x="7421731" y="4765448"/>
            <a:ext cx="1722269" cy="312447"/>
          </a:xfrm>
          <a:prstGeom prst="rect">
            <a:avLst/>
          </a:prstGeom>
          <a:noFill/>
          <a:ln>
            <a:noFill/>
          </a:ln>
        </p:spPr>
      </p:pic>
      <p:sp>
        <p:nvSpPr>
          <p:cNvPr id="219" name="Google Shape;219;p7"/>
          <p:cNvSpPr/>
          <p:nvPr/>
        </p:nvSpPr>
        <p:spPr>
          <a:xfrm>
            <a:off x="545425" y="230461"/>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7</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8"/>
          <p:cNvSpPr/>
          <p:nvPr/>
        </p:nvSpPr>
        <p:spPr>
          <a:xfrm>
            <a:off x="523576" y="239971"/>
            <a:ext cx="8096845"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200"/>
              <a:buFont typeface="Lora"/>
              <a:buNone/>
            </a:pPr>
            <a:r>
              <a:rPr lang="en-US" sz="1200">
                <a:solidFill>
                  <a:srgbClr val="2E75B5"/>
                </a:solidFill>
                <a:latin typeface="Lora"/>
                <a:ea typeface="Lora"/>
                <a:cs typeface="Lora"/>
                <a:sym typeface="Lora"/>
              </a:rPr>
              <a:t>Análisis Exploratorio de Datos</a:t>
            </a:r>
            <a:endParaRPr sz="1200">
              <a:solidFill>
                <a:srgbClr val="2E75B5"/>
              </a:solidFill>
              <a:latin typeface="Calibri"/>
              <a:ea typeface="Calibri"/>
              <a:cs typeface="Calibri"/>
              <a:sym typeface="Calibri"/>
            </a:endParaRPr>
          </a:p>
        </p:txBody>
      </p:sp>
      <p:sp>
        <p:nvSpPr>
          <p:cNvPr id="226" name="Google Shape;226;p8"/>
          <p:cNvSpPr/>
          <p:nvPr/>
        </p:nvSpPr>
        <p:spPr>
          <a:xfrm>
            <a:off x="458167" y="458808"/>
            <a:ext cx="8554045" cy="2925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Antes de construir cualquier solución, se debe comprender el comportamiento de los datos. El análisis exploratorio (EDA) revela distribuciones, tendencias, relaciones y anomalías </a:t>
            </a:r>
            <a:endParaRPr/>
          </a:p>
          <a:p>
            <a:pPr indent="0" lvl="0" marL="0" marR="0" rtl="0" algn="l">
              <a:lnSpc>
                <a:spcPct val="100000"/>
              </a:lnSpc>
              <a:spcBef>
                <a:spcPts val="0"/>
              </a:spcBef>
              <a:spcAft>
                <a:spcPts val="0"/>
              </a:spcAft>
              <a:buClr>
                <a:srgbClr val="D6E5EF"/>
              </a:buClr>
              <a:buSzPts val="800"/>
              <a:buFont typeface="Source Sans 3"/>
              <a:buNone/>
            </a:pPr>
            <a:r>
              <a:rPr lang="en-US" sz="800">
                <a:solidFill>
                  <a:srgbClr val="D6E5EF"/>
                </a:solidFill>
                <a:latin typeface="Source Sans 3"/>
                <a:ea typeface="Source Sans 3"/>
                <a:cs typeface="Source Sans 3"/>
                <a:sym typeface="Source Sans 3"/>
              </a:rPr>
              <a:t>que guían las decisiones siguientes.</a:t>
            </a:r>
            <a:endParaRPr sz="800">
              <a:solidFill>
                <a:schemeClr val="dk1"/>
              </a:solidFill>
              <a:latin typeface="Calibri"/>
              <a:ea typeface="Calibri"/>
              <a:cs typeface="Calibri"/>
              <a:sym typeface="Calibri"/>
            </a:endParaRPr>
          </a:p>
        </p:txBody>
      </p:sp>
      <p:pic>
        <p:nvPicPr>
          <p:cNvPr descr="preencoded.png" id="227" name="Google Shape;227;p8"/>
          <p:cNvPicPr preferRelativeResize="0"/>
          <p:nvPr/>
        </p:nvPicPr>
        <p:blipFill rotWithShape="1">
          <a:blip r:embed="rId3">
            <a:alphaModFix/>
          </a:blip>
          <a:srcRect b="0" l="0" r="0" t="0"/>
          <a:stretch/>
        </p:blipFill>
        <p:spPr>
          <a:xfrm>
            <a:off x="523577" y="723993"/>
            <a:ext cx="7315200" cy="4114800"/>
          </a:xfrm>
          <a:prstGeom prst="rect">
            <a:avLst/>
          </a:prstGeom>
          <a:noFill/>
          <a:ln>
            <a:noFill/>
          </a:ln>
        </p:spPr>
      </p:pic>
      <p:sp>
        <p:nvSpPr>
          <p:cNvPr id="228" name="Google Shape;228;p8"/>
          <p:cNvSpPr/>
          <p:nvPr/>
        </p:nvSpPr>
        <p:spPr>
          <a:xfrm>
            <a:off x="212601" y="4566001"/>
            <a:ext cx="3968576"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700"/>
              <a:buFont typeface="Lora"/>
              <a:buNone/>
            </a:pPr>
            <a:r>
              <a:rPr lang="en-US" sz="700">
                <a:solidFill>
                  <a:srgbClr val="2E75B5"/>
                </a:solidFill>
                <a:latin typeface="Lora"/>
                <a:ea typeface="Lora"/>
                <a:cs typeface="Lora"/>
                <a:sym typeface="Lora"/>
              </a:rPr>
              <a:t>Preguntas guía del EDA</a:t>
            </a:r>
            <a:endParaRPr sz="700">
              <a:solidFill>
                <a:srgbClr val="2E75B5"/>
              </a:solidFill>
              <a:latin typeface="Calibri"/>
              <a:ea typeface="Calibri"/>
              <a:cs typeface="Calibri"/>
              <a:sym typeface="Calibri"/>
            </a:endParaRPr>
          </a:p>
        </p:txBody>
      </p:sp>
      <p:sp>
        <p:nvSpPr>
          <p:cNvPr id="229" name="Google Shape;229;p8"/>
          <p:cNvSpPr/>
          <p:nvPr/>
        </p:nvSpPr>
        <p:spPr>
          <a:xfrm>
            <a:off x="212601" y="4725124"/>
            <a:ext cx="3968576" cy="348481"/>
          </a:xfrm>
          <a:prstGeom prst="rect">
            <a:avLst/>
          </a:prstGeom>
          <a:noFill/>
          <a:ln>
            <a:noFill/>
          </a:ln>
        </p:spPr>
        <p:txBody>
          <a:bodyPr anchorCtr="0" anchor="t" bIns="0" lIns="0" spcFirstLastPara="1" rIns="0" wrap="square" tIns="0">
            <a:normAutofit/>
          </a:bodyPr>
          <a:lstStyle/>
          <a:p>
            <a:pPr indent="-101600" lvl="0" marL="101600" marR="0" rtl="0" algn="l">
              <a:lnSpc>
                <a:spcPct val="90000"/>
              </a:lnSpc>
              <a:spcBef>
                <a:spcPts val="0"/>
              </a:spcBef>
              <a:spcAft>
                <a:spcPts val="0"/>
              </a:spcAft>
              <a:buClr>
                <a:srgbClr val="D6E5EF"/>
              </a:buClr>
              <a:buSzPts val="600"/>
              <a:buFont typeface="Source Sans 3"/>
              <a:buChar char="•"/>
            </a:pPr>
            <a:r>
              <a:rPr lang="en-US" sz="600">
                <a:solidFill>
                  <a:srgbClr val="D6E5EF"/>
                </a:solidFill>
                <a:latin typeface="Source Sans 3"/>
                <a:ea typeface="Source Sans 3"/>
                <a:cs typeface="Source Sans 3"/>
                <a:sym typeface="Source Sans 3"/>
              </a:rPr>
              <a:t>¿Qué ocurre y con qué frecuencia?</a:t>
            </a:r>
            <a:endParaRPr sz="600">
              <a:solidFill>
                <a:schemeClr val="dk1"/>
              </a:solidFill>
              <a:latin typeface="Calibri"/>
              <a:ea typeface="Calibri"/>
              <a:cs typeface="Calibri"/>
              <a:sym typeface="Calibri"/>
            </a:endParaRPr>
          </a:p>
          <a:p>
            <a:pPr indent="-101600" lvl="0" marL="101600" marR="0" rtl="0" algn="l">
              <a:lnSpc>
                <a:spcPct val="90000"/>
              </a:lnSpc>
              <a:spcBef>
                <a:spcPts val="0"/>
              </a:spcBef>
              <a:spcAft>
                <a:spcPts val="0"/>
              </a:spcAft>
              <a:buClr>
                <a:srgbClr val="D6E5EF"/>
              </a:buClr>
              <a:buSzPts val="600"/>
              <a:buFont typeface="Source Sans 3"/>
              <a:buChar char="•"/>
            </a:pPr>
            <a:r>
              <a:rPr lang="en-US" sz="600">
                <a:solidFill>
                  <a:srgbClr val="D6E5EF"/>
                </a:solidFill>
                <a:latin typeface="Source Sans 3"/>
                <a:ea typeface="Source Sans 3"/>
                <a:cs typeface="Source Sans 3"/>
                <a:sym typeface="Source Sans 3"/>
              </a:rPr>
              <a:t>¿Cuándo y dónde ocurre?</a:t>
            </a:r>
            <a:endParaRPr sz="600">
              <a:solidFill>
                <a:schemeClr val="dk1"/>
              </a:solidFill>
              <a:latin typeface="Calibri"/>
              <a:ea typeface="Calibri"/>
              <a:cs typeface="Calibri"/>
              <a:sym typeface="Calibri"/>
            </a:endParaRPr>
          </a:p>
          <a:p>
            <a:pPr indent="-101600" lvl="0" marL="101600" marR="0" rtl="0" algn="l">
              <a:lnSpc>
                <a:spcPct val="90000"/>
              </a:lnSpc>
              <a:spcBef>
                <a:spcPts val="0"/>
              </a:spcBef>
              <a:spcAft>
                <a:spcPts val="0"/>
              </a:spcAft>
              <a:buClr>
                <a:srgbClr val="D6E5EF"/>
              </a:buClr>
              <a:buSzPts val="600"/>
              <a:buFont typeface="Source Sans 3"/>
              <a:buChar char="•"/>
            </a:pPr>
            <a:r>
              <a:rPr lang="en-US" sz="600">
                <a:solidFill>
                  <a:srgbClr val="D6E5EF"/>
                </a:solidFill>
                <a:latin typeface="Source Sans 3"/>
                <a:ea typeface="Source Sans 3"/>
                <a:cs typeface="Source Sans 3"/>
                <a:sym typeface="Source Sans 3"/>
              </a:rPr>
              <a:t>¿Qué variables parecen relacionadas?</a:t>
            </a:r>
            <a:endParaRPr sz="600">
              <a:solidFill>
                <a:schemeClr val="dk1"/>
              </a:solidFill>
              <a:latin typeface="Calibri"/>
              <a:ea typeface="Calibri"/>
              <a:cs typeface="Calibri"/>
              <a:sym typeface="Calibri"/>
            </a:endParaRPr>
          </a:p>
          <a:p>
            <a:pPr indent="-101600" lvl="0" marL="101600" marR="0" rtl="0" algn="l">
              <a:lnSpc>
                <a:spcPct val="90000"/>
              </a:lnSpc>
              <a:spcBef>
                <a:spcPts val="0"/>
              </a:spcBef>
              <a:spcAft>
                <a:spcPts val="0"/>
              </a:spcAft>
              <a:buClr>
                <a:srgbClr val="D6E5EF"/>
              </a:buClr>
              <a:buSzPts val="600"/>
              <a:buFont typeface="Source Sans 3"/>
              <a:buChar char="•"/>
            </a:pPr>
            <a:r>
              <a:rPr lang="en-US" sz="600">
                <a:solidFill>
                  <a:srgbClr val="D6E5EF"/>
                </a:solidFill>
                <a:latin typeface="Source Sans 3"/>
                <a:ea typeface="Source Sans 3"/>
                <a:cs typeface="Source Sans 3"/>
                <a:sym typeface="Source Sans 3"/>
              </a:rPr>
              <a:t>¿Hay valores atípicos o errores?</a:t>
            </a:r>
            <a:endParaRPr sz="600">
              <a:solidFill>
                <a:schemeClr val="dk1"/>
              </a:solidFill>
              <a:latin typeface="Calibri"/>
              <a:ea typeface="Calibri"/>
              <a:cs typeface="Calibri"/>
              <a:sym typeface="Calibri"/>
            </a:endParaRPr>
          </a:p>
        </p:txBody>
      </p:sp>
      <p:sp>
        <p:nvSpPr>
          <p:cNvPr id="230" name="Google Shape;230;p8"/>
          <p:cNvSpPr/>
          <p:nvPr/>
        </p:nvSpPr>
        <p:spPr>
          <a:xfrm>
            <a:off x="4456919" y="4662450"/>
            <a:ext cx="3968576"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700"/>
              <a:buFont typeface="Lora"/>
              <a:buNone/>
            </a:pPr>
            <a:r>
              <a:rPr lang="en-US" sz="700">
                <a:solidFill>
                  <a:srgbClr val="2E75B5"/>
                </a:solidFill>
                <a:latin typeface="Lora"/>
                <a:ea typeface="Lora"/>
                <a:cs typeface="Lora"/>
                <a:sym typeface="Lora"/>
              </a:rPr>
              <a:t>Ejemplo NYC Taxi</a:t>
            </a:r>
            <a:endParaRPr sz="700">
              <a:solidFill>
                <a:srgbClr val="2E75B5"/>
              </a:solidFill>
              <a:latin typeface="Calibri"/>
              <a:ea typeface="Calibri"/>
              <a:cs typeface="Calibri"/>
              <a:sym typeface="Calibri"/>
            </a:endParaRPr>
          </a:p>
        </p:txBody>
      </p:sp>
      <p:sp>
        <p:nvSpPr>
          <p:cNvPr id="231" name="Google Shape;231;p8"/>
          <p:cNvSpPr/>
          <p:nvPr/>
        </p:nvSpPr>
        <p:spPr>
          <a:xfrm>
            <a:off x="4456919" y="4821440"/>
            <a:ext cx="4425776" cy="2064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700"/>
              <a:buFont typeface="Source Sans 3"/>
              <a:buNone/>
            </a:pPr>
            <a:r>
              <a:rPr lang="en-US" sz="700">
                <a:solidFill>
                  <a:srgbClr val="D6E5EF"/>
                </a:solidFill>
                <a:latin typeface="Source Sans 3"/>
                <a:ea typeface="Source Sans 3"/>
                <a:cs typeface="Source Sans 3"/>
                <a:sym typeface="Source Sans 3"/>
              </a:rPr>
              <a:t>Analizar horarios con más viajes, zonas con mayores tarifas, relación entre distancia y propina, y </a:t>
            </a:r>
            <a:endParaRPr/>
          </a:p>
          <a:p>
            <a:pPr indent="0" lvl="0" marL="0" marR="0" rtl="0" algn="l">
              <a:lnSpc>
                <a:spcPct val="100000"/>
              </a:lnSpc>
              <a:spcBef>
                <a:spcPts val="0"/>
              </a:spcBef>
              <a:spcAft>
                <a:spcPts val="0"/>
              </a:spcAft>
              <a:buClr>
                <a:srgbClr val="D6E5EF"/>
              </a:buClr>
              <a:buSzPts val="700"/>
              <a:buFont typeface="Source Sans 3"/>
              <a:buNone/>
            </a:pPr>
            <a:r>
              <a:rPr lang="en-US" sz="700">
                <a:solidFill>
                  <a:srgbClr val="D6E5EF"/>
                </a:solidFill>
                <a:latin typeface="Source Sans 3"/>
                <a:ea typeface="Source Sans 3"/>
                <a:cs typeface="Source Sans 3"/>
                <a:sym typeface="Source Sans 3"/>
              </a:rPr>
              <a:t>comportamiento por tipo de pago.</a:t>
            </a:r>
            <a:endParaRPr sz="700">
              <a:solidFill>
                <a:schemeClr val="dk1"/>
              </a:solidFill>
              <a:latin typeface="Calibri"/>
              <a:ea typeface="Calibri"/>
              <a:cs typeface="Calibri"/>
              <a:sym typeface="Calibri"/>
            </a:endParaRPr>
          </a:p>
        </p:txBody>
      </p:sp>
      <p:sp>
        <p:nvSpPr>
          <p:cNvPr id="232" name="Google Shape;232;p8"/>
          <p:cNvSpPr/>
          <p:nvPr/>
        </p:nvSpPr>
        <p:spPr>
          <a:xfrm>
            <a:off x="523577" y="5442942"/>
            <a:ext cx="8096845" cy="181496"/>
          </a:xfrm>
          <a:prstGeom prst="roundRect">
            <a:avLst>
              <a:gd fmla="val 5410" name="adj"/>
            </a:avLst>
          </a:prstGeom>
          <a:solidFill>
            <a:srgbClr val="7906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3" name="Google Shape;233;p8"/>
          <p:cNvPicPr preferRelativeResize="0"/>
          <p:nvPr/>
        </p:nvPicPr>
        <p:blipFill rotWithShape="1">
          <a:blip r:embed="rId4">
            <a:alphaModFix/>
          </a:blip>
          <a:srcRect b="0" l="0" r="0" t="0"/>
          <a:stretch/>
        </p:blipFill>
        <p:spPr>
          <a:xfrm>
            <a:off x="588987" y="5524649"/>
            <a:ext cx="81781" cy="65410"/>
          </a:xfrm>
          <a:prstGeom prst="rect">
            <a:avLst/>
          </a:prstGeom>
          <a:noFill/>
          <a:ln>
            <a:noFill/>
          </a:ln>
        </p:spPr>
      </p:pic>
      <p:sp>
        <p:nvSpPr>
          <p:cNvPr id="234" name="Google Shape;234;p8"/>
          <p:cNvSpPr/>
          <p:nvPr/>
        </p:nvSpPr>
        <p:spPr>
          <a:xfrm>
            <a:off x="736178" y="5491907"/>
            <a:ext cx="8276034" cy="7858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
              <a:buFont typeface="Source Sans 3"/>
              <a:buNone/>
            </a:pPr>
            <a:r>
              <a:rPr b="1" lang="en-US" sz="500">
                <a:solidFill>
                  <a:srgbClr val="FFFFFF"/>
                </a:solidFill>
                <a:latin typeface="Source Sans 3"/>
                <a:ea typeface="Source Sans 3"/>
                <a:cs typeface="Source Sans 3"/>
                <a:sym typeface="Source Sans 3"/>
              </a:rPr>
              <a:t>Mensaje clave:</a:t>
            </a:r>
            <a:r>
              <a:rPr lang="en-US" sz="500">
                <a:solidFill>
                  <a:srgbClr val="FFFFFF"/>
                </a:solidFill>
                <a:latin typeface="Source Sans 3"/>
                <a:ea typeface="Source Sans 3"/>
                <a:cs typeface="Source Sans 3"/>
                <a:sym typeface="Source Sans 3"/>
              </a:rPr>
              <a:t> Explorar primero ayuda a tomar mejores decisiones sobre qué solución construir.</a:t>
            </a:r>
            <a:endParaRPr sz="500">
              <a:solidFill>
                <a:schemeClr val="dk1"/>
              </a:solidFill>
              <a:latin typeface="Calibri"/>
              <a:ea typeface="Calibri"/>
              <a:cs typeface="Calibri"/>
              <a:sym typeface="Calibri"/>
            </a:endParaRPr>
          </a:p>
        </p:txBody>
      </p:sp>
      <p:pic>
        <p:nvPicPr>
          <p:cNvPr id="235" name="Google Shape;235;p8"/>
          <p:cNvPicPr preferRelativeResize="0"/>
          <p:nvPr/>
        </p:nvPicPr>
        <p:blipFill rotWithShape="1">
          <a:blip r:embed="rId5">
            <a:alphaModFix/>
          </a:blip>
          <a:srcRect b="0" l="0" r="0" t="0"/>
          <a:stretch/>
        </p:blipFill>
        <p:spPr>
          <a:xfrm>
            <a:off x="8056795" y="4798115"/>
            <a:ext cx="1020828" cy="292513"/>
          </a:xfrm>
          <a:prstGeom prst="rect">
            <a:avLst/>
          </a:prstGeom>
          <a:noFill/>
          <a:ln>
            <a:noFill/>
          </a:ln>
        </p:spPr>
      </p:pic>
      <p:sp>
        <p:nvSpPr>
          <p:cNvPr id="236" name="Google Shape;236;p8"/>
          <p:cNvSpPr/>
          <p:nvPr/>
        </p:nvSpPr>
        <p:spPr>
          <a:xfrm>
            <a:off x="6573432" y="186302"/>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8</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preencoded.png" id="242" name="Google Shape;242;p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43" name="Google Shape;243;p9"/>
          <p:cNvSpPr/>
          <p:nvPr/>
        </p:nvSpPr>
        <p:spPr>
          <a:xfrm>
            <a:off x="523577" y="1648941"/>
            <a:ext cx="2029792" cy="198834"/>
          </a:xfrm>
          <a:prstGeom prst="roundRect">
            <a:avLst>
              <a:gd fmla="val 7901" name="adj"/>
            </a:avLst>
          </a:prstGeom>
          <a:solidFill>
            <a:srgbClr val="1E4E7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4" name="Google Shape;244;p9"/>
          <p:cNvSpPr/>
          <p:nvPr/>
        </p:nvSpPr>
        <p:spPr>
          <a:xfrm>
            <a:off x="602084" y="1688157"/>
            <a:ext cx="2329979" cy="120402"/>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CICLO DE VIDA DE UN PROYECTO DE DATOS</a:t>
            </a:r>
            <a:endParaRPr b="0" i="0" sz="800" u="none" cap="none" strike="noStrike">
              <a:solidFill>
                <a:srgbClr val="000000"/>
              </a:solidFill>
              <a:latin typeface="Calibri"/>
              <a:ea typeface="Calibri"/>
              <a:cs typeface="Calibri"/>
              <a:sym typeface="Calibri"/>
            </a:endParaRPr>
          </a:p>
        </p:txBody>
      </p:sp>
      <p:sp>
        <p:nvSpPr>
          <p:cNvPr id="245" name="Google Shape;245;p9"/>
          <p:cNvSpPr/>
          <p:nvPr/>
        </p:nvSpPr>
        <p:spPr>
          <a:xfrm>
            <a:off x="523577" y="1900089"/>
            <a:ext cx="4667845" cy="769888"/>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2E75B5"/>
              </a:buClr>
              <a:buSzPts val="2400"/>
              <a:buFont typeface="Lora"/>
              <a:buNone/>
            </a:pPr>
            <a:r>
              <a:rPr b="0" i="0" lang="en-US" sz="2400" u="none" cap="none" strike="noStrike">
                <a:solidFill>
                  <a:srgbClr val="2E75B5"/>
                </a:solidFill>
                <a:latin typeface="Lora"/>
                <a:ea typeface="Lora"/>
                <a:cs typeface="Lora"/>
                <a:sym typeface="Lora"/>
              </a:rPr>
              <a:t>Del Dato al Valor: Las Etapas Finales del Proyecto</a:t>
            </a:r>
            <a:endParaRPr b="0" i="0" sz="2400" u="none" cap="none" strike="noStrike">
              <a:solidFill>
                <a:srgbClr val="2E75B5"/>
              </a:solidFill>
              <a:latin typeface="Calibri"/>
              <a:ea typeface="Calibri"/>
              <a:cs typeface="Calibri"/>
              <a:sym typeface="Calibri"/>
            </a:endParaRPr>
          </a:p>
        </p:txBody>
      </p:sp>
      <p:sp>
        <p:nvSpPr>
          <p:cNvPr id="246" name="Google Shape;246;p9"/>
          <p:cNvSpPr/>
          <p:nvPr/>
        </p:nvSpPr>
        <p:spPr>
          <a:xfrm>
            <a:off x="523577" y="2866281"/>
            <a:ext cx="4667845"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Exploramos cómo los requerimientos y los datos preparados se convierten en soluciones reales, cómo se validan, despliegan y mejoran de forma continua, y cómo los roles del equipo se integran en cada etapa del ciclo.</a:t>
            </a:r>
            <a:endParaRPr b="0" i="0" sz="1000" u="none" cap="none" strike="noStrike">
              <a:solidFill>
                <a:srgbClr val="000000"/>
              </a:solidFill>
              <a:latin typeface="Calibri"/>
              <a:ea typeface="Calibri"/>
              <a:cs typeface="Calibri"/>
              <a:sym typeface="Calibri"/>
            </a:endParaRPr>
          </a:p>
        </p:txBody>
      </p:sp>
      <p:sp>
        <p:nvSpPr>
          <p:cNvPr id="247" name="Google Shape;247;p9"/>
          <p:cNvSpPr/>
          <p:nvPr/>
        </p:nvSpPr>
        <p:spPr>
          <a:xfrm>
            <a:off x="545425" y="230461"/>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9</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0"/>
          <p:cNvSpPr/>
          <p:nvPr/>
        </p:nvSpPr>
        <p:spPr>
          <a:xfrm>
            <a:off x="523577" y="718393"/>
            <a:ext cx="8096845" cy="35495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200"/>
              <a:buFont typeface="Lora"/>
              <a:buNone/>
            </a:pPr>
            <a:r>
              <a:rPr b="0" i="0" lang="en-US" sz="2200" u="none" cap="none" strike="noStrike">
                <a:solidFill>
                  <a:srgbClr val="2E75B5"/>
                </a:solidFill>
                <a:latin typeface="Lora"/>
                <a:ea typeface="Lora"/>
                <a:cs typeface="Lora"/>
                <a:sym typeface="Lora"/>
              </a:rPr>
              <a:t>Elección del Producto de Datos</a:t>
            </a:r>
            <a:endParaRPr b="0" i="0" sz="2200" u="none" cap="none" strike="noStrike">
              <a:solidFill>
                <a:srgbClr val="2E75B5"/>
              </a:solidFill>
              <a:latin typeface="Calibri"/>
              <a:ea typeface="Calibri"/>
              <a:cs typeface="Calibri"/>
              <a:sym typeface="Calibri"/>
            </a:endParaRPr>
          </a:p>
        </p:txBody>
      </p:sp>
      <p:sp>
        <p:nvSpPr>
          <p:cNvPr id="254" name="Google Shape;254;p10"/>
          <p:cNvSpPr/>
          <p:nvPr/>
        </p:nvSpPr>
        <p:spPr>
          <a:xfrm>
            <a:off x="523577" y="1240185"/>
            <a:ext cx="8096845"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0" lang="en-US" sz="950" u="none" cap="none" strike="noStrike">
                <a:solidFill>
                  <a:srgbClr val="D6E5EF"/>
                </a:solidFill>
                <a:latin typeface="Source Sans 3"/>
                <a:ea typeface="Source Sans 3"/>
                <a:cs typeface="Source Sans 3"/>
                <a:sym typeface="Source Sans 3"/>
              </a:rPr>
              <a:t>La solución final depende del problema que se quiere resolver. No todos los proyectos necesitan Machine Learning: elegir el producto correcto es tan importante como el análisis mismo.</a:t>
            </a:r>
            <a:endParaRPr b="0" i="0" sz="950" u="none" cap="none" strike="noStrike">
              <a:solidFill>
                <a:srgbClr val="000000"/>
              </a:solidFill>
              <a:latin typeface="Calibri"/>
              <a:ea typeface="Calibri"/>
              <a:cs typeface="Calibri"/>
              <a:sym typeface="Calibri"/>
            </a:endParaRPr>
          </a:p>
        </p:txBody>
      </p:sp>
      <p:sp>
        <p:nvSpPr>
          <p:cNvPr descr="preencoded.png" id="255" name="Google Shape;255;p10"/>
          <p:cNvSpPr/>
          <p:nvPr/>
        </p:nvSpPr>
        <p:spPr>
          <a:xfrm>
            <a:off x="523577" y="1736303"/>
            <a:ext cx="301675" cy="301675"/>
          </a:xfrm>
          <a:prstGeom prst="rect">
            <a:avLst/>
          </a:prstGeom>
          <a:noFill/>
          <a:ln>
            <a:noFill/>
          </a:ln>
        </p:spPr>
      </p:sp>
      <p:sp>
        <p:nvSpPr>
          <p:cNvPr id="256" name="Google Shape;256;p10"/>
          <p:cNvSpPr/>
          <p:nvPr/>
        </p:nvSpPr>
        <p:spPr>
          <a:xfrm>
            <a:off x="523577" y="2176983"/>
            <a:ext cx="2606278" cy="1774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00"/>
              <a:buFont typeface="Lora"/>
              <a:buNone/>
            </a:pPr>
            <a:r>
              <a:rPr b="0" i="0" lang="en-US" sz="1100" u="none" cap="none" strike="noStrike">
                <a:solidFill>
                  <a:srgbClr val="D6E5EF"/>
                </a:solidFill>
                <a:latin typeface="Lora"/>
                <a:ea typeface="Lora"/>
                <a:cs typeface="Lora"/>
                <a:sym typeface="Lora"/>
              </a:rPr>
              <a:t>Reporte / KPI</a:t>
            </a:r>
            <a:endParaRPr b="0" i="0" sz="1100" u="none" cap="none" strike="noStrike">
              <a:solidFill>
                <a:srgbClr val="000000"/>
              </a:solidFill>
              <a:latin typeface="Calibri"/>
              <a:ea typeface="Calibri"/>
              <a:cs typeface="Calibri"/>
              <a:sym typeface="Calibri"/>
            </a:endParaRPr>
          </a:p>
        </p:txBody>
      </p:sp>
      <p:sp>
        <p:nvSpPr>
          <p:cNvPr id="257" name="Google Shape;257;p10"/>
          <p:cNvSpPr/>
          <p:nvPr/>
        </p:nvSpPr>
        <p:spPr>
          <a:xfrm>
            <a:off x="523577" y="2421210"/>
            <a:ext cx="2606278"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1" lang="en-US" sz="950" u="none" cap="none" strike="noStrike">
                <a:solidFill>
                  <a:srgbClr val="D6E5EF"/>
                </a:solidFill>
                <a:latin typeface="Source Sans 3"/>
                <a:ea typeface="Source Sans 3"/>
                <a:cs typeface="Source Sans 3"/>
                <a:sym typeface="Source Sans 3"/>
              </a:rPr>
              <a:t>"¿Cuánto vendimos ayer?"</a:t>
            </a:r>
            <a:r>
              <a:rPr b="0" i="0" lang="en-US" sz="950" u="none" cap="none" strike="noStrike">
                <a:solidFill>
                  <a:srgbClr val="D6E5EF"/>
                </a:solidFill>
                <a:latin typeface="Source Sans 3"/>
                <a:ea typeface="Source Sans 3"/>
                <a:cs typeface="Source Sans 3"/>
                <a:sym typeface="Source Sans 3"/>
              </a:rPr>
              <a:t> — Respuesta puntual a una pregunta específica del negocio.</a:t>
            </a:r>
            <a:endParaRPr b="0" i="0" sz="950" u="none" cap="none" strike="noStrike">
              <a:solidFill>
                <a:srgbClr val="000000"/>
              </a:solidFill>
              <a:latin typeface="Calibri"/>
              <a:ea typeface="Calibri"/>
              <a:cs typeface="Calibri"/>
              <a:sym typeface="Calibri"/>
            </a:endParaRPr>
          </a:p>
        </p:txBody>
      </p:sp>
      <p:sp>
        <p:nvSpPr>
          <p:cNvPr descr="preencoded.png" id="258" name="Google Shape;258;p10"/>
          <p:cNvSpPr/>
          <p:nvPr/>
        </p:nvSpPr>
        <p:spPr>
          <a:xfrm>
            <a:off x="3268861" y="1736303"/>
            <a:ext cx="301675" cy="301675"/>
          </a:xfrm>
          <a:prstGeom prst="rect">
            <a:avLst/>
          </a:prstGeom>
          <a:noFill/>
          <a:ln>
            <a:noFill/>
          </a:ln>
        </p:spPr>
      </p:sp>
      <p:sp>
        <p:nvSpPr>
          <p:cNvPr id="259" name="Google Shape;259;p10"/>
          <p:cNvSpPr/>
          <p:nvPr/>
        </p:nvSpPr>
        <p:spPr>
          <a:xfrm>
            <a:off x="3268861" y="2176983"/>
            <a:ext cx="2606278" cy="1774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00"/>
              <a:buFont typeface="Lora"/>
              <a:buNone/>
            </a:pPr>
            <a:r>
              <a:rPr b="0" i="0" lang="en-US" sz="1100" u="none" cap="none" strike="noStrike">
                <a:solidFill>
                  <a:srgbClr val="D6E5EF"/>
                </a:solidFill>
                <a:latin typeface="Lora"/>
                <a:ea typeface="Lora"/>
                <a:cs typeface="Lora"/>
                <a:sym typeface="Lora"/>
              </a:rPr>
              <a:t>Dashboard</a:t>
            </a:r>
            <a:endParaRPr b="0" i="0" sz="1100" u="none" cap="none" strike="noStrike">
              <a:solidFill>
                <a:srgbClr val="000000"/>
              </a:solidFill>
              <a:latin typeface="Calibri"/>
              <a:ea typeface="Calibri"/>
              <a:cs typeface="Calibri"/>
              <a:sym typeface="Calibri"/>
            </a:endParaRPr>
          </a:p>
        </p:txBody>
      </p:sp>
      <p:sp>
        <p:nvSpPr>
          <p:cNvPr id="260" name="Google Shape;260;p10"/>
          <p:cNvSpPr/>
          <p:nvPr/>
        </p:nvSpPr>
        <p:spPr>
          <a:xfrm>
            <a:off x="3268861" y="2421210"/>
            <a:ext cx="2606278"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1" lang="en-US" sz="950" u="none" cap="none" strike="noStrike">
                <a:solidFill>
                  <a:srgbClr val="D6E5EF"/>
                </a:solidFill>
                <a:latin typeface="Source Sans 3"/>
                <a:ea typeface="Source Sans 3"/>
                <a:cs typeface="Source Sans 3"/>
                <a:sym typeface="Source Sans 3"/>
              </a:rPr>
              <a:t>"¿Cómo evolucionan las ventas?"</a:t>
            </a:r>
            <a:r>
              <a:rPr b="0" i="0" lang="en-US" sz="950" u="none" cap="none" strike="noStrike">
                <a:solidFill>
                  <a:srgbClr val="D6E5EF"/>
                </a:solidFill>
                <a:latin typeface="Source Sans 3"/>
                <a:ea typeface="Source Sans 3"/>
                <a:cs typeface="Source Sans 3"/>
                <a:sym typeface="Source Sans 3"/>
              </a:rPr>
              <a:t> — Seguimiento visual de métricas en el tiempo.</a:t>
            </a:r>
            <a:endParaRPr b="0" i="0" sz="950" u="none" cap="none" strike="noStrike">
              <a:solidFill>
                <a:srgbClr val="000000"/>
              </a:solidFill>
              <a:latin typeface="Calibri"/>
              <a:ea typeface="Calibri"/>
              <a:cs typeface="Calibri"/>
              <a:sym typeface="Calibri"/>
            </a:endParaRPr>
          </a:p>
        </p:txBody>
      </p:sp>
      <p:sp>
        <p:nvSpPr>
          <p:cNvPr descr="preencoded.png" id="261" name="Google Shape;261;p10"/>
          <p:cNvSpPr/>
          <p:nvPr/>
        </p:nvSpPr>
        <p:spPr>
          <a:xfrm>
            <a:off x="6014145" y="1736303"/>
            <a:ext cx="301675" cy="301675"/>
          </a:xfrm>
          <a:prstGeom prst="rect">
            <a:avLst/>
          </a:prstGeom>
          <a:noFill/>
          <a:ln>
            <a:noFill/>
          </a:ln>
        </p:spPr>
      </p:sp>
      <p:sp>
        <p:nvSpPr>
          <p:cNvPr id="262" name="Google Shape;262;p10"/>
          <p:cNvSpPr/>
          <p:nvPr/>
        </p:nvSpPr>
        <p:spPr>
          <a:xfrm>
            <a:off x="6014145" y="2176983"/>
            <a:ext cx="2606278" cy="1774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00"/>
              <a:buFont typeface="Lora"/>
              <a:buNone/>
            </a:pPr>
            <a:r>
              <a:rPr b="0" i="0" lang="en-US" sz="1100" u="none" cap="none" strike="noStrike">
                <a:solidFill>
                  <a:srgbClr val="D6E5EF"/>
                </a:solidFill>
                <a:latin typeface="Lora"/>
                <a:ea typeface="Lora"/>
                <a:cs typeface="Lora"/>
                <a:sym typeface="Lora"/>
              </a:rPr>
              <a:t>Dataset / Pipeline</a:t>
            </a:r>
            <a:endParaRPr b="0" i="0" sz="1100" u="none" cap="none" strike="noStrike">
              <a:solidFill>
                <a:srgbClr val="000000"/>
              </a:solidFill>
              <a:latin typeface="Calibri"/>
              <a:ea typeface="Calibri"/>
              <a:cs typeface="Calibri"/>
              <a:sym typeface="Calibri"/>
            </a:endParaRPr>
          </a:p>
        </p:txBody>
      </p:sp>
      <p:sp>
        <p:nvSpPr>
          <p:cNvPr id="263" name="Google Shape;263;p10"/>
          <p:cNvSpPr/>
          <p:nvPr/>
        </p:nvSpPr>
        <p:spPr>
          <a:xfrm>
            <a:off x="6014145" y="2421210"/>
            <a:ext cx="2606278"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1" lang="en-US" sz="950" u="none" cap="none" strike="noStrike">
                <a:solidFill>
                  <a:srgbClr val="D6E5EF"/>
                </a:solidFill>
                <a:latin typeface="Source Sans 3"/>
                <a:ea typeface="Source Sans 3"/>
                <a:cs typeface="Source Sans 3"/>
                <a:sym typeface="Source Sans 3"/>
              </a:rPr>
              <a:t>"Necesito datos limpios y actualizados."</a:t>
            </a:r>
            <a:r>
              <a:rPr b="0" i="0" lang="en-US" sz="950" u="none" cap="none" strike="noStrike">
                <a:solidFill>
                  <a:srgbClr val="D6E5EF"/>
                </a:solidFill>
                <a:latin typeface="Source Sans 3"/>
                <a:ea typeface="Source Sans 3"/>
                <a:cs typeface="Source Sans 3"/>
                <a:sym typeface="Source Sans 3"/>
              </a:rPr>
              <a:t> — Infraestructura para consumo analítico.</a:t>
            </a:r>
            <a:endParaRPr b="0" i="0" sz="950" u="none" cap="none" strike="noStrike">
              <a:solidFill>
                <a:srgbClr val="000000"/>
              </a:solidFill>
              <a:latin typeface="Calibri"/>
              <a:ea typeface="Calibri"/>
              <a:cs typeface="Calibri"/>
              <a:sym typeface="Calibri"/>
            </a:endParaRPr>
          </a:p>
        </p:txBody>
      </p:sp>
      <p:sp>
        <p:nvSpPr>
          <p:cNvPr descr="preencoded.png" id="264" name="Google Shape;264;p10"/>
          <p:cNvSpPr/>
          <p:nvPr/>
        </p:nvSpPr>
        <p:spPr>
          <a:xfrm>
            <a:off x="523577" y="3014737"/>
            <a:ext cx="301675" cy="301675"/>
          </a:xfrm>
          <a:prstGeom prst="rect">
            <a:avLst/>
          </a:prstGeom>
          <a:noFill/>
          <a:ln>
            <a:noFill/>
          </a:ln>
        </p:spPr>
      </p:sp>
      <p:sp>
        <p:nvSpPr>
          <p:cNvPr id="265" name="Google Shape;265;p10"/>
          <p:cNvSpPr/>
          <p:nvPr/>
        </p:nvSpPr>
        <p:spPr>
          <a:xfrm>
            <a:off x="523577" y="3455417"/>
            <a:ext cx="2606278" cy="1774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00"/>
              <a:buFont typeface="Lora"/>
              <a:buNone/>
            </a:pPr>
            <a:r>
              <a:rPr b="0" i="0" lang="en-US" sz="1100" u="none" cap="none" strike="noStrike">
                <a:solidFill>
                  <a:srgbClr val="D6E5EF"/>
                </a:solidFill>
                <a:latin typeface="Lora"/>
                <a:ea typeface="Lora"/>
                <a:cs typeface="Lora"/>
                <a:sym typeface="Lora"/>
              </a:rPr>
              <a:t>Alerta</a:t>
            </a:r>
            <a:endParaRPr b="0" i="0" sz="1100" u="none" cap="none" strike="noStrike">
              <a:solidFill>
                <a:srgbClr val="000000"/>
              </a:solidFill>
              <a:latin typeface="Calibri"/>
              <a:ea typeface="Calibri"/>
              <a:cs typeface="Calibri"/>
              <a:sym typeface="Calibri"/>
            </a:endParaRPr>
          </a:p>
        </p:txBody>
      </p:sp>
      <p:sp>
        <p:nvSpPr>
          <p:cNvPr id="266" name="Google Shape;266;p10"/>
          <p:cNvSpPr/>
          <p:nvPr/>
        </p:nvSpPr>
        <p:spPr>
          <a:xfrm>
            <a:off x="523577" y="3699644"/>
            <a:ext cx="2606278"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1" lang="en-US" sz="950" u="none" cap="none" strike="noStrike">
                <a:solidFill>
                  <a:srgbClr val="D6E5EF"/>
                </a:solidFill>
                <a:latin typeface="Source Sans 3"/>
                <a:ea typeface="Source Sans 3"/>
                <a:cs typeface="Source Sans 3"/>
                <a:sym typeface="Source Sans 3"/>
              </a:rPr>
              <a:t>"Avísame cuando algo cambie."</a:t>
            </a:r>
            <a:r>
              <a:rPr b="0" i="0" lang="en-US" sz="950" u="none" cap="none" strike="noStrike">
                <a:solidFill>
                  <a:srgbClr val="D6E5EF"/>
                </a:solidFill>
                <a:latin typeface="Source Sans 3"/>
                <a:ea typeface="Source Sans 3"/>
                <a:cs typeface="Source Sans 3"/>
                <a:sym typeface="Source Sans 3"/>
              </a:rPr>
              <a:t> — Notificación automática ante umbrales críticos.</a:t>
            </a:r>
            <a:endParaRPr b="0" i="0" sz="950" u="none" cap="none" strike="noStrike">
              <a:solidFill>
                <a:srgbClr val="000000"/>
              </a:solidFill>
              <a:latin typeface="Calibri"/>
              <a:ea typeface="Calibri"/>
              <a:cs typeface="Calibri"/>
              <a:sym typeface="Calibri"/>
            </a:endParaRPr>
          </a:p>
        </p:txBody>
      </p:sp>
      <p:sp>
        <p:nvSpPr>
          <p:cNvPr descr="preencoded.png" id="267" name="Google Shape;267;p10"/>
          <p:cNvSpPr/>
          <p:nvPr/>
        </p:nvSpPr>
        <p:spPr>
          <a:xfrm>
            <a:off x="3268861" y="3014737"/>
            <a:ext cx="301675" cy="301675"/>
          </a:xfrm>
          <a:prstGeom prst="rect">
            <a:avLst/>
          </a:prstGeom>
          <a:noFill/>
          <a:ln>
            <a:noFill/>
          </a:ln>
        </p:spPr>
      </p:sp>
      <p:sp>
        <p:nvSpPr>
          <p:cNvPr id="268" name="Google Shape;268;p10"/>
          <p:cNvSpPr/>
          <p:nvPr/>
        </p:nvSpPr>
        <p:spPr>
          <a:xfrm>
            <a:off x="3268861" y="3455417"/>
            <a:ext cx="2606278" cy="1774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00"/>
              <a:buFont typeface="Lora"/>
              <a:buNone/>
            </a:pPr>
            <a:r>
              <a:rPr b="0" i="0" lang="en-US" sz="1100" u="none" cap="none" strike="noStrike">
                <a:solidFill>
                  <a:srgbClr val="D6E5EF"/>
                </a:solidFill>
                <a:latin typeface="Lora"/>
                <a:ea typeface="Lora"/>
                <a:cs typeface="Lora"/>
                <a:sym typeface="Lora"/>
              </a:rPr>
              <a:t>Modelo Predictivo</a:t>
            </a:r>
            <a:endParaRPr b="0" i="0" sz="1100" u="none" cap="none" strike="noStrike">
              <a:solidFill>
                <a:srgbClr val="000000"/>
              </a:solidFill>
              <a:latin typeface="Calibri"/>
              <a:ea typeface="Calibri"/>
              <a:cs typeface="Calibri"/>
              <a:sym typeface="Calibri"/>
            </a:endParaRPr>
          </a:p>
        </p:txBody>
      </p:sp>
      <p:sp>
        <p:nvSpPr>
          <p:cNvPr id="269" name="Google Shape;269;p10"/>
          <p:cNvSpPr/>
          <p:nvPr/>
        </p:nvSpPr>
        <p:spPr>
          <a:xfrm>
            <a:off x="3268861" y="3699644"/>
            <a:ext cx="2606278" cy="371029"/>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D6E5EF"/>
              </a:buClr>
              <a:buSzPts val="950"/>
              <a:buFont typeface="Source Sans 3"/>
              <a:buNone/>
            </a:pPr>
            <a:r>
              <a:rPr b="0" i="1" lang="en-US" sz="950" u="none" cap="none" strike="noStrike">
                <a:solidFill>
                  <a:srgbClr val="D6E5EF"/>
                </a:solidFill>
                <a:latin typeface="Source Sans 3"/>
                <a:ea typeface="Source Sans 3"/>
                <a:cs typeface="Source Sans 3"/>
                <a:sym typeface="Source Sans 3"/>
              </a:rPr>
              <a:t>"¿Qué clientes podrían abandonar?"</a:t>
            </a:r>
            <a:r>
              <a:rPr b="0" i="0" lang="en-US" sz="950" u="none" cap="none" strike="noStrike">
                <a:solidFill>
                  <a:srgbClr val="D6E5EF"/>
                </a:solidFill>
                <a:latin typeface="Source Sans 3"/>
                <a:ea typeface="Source Sans 3"/>
                <a:cs typeface="Source Sans 3"/>
                <a:sym typeface="Source Sans 3"/>
              </a:rPr>
              <a:t> — Predicción basada en patrones históricos.</a:t>
            </a:r>
            <a:endParaRPr b="0" i="0" sz="950" u="none" cap="none" strike="noStrike">
              <a:solidFill>
                <a:srgbClr val="000000"/>
              </a:solidFill>
              <a:latin typeface="Calibri"/>
              <a:ea typeface="Calibri"/>
              <a:cs typeface="Calibri"/>
              <a:sym typeface="Calibri"/>
            </a:endParaRPr>
          </a:p>
        </p:txBody>
      </p:sp>
      <p:sp>
        <p:nvSpPr>
          <p:cNvPr id="270" name="Google Shape;270;p10"/>
          <p:cNvSpPr/>
          <p:nvPr/>
        </p:nvSpPr>
        <p:spPr>
          <a:xfrm>
            <a:off x="523577" y="4195763"/>
            <a:ext cx="8096845" cy="457126"/>
          </a:xfrm>
          <a:prstGeom prst="roundRect">
            <a:avLst>
              <a:gd fmla="val 3960" name="adj"/>
            </a:avLst>
          </a:prstGeom>
          <a:solidFill>
            <a:srgbClr val="1E4E7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reencoded.png" id="271" name="Google Shape;271;p10"/>
          <p:cNvPicPr preferRelativeResize="0"/>
          <p:nvPr/>
        </p:nvPicPr>
        <p:blipFill rotWithShape="1">
          <a:blip r:embed="rId3">
            <a:alphaModFix/>
          </a:blip>
          <a:srcRect b="0" l="0" r="0" t="0"/>
          <a:stretch/>
        </p:blipFill>
        <p:spPr>
          <a:xfrm>
            <a:off x="644203" y="4364757"/>
            <a:ext cx="150837" cy="120625"/>
          </a:xfrm>
          <a:prstGeom prst="rect">
            <a:avLst/>
          </a:prstGeom>
          <a:noFill/>
          <a:ln>
            <a:noFill/>
          </a:ln>
        </p:spPr>
      </p:pic>
      <p:sp>
        <p:nvSpPr>
          <p:cNvPr id="272" name="Google Shape;272;p10"/>
          <p:cNvSpPr/>
          <p:nvPr/>
        </p:nvSpPr>
        <p:spPr>
          <a:xfrm>
            <a:off x="915665" y="4337149"/>
            <a:ext cx="8041332" cy="18551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FFFFF"/>
              </a:buClr>
              <a:buSzPts val="950"/>
              <a:buFont typeface="Source Sans 3"/>
              <a:buNone/>
            </a:pPr>
            <a:r>
              <a:rPr b="1" i="0" lang="en-US" sz="950" u="none" cap="none" strike="noStrike">
                <a:solidFill>
                  <a:srgbClr val="FFFFFF"/>
                </a:solidFill>
                <a:latin typeface="Source Sans 3"/>
                <a:ea typeface="Source Sans 3"/>
                <a:cs typeface="Source Sans 3"/>
                <a:sym typeface="Source Sans 3"/>
              </a:rPr>
              <a:t>Mensaje clave:</a:t>
            </a:r>
            <a:r>
              <a:rPr b="0" i="0" lang="en-US" sz="950" u="none" cap="none" strike="noStrike">
                <a:solidFill>
                  <a:srgbClr val="FFFFFF"/>
                </a:solidFill>
                <a:latin typeface="Source Sans 3"/>
                <a:ea typeface="Source Sans 3"/>
                <a:cs typeface="Source Sans 3"/>
                <a:sym typeface="Source Sans 3"/>
              </a:rPr>
              <a:t> No todo problema de datos necesita Machine Learning. La complejidad de la solución debe ser proporcional a la pregunta del negocio.</a:t>
            </a:r>
            <a:endParaRPr b="0" i="0" sz="950" u="none" cap="none" strike="noStrike">
              <a:solidFill>
                <a:srgbClr val="000000"/>
              </a:solidFill>
              <a:latin typeface="Calibri"/>
              <a:ea typeface="Calibri"/>
              <a:cs typeface="Calibri"/>
              <a:sym typeface="Calibri"/>
            </a:endParaRPr>
          </a:p>
        </p:txBody>
      </p:sp>
      <p:pic>
        <p:nvPicPr>
          <p:cNvPr id="273" name="Google Shape;273;p10"/>
          <p:cNvPicPr preferRelativeResize="0"/>
          <p:nvPr/>
        </p:nvPicPr>
        <p:blipFill rotWithShape="1">
          <a:blip r:embed="rId4">
            <a:alphaModFix/>
          </a:blip>
          <a:srcRect b="0" l="0" r="0" t="0"/>
          <a:stretch/>
        </p:blipFill>
        <p:spPr>
          <a:xfrm>
            <a:off x="7421731" y="4782786"/>
            <a:ext cx="1722269" cy="312447"/>
          </a:xfrm>
          <a:prstGeom prst="rect">
            <a:avLst/>
          </a:prstGeom>
          <a:noFill/>
          <a:ln>
            <a:noFill/>
          </a:ln>
        </p:spPr>
      </p:pic>
      <p:sp>
        <p:nvSpPr>
          <p:cNvPr id="274" name="Google Shape;274;p10"/>
          <p:cNvSpPr/>
          <p:nvPr/>
        </p:nvSpPr>
        <p:spPr>
          <a:xfrm>
            <a:off x="595982" y="526777"/>
            <a:ext cx="1035174" cy="1109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None/>
            </a:pPr>
            <a:r>
              <a:rPr lang="en-US" sz="750">
                <a:solidFill>
                  <a:srgbClr val="2E75B5"/>
                </a:solidFill>
                <a:latin typeface="Source Sans 3"/>
                <a:ea typeface="Source Sans 3"/>
                <a:cs typeface="Source Sans 3"/>
                <a:sym typeface="Source Sans 3"/>
              </a:rPr>
              <a:t>DIAPOSITIVA 10</a:t>
            </a:r>
            <a:endParaRPr sz="750">
              <a:solidFill>
                <a:srgbClr val="2E75B5"/>
              </a:solidFill>
              <a:latin typeface="Calibri"/>
              <a:ea typeface="Calibri"/>
              <a:cs typeface="Calibri"/>
              <a:sym typeface="Calibri"/>
            </a:endParaRPr>
          </a:p>
          <a:p>
            <a:pPr indent="0" lvl="0" marL="0" marR="0" rtl="0" algn="l">
              <a:lnSpc>
                <a:spcPct val="96000"/>
              </a:lnSpc>
              <a:spcBef>
                <a:spcPts val="0"/>
              </a:spcBef>
              <a:spcAft>
                <a:spcPts val="0"/>
              </a:spcAft>
              <a:buClr>
                <a:schemeClr val="dk1"/>
              </a:buClr>
              <a:buSzPts val="750"/>
              <a:buFont typeface="Calibri"/>
              <a:buNone/>
            </a:pPr>
            <a:r>
              <a:t/>
            </a:r>
            <a:endParaRPr b="0" i="0" sz="75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h30f47ba9f2cb7171_0_17"/>
          <p:cNvPicPr preferRelativeResize="0"/>
          <p:nvPr/>
        </p:nvPicPr>
        <p:blipFill rotWithShape="1">
          <a:blip r:embed="rId3">
            <a:alphaModFix/>
          </a:blip>
          <a:srcRect b="0" l="0" r="0" t="0"/>
          <a:stretch/>
        </p:blipFill>
        <p:spPr>
          <a:xfrm>
            <a:off x="7421731" y="4782786"/>
            <a:ext cx="1722269" cy="312447"/>
          </a:xfrm>
          <a:prstGeom prst="rect">
            <a:avLst/>
          </a:prstGeom>
          <a:noFill/>
          <a:ln>
            <a:noFill/>
          </a:ln>
        </p:spPr>
      </p:pic>
      <p:pic>
        <p:nvPicPr>
          <p:cNvPr descr="Ready to become a certified Administrator on IBM Cloud Pak for AIOps? Register now and use code IBMTechYT20 for 20% off of your exam → https://ibm.biz/BdGADA&#10;&#10;Learn more about Data as a product (DaaP) here → https://ibm.biz/BdGADu&#10;&#10;Ever wonder about data products? 🌐 Learn what data products are, their key characteristics, and how they can break down data silos. Join Matt Free as he explains how to manage data quality and lifecycle, ensuring high-quality data for better business outcomes. 📊🔍 &#10;&#10;AI news moves fast. Sign up for a monthly newsletter for AI updates from IBM → https://ibm.biz/BdGADL" id="281" name="Google Shape;281;h30f47ba9f2cb7171_0_17" title="Data Products Explained: Key Characteristics &amp; Benefits">
            <a:hlinkClick r:id="rId4"/>
          </p:cNvPr>
          <p:cNvPicPr preferRelativeResize="0"/>
          <p:nvPr/>
        </p:nvPicPr>
        <p:blipFill>
          <a:blip r:embed="rId5">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1"/>
          <p:cNvSpPr/>
          <p:nvPr/>
        </p:nvSpPr>
        <p:spPr>
          <a:xfrm>
            <a:off x="458168" y="360223"/>
            <a:ext cx="8096845"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600"/>
              <a:buFont typeface="Lora"/>
              <a:buNone/>
            </a:pPr>
            <a:r>
              <a:rPr b="0" i="0" lang="en-US" sz="1600" u="none" cap="none" strike="noStrike">
                <a:solidFill>
                  <a:srgbClr val="2E75B5"/>
                </a:solidFill>
                <a:latin typeface="Lora"/>
                <a:ea typeface="Lora"/>
                <a:cs typeface="Lora"/>
                <a:sym typeface="Lora"/>
              </a:rPr>
              <a:t>Construcción</a:t>
            </a:r>
            <a:r>
              <a:rPr b="0" i="0" lang="en-US" sz="1600" u="none" cap="none" strike="noStrike">
                <a:solidFill>
                  <a:srgbClr val="F98AC7"/>
                </a:solidFill>
                <a:latin typeface="Lora"/>
                <a:ea typeface="Lora"/>
                <a:cs typeface="Lora"/>
                <a:sym typeface="Lora"/>
              </a:rPr>
              <a:t> </a:t>
            </a:r>
            <a:r>
              <a:rPr b="0" i="0" lang="en-US" sz="1600" u="none" cap="none" strike="noStrike">
                <a:solidFill>
                  <a:srgbClr val="2E75B5"/>
                </a:solidFill>
                <a:latin typeface="Lora"/>
                <a:ea typeface="Lora"/>
                <a:cs typeface="Lora"/>
                <a:sym typeface="Lora"/>
              </a:rPr>
              <a:t>de la Solución</a:t>
            </a:r>
            <a:endParaRPr b="0" i="0" sz="1600" u="none" cap="none" strike="noStrike">
              <a:solidFill>
                <a:srgbClr val="2E75B5"/>
              </a:solidFill>
              <a:latin typeface="Calibri"/>
              <a:ea typeface="Calibri"/>
              <a:cs typeface="Calibri"/>
              <a:sym typeface="Calibri"/>
            </a:endParaRPr>
          </a:p>
        </p:txBody>
      </p:sp>
      <p:sp>
        <p:nvSpPr>
          <p:cNvPr id="288" name="Google Shape;288;p11"/>
          <p:cNvSpPr/>
          <p:nvPr/>
        </p:nvSpPr>
        <p:spPr>
          <a:xfrm>
            <a:off x="458168" y="629468"/>
            <a:ext cx="8554045" cy="32510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Los requerimientos del negocio y los datos preparados se combinan para dar forma al producto final. </a:t>
            </a:r>
            <a:endParaRPr/>
          </a:p>
          <a:p>
            <a:pPr indent="0" lvl="0" marL="0" marR="0" rtl="0" algn="l">
              <a:lnSpc>
                <a:spcPct val="100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Esta etapa requiere la coordinación de tres roles especializados.</a:t>
            </a:r>
            <a:endParaRPr b="0" i="0" sz="1000" u="none" cap="none" strike="noStrike">
              <a:solidFill>
                <a:srgbClr val="000000"/>
              </a:solidFill>
              <a:latin typeface="Calibri"/>
              <a:ea typeface="Calibri"/>
              <a:cs typeface="Calibri"/>
              <a:sym typeface="Calibri"/>
            </a:endParaRPr>
          </a:p>
        </p:txBody>
      </p:sp>
      <p:sp>
        <p:nvSpPr>
          <p:cNvPr id="289" name="Google Shape;289;p11"/>
          <p:cNvSpPr/>
          <p:nvPr/>
        </p:nvSpPr>
        <p:spPr>
          <a:xfrm>
            <a:off x="422701" y="4201109"/>
            <a:ext cx="2677120" cy="403771"/>
          </a:xfrm>
          <a:prstGeom prst="roundRect">
            <a:avLst>
              <a:gd fmla="val 2432" name="adj"/>
            </a:avLst>
          </a:prstGeom>
          <a:solidFill>
            <a:srgbClr val="007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0" name="Google Shape;290;p11"/>
          <p:cNvSpPr/>
          <p:nvPr/>
        </p:nvSpPr>
        <p:spPr>
          <a:xfrm>
            <a:off x="488111" y="4223489"/>
            <a:ext cx="2546300"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800"/>
              <a:buFont typeface="Lora"/>
              <a:buNone/>
            </a:pPr>
            <a:r>
              <a:rPr b="0" i="0" lang="en-US" sz="800" u="none" cap="none" strike="noStrike">
                <a:solidFill>
                  <a:srgbClr val="D6E5EF"/>
                </a:solidFill>
                <a:latin typeface="Lora"/>
                <a:ea typeface="Lora"/>
                <a:cs typeface="Lora"/>
                <a:sym typeface="Lora"/>
              </a:rPr>
              <a:t>Ingeniería de Datos</a:t>
            </a:r>
            <a:endParaRPr b="0" i="0" sz="800" u="none" cap="none" strike="noStrike">
              <a:solidFill>
                <a:srgbClr val="000000"/>
              </a:solidFill>
              <a:latin typeface="Calibri"/>
              <a:ea typeface="Calibri"/>
              <a:cs typeface="Calibri"/>
              <a:sym typeface="Calibri"/>
            </a:endParaRPr>
          </a:p>
        </p:txBody>
      </p:sp>
      <p:sp>
        <p:nvSpPr>
          <p:cNvPr id="291" name="Google Shape;291;p11"/>
          <p:cNvSpPr/>
          <p:nvPr/>
        </p:nvSpPr>
        <p:spPr>
          <a:xfrm>
            <a:off x="458168" y="4343016"/>
            <a:ext cx="2546300" cy="7858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Prepara la base: integra fuentes, limpia, transforma </a:t>
            </a:r>
            <a:endParaRPr/>
          </a:p>
          <a:p>
            <a:pPr indent="0" lvl="0" marL="0" marR="0" rtl="0" algn="l">
              <a:lnSpc>
                <a:spcPct val="10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y publica datos confiables y accesibles.</a:t>
            </a:r>
            <a:endParaRPr b="0" i="0" sz="800" u="none" cap="none" strike="noStrike">
              <a:solidFill>
                <a:srgbClr val="000000"/>
              </a:solidFill>
              <a:latin typeface="Calibri"/>
              <a:ea typeface="Calibri"/>
              <a:cs typeface="Calibri"/>
              <a:sym typeface="Calibri"/>
            </a:endParaRPr>
          </a:p>
        </p:txBody>
      </p:sp>
      <p:sp>
        <p:nvSpPr>
          <p:cNvPr id="292" name="Google Shape;292;p11"/>
          <p:cNvSpPr/>
          <p:nvPr/>
        </p:nvSpPr>
        <p:spPr>
          <a:xfrm>
            <a:off x="3132489" y="4201109"/>
            <a:ext cx="2677195" cy="403771"/>
          </a:xfrm>
          <a:prstGeom prst="roundRect">
            <a:avLst>
              <a:gd fmla="val 2432"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3" name="Google Shape;293;p11"/>
          <p:cNvSpPr/>
          <p:nvPr/>
        </p:nvSpPr>
        <p:spPr>
          <a:xfrm>
            <a:off x="3197899" y="4234118"/>
            <a:ext cx="2546375"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800"/>
              <a:buFont typeface="Lora"/>
              <a:buNone/>
            </a:pPr>
            <a:r>
              <a:rPr b="0" i="0" lang="en-US" sz="800" u="none" cap="none" strike="noStrike">
                <a:solidFill>
                  <a:srgbClr val="D6E5EF"/>
                </a:solidFill>
                <a:latin typeface="Lora"/>
                <a:ea typeface="Lora"/>
                <a:cs typeface="Lora"/>
                <a:sym typeface="Lora"/>
              </a:rPr>
              <a:t>Análisis de Datos</a:t>
            </a:r>
            <a:endParaRPr b="0" i="0" sz="800" u="none" cap="none" strike="noStrike">
              <a:solidFill>
                <a:srgbClr val="000000"/>
              </a:solidFill>
              <a:latin typeface="Calibri"/>
              <a:ea typeface="Calibri"/>
              <a:cs typeface="Calibri"/>
              <a:sym typeface="Calibri"/>
            </a:endParaRPr>
          </a:p>
        </p:txBody>
      </p:sp>
      <p:sp>
        <p:nvSpPr>
          <p:cNvPr id="294" name="Google Shape;294;p11"/>
          <p:cNvSpPr/>
          <p:nvPr/>
        </p:nvSpPr>
        <p:spPr>
          <a:xfrm>
            <a:off x="3165157" y="4364396"/>
            <a:ext cx="2611785" cy="228858"/>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Construye métricas, explora patrones y diseña visualizaciones que responden a las preguntas del negocio.</a:t>
            </a:r>
            <a:endParaRPr b="0" i="0" sz="800" u="none" cap="none" strike="noStrike">
              <a:solidFill>
                <a:srgbClr val="000000"/>
              </a:solidFill>
              <a:latin typeface="Calibri"/>
              <a:ea typeface="Calibri"/>
              <a:cs typeface="Calibri"/>
              <a:sym typeface="Calibri"/>
            </a:endParaRPr>
          </a:p>
        </p:txBody>
      </p:sp>
      <p:sp>
        <p:nvSpPr>
          <p:cNvPr id="295" name="Google Shape;295;p11"/>
          <p:cNvSpPr/>
          <p:nvPr/>
        </p:nvSpPr>
        <p:spPr>
          <a:xfrm>
            <a:off x="5842352" y="4201109"/>
            <a:ext cx="2677195" cy="403771"/>
          </a:xfrm>
          <a:prstGeom prst="roundRect">
            <a:avLst>
              <a:gd fmla="val 2432"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6" name="Google Shape;296;p11"/>
          <p:cNvSpPr/>
          <p:nvPr/>
        </p:nvSpPr>
        <p:spPr>
          <a:xfrm>
            <a:off x="5907761" y="4212604"/>
            <a:ext cx="2546375"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800"/>
              <a:buFont typeface="Lora"/>
              <a:buNone/>
            </a:pPr>
            <a:r>
              <a:rPr b="0" i="0" lang="en-US" sz="800" u="none" cap="none" strike="noStrike">
                <a:solidFill>
                  <a:srgbClr val="D6E5EF"/>
                </a:solidFill>
                <a:latin typeface="Lora"/>
                <a:ea typeface="Lora"/>
                <a:cs typeface="Lora"/>
                <a:sym typeface="Lora"/>
              </a:rPr>
              <a:t>Ciencia de Datos</a:t>
            </a:r>
            <a:endParaRPr b="0" i="0" sz="800" u="none" cap="none" strike="noStrike">
              <a:solidFill>
                <a:srgbClr val="000000"/>
              </a:solidFill>
              <a:latin typeface="Calibri"/>
              <a:ea typeface="Calibri"/>
              <a:cs typeface="Calibri"/>
              <a:sym typeface="Calibri"/>
            </a:endParaRPr>
          </a:p>
        </p:txBody>
      </p:sp>
      <p:sp>
        <p:nvSpPr>
          <p:cNvPr id="297" name="Google Shape;297;p11"/>
          <p:cNvSpPr/>
          <p:nvPr/>
        </p:nvSpPr>
        <p:spPr>
          <a:xfrm>
            <a:off x="5907760" y="4352211"/>
            <a:ext cx="2546375" cy="2769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Desarrolla y evalúa modelos predictivos cuando la</a:t>
            </a:r>
            <a:endParaRPr/>
          </a:p>
          <a:p>
            <a:pPr indent="0" lvl="0" marL="0" marR="0" rtl="0" algn="l">
              <a:lnSpc>
                <a:spcPct val="10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 complejidad del problema lo requiere.</a:t>
            </a:r>
            <a:endParaRPr b="0" i="0" sz="800" u="none" cap="none" strike="noStrike">
              <a:solidFill>
                <a:srgbClr val="000000"/>
              </a:solidFill>
              <a:latin typeface="Calibri"/>
              <a:ea typeface="Calibri"/>
              <a:cs typeface="Calibri"/>
              <a:sym typeface="Calibri"/>
            </a:endParaRPr>
          </a:p>
        </p:txBody>
      </p:sp>
      <p:sp>
        <p:nvSpPr>
          <p:cNvPr id="298" name="Google Shape;298;p11"/>
          <p:cNvSpPr/>
          <p:nvPr/>
        </p:nvSpPr>
        <p:spPr>
          <a:xfrm>
            <a:off x="422701" y="4641640"/>
            <a:ext cx="8096845" cy="181496"/>
          </a:xfrm>
          <a:prstGeom prst="roundRect">
            <a:avLst>
              <a:gd fmla="val 5410" name="adj"/>
            </a:avLst>
          </a:prstGeom>
          <a:solidFill>
            <a:srgbClr val="7906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reencoded.png" id="299" name="Google Shape;299;p11"/>
          <p:cNvPicPr preferRelativeResize="0"/>
          <p:nvPr/>
        </p:nvPicPr>
        <p:blipFill rotWithShape="1">
          <a:blip r:embed="rId3">
            <a:alphaModFix/>
          </a:blip>
          <a:srcRect b="0" l="0" r="0" t="0"/>
          <a:stretch/>
        </p:blipFill>
        <p:spPr>
          <a:xfrm>
            <a:off x="488111" y="4641640"/>
            <a:ext cx="81781" cy="65410"/>
          </a:xfrm>
          <a:prstGeom prst="rect">
            <a:avLst/>
          </a:prstGeom>
          <a:noFill/>
          <a:ln>
            <a:noFill/>
          </a:ln>
        </p:spPr>
      </p:pic>
      <p:sp>
        <p:nvSpPr>
          <p:cNvPr id="300" name="Google Shape;300;p11"/>
          <p:cNvSpPr/>
          <p:nvPr/>
        </p:nvSpPr>
        <p:spPr>
          <a:xfrm>
            <a:off x="736178" y="4659270"/>
            <a:ext cx="8276034" cy="1763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Source Sans 3"/>
              <a:buNone/>
            </a:pPr>
            <a:r>
              <a:rPr b="1" i="0" lang="en-US" sz="900" u="none" cap="none" strike="noStrike">
                <a:solidFill>
                  <a:srgbClr val="FFFFFF"/>
                </a:solidFill>
                <a:latin typeface="Source Sans 3"/>
                <a:ea typeface="Source Sans 3"/>
                <a:cs typeface="Source Sans 3"/>
                <a:sym typeface="Source Sans 3"/>
              </a:rPr>
              <a:t>Mensaje clave:</a:t>
            </a:r>
            <a:r>
              <a:rPr b="0" i="0" lang="en-US" sz="900" u="none" cap="none" strike="noStrike">
                <a:solidFill>
                  <a:srgbClr val="FFFFFF"/>
                </a:solidFill>
                <a:latin typeface="Source Sans 3"/>
                <a:ea typeface="Source Sans 3"/>
                <a:cs typeface="Source Sans 3"/>
                <a:sym typeface="Source Sans 3"/>
              </a:rPr>
              <a:t> La solución es el resultado del trabajo coordinado del equipo, no de un solo rol.</a:t>
            </a:r>
            <a:endParaRPr b="0" i="0" sz="900" u="none" cap="none" strike="noStrike">
              <a:solidFill>
                <a:srgbClr val="000000"/>
              </a:solidFill>
              <a:latin typeface="Calibri"/>
              <a:ea typeface="Calibri"/>
              <a:cs typeface="Calibri"/>
              <a:sym typeface="Calibri"/>
            </a:endParaRPr>
          </a:p>
        </p:txBody>
      </p:sp>
      <p:pic>
        <p:nvPicPr>
          <p:cNvPr id="301" name="Google Shape;301;p11"/>
          <p:cNvPicPr preferRelativeResize="0"/>
          <p:nvPr/>
        </p:nvPicPr>
        <p:blipFill rotWithShape="1">
          <a:blip r:embed="rId4">
            <a:alphaModFix/>
          </a:blip>
          <a:srcRect b="0" l="0" r="0" t="0"/>
          <a:stretch/>
        </p:blipFill>
        <p:spPr>
          <a:xfrm>
            <a:off x="7427044" y="4835602"/>
            <a:ext cx="1722269" cy="312447"/>
          </a:xfrm>
          <a:prstGeom prst="rect">
            <a:avLst/>
          </a:prstGeom>
          <a:noFill/>
          <a:ln>
            <a:noFill/>
          </a:ln>
        </p:spPr>
      </p:pic>
      <p:sp>
        <p:nvSpPr>
          <p:cNvPr id="302" name="Google Shape;302;p11"/>
          <p:cNvSpPr txBox="1"/>
          <p:nvPr/>
        </p:nvSpPr>
        <p:spPr>
          <a:xfrm>
            <a:off x="422701" y="138193"/>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11</a:t>
            </a:r>
            <a:endParaRPr b="0" i="0" sz="750" u="none" cap="none" strike="noStrike">
              <a:solidFill>
                <a:srgbClr val="2E75B5"/>
              </a:solidFill>
              <a:latin typeface="Calibri"/>
              <a:ea typeface="Calibri"/>
              <a:cs typeface="Calibri"/>
              <a:sym typeface="Calibri"/>
            </a:endParaRPr>
          </a:p>
        </p:txBody>
      </p:sp>
      <p:pic>
        <p:nvPicPr>
          <p:cNvPr id="303" name="Google Shape;303;p11"/>
          <p:cNvPicPr preferRelativeResize="0"/>
          <p:nvPr/>
        </p:nvPicPr>
        <p:blipFill rotWithShape="1">
          <a:blip r:embed="rId5">
            <a:alphaModFix/>
          </a:blip>
          <a:srcRect b="0" l="0" r="0" t="0"/>
          <a:stretch/>
        </p:blipFill>
        <p:spPr>
          <a:xfrm>
            <a:off x="2231131" y="1011171"/>
            <a:ext cx="4681738" cy="31211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2"/>
          <p:cNvSpPr/>
          <p:nvPr/>
        </p:nvSpPr>
        <p:spPr>
          <a:xfrm>
            <a:off x="523577" y="680665"/>
            <a:ext cx="8096845"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400"/>
              <a:buFont typeface="Lora"/>
              <a:buNone/>
            </a:pPr>
            <a:r>
              <a:rPr b="0" i="0" lang="en-US" sz="2400" u="none" cap="none" strike="noStrike">
                <a:solidFill>
                  <a:srgbClr val="2E75B5"/>
                </a:solidFill>
                <a:latin typeface="Lora"/>
                <a:ea typeface="Lora"/>
                <a:cs typeface="Lora"/>
                <a:sym typeface="Lora"/>
              </a:rPr>
              <a:t>Validación de la Solución</a:t>
            </a:r>
            <a:endParaRPr b="0" i="0" sz="2400" u="none" cap="none" strike="noStrike">
              <a:solidFill>
                <a:srgbClr val="2E75B5"/>
              </a:solidFill>
              <a:latin typeface="Calibri"/>
              <a:ea typeface="Calibri"/>
              <a:cs typeface="Calibri"/>
              <a:sym typeface="Calibri"/>
            </a:endParaRPr>
          </a:p>
        </p:txBody>
      </p:sp>
      <p:sp>
        <p:nvSpPr>
          <p:cNvPr id="310" name="Google Shape;310;p12"/>
          <p:cNvSpPr/>
          <p:nvPr/>
        </p:nvSpPr>
        <p:spPr>
          <a:xfrm>
            <a:off x="523577" y="1261914"/>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Una solución debe validarse técnica y funcionalmente antes de publicarse. Una métrica técnica perfecta no garantiza utilidad si no responde a la necesidad real del negocio.</a:t>
            </a:r>
            <a:endParaRPr b="0" i="0" sz="1000" u="none" cap="none" strike="noStrike">
              <a:solidFill>
                <a:srgbClr val="000000"/>
              </a:solidFill>
              <a:latin typeface="Calibri"/>
              <a:ea typeface="Calibri"/>
              <a:cs typeface="Calibri"/>
              <a:sym typeface="Calibri"/>
            </a:endParaRPr>
          </a:p>
        </p:txBody>
      </p:sp>
      <p:pic>
        <p:nvPicPr>
          <p:cNvPr descr="preencoded.png" id="311" name="Google Shape;311;p12"/>
          <p:cNvPicPr preferRelativeResize="0"/>
          <p:nvPr/>
        </p:nvPicPr>
        <p:blipFill rotWithShape="1">
          <a:blip r:embed="rId3">
            <a:alphaModFix/>
          </a:blip>
          <a:srcRect b="0" l="0" r="0" t="0"/>
          <a:stretch/>
        </p:blipFill>
        <p:spPr>
          <a:xfrm>
            <a:off x="523577" y="1827981"/>
            <a:ext cx="1864668" cy="1152451"/>
          </a:xfrm>
          <a:prstGeom prst="rect">
            <a:avLst/>
          </a:prstGeom>
          <a:noFill/>
          <a:ln>
            <a:noFill/>
          </a:ln>
        </p:spPr>
      </p:pic>
      <p:sp>
        <p:nvSpPr>
          <p:cNvPr id="312" name="Google Shape;312;p12"/>
          <p:cNvSpPr/>
          <p:nvPr/>
        </p:nvSpPr>
        <p:spPr>
          <a:xfrm>
            <a:off x="523577" y="3144069"/>
            <a:ext cx="258983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b="0" i="0" lang="en-US" sz="1200" u="none" cap="none" strike="noStrike">
                <a:solidFill>
                  <a:srgbClr val="D6E5EF"/>
                </a:solidFill>
                <a:latin typeface="Lora"/>
                <a:ea typeface="Lora"/>
                <a:cs typeface="Lora"/>
                <a:sym typeface="Lora"/>
              </a:rPr>
              <a:t>Datos</a:t>
            </a:r>
            <a:endParaRPr b="0" i="0" sz="1200" u="none" cap="none" strike="noStrike">
              <a:solidFill>
                <a:srgbClr val="000000"/>
              </a:solidFill>
              <a:latin typeface="Calibri"/>
              <a:ea typeface="Calibri"/>
              <a:cs typeface="Calibri"/>
              <a:sym typeface="Calibri"/>
            </a:endParaRPr>
          </a:p>
        </p:txBody>
      </p:sp>
      <p:sp>
        <p:nvSpPr>
          <p:cNvPr id="313" name="Google Shape;313;p12"/>
          <p:cNvSpPr/>
          <p:nvPr/>
        </p:nvSpPr>
        <p:spPr>
          <a:xfrm>
            <a:off x="523577" y="3415085"/>
            <a:ext cx="2589833"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¿Son correctos, completos y consistentes? Se verifican valores nulos, duplicados y rangos esperados.</a:t>
            </a:r>
            <a:endParaRPr b="0" i="0" sz="1000" u="none" cap="none" strike="noStrike">
              <a:solidFill>
                <a:srgbClr val="000000"/>
              </a:solidFill>
              <a:latin typeface="Calibri"/>
              <a:ea typeface="Calibri"/>
              <a:cs typeface="Calibri"/>
              <a:sym typeface="Calibri"/>
            </a:endParaRPr>
          </a:p>
        </p:txBody>
      </p:sp>
      <p:pic>
        <p:nvPicPr>
          <p:cNvPr descr="preencoded.png" id="314" name="Google Shape;314;p12"/>
          <p:cNvPicPr preferRelativeResize="0"/>
          <p:nvPr/>
        </p:nvPicPr>
        <p:blipFill rotWithShape="1">
          <a:blip r:embed="rId4">
            <a:alphaModFix/>
          </a:blip>
          <a:srcRect b="0" l="0" r="0" t="0"/>
          <a:stretch/>
        </p:blipFill>
        <p:spPr>
          <a:xfrm>
            <a:off x="3277046" y="1827981"/>
            <a:ext cx="1864668" cy="1152451"/>
          </a:xfrm>
          <a:prstGeom prst="rect">
            <a:avLst/>
          </a:prstGeom>
          <a:noFill/>
          <a:ln>
            <a:noFill/>
          </a:ln>
        </p:spPr>
      </p:pic>
      <p:sp>
        <p:nvSpPr>
          <p:cNvPr id="315" name="Google Shape;315;p12"/>
          <p:cNvSpPr/>
          <p:nvPr/>
        </p:nvSpPr>
        <p:spPr>
          <a:xfrm>
            <a:off x="3277046" y="3144069"/>
            <a:ext cx="258983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b="0" i="0" lang="en-US" sz="1200" u="none" cap="none" strike="noStrike">
                <a:solidFill>
                  <a:srgbClr val="D6E5EF"/>
                </a:solidFill>
                <a:latin typeface="Lora"/>
                <a:ea typeface="Lora"/>
                <a:cs typeface="Lora"/>
                <a:sym typeface="Lora"/>
              </a:rPr>
              <a:t>Negocio</a:t>
            </a:r>
            <a:endParaRPr b="0" i="0" sz="1200" u="none" cap="none" strike="noStrike">
              <a:solidFill>
                <a:srgbClr val="000000"/>
              </a:solidFill>
              <a:latin typeface="Calibri"/>
              <a:ea typeface="Calibri"/>
              <a:cs typeface="Calibri"/>
              <a:sym typeface="Calibri"/>
            </a:endParaRPr>
          </a:p>
        </p:txBody>
      </p:sp>
      <p:sp>
        <p:nvSpPr>
          <p:cNvPr id="316" name="Google Shape;316;p12"/>
          <p:cNvSpPr/>
          <p:nvPr/>
        </p:nvSpPr>
        <p:spPr>
          <a:xfrm>
            <a:off x="3277046" y="3415085"/>
            <a:ext cx="2589833"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¿Los resultados representan la necesidad real? Se valida con stakeholders que los KPIs y métricas son útiles.</a:t>
            </a:r>
            <a:endParaRPr b="0" i="0" sz="1000" u="none" cap="none" strike="noStrike">
              <a:solidFill>
                <a:srgbClr val="000000"/>
              </a:solidFill>
              <a:latin typeface="Calibri"/>
              <a:ea typeface="Calibri"/>
              <a:cs typeface="Calibri"/>
              <a:sym typeface="Calibri"/>
            </a:endParaRPr>
          </a:p>
        </p:txBody>
      </p:sp>
      <p:pic>
        <p:nvPicPr>
          <p:cNvPr descr="preencoded.png" id="317" name="Google Shape;317;p12"/>
          <p:cNvPicPr preferRelativeResize="0"/>
          <p:nvPr/>
        </p:nvPicPr>
        <p:blipFill rotWithShape="1">
          <a:blip r:embed="rId5">
            <a:alphaModFix/>
          </a:blip>
          <a:srcRect b="0" l="0" r="0" t="0"/>
          <a:stretch/>
        </p:blipFill>
        <p:spPr>
          <a:xfrm>
            <a:off x="6030516" y="1827981"/>
            <a:ext cx="1864668" cy="1152451"/>
          </a:xfrm>
          <a:prstGeom prst="rect">
            <a:avLst/>
          </a:prstGeom>
          <a:noFill/>
          <a:ln>
            <a:noFill/>
          </a:ln>
        </p:spPr>
      </p:pic>
      <p:sp>
        <p:nvSpPr>
          <p:cNvPr id="318" name="Google Shape;318;p12"/>
          <p:cNvSpPr/>
          <p:nvPr/>
        </p:nvSpPr>
        <p:spPr>
          <a:xfrm>
            <a:off x="6030516" y="3144069"/>
            <a:ext cx="2589907"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00"/>
              <a:buFont typeface="Lora"/>
              <a:buNone/>
            </a:pPr>
            <a:r>
              <a:rPr b="0" i="0" lang="en-US" sz="1200" u="none" cap="none" strike="noStrike">
                <a:solidFill>
                  <a:srgbClr val="D6E5EF"/>
                </a:solidFill>
                <a:latin typeface="Lora"/>
                <a:ea typeface="Lora"/>
                <a:cs typeface="Lora"/>
                <a:sym typeface="Lora"/>
              </a:rPr>
              <a:t>Modelo</a:t>
            </a:r>
            <a:endParaRPr b="0" i="0" sz="1200" u="none" cap="none" strike="noStrike">
              <a:solidFill>
                <a:srgbClr val="000000"/>
              </a:solidFill>
              <a:latin typeface="Calibri"/>
              <a:ea typeface="Calibri"/>
              <a:cs typeface="Calibri"/>
              <a:sym typeface="Calibri"/>
            </a:endParaRPr>
          </a:p>
        </p:txBody>
      </p:sp>
      <p:sp>
        <p:nvSpPr>
          <p:cNvPr id="319" name="Google Shape;319;p12"/>
          <p:cNvSpPr/>
          <p:nvPr/>
        </p:nvSpPr>
        <p:spPr>
          <a:xfrm>
            <a:off x="6030516" y="3415085"/>
            <a:ext cx="2589907"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D6E5EF"/>
              </a:buClr>
              <a:buSzPts val="1000"/>
              <a:buFont typeface="Source Sans 3"/>
              <a:buNone/>
            </a:pPr>
            <a:r>
              <a:rPr b="0" i="0" lang="en-US" sz="1000" u="none" cap="none" strike="noStrike">
                <a:solidFill>
                  <a:srgbClr val="D6E5EF"/>
                </a:solidFill>
                <a:latin typeface="Source Sans 3"/>
                <a:ea typeface="Source Sans 3"/>
                <a:cs typeface="Source Sans 3"/>
                <a:sym typeface="Source Sans 3"/>
              </a:rPr>
              <a:t>¿Su desempeño es adecuado? Se evalúan métricas como precisión, recall o RMSE según el tipo de problema.</a:t>
            </a:r>
            <a:endParaRPr b="0" i="0" sz="1000" u="none" cap="none" strike="noStrike">
              <a:solidFill>
                <a:srgbClr val="000000"/>
              </a:solidFill>
              <a:latin typeface="Calibri"/>
              <a:ea typeface="Calibri"/>
              <a:cs typeface="Calibri"/>
              <a:sym typeface="Calibri"/>
            </a:endParaRPr>
          </a:p>
        </p:txBody>
      </p:sp>
      <p:sp>
        <p:nvSpPr>
          <p:cNvPr id="320" name="Google Shape;320;p12"/>
          <p:cNvSpPr/>
          <p:nvPr/>
        </p:nvSpPr>
        <p:spPr>
          <a:xfrm>
            <a:off x="523577" y="4190554"/>
            <a:ext cx="8096845" cy="523429"/>
          </a:xfrm>
          <a:prstGeom prst="roundRect">
            <a:avLst>
              <a:gd fmla="val 3752"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reencoded.png" id="321" name="Google Shape;321;p12"/>
          <p:cNvPicPr preferRelativeResize="0"/>
          <p:nvPr/>
        </p:nvPicPr>
        <p:blipFill rotWithShape="1">
          <a:blip r:embed="rId6">
            <a:alphaModFix/>
          </a:blip>
          <a:srcRect b="0" l="0" r="0" t="0"/>
          <a:stretch/>
        </p:blipFill>
        <p:spPr>
          <a:xfrm>
            <a:off x="654472" y="4377630"/>
            <a:ext cx="163637" cy="130894"/>
          </a:xfrm>
          <a:prstGeom prst="rect">
            <a:avLst/>
          </a:prstGeom>
          <a:noFill/>
          <a:ln>
            <a:noFill/>
          </a:ln>
        </p:spPr>
      </p:pic>
      <p:sp>
        <p:nvSpPr>
          <p:cNvPr id="322" name="Google Shape;322;p12"/>
          <p:cNvSpPr/>
          <p:nvPr/>
        </p:nvSpPr>
        <p:spPr>
          <a:xfrm>
            <a:off x="949003" y="4354116"/>
            <a:ext cx="799772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00"/>
              <a:buFont typeface="Source Sans 3"/>
              <a:buNone/>
            </a:pPr>
            <a:r>
              <a:rPr b="1" i="0" lang="en-US" sz="1000" u="none" cap="none" strike="noStrike">
                <a:solidFill>
                  <a:srgbClr val="FFFFFF"/>
                </a:solidFill>
                <a:latin typeface="Source Sans 3"/>
                <a:ea typeface="Source Sans 3"/>
                <a:cs typeface="Source Sans 3"/>
                <a:sym typeface="Source Sans 3"/>
              </a:rPr>
              <a:t>Atención:</a:t>
            </a:r>
            <a:r>
              <a:rPr b="0" i="0" lang="en-US" sz="1000" u="none" cap="none" strike="noStrike">
                <a:solidFill>
                  <a:srgbClr val="FFFFFF"/>
                </a:solidFill>
                <a:latin typeface="Source Sans 3"/>
                <a:ea typeface="Source Sans 3"/>
                <a:cs typeface="Source Sans 3"/>
                <a:sym typeface="Source Sans 3"/>
              </a:rPr>
              <a:t> Un modelo puede tener excelentes métricas técnicas pero no ser útil si no responde a la pregunta correcta del negocio.</a:t>
            </a:r>
            <a:endParaRPr b="0" i="0" sz="1000" u="none" cap="none" strike="noStrike">
              <a:solidFill>
                <a:srgbClr val="000000"/>
              </a:solidFill>
              <a:latin typeface="Calibri"/>
              <a:ea typeface="Calibri"/>
              <a:cs typeface="Calibri"/>
              <a:sym typeface="Calibri"/>
            </a:endParaRPr>
          </a:p>
        </p:txBody>
      </p:sp>
      <p:pic>
        <p:nvPicPr>
          <p:cNvPr id="323" name="Google Shape;323;p12"/>
          <p:cNvPicPr preferRelativeResize="0"/>
          <p:nvPr/>
        </p:nvPicPr>
        <p:blipFill rotWithShape="1">
          <a:blip r:embed="rId7">
            <a:alphaModFix/>
          </a:blip>
          <a:srcRect b="0" l="0" r="0" t="0"/>
          <a:stretch/>
        </p:blipFill>
        <p:spPr>
          <a:xfrm>
            <a:off x="7421731" y="4812999"/>
            <a:ext cx="1722269" cy="312447"/>
          </a:xfrm>
          <a:prstGeom prst="rect">
            <a:avLst/>
          </a:prstGeom>
          <a:noFill/>
          <a:ln>
            <a:noFill/>
          </a:ln>
        </p:spPr>
      </p:pic>
      <p:sp>
        <p:nvSpPr>
          <p:cNvPr id="324" name="Google Shape;324;p12"/>
          <p:cNvSpPr txBox="1"/>
          <p:nvPr/>
        </p:nvSpPr>
        <p:spPr>
          <a:xfrm>
            <a:off x="422701" y="138193"/>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12</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3"/>
          <p:cNvSpPr/>
          <p:nvPr/>
        </p:nvSpPr>
        <p:spPr>
          <a:xfrm>
            <a:off x="523577" y="679475"/>
            <a:ext cx="8096845" cy="342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150"/>
              <a:buFont typeface="Lora"/>
              <a:buNone/>
            </a:pPr>
            <a:r>
              <a:rPr b="0" i="0" lang="en-US" sz="2150" u="none" cap="none" strike="noStrike">
                <a:solidFill>
                  <a:srgbClr val="2E75B5"/>
                </a:solidFill>
                <a:latin typeface="Lora"/>
                <a:ea typeface="Lora"/>
                <a:cs typeface="Lora"/>
                <a:sym typeface="Lora"/>
              </a:rPr>
              <a:t>Despliegue y Puesta en Producción</a:t>
            </a:r>
            <a:endParaRPr b="0" i="0" sz="2150" u="none" cap="none" strike="noStrike">
              <a:solidFill>
                <a:srgbClr val="2E75B5"/>
              </a:solidFill>
              <a:latin typeface="Calibri"/>
              <a:ea typeface="Calibri"/>
              <a:cs typeface="Calibri"/>
              <a:sym typeface="Calibri"/>
            </a:endParaRPr>
          </a:p>
        </p:txBody>
      </p:sp>
      <p:sp>
        <p:nvSpPr>
          <p:cNvPr id="331" name="Google Shape;331;p13"/>
          <p:cNvSpPr/>
          <p:nvPr/>
        </p:nvSpPr>
        <p:spPr>
          <a:xfrm>
            <a:off x="523577" y="1178123"/>
            <a:ext cx="8554045"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Construir la solución es solo el primer paso. Hacerla funcionar de forma estable para usuarios y procesos reales requiere un proceso controlado de despliegue.</a:t>
            </a:r>
            <a:endParaRPr b="0" i="0" sz="900" u="none" cap="none" strike="noStrike">
              <a:solidFill>
                <a:srgbClr val="000000"/>
              </a:solidFill>
              <a:latin typeface="Calibri"/>
              <a:ea typeface="Calibri"/>
              <a:cs typeface="Calibri"/>
              <a:sym typeface="Calibri"/>
            </a:endParaRPr>
          </a:p>
        </p:txBody>
      </p:sp>
      <p:pic>
        <p:nvPicPr>
          <p:cNvPr descr="preencoded.png" id="332" name="Google Shape;332;p13"/>
          <p:cNvPicPr preferRelativeResize="0"/>
          <p:nvPr/>
        </p:nvPicPr>
        <p:blipFill rotWithShape="1">
          <a:blip r:embed="rId3">
            <a:alphaModFix/>
          </a:blip>
          <a:srcRect b="0" l="0" r="0" t="0"/>
          <a:stretch/>
        </p:blipFill>
        <p:spPr>
          <a:xfrm>
            <a:off x="523577" y="1471240"/>
            <a:ext cx="4048423" cy="466353"/>
          </a:xfrm>
          <a:prstGeom prst="rect">
            <a:avLst/>
          </a:prstGeom>
          <a:noFill/>
          <a:ln>
            <a:noFill/>
          </a:ln>
        </p:spPr>
      </p:pic>
      <p:sp>
        <p:nvSpPr>
          <p:cNvPr id="333" name="Google Shape;333;p13"/>
          <p:cNvSpPr/>
          <p:nvPr/>
        </p:nvSpPr>
        <p:spPr>
          <a:xfrm>
            <a:off x="640110" y="2041401"/>
            <a:ext cx="3815358"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Desarrollo</a:t>
            </a:r>
            <a:endParaRPr b="0" i="0" sz="1050" u="none" cap="none" strike="noStrike">
              <a:solidFill>
                <a:srgbClr val="000000"/>
              </a:solidFill>
              <a:latin typeface="Calibri"/>
              <a:ea typeface="Calibri"/>
              <a:cs typeface="Calibri"/>
              <a:sym typeface="Calibri"/>
            </a:endParaRPr>
          </a:p>
        </p:txBody>
      </p:sp>
      <p:sp>
        <p:nvSpPr>
          <p:cNvPr id="334" name="Google Shape;334;p13"/>
          <p:cNvSpPr/>
          <p:nvPr/>
        </p:nvSpPr>
        <p:spPr>
          <a:xfrm>
            <a:off x="640110" y="2275061"/>
            <a:ext cx="3815358"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Entorno local o de sandbox donde se construye y prueba la solución.</a:t>
            </a:r>
            <a:endParaRPr b="0" i="0" sz="900" u="none" cap="none" strike="noStrike">
              <a:solidFill>
                <a:srgbClr val="000000"/>
              </a:solidFill>
              <a:latin typeface="Calibri"/>
              <a:ea typeface="Calibri"/>
              <a:cs typeface="Calibri"/>
              <a:sym typeface="Calibri"/>
            </a:endParaRPr>
          </a:p>
        </p:txBody>
      </p:sp>
      <p:pic>
        <p:nvPicPr>
          <p:cNvPr descr="preencoded.png" id="335" name="Google Shape;335;p13"/>
          <p:cNvPicPr preferRelativeResize="0"/>
          <p:nvPr/>
        </p:nvPicPr>
        <p:blipFill rotWithShape="1">
          <a:blip r:embed="rId4">
            <a:alphaModFix/>
          </a:blip>
          <a:srcRect b="0" l="0" r="0" t="0"/>
          <a:stretch/>
        </p:blipFill>
        <p:spPr>
          <a:xfrm>
            <a:off x="4572000" y="1471240"/>
            <a:ext cx="4048423" cy="466353"/>
          </a:xfrm>
          <a:prstGeom prst="rect">
            <a:avLst/>
          </a:prstGeom>
          <a:noFill/>
          <a:ln>
            <a:noFill/>
          </a:ln>
        </p:spPr>
      </p:pic>
      <p:sp>
        <p:nvSpPr>
          <p:cNvPr id="336" name="Google Shape;336;p13"/>
          <p:cNvSpPr/>
          <p:nvPr/>
        </p:nvSpPr>
        <p:spPr>
          <a:xfrm>
            <a:off x="4688532" y="2041401"/>
            <a:ext cx="3815358"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Pruebas</a:t>
            </a:r>
            <a:endParaRPr b="0" i="0" sz="1050" u="none" cap="none" strike="noStrike">
              <a:solidFill>
                <a:srgbClr val="000000"/>
              </a:solidFill>
              <a:latin typeface="Calibri"/>
              <a:ea typeface="Calibri"/>
              <a:cs typeface="Calibri"/>
              <a:sym typeface="Calibri"/>
            </a:endParaRPr>
          </a:p>
        </p:txBody>
      </p:sp>
      <p:sp>
        <p:nvSpPr>
          <p:cNvPr id="337" name="Google Shape;337;p13"/>
          <p:cNvSpPr/>
          <p:nvPr/>
        </p:nvSpPr>
        <p:spPr>
          <a:xfrm>
            <a:off x="4688532" y="2275061"/>
            <a:ext cx="3815358"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Validación funcional, de rendimiento y de integración en ambiente controlado.</a:t>
            </a:r>
            <a:endParaRPr b="0" i="0" sz="900" u="none" cap="none" strike="noStrike">
              <a:solidFill>
                <a:srgbClr val="000000"/>
              </a:solidFill>
              <a:latin typeface="Calibri"/>
              <a:ea typeface="Calibri"/>
              <a:cs typeface="Calibri"/>
              <a:sym typeface="Calibri"/>
            </a:endParaRPr>
          </a:p>
        </p:txBody>
      </p:sp>
      <p:pic>
        <p:nvPicPr>
          <p:cNvPr descr="preencoded.png" id="338" name="Google Shape;338;p13"/>
          <p:cNvPicPr preferRelativeResize="0"/>
          <p:nvPr/>
        </p:nvPicPr>
        <p:blipFill rotWithShape="1">
          <a:blip r:embed="rId5">
            <a:alphaModFix/>
          </a:blip>
          <a:srcRect b="0" l="0" r="0" t="0"/>
          <a:stretch/>
        </p:blipFill>
        <p:spPr>
          <a:xfrm>
            <a:off x="523577" y="2567955"/>
            <a:ext cx="4048423" cy="466353"/>
          </a:xfrm>
          <a:prstGeom prst="rect">
            <a:avLst/>
          </a:prstGeom>
          <a:noFill/>
          <a:ln>
            <a:noFill/>
          </a:ln>
        </p:spPr>
      </p:pic>
      <p:sp>
        <p:nvSpPr>
          <p:cNvPr id="339" name="Google Shape;339;p13"/>
          <p:cNvSpPr/>
          <p:nvPr/>
        </p:nvSpPr>
        <p:spPr>
          <a:xfrm>
            <a:off x="640110" y="3138115"/>
            <a:ext cx="3815358"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Producción</a:t>
            </a:r>
            <a:endParaRPr b="0" i="0" sz="1050" u="none" cap="none" strike="noStrike">
              <a:solidFill>
                <a:srgbClr val="000000"/>
              </a:solidFill>
              <a:latin typeface="Calibri"/>
              <a:ea typeface="Calibri"/>
              <a:cs typeface="Calibri"/>
              <a:sym typeface="Calibri"/>
            </a:endParaRPr>
          </a:p>
        </p:txBody>
      </p:sp>
      <p:sp>
        <p:nvSpPr>
          <p:cNvPr id="340" name="Google Shape;340;p13"/>
          <p:cNvSpPr/>
          <p:nvPr/>
        </p:nvSpPr>
        <p:spPr>
          <a:xfrm>
            <a:off x="640110" y="3371776"/>
            <a:ext cx="3815358" cy="352723"/>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La solución está activa: dashboard publicado, pipeline automático, modelo recibiendo datos nuevos.</a:t>
            </a:r>
            <a:endParaRPr b="0" i="0" sz="900" u="none" cap="none" strike="noStrike">
              <a:solidFill>
                <a:srgbClr val="000000"/>
              </a:solidFill>
              <a:latin typeface="Calibri"/>
              <a:ea typeface="Calibri"/>
              <a:cs typeface="Calibri"/>
              <a:sym typeface="Calibri"/>
            </a:endParaRPr>
          </a:p>
        </p:txBody>
      </p:sp>
      <p:pic>
        <p:nvPicPr>
          <p:cNvPr descr="preencoded.png" id="341" name="Google Shape;341;p13"/>
          <p:cNvPicPr preferRelativeResize="0"/>
          <p:nvPr/>
        </p:nvPicPr>
        <p:blipFill rotWithShape="1">
          <a:blip r:embed="rId6">
            <a:alphaModFix/>
          </a:blip>
          <a:srcRect b="0" l="0" r="0" t="0"/>
          <a:stretch/>
        </p:blipFill>
        <p:spPr>
          <a:xfrm>
            <a:off x="4572000" y="2567955"/>
            <a:ext cx="4048423" cy="466353"/>
          </a:xfrm>
          <a:prstGeom prst="rect">
            <a:avLst/>
          </a:prstGeom>
          <a:noFill/>
          <a:ln>
            <a:noFill/>
          </a:ln>
        </p:spPr>
      </p:pic>
      <p:sp>
        <p:nvSpPr>
          <p:cNvPr id="342" name="Google Shape;342;p13"/>
          <p:cNvSpPr/>
          <p:nvPr/>
        </p:nvSpPr>
        <p:spPr>
          <a:xfrm>
            <a:off x="4688532" y="3138115"/>
            <a:ext cx="3815358" cy="17137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Usuarios</a:t>
            </a:r>
            <a:endParaRPr b="0" i="0" sz="1050" u="none" cap="none" strike="noStrike">
              <a:solidFill>
                <a:srgbClr val="000000"/>
              </a:solidFill>
              <a:latin typeface="Calibri"/>
              <a:ea typeface="Calibri"/>
              <a:cs typeface="Calibri"/>
              <a:sym typeface="Calibri"/>
            </a:endParaRPr>
          </a:p>
        </p:txBody>
      </p:sp>
      <p:sp>
        <p:nvSpPr>
          <p:cNvPr id="343" name="Google Shape;343;p13"/>
          <p:cNvSpPr/>
          <p:nvPr/>
        </p:nvSpPr>
        <p:spPr>
          <a:xfrm>
            <a:off x="4688532" y="3371776"/>
            <a:ext cx="3815358"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Stakeholders y procesos reales consumen los resultados de forma continua.</a:t>
            </a:r>
            <a:endParaRPr b="0" i="0" sz="900" u="none" cap="none" strike="noStrike">
              <a:solidFill>
                <a:srgbClr val="000000"/>
              </a:solidFill>
              <a:latin typeface="Calibri"/>
              <a:ea typeface="Calibri"/>
              <a:cs typeface="Calibri"/>
              <a:sym typeface="Calibri"/>
            </a:endParaRPr>
          </a:p>
        </p:txBody>
      </p:sp>
      <p:sp>
        <p:nvSpPr>
          <p:cNvPr id="344" name="Google Shape;344;p13"/>
          <p:cNvSpPr/>
          <p:nvPr/>
        </p:nvSpPr>
        <p:spPr>
          <a:xfrm>
            <a:off x="523577" y="3957786"/>
            <a:ext cx="8554045"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El modelo de NYC Taxi deja de ser un experimento cuando puede recibir nuevos viajes y producir resultados de manera controlada y confiable para los usuarios finales.</a:t>
            </a:r>
            <a:endParaRPr b="0" i="0" sz="900" u="none" cap="none" strike="noStrike">
              <a:solidFill>
                <a:srgbClr val="000000"/>
              </a:solidFill>
              <a:latin typeface="Calibri"/>
              <a:ea typeface="Calibri"/>
              <a:cs typeface="Calibri"/>
              <a:sym typeface="Calibri"/>
            </a:endParaRPr>
          </a:p>
        </p:txBody>
      </p:sp>
      <p:sp>
        <p:nvSpPr>
          <p:cNvPr id="345" name="Google Shape;345;p13"/>
          <p:cNvSpPr/>
          <p:nvPr/>
        </p:nvSpPr>
        <p:spPr>
          <a:xfrm>
            <a:off x="523577" y="4250903"/>
            <a:ext cx="8096845" cy="431750"/>
          </a:xfrm>
          <a:prstGeom prst="roundRect">
            <a:avLst>
              <a:gd fmla="val 4051"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reencoded.png" id="346" name="Google Shape;346;p13"/>
          <p:cNvPicPr preferRelativeResize="0"/>
          <p:nvPr/>
        </p:nvPicPr>
        <p:blipFill rotWithShape="1">
          <a:blip r:embed="rId7">
            <a:alphaModFix/>
          </a:blip>
          <a:srcRect b="0" l="0" r="0" t="0"/>
          <a:stretch/>
        </p:blipFill>
        <p:spPr>
          <a:xfrm>
            <a:off x="640110" y="4413572"/>
            <a:ext cx="145703" cy="116532"/>
          </a:xfrm>
          <a:prstGeom prst="rect">
            <a:avLst/>
          </a:prstGeom>
          <a:noFill/>
          <a:ln>
            <a:noFill/>
          </a:ln>
        </p:spPr>
      </p:pic>
      <p:sp>
        <p:nvSpPr>
          <p:cNvPr id="347" name="Google Shape;347;p13"/>
          <p:cNvSpPr/>
          <p:nvPr/>
        </p:nvSpPr>
        <p:spPr>
          <a:xfrm>
            <a:off x="902345" y="4383807"/>
            <a:ext cx="8058745" cy="176361"/>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FFFFFF"/>
              </a:buClr>
              <a:buSzPts val="900"/>
              <a:buFont typeface="Source Sans 3"/>
              <a:buNone/>
            </a:pPr>
            <a:r>
              <a:rPr b="1" i="0" lang="en-US" sz="900" u="none" cap="none" strike="noStrike">
                <a:solidFill>
                  <a:srgbClr val="FFFFFF"/>
                </a:solidFill>
                <a:latin typeface="Source Sans 3"/>
                <a:ea typeface="Source Sans 3"/>
                <a:cs typeface="Source Sans 3"/>
                <a:sym typeface="Source Sans 3"/>
              </a:rPr>
              <a:t>Mensaje clave:</a:t>
            </a:r>
            <a:r>
              <a:rPr b="0" i="0" lang="en-US" sz="900" u="none" cap="none" strike="noStrike">
                <a:solidFill>
                  <a:srgbClr val="FFFFFF"/>
                </a:solidFill>
                <a:latin typeface="Source Sans 3"/>
                <a:ea typeface="Source Sans 3"/>
                <a:cs typeface="Source Sans 3"/>
                <a:sym typeface="Source Sans 3"/>
              </a:rPr>
              <a:t> Construir la solución no es lo mismo que ponerla en producción.</a:t>
            </a:r>
            <a:endParaRPr b="0" i="0" sz="900" u="none" cap="none" strike="noStrike">
              <a:solidFill>
                <a:srgbClr val="000000"/>
              </a:solidFill>
              <a:latin typeface="Calibri"/>
              <a:ea typeface="Calibri"/>
              <a:cs typeface="Calibri"/>
              <a:sym typeface="Calibri"/>
            </a:endParaRPr>
          </a:p>
        </p:txBody>
      </p:sp>
      <p:pic>
        <p:nvPicPr>
          <p:cNvPr id="348" name="Google Shape;348;p13"/>
          <p:cNvPicPr preferRelativeResize="0"/>
          <p:nvPr/>
        </p:nvPicPr>
        <p:blipFill rotWithShape="1">
          <a:blip r:embed="rId8">
            <a:alphaModFix/>
          </a:blip>
          <a:srcRect b="0" l="0" r="0" t="0"/>
          <a:stretch/>
        </p:blipFill>
        <p:spPr>
          <a:xfrm>
            <a:off x="7355353" y="4776089"/>
            <a:ext cx="1722269" cy="312447"/>
          </a:xfrm>
          <a:prstGeom prst="rect">
            <a:avLst/>
          </a:prstGeom>
          <a:noFill/>
          <a:ln>
            <a:noFill/>
          </a:ln>
        </p:spPr>
      </p:pic>
      <p:sp>
        <p:nvSpPr>
          <p:cNvPr id="349" name="Google Shape;349;p13"/>
          <p:cNvSpPr txBox="1"/>
          <p:nvPr/>
        </p:nvSpPr>
        <p:spPr>
          <a:xfrm>
            <a:off x="422701" y="138193"/>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13</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4"/>
          <p:cNvSpPr/>
          <p:nvPr/>
        </p:nvSpPr>
        <p:spPr>
          <a:xfrm>
            <a:off x="523577" y="617041"/>
            <a:ext cx="8096845" cy="33687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100"/>
              <a:buFont typeface="Lora"/>
              <a:buNone/>
            </a:pPr>
            <a:r>
              <a:rPr b="0" i="0" lang="en-US" sz="2100" u="none" cap="none" strike="noStrike">
                <a:solidFill>
                  <a:srgbClr val="2E75B5"/>
                </a:solidFill>
                <a:latin typeface="Lora"/>
                <a:ea typeface="Lora"/>
                <a:cs typeface="Lora"/>
                <a:sym typeface="Lora"/>
              </a:rPr>
              <a:t>Monitoreo de la Solución en Producción</a:t>
            </a:r>
            <a:endParaRPr b="0" i="0" sz="2100" u="none" cap="none" strike="noStrike">
              <a:solidFill>
                <a:srgbClr val="2E75B5"/>
              </a:solidFill>
              <a:latin typeface="Calibri"/>
              <a:ea typeface="Calibri"/>
              <a:cs typeface="Calibri"/>
              <a:sym typeface="Calibri"/>
            </a:endParaRPr>
          </a:p>
        </p:txBody>
      </p:sp>
      <p:sp>
        <p:nvSpPr>
          <p:cNvPr id="356" name="Google Shape;356;p14"/>
          <p:cNvSpPr/>
          <p:nvPr/>
        </p:nvSpPr>
        <p:spPr>
          <a:xfrm>
            <a:off x="523577" y="1104230"/>
            <a:ext cx="8554045" cy="1717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Una solución desplegada debe observarse de forma continua. El monitoreo permite detectar problemas antes de que afecten decisiones o usuarios.</a:t>
            </a:r>
            <a:endParaRPr b="0" i="0" sz="900" u="none" cap="none" strike="noStrike">
              <a:solidFill>
                <a:srgbClr val="000000"/>
              </a:solidFill>
              <a:latin typeface="Calibri"/>
              <a:ea typeface="Calibri"/>
              <a:cs typeface="Calibri"/>
              <a:sym typeface="Calibri"/>
            </a:endParaRPr>
          </a:p>
        </p:txBody>
      </p:sp>
      <p:sp>
        <p:nvSpPr>
          <p:cNvPr descr="preencoded.png" id="357" name="Google Shape;357;p14"/>
          <p:cNvSpPr/>
          <p:nvPr/>
        </p:nvSpPr>
        <p:spPr>
          <a:xfrm>
            <a:off x="523577" y="1388715"/>
            <a:ext cx="286345" cy="286345"/>
          </a:xfrm>
          <a:prstGeom prst="rect">
            <a:avLst/>
          </a:prstGeom>
          <a:noFill/>
          <a:ln>
            <a:noFill/>
          </a:ln>
        </p:spPr>
      </p:sp>
      <p:sp>
        <p:nvSpPr>
          <p:cNvPr id="358" name="Google Shape;358;p14"/>
          <p:cNvSpPr/>
          <p:nvPr/>
        </p:nvSpPr>
        <p:spPr>
          <a:xfrm>
            <a:off x="523577" y="1800299"/>
            <a:ext cx="3985766"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Disponibilidad</a:t>
            </a:r>
            <a:endParaRPr b="0" i="0" sz="1050" u="none" cap="none" strike="noStrike">
              <a:solidFill>
                <a:srgbClr val="000000"/>
              </a:solidFill>
              <a:latin typeface="Calibri"/>
              <a:ea typeface="Calibri"/>
              <a:cs typeface="Calibri"/>
              <a:sym typeface="Calibri"/>
            </a:endParaRPr>
          </a:p>
        </p:txBody>
      </p:sp>
      <p:sp>
        <p:nvSpPr>
          <p:cNvPr id="359" name="Google Shape;359;p14"/>
          <p:cNvSpPr/>
          <p:nvPr/>
        </p:nvSpPr>
        <p:spPr>
          <a:xfrm>
            <a:off x="523577" y="2028825"/>
            <a:ext cx="3985766" cy="1717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¿El sistema está activo y accesible cuando los usuarios lo necesitan?</a:t>
            </a:r>
            <a:endParaRPr b="0" i="0" sz="900" u="none" cap="none" strike="noStrike">
              <a:solidFill>
                <a:srgbClr val="000000"/>
              </a:solidFill>
              <a:latin typeface="Calibri"/>
              <a:ea typeface="Calibri"/>
              <a:cs typeface="Calibri"/>
              <a:sym typeface="Calibri"/>
            </a:endParaRPr>
          </a:p>
        </p:txBody>
      </p:sp>
      <p:sp>
        <p:nvSpPr>
          <p:cNvPr descr="preencoded.png" id="360" name="Google Shape;360;p14"/>
          <p:cNvSpPr/>
          <p:nvPr/>
        </p:nvSpPr>
        <p:spPr>
          <a:xfrm>
            <a:off x="4634582" y="1388715"/>
            <a:ext cx="286345" cy="286345"/>
          </a:xfrm>
          <a:prstGeom prst="rect">
            <a:avLst/>
          </a:prstGeom>
          <a:noFill/>
          <a:ln>
            <a:noFill/>
          </a:ln>
        </p:spPr>
      </p:sp>
      <p:sp>
        <p:nvSpPr>
          <p:cNvPr id="361" name="Google Shape;361;p14"/>
          <p:cNvSpPr/>
          <p:nvPr/>
        </p:nvSpPr>
        <p:spPr>
          <a:xfrm>
            <a:off x="4634582" y="1800299"/>
            <a:ext cx="3985840"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Calidad de Datos</a:t>
            </a:r>
            <a:endParaRPr b="0" i="0" sz="1050" u="none" cap="none" strike="noStrike">
              <a:solidFill>
                <a:srgbClr val="000000"/>
              </a:solidFill>
              <a:latin typeface="Calibri"/>
              <a:ea typeface="Calibri"/>
              <a:cs typeface="Calibri"/>
              <a:sym typeface="Calibri"/>
            </a:endParaRPr>
          </a:p>
        </p:txBody>
      </p:sp>
      <p:sp>
        <p:nvSpPr>
          <p:cNvPr id="362" name="Google Shape;362;p14"/>
          <p:cNvSpPr/>
          <p:nvPr/>
        </p:nvSpPr>
        <p:spPr>
          <a:xfrm>
            <a:off x="4634582" y="2028825"/>
            <a:ext cx="3985840" cy="34349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¿Los datos de entrada mantienen su estructura, completitud y consistencia esperada?</a:t>
            </a:r>
            <a:endParaRPr b="0" i="0" sz="900" u="none" cap="none" strike="noStrike">
              <a:solidFill>
                <a:srgbClr val="000000"/>
              </a:solidFill>
              <a:latin typeface="Calibri"/>
              <a:ea typeface="Calibri"/>
              <a:cs typeface="Calibri"/>
              <a:sym typeface="Calibri"/>
            </a:endParaRPr>
          </a:p>
        </p:txBody>
      </p:sp>
      <p:sp>
        <p:nvSpPr>
          <p:cNvPr descr="preencoded.png" id="363" name="Google Shape;363;p14"/>
          <p:cNvSpPr/>
          <p:nvPr/>
        </p:nvSpPr>
        <p:spPr>
          <a:xfrm>
            <a:off x="523577" y="2572717"/>
            <a:ext cx="286345" cy="286345"/>
          </a:xfrm>
          <a:prstGeom prst="rect">
            <a:avLst/>
          </a:prstGeom>
          <a:noFill/>
          <a:ln>
            <a:noFill/>
          </a:ln>
        </p:spPr>
      </p:sp>
      <p:sp>
        <p:nvSpPr>
          <p:cNvPr id="364" name="Google Shape;364;p14"/>
          <p:cNvSpPr/>
          <p:nvPr/>
        </p:nvSpPr>
        <p:spPr>
          <a:xfrm>
            <a:off x="523577" y="2984302"/>
            <a:ext cx="3985766"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Actualización</a:t>
            </a:r>
            <a:endParaRPr b="0" i="0" sz="1050" u="none" cap="none" strike="noStrike">
              <a:solidFill>
                <a:srgbClr val="000000"/>
              </a:solidFill>
              <a:latin typeface="Calibri"/>
              <a:ea typeface="Calibri"/>
              <a:cs typeface="Calibri"/>
              <a:sym typeface="Calibri"/>
            </a:endParaRPr>
          </a:p>
        </p:txBody>
      </p:sp>
      <p:sp>
        <p:nvSpPr>
          <p:cNvPr id="365" name="Google Shape;365;p14"/>
          <p:cNvSpPr/>
          <p:nvPr/>
        </p:nvSpPr>
        <p:spPr>
          <a:xfrm>
            <a:off x="523577" y="3212827"/>
            <a:ext cx="3985766" cy="1717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¿Los datos y resultados se refrescan con la frecuencia acordada con el negocio?</a:t>
            </a:r>
            <a:endParaRPr b="0" i="0" sz="900" u="none" cap="none" strike="noStrike">
              <a:solidFill>
                <a:srgbClr val="000000"/>
              </a:solidFill>
              <a:latin typeface="Calibri"/>
              <a:ea typeface="Calibri"/>
              <a:cs typeface="Calibri"/>
              <a:sym typeface="Calibri"/>
            </a:endParaRPr>
          </a:p>
        </p:txBody>
      </p:sp>
      <p:sp>
        <p:nvSpPr>
          <p:cNvPr descr="preencoded.png" id="366" name="Google Shape;366;p14"/>
          <p:cNvSpPr/>
          <p:nvPr/>
        </p:nvSpPr>
        <p:spPr>
          <a:xfrm>
            <a:off x="4634582" y="2572717"/>
            <a:ext cx="286345" cy="286345"/>
          </a:xfrm>
          <a:prstGeom prst="rect">
            <a:avLst/>
          </a:prstGeom>
          <a:noFill/>
          <a:ln>
            <a:noFill/>
          </a:ln>
        </p:spPr>
      </p:sp>
      <p:sp>
        <p:nvSpPr>
          <p:cNvPr id="367" name="Google Shape;367;p14"/>
          <p:cNvSpPr/>
          <p:nvPr/>
        </p:nvSpPr>
        <p:spPr>
          <a:xfrm>
            <a:off x="4634582" y="2984302"/>
            <a:ext cx="3985840"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Rendimiento</a:t>
            </a:r>
            <a:endParaRPr b="0" i="0" sz="1050" u="none" cap="none" strike="noStrike">
              <a:solidFill>
                <a:srgbClr val="000000"/>
              </a:solidFill>
              <a:latin typeface="Calibri"/>
              <a:ea typeface="Calibri"/>
              <a:cs typeface="Calibri"/>
              <a:sym typeface="Calibri"/>
            </a:endParaRPr>
          </a:p>
        </p:txBody>
      </p:sp>
      <p:sp>
        <p:nvSpPr>
          <p:cNvPr id="368" name="Google Shape;368;p14"/>
          <p:cNvSpPr/>
          <p:nvPr/>
        </p:nvSpPr>
        <p:spPr>
          <a:xfrm>
            <a:off x="4634582" y="3212827"/>
            <a:ext cx="3985840" cy="34349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¿Los tiempos de respuesta y procesamiento se mantienen dentro de los límites aceptables?</a:t>
            </a:r>
            <a:endParaRPr b="0" i="0" sz="900" u="none" cap="none" strike="noStrike">
              <a:solidFill>
                <a:srgbClr val="000000"/>
              </a:solidFill>
              <a:latin typeface="Calibri"/>
              <a:ea typeface="Calibri"/>
              <a:cs typeface="Calibri"/>
              <a:sym typeface="Calibri"/>
            </a:endParaRPr>
          </a:p>
        </p:txBody>
      </p:sp>
      <p:sp>
        <p:nvSpPr>
          <p:cNvPr descr="preencoded.png" id="369" name="Google Shape;369;p14"/>
          <p:cNvSpPr/>
          <p:nvPr/>
        </p:nvSpPr>
        <p:spPr>
          <a:xfrm>
            <a:off x="523577" y="3756720"/>
            <a:ext cx="286345" cy="286345"/>
          </a:xfrm>
          <a:prstGeom prst="rect">
            <a:avLst/>
          </a:prstGeom>
          <a:noFill/>
          <a:ln>
            <a:noFill/>
          </a:ln>
        </p:spPr>
      </p:sp>
      <p:sp>
        <p:nvSpPr>
          <p:cNvPr id="370" name="Google Shape;370;p14"/>
          <p:cNvSpPr/>
          <p:nvPr/>
        </p:nvSpPr>
        <p:spPr>
          <a:xfrm>
            <a:off x="523577" y="4168304"/>
            <a:ext cx="3985766"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Uso y Errores</a:t>
            </a:r>
            <a:endParaRPr b="0" i="0" sz="1050" u="none" cap="none" strike="noStrike">
              <a:solidFill>
                <a:srgbClr val="000000"/>
              </a:solidFill>
              <a:latin typeface="Calibri"/>
              <a:ea typeface="Calibri"/>
              <a:cs typeface="Calibri"/>
              <a:sym typeface="Calibri"/>
            </a:endParaRPr>
          </a:p>
        </p:txBody>
      </p:sp>
      <p:sp>
        <p:nvSpPr>
          <p:cNvPr id="371" name="Google Shape;371;p14"/>
          <p:cNvSpPr/>
          <p:nvPr/>
        </p:nvSpPr>
        <p:spPr>
          <a:xfrm>
            <a:off x="523577" y="4396829"/>
            <a:ext cx="3985766" cy="1717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¿Los usuarios adoptan la solución? ¿Se registran errores o fallos inesperados?</a:t>
            </a:r>
            <a:endParaRPr b="0" i="0" sz="900" u="none" cap="none" strike="noStrike">
              <a:solidFill>
                <a:srgbClr val="000000"/>
              </a:solidFill>
              <a:latin typeface="Calibri"/>
              <a:ea typeface="Calibri"/>
              <a:cs typeface="Calibri"/>
              <a:sym typeface="Calibri"/>
            </a:endParaRPr>
          </a:p>
        </p:txBody>
      </p:sp>
      <p:sp>
        <p:nvSpPr>
          <p:cNvPr descr="preencoded.png" id="372" name="Google Shape;372;p14"/>
          <p:cNvSpPr/>
          <p:nvPr/>
        </p:nvSpPr>
        <p:spPr>
          <a:xfrm>
            <a:off x="4634582" y="3756720"/>
            <a:ext cx="286345" cy="286345"/>
          </a:xfrm>
          <a:prstGeom prst="rect">
            <a:avLst/>
          </a:prstGeom>
          <a:noFill/>
          <a:ln>
            <a:noFill/>
          </a:ln>
        </p:spPr>
      </p:sp>
      <p:sp>
        <p:nvSpPr>
          <p:cNvPr id="373" name="Google Shape;373;p14"/>
          <p:cNvSpPr/>
          <p:nvPr/>
        </p:nvSpPr>
        <p:spPr>
          <a:xfrm>
            <a:off x="4634582" y="4168304"/>
            <a:ext cx="3985840" cy="1683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050"/>
              <a:buFont typeface="Lora"/>
              <a:buNone/>
            </a:pPr>
            <a:r>
              <a:rPr b="0" i="0" lang="en-US" sz="1050" u="none" cap="none" strike="noStrike">
                <a:solidFill>
                  <a:srgbClr val="D6E5EF"/>
                </a:solidFill>
                <a:latin typeface="Lora"/>
                <a:ea typeface="Lora"/>
                <a:cs typeface="Lora"/>
                <a:sym typeface="Lora"/>
              </a:rPr>
              <a:t>Desempeño del Modelo</a:t>
            </a:r>
            <a:endParaRPr b="0" i="0" sz="1050" u="none" cap="none" strike="noStrike">
              <a:solidFill>
                <a:srgbClr val="000000"/>
              </a:solidFill>
              <a:latin typeface="Calibri"/>
              <a:ea typeface="Calibri"/>
              <a:cs typeface="Calibri"/>
              <a:sym typeface="Calibri"/>
            </a:endParaRPr>
          </a:p>
        </p:txBody>
      </p:sp>
      <p:sp>
        <p:nvSpPr>
          <p:cNvPr id="374" name="Google Shape;374;p14"/>
          <p:cNvSpPr/>
          <p:nvPr/>
        </p:nvSpPr>
        <p:spPr>
          <a:xfrm>
            <a:off x="4634582" y="4396829"/>
            <a:ext cx="3985840" cy="34349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Si cambian las características de los datos, un modelo que antes funcionaba bien puede degradarse (concept drift).</a:t>
            </a:r>
            <a:endParaRPr b="0" i="0" sz="900" u="none" cap="none" strike="noStrike">
              <a:solidFill>
                <a:srgbClr val="000000"/>
              </a:solidFill>
              <a:latin typeface="Calibri"/>
              <a:ea typeface="Calibri"/>
              <a:cs typeface="Calibri"/>
              <a:sym typeface="Calibri"/>
            </a:endParaRPr>
          </a:p>
        </p:txBody>
      </p:sp>
      <p:pic>
        <p:nvPicPr>
          <p:cNvPr id="375" name="Google Shape;375;p14"/>
          <p:cNvPicPr preferRelativeResize="0"/>
          <p:nvPr/>
        </p:nvPicPr>
        <p:blipFill rotWithShape="1">
          <a:blip r:embed="rId3">
            <a:alphaModFix/>
          </a:blip>
          <a:srcRect b="0" l="0" r="0" t="0"/>
          <a:stretch/>
        </p:blipFill>
        <p:spPr>
          <a:xfrm>
            <a:off x="7355353" y="4800450"/>
            <a:ext cx="1722269" cy="312447"/>
          </a:xfrm>
          <a:prstGeom prst="rect">
            <a:avLst/>
          </a:prstGeom>
          <a:noFill/>
          <a:ln>
            <a:noFill/>
          </a:ln>
        </p:spPr>
      </p:pic>
      <p:sp>
        <p:nvSpPr>
          <p:cNvPr id="376" name="Google Shape;376;p14"/>
          <p:cNvSpPr txBox="1"/>
          <p:nvPr/>
        </p:nvSpPr>
        <p:spPr>
          <a:xfrm>
            <a:off x="422701" y="138193"/>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14</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5"/>
          <p:cNvSpPr/>
          <p:nvPr/>
        </p:nvSpPr>
        <p:spPr>
          <a:xfrm>
            <a:off x="518215" y="355164"/>
            <a:ext cx="8096845"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400"/>
              <a:buFont typeface="Lora"/>
              <a:buNone/>
            </a:pPr>
            <a:r>
              <a:rPr b="0" i="0" lang="en-US" sz="1400" u="none" cap="none" strike="noStrike">
                <a:solidFill>
                  <a:srgbClr val="2E75B5"/>
                </a:solidFill>
                <a:latin typeface="Lora"/>
                <a:ea typeface="Lora"/>
                <a:cs typeface="Lora"/>
                <a:sym typeface="Lora"/>
              </a:rPr>
              <a:t>Retroalimentación y Mejora Continua</a:t>
            </a:r>
            <a:endParaRPr b="0" i="0" sz="1400" u="none" cap="none" strike="noStrike">
              <a:solidFill>
                <a:srgbClr val="2E75B5"/>
              </a:solidFill>
              <a:latin typeface="Calibri"/>
              <a:ea typeface="Calibri"/>
              <a:cs typeface="Calibri"/>
              <a:sym typeface="Calibri"/>
            </a:endParaRPr>
          </a:p>
        </p:txBody>
      </p:sp>
      <p:sp>
        <p:nvSpPr>
          <p:cNvPr id="383" name="Google Shape;383;p15"/>
          <p:cNvSpPr/>
          <p:nvPr/>
        </p:nvSpPr>
        <p:spPr>
          <a:xfrm>
            <a:off x="515839" y="551109"/>
            <a:ext cx="8554045" cy="22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Un proyecto de datos no termina cuando se publica la primera </a:t>
            </a:r>
            <a:r>
              <a:rPr b="0" i="0" lang="en-US" sz="1000" u="none" cap="none" strike="noStrike">
                <a:solidFill>
                  <a:srgbClr val="D6E5EF"/>
                </a:solidFill>
                <a:latin typeface="Source Sans 3"/>
                <a:ea typeface="Source Sans 3"/>
                <a:cs typeface="Source Sans 3"/>
                <a:sym typeface="Source Sans 3"/>
              </a:rPr>
              <a:t>versión</a:t>
            </a:r>
            <a:r>
              <a:rPr b="0" i="0" lang="en-US" sz="900" u="none" cap="none" strike="noStrike">
                <a:solidFill>
                  <a:srgbClr val="D6E5EF"/>
                </a:solidFill>
                <a:latin typeface="Source Sans 3"/>
                <a:ea typeface="Source Sans 3"/>
                <a:cs typeface="Source Sans 3"/>
                <a:sym typeface="Source Sans 3"/>
              </a:rPr>
              <a:t>. Los resultados del uso real revelan nuevas variables, ajustes en KPI o la necesidad de reentrenar modelos</a:t>
            </a:r>
            <a:r>
              <a:rPr b="0" i="0" lang="en-US" sz="600" u="none" cap="none" strike="noStrike">
                <a:solidFill>
                  <a:srgbClr val="D6E5EF"/>
                </a:solidFill>
                <a:latin typeface="Source Sans 3"/>
                <a:ea typeface="Source Sans 3"/>
                <a:cs typeface="Source Sans 3"/>
                <a:sym typeface="Source Sans 3"/>
              </a:rPr>
              <a:t>.</a:t>
            </a:r>
            <a:endParaRPr b="0" i="0" sz="600" u="none" cap="none" strike="noStrike">
              <a:solidFill>
                <a:srgbClr val="000000"/>
              </a:solidFill>
              <a:latin typeface="Calibri"/>
              <a:ea typeface="Calibri"/>
              <a:cs typeface="Calibri"/>
              <a:sym typeface="Calibri"/>
            </a:endParaRPr>
          </a:p>
        </p:txBody>
      </p:sp>
      <p:pic>
        <p:nvPicPr>
          <p:cNvPr descr="preencoded.png" id="384" name="Google Shape;384;p15"/>
          <p:cNvPicPr preferRelativeResize="0"/>
          <p:nvPr/>
        </p:nvPicPr>
        <p:blipFill rotWithShape="1">
          <a:blip r:embed="rId3">
            <a:alphaModFix/>
          </a:blip>
          <a:srcRect b="5758" l="0" r="0" t="4127"/>
          <a:stretch/>
        </p:blipFill>
        <p:spPr>
          <a:xfrm>
            <a:off x="523577" y="805754"/>
            <a:ext cx="7315200" cy="3708056"/>
          </a:xfrm>
          <a:prstGeom prst="rect">
            <a:avLst/>
          </a:prstGeom>
          <a:noFill/>
          <a:ln>
            <a:noFill/>
          </a:ln>
        </p:spPr>
      </p:pic>
      <p:sp>
        <p:nvSpPr>
          <p:cNvPr id="385" name="Google Shape;385;p15"/>
          <p:cNvSpPr/>
          <p:nvPr/>
        </p:nvSpPr>
        <p:spPr>
          <a:xfrm>
            <a:off x="459830" y="4496783"/>
            <a:ext cx="8554045" cy="2297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Los motivos de cambio incluyen: nuevos datos disponibles, nuevas necesidades del negocio, nuevos usuarios, cambios en el contexto operativo y los resultados obtenidos</a:t>
            </a:r>
            <a:endParaRPr b="0" i="0" sz="900" u="none" cap="none" strike="noStrike">
              <a:solidFill>
                <a:srgbClr val="D6E5EF"/>
              </a:solidFill>
              <a:latin typeface="Source Sans 3"/>
              <a:ea typeface="Source Sans 3"/>
              <a:cs typeface="Source Sans 3"/>
              <a:sym typeface="Source Sans 3"/>
            </a:endParaRPr>
          </a:p>
          <a:p>
            <a:pPr indent="0" lvl="0" marL="0" marR="0" rtl="0" algn="l">
              <a:lnSpc>
                <a:spcPct val="100000"/>
              </a:lnSpc>
              <a:spcBef>
                <a:spcPts val="0"/>
              </a:spcBef>
              <a:spcAft>
                <a:spcPts val="0"/>
              </a:spcAft>
              <a:buClr>
                <a:srgbClr val="D6E5EF"/>
              </a:buClr>
              <a:buSzPts val="900"/>
              <a:buFont typeface="Source Sans 3"/>
              <a:buNone/>
            </a:pPr>
            <a:r>
              <a:rPr b="0" i="0" lang="en-US" sz="900" u="none" cap="none" strike="noStrike">
                <a:solidFill>
                  <a:srgbClr val="D6E5EF"/>
                </a:solidFill>
                <a:latin typeface="Source Sans 3"/>
                <a:ea typeface="Source Sans 3"/>
                <a:cs typeface="Source Sans 3"/>
                <a:sym typeface="Source Sans 3"/>
              </a:rPr>
              <a:t> en producción.</a:t>
            </a:r>
            <a:endParaRPr b="0" i="0" sz="900" u="none" cap="none" strike="noStrike">
              <a:solidFill>
                <a:srgbClr val="000000"/>
              </a:solidFill>
              <a:latin typeface="Calibri"/>
              <a:ea typeface="Calibri"/>
              <a:cs typeface="Calibri"/>
              <a:sym typeface="Calibri"/>
            </a:endParaRPr>
          </a:p>
        </p:txBody>
      </p:sp>
      <p:sp>
        <p:nvSpPr>
          <p:cNvPr id="386" name="Google Shape;386;p15"/>
          <p:cNvSpPr/>
          <p:nvPr/>
        </p:nvSpPr>
        <p:spPr>
          <a:xfrm>
            <a:off x="344372" y="4785871"/>
            <a:ext cx="7315200" cy="229732"/>
          </a:xfrm>
          <a:prstGeom prst="roundRect">
            <a:avLst>
              <a:gd fmla="val 5410"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pic>
        <p:nvPicPr>
          <p:cNvPr descr="preencoded.png" id="387" name="Google Shape;387;p15"/>
          <p:cNvPicPr preferRelativeResize="0"/>
          <p:nvPr/>
        </p:nvPicPr>
        <p:blipFill rotWithShape="1">
          <a:blip r:embed="rId4">
            <a:alphaModFix/>
          </a:blip>
          <a:srcRect b="0" l="0" r="0" t="0"/>
          <a:stretch/>
        </p:blipFill>
        <p:spPr>
          <a:xfrm>
            <a:off x="392066" y="4820408"/>
            <a:ext cx="111935" cy="89528"/>
          </a:xfrm>
          <a:prstGeom prst="rect">
            <a:avLst/>
          </a:prstGeom>
          <a:noFill/>
          <a:ln>
            <a:noFill/>
          </a:ln>
        </p:spPr>
      </p:pic>
      <p:sp>
        <p:nvSpPr>
          <p:cNvPr id="388" name="Google Shape;388;p15"/>
          <p:cNvSpPr/>
          <p:nvPr/>
        </p:nvSpPr>
        <p:spPr>
          <a:xfrm>
            <a:off x="546435" y="4820408"/>
            <a:ext cx="8400367" cy="2225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700"/>
              <a:buFont typeface="Source Sans 3"/>
              <a:buNone/>
            </a:pPr>
            <a:r>
              <a:rPr b="1" i="0" lang="en-US" sz="700" u="none" cap="none" strike="noStrike">
                <a:solidFill>
                  <a:srgbClr val="FFFFFF"/>
                </a:solidFill>
                <a:latin typeface="Source Sans 3"/>
                <a:ea typeface="Source Sans 3"/>
                <a:cs typeface="Source Sans 3"/>
                <a:sym typeface="Source Sans 3"/>
              </a:rPr>
              <a:t>Mensaje clave:</a:t>
            </a:r>
            <a:r>
              <a:rPr b="0" i="0" lang="en-US" sz="700" u="none" cap="none" strike="noStrike">
                <a:solidFill>
                  <a:srgbClr val="FFFFFF"/>
                </a:solidFill>
                <a:latin typeface="Source Sans 3"/>
                <a:ea typeface="Source Sans 3"/>
                <a:cs typeface="Source Sans 3"/>
                <a:sym typeface="Source Sans 3"/>
              </a:rPr>
              <a:t> El ciclo se repite. Cada iteración acerca más la solución al valor real que el negocio necesita</a:t>
            </a:r>
            <a:r>
              <a:rPr b="0" i="0" lang="en-US" sz="500" u="none" cap="none" strike="noStrike">
                <a:solidFill>
                  <a:srgbClr val="FFFFFF"/>
                </a:solidFill>
                <a:latin typeface="Source Sans 3"/>
                <a:ea typeface="Source Sans 3"/>
                <a:cs typeface="Source Sans 3"/>
                <a:sym typeface="Source Sans 3"/>
              </a:rPr>
              <a:t>.</a:t>
            </a:r>
            <a:endParaRPr b="0" i="0" sz="500" u="none" cap="none" strike="noStrike">
              <a:solidFill>
                <a:srgbClr val="000000"/>
              </a:solidFill>
              <a:latin typeface="Calibri"/>
              <a:ea typeface="Calibri"/>
              <a:cs typeface="Calibri"/>
              <a:sym typeface="Calibri"/>
            </a:endParaRPr>
          </a:p>
        </p:txBody>
      </p:sp>
      <p:pic>
        <p:nvPicPr>
          <p:cNvPr id="389" name="Google Shape;389;p15"/>
          <p:cNvPicPr preferRelativeResize="0"/>
          <p:nvPr/>
        </p:nvPicPr>
        <p:blipFill rotWithShape="1">
          <a:blip r:embed="rId5">
            <a:alphaModFix/>
          </a:blip>
          <a:srcRect b="0" l="0" r="0" t="0"/>
          <a:stretch/>
        </p:blipFill>
        <p:spPr>
          <a:xfrm>
            <a:off x="7969348" y="4854944"/>
            <a:ext cx="1174652" cy="222600"/>
          </a:xfrm>
          <a:prstGeom prst="rect">
            <a:avLst/>
          </a:prstGeom>
          <a:noFill/>
          <a:ln>
            <a:noFill/>
          </a:ln>
        </p:spPr>
      </p:pic>
      <p:sp>
        <p:nvSpPr>
          <p:cNvPr id="390" name="Google Shape;390;p15"/>
          <p:cNvSpPr txBox="1"/>
          <p:nvPr/>
        </p:nvSpPr>
        <p:spPr>
          <a:xfrm>
            <a:off x="422701" y="138193"/>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15</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7"/>
          <p:cNvSpPr/>
          <p:nvPr/>
        </p:nvSpPr>
        <p:spPr>
          <a:xfrm>
            <a:off x="523576" y="260488"/>
            <a:ext cx="375325" cy="175058"/>
          </a:xfrm>
          <a:prstGeom prst="roundRect">
            <a:avLst>
              <a:gd fmla="val 7907"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17"/>
          <p:cNvSpPr/>
          <p:nvPr/>
        </p:nvSpPr>
        <p:spPr>
          <a:xfrm>
            <a:off x="562794" y="323180"/>
            <a:ext cx="675680" cy="11653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6E5EF"/>
              </a:buClr>
              <a:buSzPts val="400"/>
              <a:buFont typeface="Source Sans 3"/>
              <a:buNone/>
            </a:pPr>
            <a:r>
              <a:rPr b="0" i="0" lang="en-US" sz="400" u="none" cap="none" strike="noStrike">
                <a:solidFill>
                  <a:srgbClr val="D6E5EF"/>
                </a:solidFill>
                <a:latin typeface="Source Sans 3"/>
                <a:ea typeface="Source Sans 3"/>
                <a:cs typeface="Source Sans 3"/>
                <a:sym typeface="Source Sans 3"/>
              </a:rPr>
              <a:t>RESUMEN</a:t>
            </a:r>
            <a:endParaRPr b="0" i="0" sz="400" u="none" cap="none" strike="noStrike">
              <a:solidFill>
                <a:srgbClr val="000000"/>
              </a:solidFill>
              <a:latin typeface="Calibri"/>
              <a:ea typeface="Calibri"/>
              <a:cs typeface="Calibri"/>
              <a:sym typeface="Calibri"/>
            </a:endParaRPr>
          </a:p>
        </p:txBody>
      </p:sp>
      <p:sp>
        <p:nvSpPr>
          <p:cNvPr id="398" name="Google Shape;398;p17"/>
          <p:cNvSpPr/>
          <p:nvPr/>
        </p:nvSpPr>
        <p:spPr>
          <a:xfrm>
            <a:off x="523577" y="472306"/>
            <a:ext cx="8096845"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1400"/>
              <a:buFont typeface="Lora"/>
              <a:buNone/>
            </a:pPr>
            <a:r>
              <a:rPr b="0" i="0" lang="en-US" sz="1400" u="none" cap="none" strike="noStrike">
                <a:solidFill>
                  <a:srgbClr val="2E75B5"/>
                </a:solidFill>
                <a:latin typeface="Lora"/>
                <a:ea typeface="Lora"/>
                <a:cs typeface="Lora"/>
                <a:sym typeface="Lora"/>
              </a:rPr>
              <a:t>El Ciclo Completo: De la Pregunta al Valor</a:t>
            </a:r>
            <a:endParaRPr b="0" i="0" sz="1400" u="none" cap="none" strike="noStrike">
              <a:solidFill>
                <a:srgbClr val="2E75B5"/>
              </a:solidFill>
              <a:latin typeface="Calibri"/>
              <a:ea typeface="Calibri"/>
              <a:cs typeface="Calibri"/>
              <a:sym typeface="Calibri"/>
            </a:endParaRPr>
          </a:p>
        </p:txBody>
      </p:sp>
      <p:sp>
        <p:nvSpPr>
          <p:cNvPr id="399" name="Google Shape;399;p17"/>
          <p:cNvSpPr/>
          <p:nvPr/>
        </p:nvSpPr>
        <p:spPr>
          <a:xfrm>
            <a:off x="523577" y="713854"/>
            <a:ext cx="8554045" cy="2031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Las siete etapas del ciclo de vida de un </a:t>
            </a:r>
            <a:r>
              <a:rPr b="0" i="0" lang="en-US" sz="900" u="none" cap="none" strike="noStrike">
                <a:solidFill>
                  <a:srgbClr val="D6E5EF"/>
                </a:solidFill>
                <a:latin typeface="Source Sans 3"/>
                <a:ea typeface="Source Sans 3"/>
                <a:cs typeface="Source Sans 3"/>
                <a:sym typeface="Source Sans 3"/>
              </a:rPr>
              <a:t>proyecto</a:t>
            </a:r>
            <a:r>
              <a:rPr b="0" i="0" lang="en-US" sz="800" u="none" cap="none" strike="noStrike">
                <a:solidFill>
                  <a:srgbClr val="D6E5EF"/>
                </a:solidFill>
                <a:latin typeface="Source Sans 3"/>
                <a:ea typeface="Source Sans 3"/>
                <a:cs typeface="Source Sans 3"/>
                <a:sym typeface="Source Sans 3"/>
              </a:rPr>
              <a:t> de datos forman un sistema integrado donde cada fase alimenta a la siguiente, y el ciclo se repite para mejorar continuamente.</a:t>
            </a:r>
            <a:endParaRPr b="0" i="0" sz="800" u="none" cap="none" strike="noStrike">
              <a:solidFill>
                <a:srgbClr val="000000"/>
              </a:solidFill>
              <a:latin typeface="Calibri"/>
              <a:ea typeface="Calibri"/>
              <a:cs typeface="Calibri"/>
              <a:sym typeface="Calibri"/>
            </a:endParaRPr>
          </a:p>
        </p:txBody>
      </p:sp>
      <p:pic>
        <p:nvPicPr>
          <p:cNvPr descr="preencoded.png" id="400" name="Google Shape;400;p17"/>
          <p:cNvPicPr preferRelativeResize="0"/>
          <p:nvPr/>
        </p:nvPicPr>
        <p:blipFill rotWithShape="1">
          <a:blip r:embed="rId3">
            <a:alphaModFix/>
          </a:blip>
          <a:srcRect b="0" l="0" r="0" t="0"/>
          <a:stretch/>
        </p:blipFill>
        <p:spPr>
          <a:xfrm>
            <a:off x="562794" y="979741"/>
            <a:ext cx="7315200" cy="4114800"/>
          </a:xfrm>
          <a:prstGeom prst="rect">
            <a:avLst/>
          </a:prstGeom>
          <a:noFill/>
          <a:ln>
            <a:noFill/>
          </a:ln>
        </p:spPr>
      </p:pic>
      <p:sp>
        <p:nvSpPr>
          <p:cNvPr id="401" name="Google Shape;401;p17"/>
          <p:cNvSpPr/>
          <p:nvPr/>
        </p:nvSpPr>
        <p:spPr>
          <a:xfrm>
            <a:off x="118244" y="4222654"/>
            <a:ext cx="2470212" cy="558978"/>
          </a:xfrm>
          <a:prstGeom prst="roundRect">
            <a:avLst>
              <a:gd fmla="val 1883"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17"/>
          <p:cNvSpPr/>
          <p:nvPr/>
        </p:nvSpPr>
        <p:spPr>
          <a:xfrm>
            <a:off x="249064" y="4237480"/>
            <a:ext cx="3932113" cy="9621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600"/>
              <a:buFont typeface="Lora"/>
              <a:buNone/>
            </a:pPr>
            <a:r>
              <a:rPr b="0" i="0" lang="en-US" sz="600" u="none" cap="none" strike="noStrike">
                <a:solidFill>
                  <a:srgbClr val="000000"/>
                </a:solidFill>
                <a:latin typeface="Lora"/>
                <a:ea typeface="Lora"/>
                <a:cs typeface="Lora"/>
                <a:sym typeface="Lora"/>
              </a:rPr>
              <a:t>Lo que cambia con el tiempo</a:t>
            </a:r>
            <a:endParaRPr b="0" i="0" sz="600" u="none" cap="none" strike="noStrike">
              <a:solidFill>
                <a:srgbClr val="000000"/>
              </a:solidFill>
              <a:latin typeface="Calibri"/>
              <a:ea typeface="Calibri"/>
              <a:cs typeface="Calibri"/>
              <a:sym typeface="Calibri"/>
            </a:endParaRPr>
          </a:p>
        </p:txBody>
      </p:sp>
      <p:sp>
        <p:nvSpPr>
          <p:cNvPr id="403" name="Google Shape;403;p17"/>
          <p:cNvSpPr/>
          <p:nvPr/>
        </p:nvSpPr>
        <p:spPr>
          <a:xfrm>
            <a:off x="249063" y="4396390"/>
            <a:ext cx="3932113" cy="348481"/>
          </a:xfrm>
          <a:prstGeom prst="rect">
            <a:avLst/>
          </a:prstGeom>
          <a:noFill/>
          <a:ln>
            <a:noFill/>
          </a:ln>
        </p:spPr>
        <p:txBody>
          <a:bodyPr anchorCtr="0" anchor="t" bIns="0" lIns="0" spcFirstLastPara="1" rIns="0" wrap="square" tIns="0">
            <a:normAutofit/>
          </a:bodyPr>
          <a:lstStyle/>
          <a:p>
            <a:pPr indent="-101600" lvl="0" marL="101600" marR="0" rtl="0" algn="l">
              <a:lnSpc>
                <a:spcPct val="100000"/>
              </a:lnSpc>
              <a:spcBef>
                <a:spcPts val="0"/>
              </a:spcBef>
              <a:spcAft>
                <a:spcPts val="0"/>
              </a:spcAft>
              <a:buClr>
                <a:schemeClr val="lt1"/>
              </a:buClr>
              <a:buSzPts val="500"/>
              <a:buFont typeface="Source Sans 3"/>
              <a:buChar char="•"/>
            </a:pPr>
            <a:r>
              <a:rPr b="0" i="0" lang="en-US" sz="500" u="none" cap="none" strike="noStrike">
                <a:solidFill>
                  <a:schemeClr val="lt1"/>
                </a:solidFill>
                <a:latin typeface="Source Sans 3"/>
                <a:ea typeface="Source Sans 3"/>
                <a:cs typeface="Source Sans 3"/>
                <a:sym typeface="Source Sans 3"/>
              </a:rPr>
              <a:t>Nuevos datos y fuentes disponibles</a:t>
            </a:r>
            <a:endParaRPr b="0" i="0" sz="500" u="none" cap="none" strike="noStrike">
              <a:solidFill>
                <a:schemeClr val="lt1"/>
              </a:solidFill>
              <a:latin typeface="Calibri"/>
              <a:ea typeface="Calibri"/>
              <a:cs typeface="Calibri"/>
              <a:sym typeface="Calibri"/>
            </a:endParaRPr>
          </a:p>
          <a:p>
            <a:pPr indent="-101600" lvl="0" marL="101600" marR="0" rtl="0" algn="l">
              <a:lnSpc>
                <a:spcPct val="100000"/>
              </a:lnSpc>
              <a:spcBef>
                <a:spcPts val="0"/>
              </a:spcBef>
              <a:spcAft>
                <a:spcPts val="0"/>
              </a:spcAft>
              <a:buClr>
                <a:schemeClr val="lt1"/>
              </a:buClr>
              <a:buSzPts val="500"/>
              <a:buFont typeface="Source Sans 3"/>
              <a:buChar char="•"/>
            </a:pPr>
            <a:r>
              <a:rPr b="0" i="0" lang="en-US" sz="500" u="none" cap="none" strike="noStrike">
                <a:solidFill>
                  <a:schemeClr val="lt1"/>
                </a:solidFill>
                <a:latin typeface="Source Sans 3"/>
                <a:ea typeface="Source Sans 3"/>
                <a:cs typeface="Source Sans 3"/>
                <a:sym typeface="Source Sans 3"/>
              </a:rPr>
              <a:t>Nuevas necesidades del negocio</a:t>
            </a:r>
            <a:endParaRPr b="0" i="0" sz="500" u="none" cap="none" strike="noStrike">
              <a:solidFill>
                <a:schemeClr val="lt1"/>
              </a:solidFill>
              <a:latin typeface="Calibri"/>
              <a:ea typeface="Calibri"/>
              <a:cs typeface="Calibri"/>
              <a:sym typeface="Calibri"/>
            </a:endParaRPr>
          </a:p>
          <a:p>
            <a:pPr indent="-101600" lvl="0" marL="101600" marR="0" rtl="0" algn="l">
              <a:lnSpc>
                <a:spcPct val="100000"/>
              </a:lnSpc>
              <a:spcBef>
                <a:spcPts val="0"/>
              </a:spcBef>
              <a:spcAft>
                <a:spcPts val="0"/>
              </a:spcAft>
              <a:buClr>
                <a:schemeClr val="lt1"/>
              </a:buClr>
              <a:buSzPts val="500"/>
              <a:buFont typeface="Source Sans 3"/>
              <a:buChar char="•"/>
            </a:pPr>
            <a:r>
              <a:rPr b="0" i="0" lang="en-US" sz="500" u="none" cap="none" strike="noStrike">
                <a:solidFill>
                  <a:schemeClr val="lt1"/>
                </a:solidFill>
                <a:latin typeface="Source Sans 3"/>
                <a:ea typeface="Source Sans 3"/>
                <a:cs typeface="Source Sans 3"/>
                <a:sym typeface="Source Sans 3"/>
              </a:rPr>
              <a:t>Nuevos usuarios y casos de uso</a:t>
            </a:r>
            <a:endParaRPr b="0" i="0" sz="500" u="none" cap="none" strike="noStrike">
              <a:solidFill>
                <a:schemeClr val="lt1"/>
              </a:solidFill>
              <a:latin typeface="Calibri"/>
              <a:ea typeface="Calibri"/>
              <a:cs typeface="Calibri"/>
              <a:sym typeface="Calibri"/>
            </a:endParaRPr>
          </a:p>
          <a:p>
            <a:pPr indent="-101600" lvl="0" marL="101600" marR="0" rtl="0" algn="l">
              <a:lnSpc>
                <a:spcPct val="100000"/>
              </a:lnSpc>
              <a:spcBef>
                <a:spcPts val="0"/>
              </a:spcBef>
              <a:spcAft>
                <a:spcPts val="0"/>
              </a:spcAft>
              <a:buClr>
                <a:schemeClr val="lt1"/>
              </a:buClr>
              <a:buSzPts val="500"/>
              <a:buFont typeface="Source Sans 3"/>
              <a:buChar char="•"/>
            </a:pPr>
            <a:r>
              <a:rPr b="0" i="0" lang="en-US" sz="500" u="none" cap="none" strike="noStrike">
                <a:solidFill>
                  <a:schemeClr val="lt1"/>
                </a:solidFill>
                <a:latin typeface="Source Sans 3"/>
                <a:ea typeface="Source Sans 3"/>
                <a:cs typeface="Source Sans 3"/>
                <a:sym typeface="Source Sans 3"/>
              </a:rPr>
              <a:t>Cambios en el contexto operativo</a:t>
            </a:r>
            <a:endParaRPr b="0" i="0" sz="500" u="none" cap="none" strike="noStrike">
              <a:solidFill>
                <a:schemeClr val="lt1"/>
              </a:solidFill>
              <a:latin typeface="Calibri"/>
              <a:ea typeface="Calibri"/>
              <a:cs typeface="Calibri"/>
              <a:sym typeface="Calibri"/>
            </a:endParaRPr>
          </a:p>
        </p:txBody>
      </p:sp>
      <p:sp>
        <p:nvSpPr>
          <p:cNvPr id="404" name="Google Shape;404;p17"/>
          <p:cNvSpPr/>
          <p:nvPr/>
        </p:nvSpPr>
        <p:spPr>
          <a:xfrm>
            <a:off x="2160425" y="4877892"/>
            <a:ext cx="3968576" cy="2342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900"/>
              <a:buFont typeface="Lora"/>
              <a:buNone/>
            </a:pPr>
            <a:r>
              <a:rPr b="0" i="0" lang="en-US" sz="900" u="none" cap="none" strike="noStrike">
                <a:solidFill>
                  <a:srgbClr val="2E75B5"/>
                </a:solidFill>
                <a:latin typeface="Lora"/>
                <a:ea typeface="Lora"/>
                <a:cs typeface="Lora"/>
                <a:sym typeface="Lora"/>
              </a:rPr>
              <a:t>Lo que permanece constante</a:t>
            </a:r>
            <a:endParaRPr b="0" i="0" sz="900" u="none" cap="none" strike="noStrike">
              <a:solidFill>
                <a:srgbClr val="2E75B5"/>
              </a:solidFill>
              <a:latin typeface="Calibri"/>
              <a:ea typeface="Calibri"/>
              <a:cs typeface="Calibri"/>
              <a:sym typeface="Calibri"/>
            </a:endParaRPr>
          </a:p>
        </p:txBody>
      </p:sp>
      <p:sp>
        <p:nvSpPr>
          <p:cNvPr id="405" name="Google Shape;405;p17"/>
          <p:cNvSpPr/>
          <p:nvPr/>
        </p:nvSpPr>
        <p:spPr>
          <a:xfrm>
            <a:off x="4656609" y="5142309"/>
            <a:ext cx="3968576" cy="348481"/>
          </a:xfrm>
          <a:prstGeom prst="rect">
            <a:avLst/>
          </a:prstGeom>
          <a:noFill/>
          <a:ln>
            <a:noFill/>
          </a:ln>
        </p:spPr>
        <p:txBody>
          <a:bodyPr anchorCtr="0" anchor="t" bIns="0" lIns="0" spcFirstLastPara="1" rIns="0" wrap="square" tIns="0">
            <a:normAutofit/>
          </a:bodyPr>
          <a:lstStyle/>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El objetivo de generar valor real</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La coordinación entre roles del equipo</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La validación técnica y funcional</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El ciclo de retroalimentación continua</a:t>
            </a:r>
            <a:endParaRPr b="0" i="0" sz="500" u="none" cap="none" strike="noStrike">
              <a:solidFill>
                <a:srgbClr val="000000"/>
              </a:solidFill>
              <a:latin typeface="Calibri"/>
              <a:ea typeface="Calibri"/>
              <a:cs typeface="Calibri"/>
              <a:sym typeface="Calibri"/>
            </a:endParaRPr>
          </a:p>
        </p:txBody>
      </p:sp>
      <p:pic>
        <p:nvPicPr>
          <p:cNvPr id="406" name="Google Shape;406;p17"/>
          <p:cNvPicPr preferRelativeResize="0"/>
          <p:nvPr/>
        </p:nvPicPr>
        <p:blipFill rotWithShape="1">
          <a:blip r:embed="rId4">
            <a:alphaModFix/>
          </a:blip>
          <a:srcRect b="0" l="0" r="0" t="0"/>
          <a:stretch/>
        </p:blipFill>
        <p:spPr>
          <a:xfrm>
            <a:off x="7948246" y="4799692"/>
            <a:ext cx="1129376" cy="312447"/>
          </a:xfrm>
          <a:prstGeom prst="rect">
            <a:avLst/>
          </a:prstGeom>
          <a:noFill/>
          <a:ln>
            <a:noFill/>
          </a:ln>
        </p:spPr>
      </p:pic>
      <p:sp>
        <p:nvSpPr>
          <p:cNvPr id="407" name="Google Shape;407;p17"/>
          <p:cNvSpPr txBox="1"/>
          <p:nvPr/>
        </p:nvSpPr>
        <p:spPr>
          <a:xfrm>
            <a:off x="6789864" y="243499"/>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17</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descr="preencoded.png" id="413" name="Google Shape;413;p18"/>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414" name="Google Shape;414;p18"/>
          <p:cNvSpPr/>
          <p:nvPr/>
        </p:nvSpPr>
        <p:spPr>
          <a:xfrm>
            <a:off x="3952577" y="397818"/>
            <a:ext cx="459060" cy="192658"/>
          </a:xfrm>
          <a:prstGeom prst="roundRect">
            <a:avLst>
              <a:gd fmla="val 7899" name="adj"/>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18"/>
          <p:cNvSpPr/>
          <p:nvPr/>
        </p:nvSpPr>
        <p:spPr>
          <a:xfrm>
            <a:off x="4028629" y="435843"/>
            <a:ext cx="764158" cy="116607"/>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6E5EF"/>
              </a:buClr>
              <a:buSzPts val="750"/>
              <a:buFont typeface="Source Sans 3"/>
              <a:buNone/>
            </a:pPr>
            <a:r>
              <a:rPr b="0" i="0" lang="en-US" sz="750" u="none" cap="none" strike="noStrike">
                <a:solidFill>
                  <a:srgbClr val="D6E5EF"/>
                </a:solidFill>
                <a:latin typeface="Source Sans 3"/>
                <a:ea typeface="Source Sans 3"/>
                <a:cs typeface="Source Sans 3"/>
                <a:sym typeface="Source Sans 3"/>
              </a:rPr>
              <a:t>CIERRE</a:t>
            </a:r>
            <a:endParaRPr b="0" i="0" sz="750" u="none" cap="none" strike="noStrike">
              <a:solidFill>
                <a:srgbClr val="000000"/>
              </a:solidFill>
              <a:latin typeface="Calibri"/>
              <a:ea typeface="Calibri"/>
              <a:cs typeface="Calibri"/>
              <a:sym typeface="Calibri"/>
            </a:endParaRPr>
          </a:p>
        </p:txBody>
      </p:sp>
      <p:sp>
        <p:nvSpPr>
          <p:cNvPr id="416" name="Google Shape;416;p18"/>
          <p:cNvSpPr/>
          <p:nvPr/>
        </p:nvSpPr>
        <p:spPr>
          <a:xfrm>
            <a:off x="3952577" y="639589"/>
            <a:ext cx="4667845" cy="37296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E75B5"/>
              </a:buClr>
              <a:buSzPts val="2300"/>
              <a:buFont typeface="Lora"/>
              <a:buNone/>
            </a:pPr>
            <a:r>
              <a:rPr b="0" i="0" lang="en-US" sz="2300" u="none" cap="none" strike="noStrike">
                <a:solidFill>
                  <a:srgbClr val="2E75B5"/>
                </a:solidFill>
                <a:latin typeface="Lora"/>
                <a:ea typeface="Lora"/>
                <a:cs typeface="Lora"/>
                <a:sym typeface="Lora"/>
              </a:rPr>
              <a:t>Conclusiones Clave</a:t>
            </a:r>
            <a:endParaRPr b="0" i="0" sz="2300" u="none" cap="none" strike="noStrike">
              <a:solidFill>
                <a:srgbClr val="2E75B5"/>
              </a:solidFill>
              <a:latin typeface="Calibri"/>
              <a:ea typeface="Calibri"/>
              <a:cs typeface="Calibri"/>
              <a:sym typeface="Calibri"/>
            </a:endParaRPr>
          </a:p>
        </p:txBody>
      </p:sp>
      <p:sp>
        <p:nvSpPr>
          <p:cNvPr id="417" name="Google Shape;417;p18"/>
          <p:cNvSpPr/>
          <p:nvPr/>
        </p:nvSpPr>
        <p:spPr>
          <a:xfrm>
            <a:off x="3952577" y="1196801"/>
            <a:ext cx="285304" cy="285304"/>
          </a:xfrm>
          <a:prstGeom prst="roundRect">
            <a:avLst>
              <a:gd fmla="val 6668" name="adj"/>
            </a:avLst>
          </a:prstGeom>
          <a:solidFill>
            <a:srgbClr val="4447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18"/>
          <p:cNvSpPr/>
          <p:nvPr/>
        </p:nvSpPr>
        <p:spPr>
          <a:xfrm>
            <a:off x="4005709" y="1227572"/>
            <a:ext cx="179040" cy="223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E5EF"/>
              </a:buClr>
              <a:buSzPts val="1400"/>
              <a:buFont typeface="Lora"/>
              <a:buNone/>
            </a:pPr>
            <a:r>
              <a:rPr b="0" i="0" lang="en-US" sz="1400" u="none" cap="none" strike="noStrike">
                <a:solidFill>
                  <a:srgbClr val="D6E5EF"/>
                </a:solidFill>
                <a:latin typeface="Lora"/>
                <a:ea typeface="Lora"/>
                <a:cs typeface="Lora"/>
                <a:sym typeface="Lora"/>
              </a:rPr>
              <a:t>1</a:t>
            </a:r>
            <a:endParaRPr b="0" i="0" sz="1400" u="none" cap="none" strike="noStrike">
              <a:solidFill>
                <a:srgbClr val="000000"/>
              </a:solidFill>
              <a:latin typeface="Calibri"/>
              <a:ea typeface="Calibri"/>
              <a:cs typeface="Calibri"/>
              <a:sym typeface="Calibri"/>
            </a:endParaRPr>
          </a:p>
        </p:txBody>
      </p:sp>
      <p:sp>
        <p:nvSpPr>
          <p:cNvPr id="419" name="Google Shape;419;p18"/>
          <p:cNvSpPr/>
          <p:nvPr/>
        </p:nvSpPr>
        <p:spPr>
          <a:xfrm>
            <a:off x="4360664" y="1240334"/>
            <a:ext cx="4259759" cy="18648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50"/>
              <a:buFont typeface="Lora"/>
              <a:buNone/>
            </a:pPr>
            <a:r>
              <a:rPr b="0" i="0" lang="en-US" sz="1150" u="none" cap="none" strike="noStrike">
                <a:solidFill>
                  <a:srgbClr val="D6E5EF"/>
                </a:solidFill>
                <a:latin typeface="Lora"/>
                <a:ea typeface="Lora"/>
                <a:cs typeface="Lora"/>
                <a:sym typeface="Lora"/>
              </a:rPr>
              <a:t>La solución depende del problema</a:t>
            </a:r>
            <a:endParaRPr b="0" i="0" sz="1150" u="none" cap="none" strike="noStrike">
              <a:solidFill>
                <a:srgbClr val="000000"/>
              </a:solidFill>
              <a:latin typeface="Calibri"/>
              <a:ea typeface="Calibri"/>
              <a:cs typeface="Calibri"/>
              <a:sym typeface="Calibri"/>
            </a:endParaRPr>
          </a:p>
        </p:txBody>
      </p:sp>
      <p:sp>
        <p:nvSpPr>
          <p:cNvPr id="420" name="Google Shape;420;p18"/>
          <p:cNvSpPr/>
          <p:nvPr/>
        </p:nvSpPr>
        <p:spPr>
          <a:xfrm>
            <a:off x="4360664" y="1500485"/>
            <a:ext cx="4259759" cy="399306"/>
          </a:xfrm>
          <a:prstGeom prst="rect">
            <a:avLst/>
          </a:prstGeom>
          <a:noFill/>
          <a:ln>
            <a:noFill/>
          </a:ln>
        </p:spPr>
        <p:txBody>
          <a:bodyPr anchorCtr="0" anchor="t" bIns="0" lIns="0" spcFirstLastPara="1" rIns="0" wrap="square" tIns="0">
            <a:normAutofit/>
          </a:bodyPr>
          <a:lstStyle/>
          <a:p>
            <a:pPr indent="0" lvl="0" marL="0" marR="0" rtl="0" algn="l">
              <a:lnSpc>
                <a:spcPct val="131000"/>
              </a:lnSpc>
              <a:spcBef>
                <a:spcPts val="0"/>
              </a:spcBef>
              <a:spcAft>
                <a:spcPts val="0"/>
              </a:spcAft>
              <a:buClr>
                <a:srgbClr val="D6E5EF"/>
              </a:buClr>
              <a:buSzPts val="950"/>
              <a:buFont typeface="Source Sans 3"/>
              <a:buNone/>
            </a:pPr>
            <a:r>
              <a:rPr b="0" i="0" lang="en-US" sz="950" u="none" cap="none" strike="noStrike">
                <a:solidFill>
                  <a:srgbClr val="D6E5EF"/>
                </a:solidFill>
                <a:latin typeface="Source Sans 3"/>
                <a:ea typeface="Source Sans 3"/>
                <a:cs typeface="Source Sans 3"/>
                <a:sym typeface="Source Sans 3"/>
              </a:rPr>
              <a:t>No toda pregunta requiere Machine Learning. Reportes, dashboards y alertas resuelven la mayoría de las necesidades del negocio con menor complejidad.</a:t>
            </a:r>
            <a:endParaRPr b="0" i="0" sz="950" u="none" cap="none" strike="noStrike">
              <a:solidFill>
                <a:srgbClr val="000000"/>
              </a:solidFill>
              <a:latin typeface="Calibri"/>
              <a:ea typeface="Calibri"/>
              <a:cs typeface="Calibri"/>
              <a:sym typeface="Calibri"/>
            </a:endParaRPr>
          </a:p>
        </p:txBody>
      </p:sp>
      <p:sp>
        <p:nvSpPr>
          <p:cNvPr id="421" name="Google Shape;421;p18"/>
          <p:cNvSpPr/>
          <p:nvPr/>
        </p:nvSpPr>
        <p:spPr>
          <a:xfrm>
            <a:off x="3952577" y="2145432"/>
            <a:ext cx="285304" cy="285304"/>
          </a:xfrm>
          <a:prstGeom prst="roundRect">
            <a:avLst>
              <a:gd fmla="val 6668" name="adj"/>
            </a:avLst>
          </a:prstGeom>
          <a:solidFill>
            <a:srgbClr val="4447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18"/>
          <p:cNvSpPr/>
          <p:nvPr/>
        </p:nvSpPr>
        <p:spPr>
          <a:xfrm>
            <a:off x="4005709" y="2176202"/>
            <a:ext cx="179040" cy="223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E5EF"/>
              </a:buClr>
              <a:buSzPts val="1400"/>
              <a:buFont typeface="Lora"/>
              <a:buNone/>
            </a:pPr>
            <a:r>
              <a:rPr b="0" i="0" lang="en-US" sz="1400" u="none" cap="none" strike="noStrike">
                <a:solidFill>
                  <a:srgbClr val="D6E5EF"/>
                </a:solidFill>
                <a:latin typeface="Lora"/>
                <a:ea typeface="Lora"/>
                <a:cs typeface="Lora"/>
                <a:sym typeface="Lora"/>
              </a:rPr>
              <a:t>2</a:t>
            </a:r>
            <a:endParaRPr b="0" i="0" sz="1400" u="none" cap="none" strike="noStrike">
              <a:solidFill>
                <a:srgbClr val="000000"/>
              </a:solidFill>
              <a:latin typeface="Calibri"/>
              <a:ea typeface="Calibri"/>
              <a:cs typeface="Calibri"/>
              <a:sym typeface="Calibri"/>
            </a:endParaRPr>
          </a:p>
        </p:txBody>
      </p:sp>
      <p:sp>
        <p:nvSpPr>
          <p:cNvPr id="423" name="Google Shape;423;p18"/>
          <p:cNvSpPr/>
          <p:nvPr/>
        </p:nvSpPr>
        <p:spPr>
          <a:xfrm>
            <a:off x="4360664" y="2188964"/>
            <a:ext cx="4259759" cy="18648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50"/>
              <a:buFont typeface="Lora"/>
              <a:buNone/>
            </a:pPr>
            <a:r>
              <a:rPr b="0" i="0" lang="en-US" sz="1150" u="none" cap="none" strike="noStrike">
                <a:solidFill>
                  <a:srgbClr val="D6E5EF"/>
                </a:solidFill>
                <a:latin typeface="Lora"/>
                <a:ea typeface="Lora"/>
                <a:cs typeface="Lora"/>
                <a:sym typeface="Lora"/>
              </a:rPr>
              <a:t>El equipo construye junto</a:t>
            </a:r>
            <a:endParaRPr b="0" i="0" sz="1150" u="none" cap="none" strike="noStrike">
              <a:solidFill>
                <a:srgbClr val="000000"/>
              </a:solidFill>
              <a:latin typeface="Calibri"/>
              <a:ea typeface="Calibri"/>
              <a:cs typeface="Calibri"/>
              <a:sym typeface="Calibri"/>
            </a:endParaRPr>
          </a:p>
        </p:txBody>
      </p:sp>
      <p:sp>
        <p:nvSpPr>
          <p:cNvPr id="424" name="Google Shape;424;p18"/>
          <p:cNvSpPr/>
          <p:nvPr/>
        </p:nvSpPr>
        <p:spPr>
          <a:xfrm>
            <a:off x="4360664" y="2449116"/>
            <a:ext cx="4259759" cy="399306"/>
          </a:xfrm>
          <a:prstGeom prst="rect">
            <a:avLst/>
          </a:prstGeom>
          <a:noFill/>
          <a:ln>
            <a:noFill/>
          </a:ln>
        </p:spPr>
        <p:txBody>
          <a:bodyPr anchorCtr="0" anchor="t" bIns="0" lIns="0" spcFirstLastPara="1" rIns="0" wrap="square" tIns="0">
            <a:normAutofit/>
          </a:bodyPr>
          <a:lstStyle/>
          <a:p>
            <a:pPr indent="0" lvl="0" marL="0" marR="0" rtl="0" algn="l">
              <a:lnSpc>
                <a:spcPct val="131000"/>
              </a:lnSpc>
              <a:spcBef>
                <a:spcPts val="0"/>
              </a:spcBef>
              <a:spcAft>
                <a:spcPts val="0"/>
              </a:spcAft>
              <a:buClr>
                <a:srgbClr val="D6E5EF"/>
              </a:buClr>
              <a:buSzPts val="950"/>
              <a:buFont typeface="Source Sans 3"/>
              <a:buNone/>
            </a:pPr>
            <a:r>
              <a:rPr b="0" i="0" lang="en-US" sz="950" u="none" cap="none" strike="noStrike">
                <a:solidFill>
                  <a:srgbClr val="D6E5EF"/>
                </a:solidFill>
                <a:latin typeface="Source Sans 3"/>
                <a:ea typeface="Source Sans 3"/>
                <a:cs typeface="Source Sans 3"/>
                <a:sym typeface="Source Sans 3"/>
              </a:rPr>
              <a:t>Ingeniería, Análisis y Ciencia de Datos son roles complementarios. La solución es el resultado de su coordinación, no del trabajo individual.</a:t>
            </a:r>
            <a:endParaRPr b="0" i="0" sz="950" u="none" cap="none" strike="noStrike">
              <a:solidFill>
                <a:srgbClr val="000000"/>
              </a:solidFill>
              <a:latin typeface="Calibri"/>
              <a:ea typeface="Calibri"/>
              <a:cs typeface="Calibri"/>
              <a:sym typeface="Calibri"/>
            </a:endParaRPr>
          </a:p>
        </p:txBody>
      </p:sp>
      <p:sp>
        <p:nvSpPr>
          <p:cNvPr id="425" name="Google Shape;425;p18"/>
          <p:cNvSpPr/>
          <p:nvPr/>
        </p:nvSpPr>
        <p:spPr>
          <a:xfrm>
            <a:off x="3952577" y="3094062"/>
            <a:ext cx="285304" cy="285304"/>
          </a:xfrm>
          <a:prstGeom prst="roundRect">
            <a:avLst>
              <a:gd fmla="val 6668" name="adj"/>
            </a:avLst>
          </a:prstGeom>
          <a:solidFill>
            <a:srgbClr val="4447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18"/>
          <p:cNvSpPr/>
          <p:nvPr/>
        </p:nvSpPr>
        <p:spPr>
          <a:xfrm>
            <a:off x="4005709" y="3124833"/>
            <a:ext cx="179040" cy="223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E5EF"/>
              </a:buClr>
              <a:buSzPts val="1400"/>
              <a:buFont typeface="Lora"/>
              <a:buNone/>
            </a:pPr>
            <a:r>
              <a:rPr b="0" i="0" lang="en-US" sz="1400" u="none" cap="none" strike="noStrike">
                <a:solidFill>
                  <a:srgbClr val="D6E5EF"/>
                </a:solidFill>
                <a:latin typeface="Lora"/>
                <a:ea typeface="Lora"/>
                <a:cs typeface="Lora"/>
                <a:sym typeface="Lora"/>
              </a:rPr>
              <a:t>3</a:t>
            </a:r>
            <a:endParaRPr b="0" i="0" sz="1400" u="none" cap="none" strike="noStrike">
              <a:solidFill>
                <a:srgbClr val="000000"/>
              </a:solidFill>
              <a:latin typeface="Calibri"/>
              <a:ea typeface="Calibri"/>
              <a:cs typeface="Calibri"/>
              <a:sym typeface="Calibri"/>
            </a:endParaRPr>
          </a:p>
        </p:txBody>
      </p:sp>
      <p:sp>
        <p:nvSpPr>
          <p:cNvPr id="427" name="Google Shape;427;p18"/>
          <p:cNvSpPr/>
          <p:nvPr/>
        </p:nvSpPr>
        <p:spPr>
          <a:xfrm>
            <a:off x="4360664" y="3137595"/>
            <a:ext cx="4259759" cy="18648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50"/>
              <a:buFont typeface="Lora"/>
              <a:buNone/>
            </a:pPr>
            <a:r>
              <a:rPr b="0" i="0" lang="en-US" sz="1150" u="none" cap="none" strike="noStrike">
                <a:solidFill>
                  <a:srgbClr val="D6E5EF"/>
                </a:solidFill>
                <a:latin typeface="Lora"/>
                <a:ea typeface="Lora"/>
                <a:cs typeface="Lora"/>
                <a:sym typeface="Lora"/>
              </a:rPr>
              <a:t>Validar antes de publicar</a:t>
            </a:r>
            <a:endParaRPr b="0" i="0" sz="1150" u="none" cap="none" strike="noStrike">
              <a:solidFill>
                <a:srgbClr val="000000"/>
              </a:solidFill>
              <a:latin typeface="Calibri"/>
              <a:ea typeface="Calibri"/>
              <a:cs typeface="Calibri"/>
              <a:sym typeface="Calibri"/>
            </a:endParaRPr>
          </a:p>
        </p:txBody>
      </p:sp>
      <p:sp>
        <p:nvSpPr>
          <p:cNvPr id="428" name="Google Shape;428;p18"/>
          <p:cNvSpPr/>
          <p:nvPr/>
        </p:nvSpPr>
        <p:spPr>
          <a:xfrm>
            <a:off x="4360664" y="3397746"/>
            <a:ext cx="4259759" cy="399306"/>
          </a:xfrm>
          <a:prstGeom prst="rect">
            <a:avLst/>
          </a:prstGeom>
          <a:noFill/>
          <a:ln>
            <a:noFill/>
          </a:ln>
        </p:spPr>
        <p:txBody>
          <a:bodyPr anchorCtr="0" anchor="t" bIns="0" lIns="0" spcFirstLastPara="1" rIns="0" wrap="square" tIns="0">
            <a:normAutofit/>
          </a:bodyPr>
          <a:lstStyle/>
          <a:p>
            <a:pPr indent="0" lvl="0" marL="0" marR="0" rtl="0" algn="l">
              <a:lnSpc>
                <a:spcPct val="131000"/>
              </a:lnSpc>
              <a:spcBef>
                <a:spcPts val="0"/>
              </a:spcBef>
              <a:spcAft>
                <a:spcPts val="0"/>
              </a:spcAft>
              <a:buClr>
                <a:srgbClr val="D6E5EF"/>
              </a:buClr>
              <a:buSzPts val="950"/>
              <a:buFont typeface="Source Sans 3"/>
              <a:buNone/>
            </a:pPr>
            <a:r>
              <a:rPr b="0" i="0" lang="en-US" sz="950" u="none" cap="none" strike="noStrike">
                <a:solidFill>
                  <a:srgbClr val="D6E5EF"/>
                </a:solidFill>
                <a:latin typeface="Source Sans 3"/>
                <a:ea typeface="Source Sans 3"/>
                <a:cs typeface="Source Sans 3"/>
                <a:sym typeface="Source Sans 3"/>
              </a:rPr>
              <a:t>Una solución técnicamente correcta no necesariamente resuelve el problema del negocio. La validación en tres dimensiones es indispensable.</a:t>
            </a:r>
            <a:endParaRPr b="0" i="0" sz="950" u="none" cap="none" strike="noStrike">
              <a:solidFill>
                <a:srgbClr val="000000"/>
              </a:solidFill>
              <a:latin typeface="Calibri"/>
              <a:ea typeface="Calibri"/>
              <a:cs typeface="Calibri"/>
              <a:sym typeface="Calibri"/>
            </a:endParaRPr>
          </a:p>
        </p:txBody>
      </p:sp>
      <p:sp>
        <p:nvSpPr>
          <p:cNvPr id="429" name="Google Shape;429;p18"/>
          <p:cNvSpPr/>
          <p:nvPr/>
        </p:nvSpPr>
        <p:spPr>
          <a:xfrm>
            <a:off x="3952577" y="4042693"/>
            <a:ext cx="285304" cy="285304"/>
          </a:xfrm>
          <a:prstGeom prst="roundRect">
            <a:avLst>
              <a:gd fmla="val 6668" name="adj"/>
            </a:avLst>
          </a:prstGeom>
          <a:solidFill>
            <a:srgbClr val="4447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18"/>
          <p:cNvSpPr/>
          <p:nvPr/>
        </p:nvSpPr>
        <p:spPr>
          <a:xfrm>
            <a:off x="4005709" y="4073463"/>
            <a:ext cx="179040" cy="223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E5EF"/>
              </a:buClr>
              <a:buSzPts val="1400"/>
              <a:buFont typeface="Lora"/>
              <a:buNone/>
            </a:pPr>
            <a:r>
              <a:rPr b="0" i="0" lang="en-US" sz="1400" u="none" cap="none" strike="noStrike">
                <a:solidFill>
                  <a:srgbClr val="D6E5EF"/>
                </a:solidFill>
                <a:latin typeface="Lora"/>
                <a:ea typeface="Lora"/>
                <a:cs typeface="Lora"/>
                <a:sym typeface="Lora"/>
              </a:rPr>
              <a:t>4</a:t>
            </a:r>
            <a:endParaRPr b="0" i="0" sz="1400" u="none" cap="none" strike="noStrike">
              <a:solidFill>
                <a:srgbClr val="000000"/>
              </a:solidFill>
              <a:latin typeface="Calibri"/>
              <a:ea typeface="Calibri"/>
              <a:cs typeface="Calibri"/>
              <a:sym typeface="Calibri"/>
            </a:endParaRPr>
          </a:p>
        </p:txBody>
      </p:sp>
      <p:sp>
        <p:nvSpPr>
          <p:cNvPr id="431" name="Google Shape;431;p18"/>
          <p:cNvSpPr/>
          <p:nvPr/>
        </p:nvSpPr>
        <p:spPr>
          <a:xfrm>
            <a:off x="4360664" y="4086225"/>
            <a:ext cx="4259759" cy="18648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150"/>
              <a:buFont typeface="Lora"/>
              <a:buNone/>
            </a:pPr>
            <a:r>
              <a:rPr b="0" i="0" lang="en-US" sz="1150" u="none" cap="none" strike="noStrike">
                <a:solidFill>
                  <a:srgbClr val="D6E5EF"/>
                </a:solidFill>
                <a:latin typeface="Lora"/>
                <a:ea typeface="Lora"/>
                <a:cs typeface="Lora"/>
                <a:sym typeface="Lora"/>
              </a:rPr>
              <a:t>El proyecto no termina al desplegar</a:t>
            </a:r>
            <a:endParaRPr b="0" i="0" sz="1150" u="none" cap="none" strike="noStrike">
              <a:solidFill>
                <a:srgbClr val="000000"/>
              </a:solidFill>
              <a:latin typeface="Calibri"/>
              <a:ea typeface="Calibri"/>
              <a:cs typeface="Calibri"/>
              <a:sym typeface="Calibri"/>
            </a:endParaRPr>
          </a:p>
        </p:txBody>
      </p:sp>
      <p:sp>
        <p:nvSpPr>
          <p:cNvPr id="432" name="Google Shape;432;p18"/>
          <p:cNvSpPr/>
          <p:nvPr/>
        </p:nvSpPr>
        <p:spPr>
          <a:xfrm>
            <a:off x="4360664" y="4346377"/>
            <a:ext cx="4259759" cy="399306"/>
          </a:xfrm>
          <a:prstGeom prst="rect">
            <a:avLst/>
          </a:prstGeom>
          <a:noFill/>
          <a:ln>
            <a:noFill/>
          </a:ln>
        </p:spPr>
        <p:txBody>
          <a:bodyPr anchorCtr="0" anchor="t" bIns="0" lIns="0" spcFirstLastPara="1" rIns="0" wrap="square" tIns="0">
            <a:normAutofit/>
          </a:bodyPr>
          <a:lstStyle/>
          <a:p>
            <a:pPr indent="0" lvl="0" marL="0" marR="0" rtl="0" algn="l">
              <a:lnSpc>
                <a:spcPct val="131000"/>
              </a:lnSpc>
              <a:spcBef>
                <a:spcPts val="0"/>
              </a:spcBef>
              <a:spcAft>
                <a:spcPts val="0"/>
              </a:spcAft>
              <a:buClr>
                <a:srgbClr val="D6E5EF"/>
              </a:buClr>
              <a:buSzPts val="950"/>
              <a:buFont typeface="Source Sans 3"/>
              <a:buNone/>
            </a:pPr>
            <a:r>
              <a:rPr b="0" i="0" lang="en-US" sz="950" u="none" cap="none" strike="noStrike">
                <a:solidFill>
                  <a:srgbClr val="D6E5EF"/>
                </a:solidFill>
                <a:latin typeface="Source Sans 3"/>
                <a:ea typeface="Source Sans 3"/>
                <a:cs typeface="Source Sans 3"/>
                <a:sym typeface="Source Sans 3"/>
              </a:rPr>
              <a:t>El monitoreo y la mejora continua convierten un proyecto de datos en un activo vivo que evoluciona con el negocio y genera valor sostenido.</a:t>
            </a:r>
            <a:endParaRPr b="0" i="0" sz="950" u="none" cap="none" strike="noStrike">
              <a:solidFill>
                <a:srgbClr val="000000"/>
              </a:solidFill>
              <a:latin typeface="Calibri"/>
              <a:ea typeface="Calibri"/>
              <a:cs typeface="Calibri"/>
              <a:sym typeface="Calibri"/>
            </a:endParaRPr>
          </a:p>
        </p:txBody>
      </p:sp>
      <p:pic>
        <p:nvPicPr>
          <p:cNvPr id="433" name="Google Shape;433;p18"/>
          <p:cNvPicPr preferRelativeResize="0"/>
          <p:nvPr/>
        </p:nvPicPr>
        <p:blipFill rotWithShape="1">
          <a:blip r:embed="rId4">
            <a:alphaModFix/>
          </a:blip>
          <a:srcRect b="0" l="0" r="0" t="0"/>
          <a:stretch/>
        </p:blipFill>
        <p:spPr>
          <a:xfrm>
            <a:off x="7421731" y="4819353"/>
            <a:ext cx="1722269" cy="312447"/>
          </a:xfrm>
          <a:prstGeom prst="rect">
            <a:avLst/>
          </a:prstGeom>
          <a:noFill/>
          <a:ln>
            <a:noFill/>
          </a:ln>
        </p:spPr>
      </p:pic>
      <p:sp>
        <p:nvSpPr>
          <p:cNvPr id="434" name="Google Shape;434;p18"/>
          <p:cNvSpPr txBox="1"/>
          <p:nvPr/>
        </p:nvSpPr>
        <p:spPr>
          <a:xfrm>
            <a:off x="3768244" y="101406"/>
            <a:ext cx="4575516" cy="204287"/>
          </a:xfrm>
          <a:prstGeom prst="rect">
            <a:avLst/>
          </a:prstGeom>
          <a:noFill/>
          <a:ln>
            <a:noFill/>
          </a:ln>
        </p:spPr>
        <p:txBody>
          <a:bodyPr anchorCtr="0" anchor="t" bIns="45700" lIns="91425" spcFirstLastPara="1" rIns="91425" wrap="square" tIns="45700">
            <a:spAutoFit/>
          </a:bodyPr>
          <a:lstStyle/>
          <a:p>
            <a:pPr indent="0" lvl="0" marL="0" marR="0" rtl="0" algn="l">
              <a:lnSpc>
                <a:spcPct val="96000"/>
              </a:lnSpc>
              <a:spcBef>
                <a:spcPts val="0"/>
              </a:spcBef>
              <a:spcAft>
                <a:spcPts val="0"/>
              </a:spcAft>
              <a:buClr>
                <a:srgbClr val="2E75B5"/>
              </a:buClr>
              <a:buSzPts val="750"/>
              <a:buFont typeface="Source Sans 3"/>
              <a:buNone/>
            </a:pPr>
            <a:r>
              <a:rPr b="0" i="0" lang="en-US" sz="750" u="none" cap="none" strike="noStrike">
                <a:solidFill>
                  <a:srgbClr val="2E75B5"/>
                </a:solidFill>
                <a:latin typeface="Source Sans 3"/>
                <a:ea typeface="Source Sans 3"/>
                <a:cs typeface="Source Sans 3"/>
                <a:sym typeface="Source Sans 3"/>
              </a:rPr>
              <a:t>DIAPOSITIVA 18</a:t>
            </a:r>
            <a:endParaRPr b="0" i="0" sz="750" u="none" cap="none" strike="noStrike">
              <a:solidFill>
                <a:srgbClr val="2E75B5"/>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h30f47ba9f2cb7171_0_0"/>
          <p:cNvSpPr/>
          <p:nvPr/>
        </p:nvSpPr>
        <p:spPr>
          <a:xfrm>
            <a:off x="4656609" y="5142309"/>
            <a:ext cx="3968700" cy="348600"/>
          </a:xfrm>
          <a:prstGeom prst="rect">
            <a:avLst/>
          </a:prstGeom>
          <a:noFill/>
          <a:ln>
            <a:noFill/>
          </a:ln>
        </p:spPr>
        <p:txBody>
          <a:bodyPr anchorCtr="0" anchor="t" bIns="0" lIns="0" spcFirstLastPara="1" rIns="0" wrap="square" tIns="0">
            <a:noAutofit/>
          </a:bodyPr>
          <a:lstStyle/>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El objetivo de generar valor real</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La coordinación entre roles del equipo</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La validación técnica y funcional</a:t>
            </a:r>
            <a:endParaRPr b="0" i="0" sz="500" u="none" cap="none" strike="noStrike">
              <a:solidFill>
                <a:srgbClr val="000000"/>
              </a:solidFill>
              <a:latin typeface="Calibri"/>
              <a:ea typeface="Calibri"/>
              <a:cs typeface="Calibri"/>
              <a:sym typeface="Calibri"/>
            </a:endParaRPr>
          </a:p>
          <a:p>
            <a:pPr indent="-101600" lvl="0" marL="101600" marR="0" rtl="0" algn="l">
              <a:lnSpc>
                <a:spcPct val="100000"/>
              </a:lnSpc>
              <a:spcBef>
                <a:spcPts val="0"/>
              </a:spcBef>
              <a:spcAft>
                <a:spcPts val="0"/>
              </a:spcAft>
              <a:buClr>
                <a:srgbClr val="D6E5EF"/>
              </a:buClr>
              <a:buSzPts val="500"/>
              <a:buFont typeface="Source Sans 3"/>
              <a:buChar char="•"/>
            </a:pPr>
            <a:r>
              <a:rPr b="0" i="0" lang="en-US" sz="500" u="none" cap="none" strike="noStrike">
                <a:solidFill>
                  <a:srgbClr val="D6E5EF"/>
                </a:solidFill>
                <a:latin typeface="Source Sans 3"/>
                <a:ea typeface="Source Sans 3"/>
                <a:cs typeface="Source Sans 3"/>
                <a:sym typeface="Source Sans 3"/>
              </a:rPr>
              <a:t>El ciclo de retroalimentación continua</a:t>
            </a:r>
            <a:endParaRPr b="0" i="0" sz="500" u="none" cap="none" strike="noStrike">
              <a:solidFill>
                <a:srgbClr val="000000"/>
              </a:solidFill>
              <a:latin typeface="Calibri"/>
              <a:ea typeface="Calibri"/>
              <a:cs typeface="Calibri"/>
              <a:sym typeface="Calibri"/>
            </a:endParaRPr>
          </a:p>
        </p:txBody>
      </p:sp>
      <p:pic>
        <p:nvPicPr>
          <p:cNvPr id="441" name="Google Shape;441;h30f47ba9f2cb7171_0_0"/>
          <p:cNvPicPr preferRelativeResize="0"/>
          <p:nvPr/>
        </p:nvPicPr>
        <p:blipFill rotWithShape="1">
          <a:blip r:embed="rId3">
            <a:alphaModFix/>
          </a:blip>
          <a:srcRect b="0" l="0" r="0" t="0"/>
          <a:stretch/>
        </p:blipFill>
        <p:spPr>
          <a:xfrm>
            <a:off x="7948246" y="4799692"/>
            <a:ext cx="1129376" cy="312447"/>
          </a:xfrm>
          <a:prstGeom prst="rect">
            <a:avLst/>
          </a:prstGeom>
          <a:noFill/>
          <a:ln>
            <a:noFill/>
          </a:ln>
        </p:spPr>
      </p:pic>
      <p:pic>
        <p:nvPicPr>
          <p:cNvPr descr="Si alguna vez sentiste que un proyecto de Data Science se vuelve un caos, esto lo ordena. Hoy vemos CRISP-DM, el flujo clásico (y real) que sigue un proyecto de datos: desde entender el problema del negocio hasta desplegar y dar mantenimiento.&#10;✅ En este video vas a aprender:&#10;Las 6 fases de CRISP-DM y para qué sirve cada una&#10;Qué entregables se esperan en cada etapa (lo que te piden en la vida real)&#10;Por qué no es lineal: vas y volvés entre fases todo el tiempo&#10;&#10;📌 Guardalo, porque este flujo te sirve para cualquier proyecto (tesis, trabajo o portafolio).&#10;&#10;#datascience  #cienciadedatos  #CRISPDm #machinelearning  #analisisdedatos  #ia  #ProyectoDeDatos #aprenderdatascience  #DataEnEspañol" id="442" name="Google Shape;442;h30f47ba9f2cb7171_0_0" title="📌 Video 2/100 — Ciclo de vida de un proyecto de datos (CRISP-DM)">
            <a:hlinkClick r:id="rId4"/>
          </p:cNvPr>
          <p:cNvPicPr preferRelativeResize="0"/>
          <p:nvPr/>
        </p:nvPicPr>
        <p:blipFill>
          <a:blip r:embed="rId5">
            <a:alphaModFix/>
          </a:blip>
          <a:stretch>
            <a:fillRect/>
          </a:stretch>
        </p:blipFill>
        <p:spPr>
          <a:xfrm>
            <a:off x="76200" y="0"/>
            <a:ext cx="8991600" cy="5057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2026-07-26T23:41:22Z</dcterms:created>
  <dc:creator>Wdy Mgos</dc:creator>
</cp:coreProperties>
</file>