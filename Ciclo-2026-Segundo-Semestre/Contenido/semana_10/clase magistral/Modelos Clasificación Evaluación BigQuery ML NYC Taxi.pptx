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10287000" cx="18288000"/>
  <p:notesSz cx="18288000" cy="10287000"/>
  <p:embeddedFontLst>
    <p:embeddedFont>
      <p:font typeface="Geo"/>
      <p:regular r:id="rId45"/>
      <p:italic r:id="rId46"/>
    </p:embeddedFont>
    <p:embeddedFont>
      <p:font typeface="DM Sans"/>
      <p:regular r:id="rId47"/>
      <p:bold r:id="rId48"/>
      <p:italic r:id="rId49"/>
      <p:boldItalic r:id="rId50"/>
    </p:embeddedFont>
    <p:embeddedFont>
      <p:font typeface="Open Sans"/>
      <p:bold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3" roundtripDataSignature="AMtx7mjWz6Z++5VnHSMVbPK+8oCbEdqN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Geo-italic.fntdata"/><Relationship Id="rId45" Type="http://schemas.openxmlformats.org/officeDocument/2006/relationships/font" Target="fonts/Ge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DMSans-bold.fntdata"/><Relationship Id="rId47" Type="http://schemas.openxmlformats.org/officeDocument/2006/relationships/font" Target="fonts/DMSans-regular.fntdata"/><Relationship Id="rId49" Type="http://schemas.openxmlformats.org/officeDocument/2006/relationships/font" Target="fonts/DM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fntdata"/><Relationship Id="rId50" Type="http://schemas.openxmlformats.org/officeDocument/2006/relationships/font" Target="fonts/DMSans-boldItalic.fntdata"/><Relationship Id="rId53" Type="http://customschemas.google.com/relationships/presentationmetadata" Target="metadata"/><Relationship Id="rId52"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ab522f861_0_0: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9ab522f861_0_0: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2a12c1880264e695_0_27: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76" name="Google Shape;76;h2a12c1880264e695_0_27: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2a12c1880264e695_0_0: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h2a12c1880264e695_0_0: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1: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8b67da081_0_193: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d8b67da081_0_193: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1: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1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2: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1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3: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1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8b67da081_0_365: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g3d8b67da081_0_365: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4: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p1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d8b67da081_0_402: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g3d8b67da081_0_402: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8b67da081_0_421: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g3d8b67da081_0_421: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5: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p1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6: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0" name="Google Shape;480;p1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7: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p1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8: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8" name="Google Shape;528;p1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9: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5" name="Google Shape;545;p1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d8b67da081_0_382: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4" name="Google Shape;564;g3d8b67da081_0_382: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0: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0" name="Google Shape;580;p2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1: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9" name="Google Shape;599;p2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22: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8" name="Google Shape;618;p2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3: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7" name="Google Shape;647;p2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5: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4" name="Google Shape;664;p2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6: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3" name="Google Shape;683;p2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27: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0" name="Google Shape;700;p2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28: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9" name="Google Shape;719;p2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9: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5" name="Google Shape;755;p2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30: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2" name="Google Shape;772;p3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31: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1" name="Google Shape;791;p3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d8b67da081_0_210: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810" name="Google Shape;810;g3d8b67da081_0_210: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2" name="Shape 12"/>
        <p:cNvGrpSpPr/>
        <p:nvPr/>
      </p:nvGrpSpPr>
      <p:grpSpPr>
        <a:xfrm>
          <a:off x="0" y="0"/>
          <a:ext cx="0" cy="0"/>
          <a:chOff x="0" y="0"/>
          <a:chExt cx="0" cy="0"/>
        </a:xfrm>
      </p:grpSpPr>
      <p:sp>
        <p:nvSpPr>
          <p:cNvPr id="13" name="Google Shape;13;g3d8b67da081_0_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4" name="Google Shape;14;g3d8b67da081_0_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5" name="Google Shape;15;g3d8b67da081_0_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6" name="Shape 16"/>
        <p:cNvGrpSpPr/>
        <p:nvPr/>
      </p:nvGrpSpPr>
      <p:grpSpPr>
        <a:xfrm>
          <a:off x="0" y="0"/>
          <a:ext cx="0" cy="0"/>
          <a:chOff x="0" y="0"/>
          <a:chExt cx="0" cy="0"/>
        </a:xfrm>
      </p:grpSpPr>
      <p:sp>
        <p:nvSpPr>
          <p:cNvPr id="17" name="Google Shape;17;p33"/>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p33"/>
          <p:cNvSpPr/>
          <p:nvPr/>
        </p:nvSpPr>
        <p:spPr>
          <a:xfrm>
            <a:off x="1048059" y="3222999"/>
            <a:ext cx="704215" cy="704215"/>
          </a:xfrm>
          <a:custGeom>
            <a:rect b="b" l="l" r="r" t="t"/>
            <a:pathLst>
              <a:path extrusionOk="0" h="704214" w="704214">
                <a:moveTo>
                  <a:pt x="226364" y="0"/>
                </a:moveTo>
                <a:lnTo>
                  <a:pt x="182146" y="4361"/>
                </a:lnTo>
                <a:lnTo>
                  <a:pt x="139604" y="17260"/>
                </a:lnTo>
                <a:lnTo>
                  <a:pt x="100402" y="38214"/>
                </a:lnTo>
                <a:lnTo>
                  <a:pt x="66230" y="66230"/>
                </a:lnTo>
                <a:lnTo>
                  <a:pt x="38214" y="100402"/>
                </a:lnTo>
                <a:lnTo>
                  <a:pt x="17260" y="139604"/>
                </a:lnTo>
                <a:lnTo>
                  <a:pt x="4361" y="182146"/>
                </a:lnTo>
                <a:lnTo>
                  <a:pt x="0" y="226364"/>
                </a:lnTo>
                <a:lnTo>
                  <a:pt x="486" y="241201"/>
                </a:lnTo>
                <a:lnTo>
                  <a:pt x="7734" y="285051"/>
                </a:lnTo>
                <a:lnTo>
                  <a:pt x="23380" y="326635"/>
                </a:lnTo>
                <a:lnTo>
                  <a:pt x="46855" y="364383"/>
                </a:lnTo>
                <a:lnTo>
                  <a:pt x="383438" y="703707"/>
                </a:lnTo>
                <a:lnTo>
                  <a:pt x="703707" y="383438"/>
                </a:lnTo>
                <a:lnTo>
                  <a:pt x="386689" y="66408"/>
                </a:lnTo>
                <a:lnTo>
                  <a:pt x="352329" y="38217"/>
                </a:lnTo>
                <a:lnTo>
                  <a:pt x="313131" y="17260"/>
                </a:lnTo>
                <a:lnTo>
                  <a:pt x="270593" y="4361"/>
                </a:lnTo>
                <a:lnTo>
                  <a:pt x="22636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33"/>
          <p:cNvSpPr/>
          <p:nvPr/>
        </p:nvSpPr>
        <p:spPr>
          <a:xfrm>
            <a:off x="1431486" y="3223002"/>
            <a:ext cx="704215" cy="704215"/>
          </a:xfrm>
          <a:custGeom>
            <a:rect b="b" l="l" r="r" t="t"/>
            <a:pathLst>
              <a:path extrusionOk="0" h="704214" w="704214">
                <a:moveTo>
                  <a:pt x="477342" y="0"/>
                </a:moveTo>
                <a:lnTo>
                  <a:pt x="433113" y="4361"/>
                </a:lnTo>
                <a:lnTo>
                  <a:pt x="390575" y="17260"/>
                </a:lnTo>
                <a:lnTo>
                  <a:pt x="351377" y="38217"/>
                </a:lnTo>
                <a:lnTo>
                  <a:pt x="317017" y="66408"/>
                </a:lnTo>
                <a:lnTo>
                  <a:pt x="0" y="383438"/>
                </a:lnTo>
                <a:lnTo>
                  <a:pt x="320268" y="703707"/>
                </a:lnTo>
                <a:lnTo>
                  <a:pt x="637298" y="386689"/>
                </a:lnTo>
                <a:lnTo>
                  <a:pt x="665489" y="352329"/>
                </a:lnTo>
                <a:lnTo>
                  <a:pt x="686446" y="313131"/>
                </a:lnTo>
                <a:lnTo>
                  <a:pt x="699345" y="270593"/>
                </a:lnTo>
                <a:lnTo>
                  <a:pt x="703707" y="226364"/>
                </a:lnTo>
                <a:lnTo>
                  <a:pt x="703220" y="211530"/>
                </a:lnTo>
                <a:lnTo>
                  <a:pt x="695972" y="167690"/>
                </a:lnTo>
                <a:lnTo>
                  <a:pt x="680326" y="126096"/>
                </a:lnTo>
                <a:lnTo>
                  <a:pt x="656874" y="88369"/>
                </a:lnTo>
                <a:lnTo>
                  <a:pt x="626746" y="56186"/>
                </a:lnTo>
                <a:lnTo>
                  <a:pt x="590702" y="30378"/>
                </a:lnTo>
                <a:lnTo>
                  <a:pt x="550222" y="12038"/>
                </a:lnTo>
                <a:lnTo>
                  <a:pt x="506931" y="1943"/>
                </a:lnTo>
                <a:lnTo>
                  <a:pt x="477342"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 name="Google Shape;20;p33"/>
          <p:cNvSpPr/>
          <p:nvPr/>
        </p:nvSpPr>
        <p:spPr>
          <a:xfrm>
            <a:off x="1048054" y="3416731"/>
            <a:ext cx="1087755" cy="893444"/>
          </a:xfrm>
          <a:custGeom>
            <a:rect b="b" l="l" r="r" t="t"/>
            <a:pathLst>
              <a:path extrusionOk="0" h="893445" w="1087755">
                <a:moveTo>
                  <a:pt x="1087132" y="667042"/>
                </a:moveTo>
                <a:lnTo>
                  <a:pt x="1082763" y="622820"/>
                </a:lnTo>
                <a:lnTo>
                  <a:pt x="1069873" y="580275"/>
                </a:lnTo>
                <a:lnTo>
                  <a:pt x="1048918" y="541083"/>
                </a:lnTo>
                <a:lnTo>
                  <a:pt x="1020724" y="506717"/>
                </a:lnTo>
                <a:lnTo>
                  <a:pt x="863828" y="349846"/>
                </a:lnTo>
                <a:lnTo>
                  <a:pt x="543572" y="29565"/>
                </a:lnTo>
                <a:lnTo>
                  <a:pt x="513994" y="0"/>
                </a:lnTo>
                <a:lnTo>
                  <a:pt x="193725" y="320268"/>
                </a:lnTo>
                <a:lnTo>
                  <a:pt x="223291" y="349846"/>
                </a:lnTo>
                <a:lnTo>
                  <a:pt x="66408" y="506717"/>
                </a:lnTo>
                <a:lnTo>
                  <a:pt x="38214" y="541083"/>
                </a:lnTo>
                <a:lnTo>
                  <a:pt x="17259" y="580275"/>
                </a:lnTo>
                <a:lnTo>
                  <a:pt x="4356" y="622820"/>
                </a:lnTo>
                <a:lnTo>
                  <a:pt x="0" y="667042"/>
                </a:lnTo>
                <a:lnTo>
                  <a:pt x="482" y="681875"/>
                </a:lnTo>
                <a:lnTo>
                  <a:pt x="7734" y="725716"/>
                </a:lnTo>
                <a:lnTo>
                  <a:pt x="23380" y="767308"/>
                </a:lnTo>
                <a:lnTo>
                  <a:pt x="46824" y="805040"/>
                </a:lnTo>
                <a:lnTo>
                  <a:pt x="76962" y="837222"/>
                </a:lnTo>
                <a:lnTo>
                  <a:pt x="113004" y="863028"/>
                </a:lnTo>
                <a:lnTo>
                  <a:pt x="153479" y="881367"/>
                </a:lnTo>
                <a:lnTo>
                  <a:pt x="196773" y="891463"/>
                </a:lnTo>
                <a:lnTo>
                  <a:pt x="226364" y="893406"/>
                </a:lnTo>
                <a:lnTo>
                  <a:pt x="241198" y="892924"/>
                </a:lnTo>
                <a:lnTo>
                  <a:pt x="285051" y="885672"/>
                </a:lnTo>
                <a:lnTo>
                  <a:pt x="326631" y="870026"/>
                </a:lnTo>
                <a:lnTo>
                  <a:pt x="364375" y="846556"/>
                </a:lnTo>
                <a:lnTo>
                  <a:pt x="543560" y="670128"/>
                </a:lnTo>
                <a:lnTo>
                  <a:pt x="700443" y="826998"/>
                </a:lnTo>
                <a:lnTo>
                  <a:pt x="734796" y="855192"/>
                </a:lnTo>
                <a:lnTo>
                  <a:pt x="774001" y="876147"/>
                </a:lnTo>
                <a:lnTo>
                  <a:pt x="816533" y="889050"/>
                </a:lnTo>
                <a:lnTo>
                  <a:pt x="860767" y="893406"/>
                </a:lnTo>
                <a:lnTo>
                  <a:pt x="875601" y="892924"/>
                </a:lnTo>
                <a:lnTo>
                  <a:pt x="919441" y="885672"/>
                </a:lnTo>
                <a:lnTo>
                  <a:pt x="961034" y="870026"/>
                </a:lnTo>
                <a:lnTo>
                  <a:pt x="998766" y="846582"/>
                </a:lnTo>
                <a:lnTo>
                  <a:pt x="1030947" y="816444"/>
                </a:lnTo>
                <a:lnTo>
                  <a:pt x="1056754" y="780402"/>
                </a:lnTo>
                <a:lnTo>
                  <a:pt x="1075093" y="739927"/>
                </a:lnTo>
                <a:lnTo>
                  <a:pt x="1085189" y="696633"/>
                </a:lnTo>
                <a:lnTo>
                  <a:pt x="1086637" y="681875"/>
                </a:lnTo>
                <a:lnTo>
                  <a:pt x="1087132" y="66704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 name="Google Shape;21;p33"/>
          <p:cNvSpPr txBox="1"/>
          <p:nvPr>
            <p:ph type="ctrTitle"/>
          </p:nvPr>
        </p:nvSpPr>
        <p:spPr>
          <a:xfrm>
            <a:off x="3060589" y="2923483"/>
            <a:ext cx="8580120" cy="4257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5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3"/>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8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3"/>
          <p:cNvSpPr txBox="1"/>
          <p:nvPr>
            <p:ph idx="11" type="ftr"/>
          </p:nvPr>
        </p:nvSpPr>
        <p:spPr>
          <a:xfrm>
            <a:off x="16105767" y="9653963"/>
            <a:ext cx="1210965" cy="31464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3"/>
          <p:cNvSpPr txBox="1"/>
          <p:nvPr>
            <p:ph idx="10" type="dt"/>
          </p:nvPr>
        </p:nvSpPr>
        <p:spPr>
          <a:xfrm>
            <a:off x="3060581" y="9651677"/>
            <a:ext cx="2143778" cy="3144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3"/>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lvl1pPr indent="0" lvl="0"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1pPr>
            <a:lvl2pPr indent="0" lvl="1"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2pPr>
            <a:lvl3pPr indent="0" lvl="2"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3pPr>
            <a:lvl4pPr indent="0" lvl="3"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4pPr>
            <a:lvl5pPr indent="0" lvl="4"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5pPr>
            <a:lvl6pPr indent="0" lvl="5"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6pPr>
            <a:lvl7pPr indent="0" lvl="6"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7pPr>
            <a:lvl8pPr indent="0" lvl="7"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8pPr>
            <a:lvl9pPr indent="0" lvl="8"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r>
              <a:rPr lang="en-US"/>
              <a:t>.</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 name="Shape 26"/>
        <p:cNvGrpSpPr/>
        <p:nvPr/>
      </p:nvGrpSpPr>
      <p:grpSpPr>
        <a:xfrm>
          <a:off x="0" y="0"/>
          <a:ext cx="0" cy="0"/>
          <a:chOff x="0" y="0"/>
          <a:chExt cx="0" cy="0"/>
        </a:xfrm>
      </p:grpSpPr>
      <p:sp>
        <p:nvSpPr>
          <p:cNvPr id="27" name="Google Shape;27;p34"/>
          <p:cNvSpPr txBox="1"/>
          <p:nvPr>
            <p:ph type="title"/>
          </p:nvPr>
        </p:nvSpPr>
        <p:spPr>
          <a:xfrm>
            <a:off x="3031356" y="1550978"/>
            <a:ext cx="14208760" cy="106172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5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4"/>
          <p:cNvSpPr txBox="1"/>
          <p:nvPr>
            <p:ph idx="1" type="body"/>
          </p:nvPr>
        </p:nvSpPr>
        <p:spPr>
          <a:xfrm>
            <a:off x="3060600" y="3808833"/>
            <a:ext cx="11185525" cy="23622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8000">
                <a:solidFill>
                  <a:srgbClr val="262626"/>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16105767" y="9653963"/>
            <a:ext cx="1210965" cy="31464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0" type="dt"/>
          </p:nvPr>
        </p:nvSpPr>
        <p:spPr>
          <a:xfrm>
            <a:off x="3060581" y="9651677"/>
            <a:ext cx="2143778" cy="3144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4"/>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lvl1pPr indent="0" lvl="0"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1pPr>
            <a:lvl2pPr indent="0" lvl="1"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2pPr>
            <a:lvl3pPr indent="0" lvl="2"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3pPr>
            <a:lvl4pPr indent="0" lvl="3"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4pPr>
            <a:lvl5pPr indent="0" lvl="4"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5pPr>
            <a:lvl6pPr indent="0" lvl="5"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6pPr>
            <a:lvl7pPr indent="0" lvl="6"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7pPr>
            <a:lvl8pPr indent="0" lvl="7"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8pPr>
            <a:lvl9pPr indent="0" lvl="8"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r>
              <a:rPr lang="en-US"/>
              <a: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35"/>
          <p:cNvSpPr txBox="1"/>
          <p:nvPr>
            <p:ph type="title"/>
          </p:nvPr>
        </p:nvSpPr>
        <p:spPr>
          <a:xfrm>
            <a:off x="3031356" y="1550978"/>
            <a:ext cx="14208760" cy="106172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5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5"/>
          <p:cNvSpPr txBox="1"/>
          <p:nvPr>
            <p:ph idx="11" type="ftr"/>
          </p:nvPr>
        </p:nvSpPr>
        <p:spPr>
          <a:xfrm>
            <a:off x="16105767" y="9653963"/>
            <a:ext cx="1210965" cy="31464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0" type="dt"/>
          </p:nvPr>
        </p:nvSpPr>
        <p:spPr>
          <a:xfrm>
            <a:off x="3060581" y="9651677"/>
            <a:ext cx="2143778" cy="3144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5"/>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lvl1pPr indent="0" lvl="0"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1pPr>
            <a:lvl2pPr indent="0" lvl="1"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2pPr>
            <a:lvl3pPr indent="0" lvl="2"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3pPr>
            <a:lvl4pPr indent="0" lvl="3"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4pPr>
            <a:lvl5pPr indent="0" lvl="4"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5pPr>
            <a:lvl6pPr indent="0" lvl="5"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6pPr>
            <a:lvl7pPr indent="0" lvl="6"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7pPr>
            <a:lvl8pPr indent="0" lvl="7"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8pPr>
            <a:lvl9pPr indent="0" lvl="8"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r>
              <a:rPr lang="en-US"/>
              <a: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36"/>
          <p:cNvSpPr txBox="1"/>
          <p:nvPr>
            <p:ph type="title"/>
          </p:nvPr>
        </p:nvSpPr>
        <p:spPr>
          <a:xfrm>
            <a:off x="3031356" y="1550978"/>
            <a:ext cx="14208760" cy="106172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5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p36"/>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36"/>
          <p:cNvSpPr txBox="1"/>
          <p:nvPr>
            <p:ph idx="11" type="ftr"/>
          </p:nvPr>
        </p:nvSpPr>
        <p:spPr>
          <a:xfrm>
            <a:off x="16105767" y="9653963"/>
            <a:ext cx="1210965" cy="31464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0" type="dt"/>
          </p:nvPr>
        </p:nvSpPr>
        <p:spPr>
          <a:xfrm>
            <a:off x="3060581" y="9651677"/>
            <a:ext cx="2143778" cy="3144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6"/>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lvl1pPr indent="0" lvl="0"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1pPr>
            <a:lvl2pPr indent="0" lvl="1"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2pPr>
            <a:lvl3pPr indent="0" lvl="2"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3pPr>
            <a:lvl4pPr indent="0" lvl="3"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4pPr>
            <a:lvl5pPr indent="0" lvl="4"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5pPr>
            <a:lvl6pPr indent="0" lvl="5"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6pPr>
            <a:lvl7pPr indent="0" lvl="6"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7pPr>
            <a:lvl8pPr indent="0" lvl="7"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8pPr>
            <a:lvl9pPr indent="0" lvl="8"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r>
              <a:rPr lang="en-US"/>
              <a: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2">
    <p:spTree>
      <p:nvGrpSpPr>
        <p:cNvPr id="44" name="Shape 44"/>
        <p:cNvGrpSpPr/>
        <p:nvPr/>
      </p:nvGrpSpPr>
      <p:grpSpPr>
        <a:xfrm>
          <a:off x="0" y="0"/>
          <a:ext cx="0" cy="0"/>
          <a:chOff x="0" y="0"/>
          <a:chExt cx="0" cy="0"/>
        </a:xfrm>
      </p:grpSpPr>
      <p:sp>
        <p:nvSpPr>
          <p:cNvPr id="45" name="Google Shape;45;g3d8b67da081_0_17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46" name="Google Shape;46;g3d8b67da081_0_17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47" name="Google Shape;47;g3d8b67da081_0_17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8" name="Shape 48"/>
        <p:cNvGrpSpPr/>
        <p:nvPr/>
      </p:nvGrpSpPr>
      <p:grpSpPr>
        <a:xfrm>
          <a:off x="0" y="0"/>
          <a:ext cx="0" cy="0"/>
          <a:chOff x="0" y="0"/>
          <a:chExt cx="0" cy="0"/>
        </a:xfrm>
      </p:grpSpPr>
      <p:sp>
        <p:nvSpPr>
          <p:cNvPr id="49" name="Google Shape;49;p37"/>
          <p:cNvSpPr txBox="1"/>
          <p:nvPr>
            <p:ph idx="11" type="ftr"/>
          </p:nvPr>
        </p:nvSpPr>
        <p:spPr>
          <a:xfrm>
            <a:off x="16105767" y="9653963"/>
            <a:ext cx="1210965" cy="31464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7"/>
          <p:cNvSpPr txBox="1"/>
          <p:nvPr>
            <p:ph idx="10" type="dt"/>
          </p:nvPr>
        </p:nvSpPr>
        <p:spPr>
          <a:xfrm>
            <a:off x="3060581" y="9651677"/>
            <a:ext cx="2143778" cy="3144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0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lvl1pPr indent="0" lvl="0"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1pPr>
            <a:lvl2pPr indent="0" lvl="1"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2pPr>
            <a:lvl3pPr indent="0" lvl="2"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3pPr>
            <a:lvl4pPr indent="0" lvl="3"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4pPr>
            <a:lvl5pPr indent="0" lvl="4"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5pPr>
            <a:lvl6pPr indent="0" lvl="5"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6pPr>
            <a:lvl7pPr indent="0" lvl="6"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7pPr>
            <a:lvl8pPr indent="0" lvl="7"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8pPr>
            <a:lvl9pPr indent="0" lvl="8" marL="38100" marR="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r>
              <a:rPr lang="en-US"/>
              <a:t>.</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4">
    <p:spTree>
      <p:nvGrpSpPr>
        <p:cNvPr id="52" name="Shape 52"/>
        <p:cNvGrpSpPr/>
        <p:nvPr/>
      </p:nvGrpSpPr>
      <p:grpSpPr>
        <a:xfrm>
          <a:off x="0" y="0"/>
          <a:ext cx="0" cy="0"/>
          <a:chOff x="0" y="0"/>
          <a:chExt cx="0" cy="0"/>
        </a:xfrm>
      </p:grpSpPr>
      <p:sp>
        <p:nvSpPr>
          <p:cNvPr id="53" name="Google Shape;53;g39ab522f861_0_6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g39ab522f861_0_6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g39ab522f861_0_6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3">
    <p:spTree>
      <p:nvGrpSpPr>
        <p:cNvPr id="56" name="Shape 56"/>
        <p:cNvGrpSpPr/>
        <p:nvPr/>
      </p:nvGrpSpPr>
      <p:grpSpPr>
        <a:xfrm>
          <a:off x="0" y="0"/>
          <a:ext cx="0" cy="0"/>
          <a:chOff x="0" y="0"/>
          <a:chExt cx="0" cy="0"/>
        </a:xfrm>
      </p:grpSpPr>
      <p:sp>
        <p:nvSpPr>
          <p:cNvPr id="57" name="Google Shape;57;h2a12c1880264e695_0_8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58" name="Google Shape;58;h2a12c1880264e695_0_8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59" name="Google Shape;59;h2a12c1880264e695_0_8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2"/>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32"/>
          <p:cNvSpPr txBox="1"/>
          <p:nvPr>
            <p:ph type="title"/>
          </p:nvPr>
        </p:nvSpPr>
        <p:spPr>
          <a:xfrm>
            <a:off x="3031356" y="1550978"/>
            <a:ext cx="14208760" cy="106172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50" u="none" cap="none" strike="noStrike">
                <a:solidFill>
                  <a:srgbClr val="26262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32"/>
          <p:cNvSpPr txBox="1"/>
          <p:nvPr>
            <p:ph idx="1" type="body"/>
          </p:nvPr>
        </p:nvSpPr>
        <p:spPr>
          <a:xfrm>
            <a:off x="3060600" y="3808833"/>
            <a:ext cx="11185525" cy="23622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8000" u="none" cap="none" strike="noStrike">
                <a:solidFill>
                  <a:srgbClr val="262626"/>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32"/>
          <p:cNvSpPr txBox="1"/>
          <p:nvPr>
            <p:ph idx="11" type="ftr"/>
          </p:nvPr>
        </p:nvSpPr>
        <p:spPr>
          <a:xfrm>
            <a:off x="16105767" y="9653963"/>
            <a:ext cx="1210965" cy="314646"/>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rgbClr val="26262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32"/>
          <p:cNvSpPr txBox="1"/>
          <p:nvPr>
            <p:ph idx="10" type="dt"/>
          </p:nvPr>
        </p:nvSpPr>
        <p:spPr>
          <a:xfrm>
            <a:off x="3060581" y="9651677"/>
            <a:ext cx="2143778" cy="31448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2000" u="none" cap="none" strike="noStrike">
                <a:solidFill>
                  <a:srgbClr val="26262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2"/>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lvl1pPr indent="0" lvl="0"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1pPr>
            <a:lvl2pPr indent="0" lvl="1"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2pPr>
            <a:lvl3pPr indent="0" lvl="2"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3pPr>
            <a:lvl4pPr indent="0" lvl="3"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4pPr>
            <a:lvl5pPr indent="0" lvl="4"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5pPr>
            <a:lvl6pPr indent="0" lvl="5"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6pPr>
            <a:lvl7pPr indent="0" lvl="6"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7pPr>
            <a:lvl8pPr indent="0" lvl="7"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8pPr>
            <a:lvl9pPr indent="0" lvl="8" marL="38100" marR="0" rtl="0" algn="l">
              <a:lnSpc>
                <a:spcPct val="117115"/>
              </a:lnSpc>
              <a:spcBef>
                <a:spcPts val="0"/>
              </a:spcBef>
              <a:spcAft>
                <a:spcPts val="0"/>
              </a:spcAft>
              <a:buClr>
                <a:srgbClr val="000000"/>
              </a:buClr>
              <a:buSzPts val="2600"/>
              <a:buFont typeface="Arial"/>
              <a:buNone/>
              <a:defRPr b="1" i="0" sz="2600" u="none" cap="none" strike="noStrike">
                <a:solidFill>
                  <a:srgbClr val="F2620F"/>
                </a:solidFill>
                <a:latin typeface="Arial"/>
                <a:ea typeface="Arial"/>
                <a:cs typeface="Arial"/>
                <a:sym typeface="Arial"/>
              </a:defRPr>
            </a:lvl9pPr>
          </a:lstStyle>
          <a:p>
            <a:pPr indent="0" lvl="0" marL="38100" rtl="0" algn="l">
              <a:spcBef>
                <a:spcPts val="0"/>
              </a:spcBef>
              <a:spcAft>
                <a:spcPts val="0"/>
              </a:spcAft>
              <a:buNone/>
            </a:pPr>
            <a:fld id="{00000000-1234-1234-1234-123412341234}" type="slidenum">
              <a:rPr lang="en-US"/>
              <a:t>‹#›</a:t>
            </a:fld>
            <a:r>
              <a:rPr lang="en-US"/>
              <a:t>.</a:t>
            </a:r>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www.youtube.com/watch?v=8-nt3Urok4E" TargetMode="Externa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37.png"/><Relationship Id="rId5"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6.png"/><Relationship Id="rId8"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www.youtube.com/watch?v=FXokoJUhsLQ" TargetMode="External"/><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9ab522f861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5" name="Google Shape;65;g39ab522f861_0_0"/>
          <p:cNvSpPr/>
          <p:nvPr/>
        </p:nvSpPr>
        <p:spPr>
          <a:xfrm>
            <a:off x="1969850" y="3030151"/>
            <a:ext cx="15055872" cy="3260981"/>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sp>
        <p:nvSpPr>
          <p:cNvPr id="66" name="Google Shape;66;g39ab522f861_0_0"/>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US" sz="2400" u="none" cap="none" strike="noStrike">
                <a:solidFill>
                  <a:srgbClr val="000000"/>
                </a:solidFill>
                <a:latin typeface="Open Sans"/>
                <a:ea typeface="Open Sans"/>
                <a:cs typeface="Open Sans"/>
                <a:sym typeface="Open Sans"/>
              </a:rPr>
              <a:t>Escuela de Ingeniería de Ciencias Y Sistemas</a:t>
            </a:r>
            <a:endParaRPr/>
          </a:p>
          <a:p>
            <a:pPr indent="0" lvl="0" marL="0" marR="0" rtl="0" algn="ctr">
              <a:lnSpc>
                <a:spcPct val="139958"/>
              </a:lnSpc>
              <a:spcBef>
                <a:spcPts val="0"/>
              </a:spcBef>
              <a:spcAft>
                <a:spcPts val="0"/>
              </a:spcAft>
              <a:buNone/>
            </a:pPr>
            <a:r>
              <a:t/>
            </a:r>
            <a:endParaRPr b="1" i="0" sz="2400" u="none" cap="none" strike="noStrike">
              <a:solidFill>
                <a:srgbClr val="000000"/>
              </a:solidFill>
              <a:latin typeface="Open Sans"/>
              <a:ea typeface="Open Sans"/>
              <a:cs typeface="Open Sans"/>
              <a:sym typeface="Open Sans"/>
            </a:endParaRPr>
          </a:p>
        </p:txBody>
      </p:sp>
      <p:sp>
        <p:nvSpPr>
          <p:cNvPr id="67" name="Google Shape;67;g39ab522f861_0_0"/>
          <p:cNvSpPr txBox="1"/>
          <p:nvPr/>
        </p:nvSpPr>
        <p:spPr>
          <a:xfrm>
            <a:off x="348649" y="9201150"/>
            <a:ext cx="7291800" cy="1160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140">
                <a:latin typeface="Open Sans"/>
                <a:ea typeface="Open Sans"/>
                <a:cs typeface="Open Sans"/>
                <a:sym typeface="Open Sans"/>
              </a:rPr>
              <a:t>Javier Andrés Valdez González</a:t>
            </a:r>
            <a:endParaRPr/>
          </a:p>
          <a:p>
            <a:pPr indent="0" lvl="0" marL="0" marR="0" rtl="0" algn="ctr">
              <a:lnSpc>
                <a:spcPct val="140000"/>
              </a:lnSpc>
              <a:spcBef>
                <a:spcPts val="0"/>
              </a:spcBef>
              <a:spcAft>
                <a:spcPts val="0"/>
              </a:spcAft>
              <a:buNone/>
            </a:pPr>
            <a:r>
              <a:t/>
            </a:r>
            <a:endParaRPr b="1" i="0" sz="3140" u="none" cap="none" strike="noStrike">
              <a:solidFill>
                <a:srgbClr val="000000"/>
              </a:solidFill>
              <a:latin typeface="Open Sans"/>
              <a:ea typeface="Open Sans"/>
              <a:cs typeface="Open Sans"/>
              <a:sym typeface="Open Sans"/>
            </a:endParaRPr>
          </a:p>
        </p:txBody>
      </p:sp>
      <p:sp>
        <p:nvSpPr>
          <p:cNvPr id="68" name="Google Shape;68;g39ab522f861_0_0"/>
          <p:cNvSpPr txBox="1"/>
          <p:nvPr/>
        </p:nvSpPr>
        <p:spPr>
          <a:xfrm>
            <a:off x="2904236" y="3801950"/>
            <a:ext cx="13187100" cy="1422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1" lang="en-US" sz="4200">
                <a:latin typeface="Open Sans"/>
                <a:ea typeface="Open Sans"/>
                <a:cs typeface="Open Sans"/>
                <a:sym typeface="Open Sans"/>
              </a:rPr>
              <a:t>SEMINARIO DE SISTEMAS 2 P</a:t>
            </a:r>
            <a:endParaRPr b="1" i="0" sz="4200" u="none" cap="none" strike="noStrike">
              <a:solidFill>
                <a:srgbClr val="000000"/>
              </a:solidFill>
              <a:latin typeface="Open Sans"/>
              <a:ea typeface="Open Sans"/>
              <a:cs typeface="Open Sans"/>
              <a:sym typeface="Open Sans"/>
            </a:endParaRPr>
          </a:p>
        </p:txBody>
      </p:sp>
      <p:grpSp>
        <p:nvGrpSpPr>
          <p:cNvPr id="69" name="Google Shape;69;g39ab522f861_0_0"/>
          <p:cNvGrpSpPr/>
          <p:nvPr/>
        </p:nvGrpSpPr>
        <p:grpSpPr>
          <a:xfrm>
            <a:off x="10813168" y="2130155"/>
            <a:ext cx="7106658" cy="1052501"/>
            <a:chOff x="0" y="-47625"/>
            <a:chExt cx="1871700" cy="277200"/>
          </a:xfrm>
        </p:grpSpPr>
        <p:sp>
          <p:nvSpPr>
            <p:cNvPr id="70" name="Google Shape;70;g39ab522f861_0_0"/>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71" name="Google Shape;71;g39ab522f861_0_0"/>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2" name="Google Shape;72;g39ab522f861_0_0"/>
          <p:cNvSpPr txBox="1"/>
          <p:nvPr/>
        </p:nvSpPr>
        <p:spPr>
          <a:xfrm>
            <a:off x="10955017" y="2452078"/>
            <a:ext cx="19551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000000"/>
                </a:solidFill>
                <a:latin typeface="DM Sans"/>
                <a:ea typeface="DM Sans"/>
                <a:cs typeface="DM Sans"/>
                <a:sym typeface="DM Sans"/>
              </a:rPr>
              <a:t>Día, Fecha: </a:t>
            </a:r>
            <a:endParaRPr b="0" i="0" sz="1400" u="none" cap="none" strike="noStrike">
              <a:solidFill>
                <a:srgbClr val="000000"/>
              </a:solidFill>
              <a:latin typeface="Arial"/>
              <a:ea typeface="Arial"/>
              <a:cs typeface="Arial"/>
              <a:sym typeface="Arial"/>
            </a:endParaRPr>
          </a:p>
        </p:txBody>
      </p:sp>
      <p:sp>
        <p:nvSpPr>
          <p:cNvPr id="73" name="Google Shape;73;g39ab522f861_0_0"/>
          <p:cNvSpPr txBox="1"/>
          <p:nvPr/>
        </p:nvSpPr>
        <p:spPr>
          <a:xfrm>
            <a:off x="13705893" y="2451289"/>
            <a:ext cx="42135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000000"/>
                </a:solidFill>
                <a:latin typeface="DM Sans"/>
                <a:ea typeface="DM Sans"/>
                <a:cs typeface="DM Sans"/>
                <a:sym typeface="DM Sans"/>
              </a:rPr>
              <a:t>Miércoles, 2</a:t>
            </a:r>
            <a:r>
              <a:rPr lang="en-US" sz="3000">
                <a:latin typeface="DM Sans"/>
                <a:ea typeface="DM Sans"/>
                <a:cs typeface="DM Sans"/>
                <a:sym typeface="DM Sans"/>
              </a:rPr>
              <a:t>3</a:t>
            </a:r>
            <a:r>
              <a:rPr b="0" i="0" lang="en-US" sz="3000" u="none" cap="none" strike="noStrike">
                <a:solidFill>
                  <a:srgbClr val="000000"/>
                </a:solidFill>
                <a:latin typeface="DM Sans"/>
                <a:ea typeface="DM Sans"/>
                <a:cs typeface="DM Sans"/>
                <a:sym typeface="DM Sans"/>
              </a:rPr>
              <a:t>/0</a:t>
            </a:r>
            <a:r>
              <a:rPr lang="en-US" sz="3000">
                <a:latin typeface="DM Sans"/>
                <a:ea typeface="DM Sans"/>
                <a:cs typeface="DM Sans"/>
                <a:sym typeface="DM Sans"/>
              </a:rPr>
              <a:t>9</a:t>
            </a:r>
            <a:r>
              <a:rPr b="0" i="0" lang="en-US" sz="3000" u="none" cap="none" strike="noStrike">
                <a:solidFill>
                  <a:srgbClr val="000000"/>
                </a:solidFill>
                <a:latin typeface="DM Sans"/>
                <a:ea typeface="DM Sans"/>
                <a:cs typeface="DM Sans"/>
                <a:sym typeface="DM Sans"/>
              </a:rPr>
              <a:t>/2026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h2a12c1880264e695_0_27"/>
          <p:cNvSpPr txBox="1"/>
          <p:nvPr/>
        </p:nvSpPr>
        <p:spPr>
          <a:xfrm>
            <a:off x="7359254" y="450000"/>
            <a:ext cx="9455400" cy="26625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Clr>
                <a:srgbClr val="000000"/>
              </a:buClr>
              <a:buSzPts val="3800"/>
              <a:buFont typeface="Arial"/>
              <a:buNone/>
            </a:pPr>
            <a:r>
              <a:rPr b="0" i="0" lang="en-US" sz="15000" u="none" cap="none" strike="noStrike">
                <a:solidFill>
                  <a:schemeClr val="dk1"/>
                </a:solidFill>
                <a:latin typeface="Arial"/>
                <a:ea typeface="Arial"/>
                <a:cs typeface="Arial"/>
                <a:sym typeface="Arial"/>
              </a:rPr>
              <a:t>Anuncios</a:t>
            </a:r>
            <a:endParaRPr b="0" i="0" sz="15000" u="none" cap="none" strike="noStrike">
              <a:solidFill>
                <a:schemeClr val="dk1"/>
              </a:solidFill>
              <a:latin typeface="Arial"/>
              <a:ea typeface="Arial"/>
              <a:cs typeface="Arial"/>
              <a:sym typeface="Arial"/>
            </a:endParaRPr>
          </a:p>
          <a:p>
            <a:pPr indent="0" lvl="0" marL="0" marR="0" rtl="0" algn="l">
              <a:lnSpc>
                <a:spcPct val="92003"/>
              </a:lnSpc>
              <a:spcBef>
                <a:spcPts val="0"/>
              </a:spcBef>
              <a:spcAft>
                <a:spcPts val="0"/>
              </a:spcAft>
              <a:buClr>
                <a:srgbClr val="000000"/>
              </a:buClr>
              <a:buSzPts val="3800"/>
              <a:buFont typeface="Arial"/>
              <a:buNone/>
            </a:pPr>
            <a:r>
              <a:t/>
            </a:r>
            <a:endParaRPr b="0" i="0" sz="3800" u="none" cap="none" strike="noStrike">
              <a:solidFill>
                <a:srgbClr val="FFFFFF"/>
              </a:solidFill>
              <a:latin typeface="Geo"/>
              <a:ea typeface="Geo"/>
              <a:cs typeface="Geo"/>
              <a:sym typeface="Geo"/>
            </a:endParaRPr>
          </a:p>
        </p:txBody>
      </p:sp>
      <p:sp>
        <p:nvSpPr>
          <p:cNvPr id="79" name="Google Shape;79;h2a12c1880264e695_0_27"/>
          <p:cNvSpPr txBox="1"/>
          <p:nvPr/>
        </p:nvSpPr>
        <p:spPr>
          <a:xfrm>
            <a:off x="8136743" y="4184800"/>
            <a:ext cx="9618600" cy="34512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600"/>
              <a:buFont typeface="Arial"/>
              <a:buNone/>
            </a:pPr>
            <a:r>
              <a:rPr lang="en-US" sz="5900">
                <a:solidFill>
                  <a:schemeClr val="dk1"/>
                </a:solidFill>
                <a:latin typeface="DM Sans"/>
                <a:ea typeface="DM Sans"/>
                <a:cs typeface="DM Sans"/>
                <a:sym typeface="DM Sans"/>
              </a:rPr>
              <a:t>Conferencia del curso</a:t>
            </a:r>
            <a:endParaRPr sz="5900">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rPr lang="en-US" sz="5900">
                <a:solidFill>
                  <a:schemeClr val="dk1"/>
                </a:solidFill>
                <a:latin typeface="DM Sans"/>
                <a:ea typeface="DM Sans"/>
                <a:cs typeface="DM Sans"/>
                <a:sym typeface="DM Sans"/>
              </a:rPr>
              <a:t>Calificación Practica 2</a:t>
            </a:r>
            <a:endParaRPr sz="5900">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t/>
            </a:r>
            <a:endParaRPr sz="5900">
              <a:solidFill>
                <a:schemeClr val="dk1"/>
              </a:solidFill>
              <a:latin typeface="DM Sans"/>
              <a:ea typeface="DM Sans"/>
              <a:cs typeface="DM Sans"/>
              <a:sym typeface="DM Sans"/>
            </a:endParaRPr>
          </a:p>
        </p:txBody>
      </p:sp>
      <p:pic>
        <p:nvPicPr>
          <p:cNvPr id="80" name="Google Shape;80;h2a12c1880264e695_0_27"/>
          <p:cNvPicPr preferRelativeResize="0"/>
          <p:nvPr/>
        </p:nvPicPr>
        <p:blipFill rotWithShape="1">
          <a:blip r:embed="rId3">
            <a:alphaModFix/>
          </a:blip>
          <a:srcRect b="0" l="40533" r="24681" t="0"/>
          <a:stretch/>
        </p:blipFill>
        <p:spPr>
          <a:xfrm>
            <a:off x="0" y="0"/>
            <a:ext cx="6630577" cy="10287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h2a12c1880264e695_0_0" title="imagen(2).png"/>
          <p:cNvPicPr preferRelativeResize="0"/>
          <p:nvPr/>
        </p:nvPicPr>
        <p:blipFill>
          <a:blip r:embed="rId3">
            <a:alphaModFix/>
          </a:blip>
          <a:stretch>
            <a:fillRect/>
          </a:stretch>
        </p:blipFill>
        <p:spPr>
          <a:xfrm>
            <a:off x="0" y="2082"/>
            <a:ext cx="18287998" cy="1028284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nvSpPr>
        <p:spPr>
          <a:xfrm>
            <a:off x="941449" y="9621823"/>
            <a:ext cx="2487600" cy="320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JAVIER ANDRÉS V.</a:t>
            </a:r>
            <a:endParaRPr b="0" i="0" sz="2000" u="none" cap="none" strike="noStrike">
              <a:solidFill>
                <a:srgbClr val="000000"/>
              </a:solidFill>
              <a:latin typeface="Arial"/>
              <a:ea typeface="Arial"/>
              <a:cs typeface="Arial"/>
              <a:sym typeface="Arial"/>
            </a:endParaRPr>
          </a:p>
        </p:txBody>
      </p:sp>
      <p:sp>
        <p:nvSpPr>
          <p:cNvPr id="91" name="Google Shape;91;p1"/>
          <p:cNvSpPr txBox="1"/>
          <p:nvPr/>
        </p:nvSpPr>
        <p:spPr>
          <a:xfrm>
            <a:off x="16105761" y="9624101"/>
            <a:ext cx="1210800" cy="330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sp>
        <p:nvSpPr>
          <p:cNvPr descr="$PPTXTitle" id="92" name="Google Shape;92;p1"/>
          <p:cNvSpPr txBox="1"/>
          <p:nvPr>
            <p:ph type="ctrTitle"/>
          </p:nvPr>
        </p:nvSpPr>
        <p:spPr>
          <a:xfrm>
            <a:off x="3060600" y="2923475"/>
            <a:ext cx="15347700" cy="3319200"/>
          </a:xfrm>
          <a:prstGeom prst="rect">
            <a:avLst/>
          </a:prstGeom>
          <a:noFill/>
          <a:ln>
            <a:noFill/>
          </a:ln>
        </p:spPr>
        <p:txBody>
          <a:bodyPr anchorCtr="0" anchor="t" bIns="0" lIns="0" spcFirstLastPara="1" rIns="0" wrap="square" tIns="149850">
            <a:spAutoFit/>
          </a:bodyPr>
          <a:lstStyle/>
          <a:p>
            <a:pPr indent="0" lvl="0" marL="12700" marR="5080" rtl="0" algn="l">
              <a:lnSpc>
                <a:spcPct val="110000"/>
              </a:lnSpc>
              <a:spcBef>
                <a:spcPts val="0"/>
              </a:spcBef>
              <a:spcAft>
                <a:spcPts val="0"/>
              </a:spcAft>
              <a:buSzPts val="1400"/>
              <a:buNone/>
            </a:pPr>
            <a:r>
              <a:rPr b="1" lang="en-US" sz="9800">
                <a:latin typeface="Arial"/>
                <a:ea typeface="Arial"/>
                <a:cs typeface="Arial"/>
                <a:sym typeface="Arial"/>
              </a:rPr>
              <a:t>Modelos de Clasiﬁcación y Evaluación</a:t>
            </a:r>
            <a:endParaRPr sz="9800">
              <a:latin typeface="Arial"/>
              <a:ea typeface="Arial"/>
              <a:cs typeface="Arial"/>
              <a:sym typeface="Arial"/>
            </a:endParaRPr>
          </a:p>
        </p:txBody>
      </p:sp>
      <p:sp>
        <p:nvSpPr>
          <p:cNvPr id="93" name="Google Shape;93;p1"/>
          <p:cNvSpPr txBox="1"/>
          <p:nvPr/>
        </p:nvSpPr>
        <p:spPr>
          <a:xfrm>
            <a:off x="3060592" y="7611005"/>
            <a:ext cx="8178900" cy="513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292929"/>
                </a:solidFill>
                <a:latin typeface="Arial"/>
                <a:ea typeface="Arial"/>
                <a:cs typeface="Arial"/>
                <a:sym typeface="Arial"/>
              </a:rPr>
              <a:t>Aplicación en BigQuery ML y NYC Taxi Trips</a:t>
            </a:r>
            <a:endParaRPr b="0" i="0" sz="3200" u="none" cap="none" strike="noStrike">
              <a:solidFill>
                <a:srgbClr val="000000"/>
              </a:solidFill>
              <a:latin typeface="Arial"/>
              <a:ea typeface="Arial"/>
              <a:cs typeface="Arial"/>
              <a:sym typeface="Arial"/>
            </a:endParaRPr>
          </a:p>
        </p:txBody>
      </p:sp>
      <p:grpSp>
        <p:nvGrpSpPr>
          <p:cNvPr id="94" name="Google Shape;94;p1"/>
          <p:cNvGrpSpPr/>
          <p:nvPr/>
        </p:nvGrpSpPr>
        <p:grpSpPr>
          <a:xfrm>
            <a:off x="0" y="1"/>
            <a:ext cx="14536419" cy="948701"/>
            <a:chOff x="0" y="1"/>
            <a:chExt cx="14536419" cy="948701"/>
          </a:xfrm>
        </p:grpSpPr>
        <p:sp>
          <p:nvSpPr>
            <p:cNvPr id="95" name="Google Shape;95;p1"/>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 name="Google Shape;96;p1"/>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 name="Google Shape;97;p1"/>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8" name="Google Shape;98;p1"/>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nvSpPr>
        <p:spPr>
          <a:xfrm>
            <a:off x="9583849" y="4320549"/>
            <a:ext cx="5880735" cy="422338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300"/>
              <a:buFont typeface="Arial"/>
              <a:buNone/>
            </a:pPr>
            <a:r>
              <a:rPr b="0" i="0" lang="en-US" sz="2300" u="none" cap="none" strike="noStrike">
                <a:solidFill>
                  <a:srgbClr val="262626"/>
                </a:solidFill>
                <a:latin typeface="Arial"/>
                <a:ea typeface="Arial"/>
                <a:cs typeface="Arial"/>
                <a:sym typeface="Arial"/>
              </a:rPr>
              <a:t>1.​ Introducción y planteamiento del problema</a:t>
            </a:r>
            <a:endParaRPr b="0" i="0" sz="2300" u="none" cap="none" strike="noStrike">
              <a:solidFill>
                <a:srgbClr val="000000"/>
              </a:solidFill>
              <a:latin typeface="Arial"/>
              <a:ea typeface="Arial"/>
              <a:cs typeface="Arial"/>
              <a:sym typeface="Arial"/>
            </a:endParaRPr>
          </a:p>
          <a:p>
            <a:pPr indent="-322580" lvl="0" marL="335280" marR="0" rtl="0" algn="l">
              <a:lnSpc>
                <a:spcPct val="100000"/>
              </a:lnSpc>
              <a:spcBef>
                <a:spcPts val="2285"/>
              </a:spcBef>
              <a:spcAft>
                <a:spcPts val="0"/>
              </a:spcAft>
              <a:buClr>
                <a:srgbClr val="262626"/>
              </a:buClr>
              <a:buSzPts val="2300"/>
              <a:buFont typeface="Arial"/>
              <a:buAutoNum type="arabicPeriod"/>
            </a:pPr>
            <a:r>
              <a:rPr b="0" i="0" lang="en-US" sz="2300" u="none" cap="none" strike="noStrike">
                <a:solidFill>
                  <a:srgbClr val="262626"/>
                </a:solidFill>
                <a:latin typeface="Arial"/>
                <a:ea typeface="Arial"/>
                <a:cs typeface="Arial"/>
                <a:sym typeface="Arial"/>
              </a:rPr>
              <a:t>Fundamentos del modelo y datos</a:t>
            </a:r>
            <a:endParaRPr b="0" i="0" sz="2300" u="none" cap="none" strike="noStrike">
              <a:solidFill>
                <a:srgbClr val="000000"/>
              </a:solidFill>
              <a:latin typeface="Arial"/>
              <a:ea typeface="Arial"/>
              <a:cs typeface="Arial"/>
              <a:sym typeface="Arial"/>
            </a:endParaRPr>
          </a:p>
          <a:p>
            <a:pPr indent="0" lvl="0" marL="12700" marR="0" rtl="0" algn="l">
              <a:lnSpc>
                <a:spcPct val="100000"/>
              </a:lnSpc>
              <a:spcBef>
                <a:spcPts val="2280"/>
              </a:spcBef>
              <a:spcAft>
                <a:spcPts val="0"/>
              </a:spcAft>
              <a:buClr>
                <a:srgbClr val="000000"/>
              </a:buClr>
              <a:buSzPts val="2300"/>
              <a:buFont typeface="Arial"/>
              <a:buNone/>
            </a:pPr>
            <a:r>
              <a:rPr b="0" i="0" lang="en-US" sz="2300" u="none" cap="none" strike="noStrike">
                <a:solidFill>
                  <a:srgbClr val="262626"/>
                </a:solidFill>
                <a:latin typeface="Arial"/>
                <a:ea typeface="Arial"/>
                <a:cs typeface="Arial"/>
                <a:sym typeface="Arial"/>
              </a:rPr>
              <a:t>3.​ Evaluación del modelo: matriz y métricas</a:t>
            </a:r>
            <a:endParaRPr b="0" i="0" sz="2300" u="none" cap="none" strike="noStrike">
              <a:solidFill>
                <a:srgbClr val="000000"/>
              </a:solidFill>
              <a:latin typeface="Arial"/>
              <a:ea typeface="Arial"/>
              <a:cs typeface="Arial"/>
              <a:sym typeface="Arial"/>
            </a:endParaRPr>
          </a:p>
          <a:p>
            <a:pPr indent="0" lvl="0" marL="12700" marR="0" rtl="0" algn="l">
              <a:lnSpc>
                <a:spcPct val="100000"/>
              </a:lnSpc>
              <a:spcBef>
                <a:spcPts val="2285"/>
              </a:spcBef>
              <a:spcAft>
                <a:spcPts val="0"/>
              </a:spcAft>
              <a:buClr>
                <a:srgbClr val="000000"/>
              </a:buClr>
              <a:buSzPts val="2300"/>
              <a:buFont typeface="Arial"/>
              <a:buNone/>
            </a:pPr>
            <a:r>
              <a:rPr b="0" i="0" lang="en-US" sz="2300" u="none" cap="none" strike="noStrike">
                <a:solidFill>
                  <a:srgbClr val="262626"/>
                </a:solidFill>
                <a:latin typeface="Arial"/>
                <a:ea typeface="Arial"/>
                <a:cs typeface="Arial"/>
                <a:sym typeface="Arial"/>
              </a:rPr>
              <a:t>4.​ Métricas especíﬁcas y umbrales</a:t>
            </a:r>
            <a:endParaRPr b="0" i="0" sz="2300" u="none" cap="none" strike="noStrike">
              <a:solidFill>
                <a:srgbClr val="000000"/>
              </a:solidFill>
              <a:latin typeface="Arial"/>
              <a:ea typeface="Arial"/>
              <a:cs typeface="Arial"/>
              <a:sym typeface="Arial"/>
            </a:endParaRPr>
          </a:p>
          <a:p>
            <a:pPr indent="0" lvl="0" marL="12700" marR="0" rtl="0" algn="l">
              <a:lnSpc>
                <a:spcPct val="100000"/>
              </a:lnSpc>
              <a:spcBef>
                <a:spcPts val="2285"/>
              </a:spcBef>
              <a:spcAft>
                <a:spcPts val="0"/>
              </a:spcAft>
              <a:buClr>
                <a:srgbClr val="000000"/>
              </a:buClr>
              <a:buSzPts val="2300"/>
              <a:buFont typeface="Arial"/>
              <a:buNone/>
            </a:pPr>
            <a:r>
              <a:rPr b="0" i="0" lang="en-US" sz="2300" u="none" cap="none" strike="noStrike">
                <a:solidFill>
                  <a:srgbClr val="262626"/>
                </a:solidFill>
                <a:latin typeface="Arial"/>
                <a:ea typeface="Arial"/>
                <a:cs typeface="Arial"/>
                <a:sym typeface="Arial"/>
              </a:rPr>
              <a:t>5.​ Desbalance de clases y buenas prácticas</a:t>
            </a:r>
            <a:endParaRPr b="0" i="0" sz="2300" u="none" cap="none" strike="noStrike">
              <a:solidFill>
                <a:srgbClr val="000000"/>
              </a:solidFill>
              <a:latin typeface="Arial"/>
              <a:ea typeface="Arial"/>
              <a:cs typeface="Arial"/>
              <a:sym typeface="Arial"/>
            </a:endParaRPr>
          </a:p>
          <a:p>
            <a:pPr indent="0" lvl="0" marL="12700" marR="0" rtl="0" algn="l">
              <a:lnSpc>
                <a:spcPct val="100000"/>
              </a:lnSpc>
              <a:spcBef>
                <a:spcPts val="2285"/>
              </a:spcBef>
              <a:spcAft>
                <a:spcPts val="0"/>
              </a:spcAft>
              <a:buClr>
                <a:srgbClr val="000000"/>
              </a:buClr>
              <a:buSzPts val="2300"/>
              <a:buFont typeface="Arial"/>
              <a:buNone/>
            </a:pPr>
            <a:r>
              <a:rPr b="0" i="0" lang="en-US" sz="2300" u="none" cap="none" strike="noStrike">
                <a:solidFill>
                  <a:srgbClr val="262626"/>
                </a:solidFill>
                <a:latin typeface="Arial"/>
                <a:ea typeface="Arial"/>
                <a:cs typeface="Arial"/>
                <a:sym typeface="Arial"/>
              </a:rPr>
              <a:t>6.​ Evaluación avanzada y resultados</a:t>
            </a:r>
            <a:endParaRPr b="0" i="0" sz="2300" u="none" cap="none" strike="noStrike">
              <a:solidFill>
                <a:srgbClr val="000000"/>
              </a:solidFill>
              <a:latin typeface="Arial"/>
              <a:ea typeface="Arial"/>
              <a:cs typeface="Arial"/>
              <a:sym typeface="Arial"/>
            </a:endParaRPr>
          </a:p>
          <a:p>
            <a:pPr indent="0" lvl="0" marL="12700" marR="0" rtl="0" algn="l">
              <a:lnSpc>
                <a:spcPct val="100000"/>
              </a:lnSpc>
              <a:spcBef>
                <a:spcPts val="2285"/>
              </a:spcBef>
              <a:spcAft>
                <a:spcPts val="0"/>
              </a:spcAft>
              <a:buClr>
                <a:srgbClr val="000000"/>
              </a:buClr>
              <a:buSzPts val="2300"/>
              <a:buFont typeface="Arial"/>
              <a:buNone/>
            </a:pPr>
            <a:r>
              <a:rPr b="0" i="0" lang="en-US" sz="2300" u="none" cap="none" strike="noStrike">
                <a:solidFill>
                  <a:srgbClr val="262626"/>
                </a:solidFill>
                <a:latin typeface="Arial"/>
                <a:ea typeface="Arial"/>
                <a:cs typeface="Arial"/>
                <a:sym typeface="Arial"/>
              </a:rPr>
              <a:t>7.​ Errores comunes y conclusiones</a:t>
            </a:r>
            <a:endParaRPr b="0" i="0" sz="2300" u="none" cap="none" strike="noStrike">
              <a:solidFill>
                <a:srgbClr val="000000"/>
              </a:solidFill>
              <a:latin typeface="Arial"/>
              <a:ea typeface="Arial"/>
              <a:cs typeface="Arial"/>
              <a:sym typeface="Arial"/>
            </a:endParaRPr>
          </a:p>
        </p:txBody>
      </p:sp>
      <p:sp>
        <p:nvSpPr>
          <p:cNvPr descr="$PPTXTitle" id="104" name="Google Shape;104;p2"/>
          <p:cNvSpPr txBox="1"/>
          <p:nvPr>
            <p:ph type="title"/>
          </p:nvPr>
        </p:nvSpPr>
        <p:spPr>
          <a:xfrm>
            <a:off x="3060592" y="2188318"/>
            <a:ext cx="9521190" cy="95250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SzPts val="1400"/>
              <a:buNone/>
            </a:pPr>
            <a:r>
              <a:rPr lang="en-US"/>
              <a:t>Agenda de la Presentación</a:t>
            </a:r>
            <a:endParaRPr/>
          </a:p>
        </p:txBody>
      </p:sp>
      <p:grpSp>
        <p:nvGrpSpPr>
          <p:cNvPr id="105" name="Google Shape;105;p2"/>
          <p:cNvGrpSpPr/>
          <p:nvPr/>
        </p:nvGrpSpPr>
        <p:grpSpPr>
          <a:xfrm>
            <a:off x="1018832" y="2392780"/>
            <a:ext cx="845819" cy="846024"/>
            <a:chOff x="1018832" y="2392780"/>
            <a:chExt cx="845819" cy="846024"/>
          </a:xfrm>
        </p:grpSpPr>
        <p:sp>
          <p:nvSpPr>
            <p:cNvPr id="106" name="Google Shape;106;p2"/>
            <p:cNvSpPr/>
            <p:nvPr/>
          </p:nvSpPr>
          <p:spPr>
            <a:xfrm>
              <a:off x="1018832" y="2392787"/>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2"/>
            <p:cNvSpPr/>
            <p:nvPr/>
          </p:nvSpPr>
          <p:spPr>
            <a:xfrm>
              <a:off x="1317067" y="2392780"/>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2"/>
            <p:cNvSpPr/>
            <p:nvPr/>
          </p:nvSpPr>
          <p:spPr>
            <a:xfrm>
              <a:off x="1018832" y="2543479"/>
              <a:ext cx="845819" cy="695325"/>
            </a:xfrm>
            <a:custGeom>
              <a:rect b="b" l="l" r="r" t="t"/>
              <a:pathLst>
                <a:path extrusionOk="0" h="695325" w="845819">
                  <a:moveTo>
                    <a:pt x="845527" y="518782"/>
                  </a:moveTo>
                  <a:lnTo>
                    <a:pt x="839520" y="473151"/>
                  </a:lnTo>
                  <a:lnTo>
                    <a:pt x="821905" y="430618"/>
                  </a:lnTo>
                  <a:lnTo>
                    <a:pt x="793877" y="394106"/>
                  </a:lnTo>
                  <a:lnTo>
                    <a:pt x="671855" y="272097"/>
                  </a:lnTo>
                  <a:lnTo>
                    <a:pt x="422757" y="22999"/>
                  </a:lnTo>
                  <a:lnTo>
                    <a:pt x="399770" y="0"/>
                  </a:lnTo>
                  <a:lnTo>
                    <a:pt x="150685" y="249085"/>
                  </a:lnTo>
                  <a:lnTo>
                    <a:pt x="173672" y="272084"/>
                  </a:lnTo>
                  <a:lnTo>
                    <a:pt x="51650" y="394119"/>
                  </a:lnTo>
                  <a:lnTo>
                    <a:pt x="23622" y="430631"/>
                  </a:lnTo>
                  <a:lnTo>
                    <a:pt x="6007" y="473163"/>
                  </a:lnTo>
                  <a:lnTo>
                    <a:pt x="0" y="518795"/>
                  </a:lnTo>
                  <a:lnTo>
                    <a:pt x="368" y="530339"/>
                  </a:lnTo>
                  <a:lnTo>
                    <a:pt x="9359" y="575487"/>
                  </a:lnTo>
                  <a:lnTo>
                    <a:pt x="29718" y="616762"/>
                  </a:lnTo>
                  <a:lnTo>
                    <a:pt x="59855" y="651154"/>
                  </a:lnTo>
                  <a:lnTo>
                    <a:pt x="98069" y="676668"/>
                  </a:lnTo>
                  <a:lnTo>
                    <a:pt x="141655" y="691464"/>
                  </a:lnTo>
                  <a:lnTo>
                    <a:pt x="176060" y="694855"/>
                  </a:lnTo>
                  <a:lnTo>
                    <a:pt x="187591" y="694474"/>
                  </a:lnTo>
                  <a:lnTo>
                    <a:pt x="232740" y="685495"/>
                  </a:lnTo>
                  <a:lnTo>
                    <a:pt x="274027" y="665124"/>
                  </a:lnTo>
                  <a:lnTo>
                    <a:pt x="422770" y="521182"/>
                  </a:lnTo>
                  <a:lnTo>
                    <a:pt x="544791" y="643191"/>
                  </a:lnTo>
                  <a:lnTo>
                    <a:pt x="581304" y="671220"/>
                  </a:lnTo>
                  <a:lnTo>
                    <a:pt x="623836" y="688835"/>
                  </a:lnTo>
                  <a:lnTo>
                    <a:pt x="669467" y="694842"/>
                  </a:lnTo>
                  <a:lnTo>
                    <a:pt x="681012" y="694461"/>
                  </a:lnTo>
                  <a:lnTo>
                    <a:pt x="726160" y="685482"/>
                  </a:lnTo>
                  <a:lnTo>
                    <a:pt x="767435" y="665124"/>
                  </a:lnTo>
                  <a:lnTo>
                    <a:pt x="801827" y="634987"/>
                  </a:lnTo>
                  <a:lnTo>
                    <a:pt x="827354" y="596773"/>
                  </a:lnTo>
                  <a:lnTo>
                    <a:pt x="842149" y="553186"/>
                  </a:lnTo>
                  <a:lnTo>
                    <a:pt x="845159"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9" name="Google Shape;109;p2"/>
          <p:cNvGrpSpPr/>
          <p:nvPr/>
        </p:nvGrpSpPr>
        <p:grpSpPr>
          <a:xfrm>
            <a:off x="0" y="1"/>
            <a:ext cx="14536419" cy="948701"/>
            <a:chOff x="0" y="1"/>
            <a:chExt cx="14536419" cy="948701"/>
          </a:xfrm>
        </p:grpSpPr>
        <p:sp>
          <p:nvSpPr>
            <p:cNvPr id="110" name="Google Shape;110;p2"/>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 name="Google Shape;111;p2"/>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p2"/>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3" name="Google Shape;113;p2"/>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 name="Google Shape;114;p2"/>
          <p:cNvSpPr txBox="1"/>
          <p:nvPr/>
        </p:nvSpPr>
        <p:spPr>
          <a:xfrm>
            <a:off x="903867" y="9567388"/>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02.</a:t>
            </a:r>
            <a:endParaRPr b="0" i="0" sz="2600" u="none" cap="none" strike="noStrike">
              <a:solidFill>
                <a:srgbClr val="000000"/>
              </a:solidFill>
              <a:latin typeface="Arial"/>
              <a:ea typeface="Arial"/>
              <a:cs typeface="Arial"/>
              <a:sym typeface="Arial"/>
            </a:endParaRPr>
          </a:p>
        </p:txBody>
      </p:sp>
      <p:sp>
        <p:nvSpPr>
          <p:cNvPr id="115" name="Google Shape;115;p2"/>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116" name="Google Shape;116;p2"/>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grpSp>
        <p:nvGrpSpPr>
          <p:cNvPr id="121" name="Google Shape;121;p3"/>
          <p:cNvGrpSpPr/>
          <p:nvPr/>
        </p:nvGrpSpPr>
        <p:grpSpPr>
          <a:xfrm>
            <a:off x="1018820" y="4081279"/>
            <a:ext cx="845831" cy="846028"/>
            <a:chOff x="1018820" y="4081279"/>
            <a:chExt cx="845831" cy="846028"/>
          </a:xfrm>
        </p:grpSpPr>
        <p:sp>
          <p:nvSpPr>
            <p:cNvPr id="122" name="Google Shape;122;p3"/>
            <p:cNvSpPr/>
            <p:nvPr/>
          </p:nvSpPr>
          <p:spPr>
            <a:xfrm>
              <a:off x="1018820" y="4081282"/>
              <a:ext cx="547370"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 name="Google Shape;123;p3"/>
            <p:cNvSpPr/>
            <p:nvPr/>
          </p:nvSpPr>
          <p:spPr>
            <a:xfrm>
              <a:off x="1317058" y="4081279"/>
              <a:ext cx="547370"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 name="Google Shape;124;p3"/>
            <p:cNvSpPr/>
            <p:nvPr/>
          </p:nvSpPr>
          <p:spPr>
            <a:xfrm>
              <a:off x="1018832" y="4231982"/>
              <a:ext cx="845819" cy="695325"/>
            </a:xfrm>
            <a:custGeom>
              <a:rect b="b" l="l" r="r" t="t"/>
              <a:pathLst>
                <a:path extrusionOk="0" h="695325" w="845819">
                  <a:moveTo>
                    <a:pt x="845527" y="518782"/>
                  </a:moveTo>
                  <a:lnTo>
                    <a:pt x="839520" y="473151"/>
                  </a:lnTo>
                  <a:lnTo>
                    <a:pt x="821905" y="430618"/>
                  </a:lnTo>
                  <a:lnTo>
                    <a:pt x="793877" y="394106"/>
                  </a:lnTo>
                  <a:lnTo>
                    <a:pt x="671855" y="272084"/>
                  </a:lnTo>
                  <a:lnTo>
                    <a:pt x="422757" y="22987"/>
                  </a:lnTo>
                  <a:lnTo>
                    <a:pt x="399770" y="0"/>
                  </a:lnTo>
                  <a:lnTo>
                    <a:pt x="150685" y="249085"/>
                  </a:lnTo>
                  <a:lnTo>
                    <a:pt x="173672" y="272084"/>
                  </a:lnTo>
                  <a:lnTo>
                    <a:pt x="51650" y="394106"/>
                  </a:lnTo>
                  <a:lnTo>
                    <a:pt x="23622" y="430618"/>
                  </a:lnTo>
                  <a:lnTo>
                    <a:pt x="6007" y="473151"/>
                  </a:lnTo>
                  <a:lnTo>
                    <a:pt x="0" y="518782"/>
                  </a:lnTo>
                  <a:lnTo>
                    <a:pt x="368" y="530326"/>
                  </a:lnTo>
                  <a:lnTo>
                    <a:pt x="9359" y="575475"/>
                  </a:lnTo>
                  <a:lnTo>
                    <a:pt x="29718" y="616750"/>
                  </a:lnTo>
                  <a:lnTo>
                    <a:pt x="59855" y="651141"/>
                  </a:lnTo>
                  <a:lnTo>
                    <a:pt x="98069" y="676656"/>
                  </a:lnTo>
                  <a:lnTo>
                    <a:pt x="141655" y="691451"/>
                  </a:lnTo>
                  <a:lnTo>
                    <a:pt x="176060" y="694842"/>
                  </a:lnTo>
                  <a:lnTo>
                    <a:pt x="187591" y="694461"/>
                  </a:lnTo>
                  <a:lnTo>
                    <a:pt x="232740" y="685482"/>
                  </a:lnTo>
                  <a:lnTo>
                    <a:pt x="274027" y="665124"/>
                  </a:lnTo>
                  <a:lnTo>
                    <a:pt x="422757" y="521169"/>
                  </a:lnTo>
                  <a:lnTo>
                    <a:pt x="544791" y="643191"/>
                  </a:lnTo>
                  <a:lnTo>
                    <a:pt x="581304" y="671220"/>
                  </a:lnTo>
                  <a:lnTo>
                    <a:pt x="623836" y="688835"/>
                  </a:lnTo>
                  <a:lnTo>
                    <a:pt x="669467" y="694842"/>
                  </a:lnTo>
                  <a:lnTo>
                    <a:pt x="681012" y="694474"/>
                  </a:lnTo>
                  <a:lnTo>
                    <a:pt x="726160" y="685482"/>
                  </a:lnTo>
                  <a:lnTo>
                    <a:pt x="767435" y="665124"/>
                  </a:lnTo>
                  <a:lnTo>
                    <a:pt x="801827" y="634987"/>
                  </a:lnTo>
                  <a:lnTo>
                    <a:pt x="827341" y="596773"/>
                  </a:lnTo>
                  <a:lnTo>
                    <a:pt x="842137"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125" name="Google Shape;125;p3"/>
          <p:cNvSpPr txBox="1"/>
          <p:nvPr>
            <p:ph type="title"/>
          </p:nvPr>
        </p:nvSpPr>
        <p:spPr>
          <a:xfrm>
            <a:off x="3060600" y="3808833"/>
            <a:ext cx="14286230" cy="2362200"/>
          </a:xfrm>
          <a:prstGeom prst="rect">
            <a:avLst/>
          </a:prstGeom>
          <a:noFill/>
          <a:ln>
            <a:noFill/>
          </a:ln>
        </p:spPr>
        <p:txBody>
          <a:bodyPr anchorCtr="0" anchor="t" bIns="0" lIns="0" spcFirstLastPara="1" rIns="0" wrap="square" tIns="127000">
            <a:spAutoFit/>
          </a:bodyPr>
          <a:lstStyle/>
          <a:p>
            <a:pPr indent="0" lvl="0" marL="12700" marR="5080" rtl="0" algn="l">
              <a:lnSpc>
                <a:spcPct val="110000"/>
              </a:lnSpc>
              <a:spcBef>
                <a:spcPts val="0"/>
              </a:spcBef>
              <a:spcAft>
                <a:spcPts val="0"/>
              </a:spcAft>
              <a:buSzPts val="1400"/>
              <a:buNone/>
            </a:pPr>
            <a:r>
              <a:rPr b="1" lang="en-US" sz="8000">
                <a:latin typeface="Arial"/>
                <a:ea typeface="Arial"/>
                <a:cs typeface="Arial"/>
                <a:sym typeface="Arial"/>
              </a:rPr>
              <a:t>Introducción y planteamiento del problema</a:t>
            </a:r>
            <a:endParaRPr sz="8000">
              <a:latin typeface="Arial"/>
              <a:ea typeface="Arial"/>
              <a:cs typeface="Arial"/>
              <a:sym typeface="Arial"/>
            </a:endParaRPr>
          </a:p>
        </p:txBody>
      </p:sp>
      <p:grpSp>
        <p:nvGrpSpPr>
          <p:cNvPr id="126" name="Google Shape;126;p3"/>
          <p:cNvGrpSpPr/>
          <p:nvPr/>
        </p:nvGrpSpPr>
        <p:grpSpPr>
          <a:xfrm>
            <a:off x="0" y="1"/>
            <a:ext cx="14536419" cy="948701"/>
            <a:chOff x="0" y="1"/>
            <a:chExt cx="14536419" cy="948701"/>
          </a:xfrm>
        </p:grpSpPr>
        <p:sp>
          <p:nvSpPr>
            <p:cNvPr id="127" name="Google Shape;127;p3"/>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 name="Google Shape;128;p3"/>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p3"/>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0" name="Google Shape;130;p3"/>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 name="Google Shape;131;p3"/>
          <p:cNvSpPr txBox="1"/>
          <p:nvPr/>
        </p:nvSpPr>
        <p:spPr>
          <a:xfrm>
            <a:off x="903857" y="9568584"/>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03.</a:t>
            </a:r>
            <a:endParaRPr b="0" i="0" sz="2600" u="none" cap="none" strike="noStrike">
              <a:solidFill>
                <a:srgbClr val="000000"/>
              </a:solidFill>
              <a:latin typeface="Arial"/>
              <a:ea typeface="Arial"/>
              <a:cs typeface="Arial"/>
              <a:sym typeface="Arial"/>
            </a:endParaRPr>
          </a:p>
        </p:txBody>
      </p:sp>
      <p:sp>
        <p:nvSpPr>
          <p:cNvPr id="132" name="Google Shape;132;p3"/>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133" name="Google Shape;133;p3"/>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nvSpPr>
        <p:spPr>
          <a:xfrm>
            <a:off x="3033886" y="3809198"/>
            <a:ext cx="6159500" cy="497141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Regresión vs Clasiﬁcación</a:t>
            </a:r>
            <a:endParaRPr b="0" i="0" sz="2300" u="none" cap="none" strike="noStrike">
              <a:solidFill>
                <a:srgbClr val="000000"/>
              </a:solidFill>
              <a:latin typeface="Arial"/>
              <a:ea typeface="Arial"/>
              <a:cs typeface="Arial"/>
              <a:sym typeface="Arial"/>
            </a:endParaRPr>
          </a:p>
          <a:p>
            <a:pPr indent="-192405" lvl="0" marL="204470" marR="8255"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Regresión predice valores continuos; clasiﬁcación asigna                                                              	categorías.</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Elegir correctamente el enfoque es clave para el análisis.</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5"/>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Formulación precisa del problema</a:t>
            </a:r>
            <a:endParaRPr b="0" i="0" sz="2300" u="none" cap="none" strike="noStrike">
              <a:solidFill>
                <a:srgbClr val="000000"/>
              </a:solidFill>
              <a:latin typeface="Arial"/>
              <a:ea typeface="Arial"/>
              <a:cs typeface="Arial"/>
              <a:sym typeface="Arial"/>
            </a:endParaRPr>
          </a:p>
          <a:p>
            <a:pPr indent="-192405" lvl="0" marL="205104" marR="0" rtl="0" algn="l">
              <a:lnSpc>
                <a:spcPct val="100000"/>
              </a:lnSpc>
              <a:spcBef>
                <a:spcPts val="172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Deﬁnir la etiqueta y la clase positiva es fundamental.</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La regla de negocio debe ser explícita y reproducible.</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Ejemplo: Propina alta en taxis NYC</a:t>
            </a:r>
            <a:endParaRPr b="0" i="0" sz="2300" u="none" cap="none" strike="noStrike">
              <a:solidFill>
                <a:srgbClr val="000000"/>
              </a:solidFill>
              <a:latin typeface="Arial"/>
              <a:ea typeface="Arial"/>
              <a:cs typeface="Arial"/>
              <a:sym typeface="Arial"/>
            </a:endParaRPr>
          </a:p>
          <a:p>
            <a:pPr indent="-192405" lvl="0" marL="204470" marR="5080"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Se busca predecir si un viaje tendrá </a:t>
            </a:r>
            <a:r>
              <a:rPr b="1" i="0" lang="en-US" sz="1750" u="none" cap="none" strike="noStrike">
                <a:solidFill>
                  <a:srgbClr val="F2620F"/>
                </a:solidFill>
                <a:latin typeface="Arial"/>
                <a:ea typeface="Arial"/>
                <a:cs typeface="Arial"/>
                <a:sym typeface="Arial"/>
              </a:rPr>
              <a:t>propina alta </a:t>
            </a:r>
            <a:r>
              <a:rPr b="0" i="0" lang="en-US" sz="1750" u="none" cap="none" strike="noStrike">
                <a:solidFill>
                  <a:srgbClr val="292929"/>
                </a:solidFill>
                <a:latin typeface="Arial"/>
                <a:ea typeface="Arial"/>
                <a:cs typeface="Arial"/>
                <a:sym typeface="Arial"/>
              </a:rPr>
              <a:t>usando                                                                           variables 	del viaje.</a:t>
            </a:r>
            <a:endParaRPr b="0" i="0" sz="1750" u="none" cap="none" strike="noStrike">
              <a:solidFill>
                <a:srgbClr val="000000"/>
              </a:solidFill>
              <a:latin typeface="Arial"/>
              <a:ea typeface="Arial"/>
              <a:cs typeface="Arial"/>
              <a:sym typeface="Arial"/>
            </a:endParaRPr>
          </a:p>
          <a:p>
            <a:pPr indent="-192405" lvl="0" marL="204470" marR="1129030" rtl="0" algn="l">
              <a:lnSpc>
                <a:spcPct val="102200"/>
              </a:lnSpc>
              <a:spcBef>
                <a:spcPts val="44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La etiqueta binaria permite aplicar modelos de                                                      	clasiﬁcación.</a:t>
            </a:r>
            <a:endParaRPr b="0" i="0" sz="1750" u="none" cap="none" strike="noStrike">
              <a:solidFill>
                <a:srgbClr val="000000"/>
              </a:solidFill>
              <a:latin typeface="Arial"/>
              <a:ea typeface="Arial"/>
              <a:cs typeface="Arial"/>
              <a:sym typeface="Arial"/>
            </a:endParaRPr>
          </a:p>
        </p:txBody>
      </p:sp>
      <p:sp>
        <p:nvSpPr>
          <p:cNvPr descr="$PPTXTitle" id="139" name="Google Shape;139;p4"/>
          <p:cNvSpPr txBox="1"/>
          <p:nvPr>
            <p:ph type="title"/>
          </p:nvPr>
        </p:nvSpPr>
        <p:spPr>
          <a:xfrm>
            <a:off x="3033923" y="1565105"/>
            <a:ext cx="5981700" cy="1821653"/>
          </a:xfrm>
          <a:prstGeom prst="rect">
            <a:avLst/>
          </a:prstGeom>
          <a:noFill/>
          <a:ln>
            <a:noFill/>
          </a:ln>
        </p:spPr>
        <p:txBody>
          <a:bodyPr anchorCtr="0" anchor="t" bIns="0" lIns="0" spcFirstLastPara="1" rIns="0" wrap="square" tIns="102225">
            <a:spAutoFit/>
          </a:bodyPr>
          <a:lstStyle/>
          <a:p>
            <a:pPr indent="0" lvl="0" marL="12700" marR="5080" rtl="0" algn="l">
              <a:lnSpc>
                <a:spcPct val="111500"/>
              </a:lnSpc>
              <a:spcBef>
                <a:spcPts val="0"/>
              </a:spcBef>
              <a:spcAft>
                <a:spcPts val="0"/>
              </a:spcAft>
              <a:buSzPts val="1400"/>
              <a:buNone/>
            </a:pPr>
            <a:r>
              <a:rPr lang="en-US"/>
              <a:t>Introducción a la    clasificación</a:t>
            </a:r>
            <a:endParaRPr/>
          </a:p>
        </p:txBody>
      </p:sp>
      <p:pic>
        <p:nvPicPr>
          <p:cNvPr id="140" name="Google Shape;140;p4"/>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141" name="Google Shape;141;p4"/>
          <p:cNvGrpSpPr/>
          <p:nvPr/>
        </p:nvGrpSpPr>
        <p:grpSpPr>
          <a:xfrm>
            <a:off x="989609" y="1689082"/>
            <a:ext cx="845819" cy="846040"/>
            <a:chOff x="989609" y="1689082"/>
            <a:chExt cx="845819" cy="846040"/>
          </a:xfrm>
        </p:grpSpPr>
        <p:sp>
          <p:nvSpPr>
            <p:cNvPr id="142" name="Google Shape;142;p4"/>
            <p:cNvSpPr/>
            <p:nvPr/>
          </p:nvSpPr>
          <p:spPr>
            <a:xfrm>
              <a:off x="989610" y="168908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p4"/>
            <p:cNvSpPr/>
            <p:nvPr/>
          </p:nvSpPr>
          <p:spPr>
            <a:xfrm>
              <a:off x="1287840" y="1689082"/>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 name="Google Shape;144;p4"/>
            <p:cNvSpPr/>
            <p:nvPr/>
          </p:nvSpPr>
          <p:spPr>
            <a:xfrm>
              <a:off x="989609" y="1839797"/>
              <a:ext cx="845819" cy="695325"/>
            </a:xfrm>
            <a:custGeom>
              <a:rect b="b" l="l" r="r" t="t"/>
              <a:pathLst>
                <a:path extrusionOk="0" h="695325" w="845819">
                  <a:moveTo>
                    <a:pt x="845527" y="518782"/>
                  </a:moveTo>
                  <a:lnTo>
                    <a:pt x="839520" y="473151"/>
                  </a:lnTo>
                  <a:lnTo>
                    <a:pt x="821905" y="430618"/>
                  </a:lnTo>
                  <a:lnTo>
                    <a:pt x="793877" y="394106"/>
                  </a:lnTo>
                  <a:lnTo>
                    <a:pt x="671830" y="272072"/>
                  </a:lnTo>
                  <a:lnTo>
                    <a:pt x="422757" y="22961"/>
                  </a:lnTo>
                  <a:lnTo>
                    <a:pt x="399770" y="0"/>
                  </a:lnTo>
                  <a:lnTo>
                    <a:pt x="150685" y="249085"/>
                  </a:lnTo>
                  <a:lnTo>
                    <a:pt x="173659" y="272072"/>
                  </a:lnTo>
                  <a:lnTo>
                    <a:pt x="51650" y="394081"/>
                  </a:lnTo>
                  <a:lnTo>
                    <a:pt x="23622" y="430593"/>
                  </a:lnTo>
                  <a:lnTo>
                    <a:pt x="6007" y="473125"/>
                  </a:lnTo>
                  <a:lnTo>
                    <a:pt x="0" y="518756"/>
                  </a:lnTo>
                  <a:lnTo>
                    <a:pt x="381" y="530301"/>
                  </a:lnTo>
                  <a:lnTo>
                    <a:pt x="9359" y="575449"/>
                  </a:lnTo>
                  <a:lnTo>
                    <a:pt x="29718" y="616724"/>
                  </a:lnTo>
                  <a:lnTo>
                    <a:pt x="59867" y="651116"/>
                  </a:lnTo>
                  <a:lnTo>
                    <a:pt x="98082" y="676630"/>
                  </a:lnTo>
                  <a:lnTo>
                    <a:pt x="141668" y="691438"/>
                  </a:lnTo>
                  <a:lnTo>
                    <a:pt x="176060" y="694817"/>
                  </a:lnTo>
                  <a:lnTo>
                    <a:pt x="187604" y="694436"/>
                  </a:lnTo>
                  <a:lnTo>
                    <a:pt x="232740" y="685457"/>
                  </a:lnTo>
                  <a:lnTo>
                    <a:pt x="274027" y="665099"/>
                  </a:lnTo>
                  <a:lnTo>
                    <a:pt x="422744" y="521157"/>
                  </a:lnTo>
                  <a:lnTo>
                    <a:pt x="544791" y="643191"/>
                  </a:lnTo>
                  <a:lnTo>
                    <a:pt x="581304" y="671220"/>
                  </a:lnTo>
                  <a:lnTo>
                    <a:pt x="623836" y="688835"/>
                  </a:lnTo>
                  <a:lnTo>
                    <a:pt x="669467" y="694842"/>
                  </a:lnTo>
                  <a:lnTo>
                    <a:pt x="681012" y="694461"/>
                  </a:lnTo>
                  <a:lnTo>
                    <a:pt x="726160" y="685482"/>
                  </a:lnTo>
                  <a:lnTo>
                    <a:pt x="767435" y="665124"/>
                  </a:lnTo>
                  <a:lnTo>
                    <a:pt x="801827" y="634974"/>
                  </a:lnTo>
                  <a:lnTo>
                    <a:pt x="827354" y="596760"/>
                  </a:lnTo>
                  <a:lnTo>
                    <a:pt x="842149" y="553173"/>
                  </a:lnTo>
                  <a:lnTo>
                    <a:pt x="845159"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45" name="Google Shape;145;p4"/>
          <p:cNvGrpSpPr/>
          <p:nvPr/>
        </p:nvGrpSpPr>
        <p:grpSpPr>
          <a:xfrm>
            <a:off x="0" y="1"/>
            <a:ext cx="14536419" cy="948701"/>
            <a:chOff x="0" y="1"/>
            <a:chExt cx="14536419" cy="948701"/>
          </a:xfrm>
        </p:grpSpPr>
        <p:sp>
          <p:nvSpPr>
            <p:cNvPr id="146" name="Google Shape;146;p4"/>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 name="Google Shape;147;p4"/>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p4"/>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9" name="Google Shape;149;p4"/>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0" name="Google Shape;150;p4"/>
          <p:cNvSpPr txBox="1"/>
          <p:nvPr/>
        </p:nvSpPr>
        <p:spPr>
          <a:xfrm>
            <a:off x="903857" y="9571461"/>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04.</a:t>
            </a:r>
            <a:endParaRPr b="0" i="0" sz="2600" u="none" cap="none" strike="noStrike">
              <a:solidFill>
                <a:srgbClr val="000000"/>
              </a:solidFill>
              <a:latin typeface="Arial"/>
              <a:ea typeface="Arial"/>
              <a:cs typeface="Arial"/>
              <a:sym typeface="Arial"/>
            </a:endParaRPr>
          </a:p>
        </p:txBody>
      </p:sp>
      <p:sp>
        <p:nvSpPr>
          <p:cNvPr id="151" name="Google Shape;151;p4"/>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152" name="Google Shape;152;p4"/>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nvSpPr>
        <p:spPr>
          <a:xfrm>
            <a:off x="3033886" y="3988225"/>
            <a:ext cx="6145530" cy="4541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92929"/>
                </a:solidFill>
                <a:latin typeface="Arial"/>
                <a:ea typeface="Arial"/>
                <a:cs typeface="Arial"/>
                <a:sym typeface="Arial"/>
              </a:rPr>
              <a:t>Identiﬁcando la unidad de análisis</a:t>
            </a:r>
            <a:endParaRPr b="0" i="0" sz="2600" u="none" cap="none" strike="noStrike">
              <a:solidFill>
                <a:srgbClr val="000000"/>
              </a:solidFill>
              <a:latin typeface="Arial"/>
              <a:ea typeface="Arial"/>
              <a:cs typeface="Arial"/>
              <a:sym typeface="Arial"/>
            </a:endParaRPr>
          </a:p>
          <a:p>
            <a:pPr indent="-215900" lvl="0" marL="228600" marR="0" rtl="0" algn="l">
              <a:lnSpc>
                <a:spcPct val="100000"/>
              </a:lnSpc>
              <a:spcBef>
                <a:spcPts val="1880"/>
              </a:spcBef>
              <a:spcAft>
                <a:spcPts val="0"/>
              </a:spcAft>
              <a:buClr>
                <a:srgbClr val="292929"/>
              </a:buClr>
              <a:buSzPts val="2000"/>
              <a:buFont typeface="Times New Roman"/>
              <a:buChar char="•"/>
            </a:pPr>
            <a:r>
              <a:rPr b="0" i="0" lang="en-US" sz="2000" u="none" cap="none" strike="noStrike">
                <a:solidFill>
                  <a:srgbClr val="292929"/>
                </a:solidFill>
                <a:latin typeface="Arial"/>
                <a:ea typeface="Arial"/>
                <a:cs typeface="Arial"/>
                <a:sym typeface="Arial"/>
              </a:rPr>
              <a:t>Cada registro representa un viaje individual de taxi.</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320"/>
              </a:spcBef>
              <a:spcAft>
                <a:spcPts val="0"/>
              </a:spcAft>
              <a:buClr>
                <a:srgbClr val="292929"/>
              </a:buClr>
              <a:buSzPts val="2000"/>
              <a:buFont typeface="Times New Roman"/>
              <a:buNone/>
            </a:pPr>
            <a:r>
              <a:t/>
            </a:r>
            <a:endParaRPr b="0" i="0" sz="2000" u="none" cap="none" strike="noStrike">
              <a:solidFill>
                <a:srgbClr val="000000"/>
              </a:solidFill>
              <a:latin typeface="Arial"/>
              <a:ea typeface="Arial"/>
              <a:cs typeface="Arial"/>
              <a:sym typeface="Arial"/>
            </a:endParaRPr>
          </a:p>
          <a:p>
            <a:pPr indent="0" lvl="0" marL="12700" marR="1549400" rtl="0" algn="l">
              <a:lnSpc>
                <a:spcPct val="100000"/>
              </a:lnSpc>
              <a:spcBef>
                <a:spcPts val="0"/>
              </a:spcBef>
              <a:spcAft>
                <a:spcPts val="0"/>
              </a:spcAft>
              <a:buClr>
                <a:srgbClr val="000000"/>
              </a:buClr>
              <a:buSzPts val="2600"/>
              <a:buFont typeface="Arial"/>
              <a:buNone/>
            </a:pPr>
            <a:r>
              <a:rPr b="1" i="0" lang="en-US" sz="2600" u="none" cap="none" strike="noStrike">
                <a:solidFill>
                  <a:srgbClr val="292929"/>
                </a:solidFill>
                <a:latin typeface="Arial"/>
                <a:ea typeface="Arial"/>
                <a:cs typeface="Arial"/>
                <a:sym typeface="Arial"/>
              </a:rPr>
              <a:t>Construcción de la etiqueta                                        is_high_tip</a:t>
            </a:r>
            <a:endParaRPr b="0" i="0" sz="2600" u="none" cap="none" strike="noStrike">
              <a:solidFill>
                <a:srgbClr val="000000"/>
              </a:solidFill>
              <a:latin typeface="Arial"/>
              <a:ea typeface="Arial"/>
              <a:cs typeface="Arial"/>
              <a:sym typeface="Arial"/>
            </a:endParaRPr>
          </a:p>
          <a:p>
            <a:pPr indent="-216535" lvl="0" marL="228600" marR="97790" rtl="0" algn="l">
              <a:lnSpc>
                <a:spcPct val="100000"/>
              </a:lnSpc>
              <a:spcBef>
                <a:spcPts val="1880"/>
              </a:spcBef>
              <a:spcAft>
                <a:spcPts val="0"/>
              </a:spcAft>
              <a:buClr>
                <a:srgbClr val="292929"/>
              </a:buClr>
              <a:buSzPts val="2000"/>
              <a:buFont typeface="Times New Roman"/>
              <a:buChar char="•"/>
            </a:pPr>
            <a:r>
              <a:rPr b="0" i="0" lang="en-US" sz="2000" u="none" cap="none" strike="noStrike">
                <a:solidFill>
                  <a:srgbClr val="292929"/>
                </a:solidFill>
                <a:latin typeface="Arial"/>
                <a:ea typeface="Arial"/>
                <a:cs typeface="Arial"/>
                <a:sym typeface="Arial"/>
              </a:rPr>
              <a:t>Se deﬁne como 1 para viajes con </a:t>
            </a:r>
            <a:r>
              <a:rPr b="1" i="0" lang="en-US" sz="2000" u="none" cap="none" strike="noStrike">
                <a:solidFill>
                  <a:srgbClr val="F2620F"/>
                </a:solidFill>
                <a:latin typeface="Arial"/>
                <a:ea typeface="Arial"/>
                <a:cs typeface="Arial"/>
                <a:sym typeface="Arial"/>
              </a:rPr>
              <a:t>propina alta </a:t>
            </a:r>
            <a:r>
              <a:rPr b="0" i="0" lang="en-US" sz="2000" u="none" cap="none" strike="noStrike">
                <a:solidFill>
                  <a:srgbClr val="292929"/>
                </a:solidFill>
                <a:latin typeface="Arial"/>
                <a:ea typeface="Arial"/>
                <a:cs typeface="Arial"/>
                <a:sym typeface="Arial"/>
              </a:rPr>
              <a:t>y 0 para el resto.</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320"/>
              </a:spcBef>
              <a:spcAft>
                <a:spcPts val="0"/>
              </a:spcAft>
              <a:buClr>
                <a:srgbClr val="292929"/>
              </a:buClr>
              <a:buSzPts val="2000"/>
              <a:buFont typeface="Times New Roman"/>
              <a:buNone/>
            </a:pPr>
            <a:r>
              <a:t/>
            </a:r>
            <a:endParaRPr b="0" i="0" sz="20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92929"/>
                </a:solidFill>
                <a:latin typeface="Arial"/>
                <a:ea typeface="Arial"/>
                <a:cs typeface="Arial"/>
                <a:sym typeface="Arial"/>
              </a:rPr>
              <a:t>Regla de negocio para propina alta</a:t>
            </a:r>
            <a:endParaRPr b="0" i="0" sz="2600" u="none" cap="none" strike="noStrike">
              <a:solidFill>
                <a:srgbClr val="000000"/>
              </a:solidFill>
              <a:latin typeface="Arial"/>
              <a:ea typeface="Arial"/>
              <a:cs typeface="Arial"/>
              <a:sym typeface="Arial"/>
            </a:endParaRPr>
          </a:p>
          <a:p>
            <a:pPr indent="-216535" lvl="0" marL="228600" marR="300990" rtl="0" algn="l">
              <a:lnSpc>
                <a:spcPct val="100000"/>
              </a:lnSpc>
              <a:spcBef>
                <a:spcPts val="1880"/>
              </a:spcBef>
              <a:spcAft>
                <a:spcPts val="0"/>
              </a:spcAft>
              <a:buClr>
                <a:srgbClr val="292929"/>
              </a:buClr>
              <a:buSzPts val="2000"/>
              <a:buFont typeface="Times New Roman"/>
              <a:buChar char="•"/>
            </a:pPr>
            <a:r>
              <a:rPr b="0" i="0" lang="en-US" sz="2000" u="none" cap="none" strike="noStrike">
                <a:solidFill>
                  <a:srgbClr val="292929"/>
                </a:solidFill>
                <a:latin typeface="Arial"/>
                <a:ea typeface="Arial"/>
                <a:cs typeface="Arial"/>
                <a:sym typeface="Arial"/>
              </a:rPr>
              <a:t>La propina se considera alta si supera un umbral                                                                      explícito respecto a la tarifa.</a:t>
            </a:r>
            <a:endParaRPr b="0" i="0" sz="2000" u="none" cap="none" strike="noStrike">
              <a:solidFill>
                <a:srgbClr val="000000"/>
              </a:solidFill>
              <a:latin typeface="Arial"/>
              <a:ea typeface="Arial"/>
              <a:cs typeface="Arial"/>
              <a:sym typeface="Arial"/>
            </a:endParaRPr>
          </a:p>
        </p:txBody>
      </p:sp>
      <p:sp>
        <p:nvSpPr>
          <p:cNvPr descr="$PPTXTitle" id="158" name="Google Shape;158;p5"/>
          <p:cNvSpPr txBox="1"/>
          <p:nvPr>
            <p:ph type="title"/>
          </p:nvPr>
        </p:nvSpPr>
        <p:spPr>
          <a:xfrm>
            <a:off x="3033923" y="1550971"/>
            <a:ext cx="5492115" cy="2036455"/>
          </a:xfrm>
          <a:prstGeom prst="rect">
            <a:avLst/>
          </a:prstGeom>
          <a:noFill/>
          <a:ln>
            <a:noFill/>
          </a:ln>
        </p:spPr>
        <p:txBody>
          <a:bodyPr anchorCtr="0" anchor="t" bIns="0" lIns="0" spcFirstLastPara="1" rIns="0" wrap="square" tIns="111750">
            <a:spAutoFit/>
          </a:bodyPr>
          <a:lstStyle/>
          <a:p>
            <a:pPr indent="0" lvl="0" marL="12700" marR="5080" rtl="0" algn="l">
              <a:lnSpc>
                <a:spcPct val="110000"/>
              </a:lnSpc>
              <a:spcBef>
                <a:spcPts val="0"/>
              </a:spcBef>
              <a:spcAft>
                <a:spcPts val="0"/>
              </a:spcAft>
              <a:buSzPts val="1400"/>
              <a:buNone/>
            </a:pPr>
            <a:r>
              <a:rPr lang="en-US" sz="6800"/>
              <a:t>Planteando el problema</a:t>
            </a:r>
            <a:endParaRPr sz="6800"/>
          </a:p>
        </p:txBody>
      </p:sp>
      <p:pic>
        <p:nvPicPr>
          <p:cNvPr id="159" name="Google Shape;159;p5"/>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160" name="Google Shape;160;p5"/>
          <p:cNvGrpSpPr/>
          <p:nvPr/>
        </p:nvGrpSpPr>
        <p:grpSpPr>
          <a:xfrm>
            <a:off x="989571" y="1689075"/>
            <a:ext cx="845819" cy="846009"/>
            <a:chOff x="989571" y="1689075"/>
            <a:chExt cx="845819" cy="846009"/>
          </a:xfrm>
        </p:grpSpPr>
        <p:sp>
          <p:nvSpPr>
            <p:cNvPr id="161" name="Google Shape;161;p5"/>
            <p:cNvSpPr/>
            <p:nvPr/>
          </p:nvSpPr>
          <p:spPr>
            <a:xfrm>
              <a:off x="989592" y="1689075"/>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 name="Google Shape;162;p5"/>
            <p:cNvSpPr/>
            <p:nvPr/>
          </p:nvSpPr>
          <p:spPr>
            <a:xfrm>
              <a:off x="1287807" y="1689078"/>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 name="Google Shape;163;p5"/>
            <p:cNvSpPr/>
            <p:nvPr/>
          </p:nvSpPr>
          <p:spPr>
            <a:xfrm>
              <a:off x="989571" y="1839759"/>
              <a:ext cx="845819" cy="695325"/>
            </a:xfrm>
            <a:custGeom>
              <a:rect b="b" l="l" r="r" t="t"/>
              <a:pathLst>
                <a:path extrusionOk="0" h="695325" w="845819">
                  <a:moveTo>
                    <a:pt x="845578" y="518782"/>
                  </a:moveTo>
                  <a:lnTo>
                    <a:pt x="839571" y="473151"/>
                  </a:lnTo>
                  <a:lnTo>
                    <a:pt x="821956" y="430618"/>
                  </a:lnTo>
                  <a:lnTo>
                    <a:pt x="793927" y="394106"/>
                  </a:lnTo>
                  <a:lnTo>
                    <a:pt x="399821" y="0"/>
                  </a:lnTo>
                  <a:lnTo>
                    <a:pt x="150736" y="249085"/>
                  </a:lnTo>
                  <a:lnTo>
                    <a:pt x="173710" y="272072"/>
                  </a:lnTo>
                  <a:lnTo>
                    <a:pt x="51650" y="394131"/>
                  </a:lnTo>
                  <a:lnTo>
                    <a:pt x="23622" y="430644"/>
                  </a:lnTo>
                  <a:lnTo>
                    <a:pt x="6007" y="473176"/>
                  </a:lnTo>
                  <a:lnTo>
                    <a:pt x="0" y="518807"/>
                  </a:lnTo>
                  <a:lnTo>
                    <a:pt x="381" y="530352"/>
                  </a:lnTo>
                  <a:lnTo>
                    <a:pt x="9359" y="575500"/>
                  </a:lnTo>
                  <a:lnTo>
                    <a:pt x="29718" y="616775"/>
                  </a:lnTo>
                  <a:lnTo>
                    <a:pt x="59867" y="651167"/>
                  </a:lnTo>
                  <a:lnTo>
                    <a:pt x="98082" y="676681"/>
                  </a:lnTo>
                  <a:lnTo>
                    <a:pt x="141668" y="691476"/>
                  </a:lnTo>
                  <a:lnTo>
                    <a:pt x="176060" y="694867"/>
                  </a:lnTo>
                  <a:lnTo>
                    <a:pt x="187604" y="694486"/>
                  </a:lnTo>
                  <a:lnTo>
                    <a:pt x="232740" y="685507"/>
                  </a:lnTo>
                  <a:lnTo>
                    <a:pt x="274027" y="665137"/>
                  </a:lnTo>
                  <a:lnTo>
                    <a:pt x="422795" y="521157"/>
                  </a:lnTo>
                  <a:lnTo>
                    <a:pt x="544842" y="643191"/>
                  </a:lnTo>
                  <a:lnTo>
                    <a:pt x="581355" y="671220"/>
                  </a:lnTo>
                  <a:lnTo>
                    <a:pt x="623887" y="688835"/>
                  </a:lnTo>
                  <a:lnTo>
                    <a:pt x="669518" y="694842"/>
                  </a:lnTo>
                  <a:lnTo>
                    <a:pt x="681050" y="694461"/>
                  </a:lnTo>
                  <a:lnTo>
                    <a:pt x="726198" y="685482"/>
                  </a:lnTo>
                  <a:lnTo>
                    <a:pt x="767473" y="665124"/>
                  </a:lnTo>
                  <a:lnTo>
                    <a:pt x="801878" y="634987"/>
                  </a:lnTo>
                  <a:lnTo>
                    <a:pt x="827392" y="596773"/>
                  </a:lnTo>
                  <a:lnTo>
                    <a:pt x="842187" y="553186"/>
                  </a:lnTo>
                  <a:lnTo>
                    <a:pt x="845197" y="530326"/>
                  </a:lnTo>
                  <a:lnTo>
                    <a:pt x="845578"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4" name="Google Shape;164;p5"/>
          <p:cNvGrpSpPr/>
          <p:nvPr/>
        </p:nvGrpSpPr>
        <p:grpSpPr>
          <a:xfrm>
            <a:off x="0" y="1"/>
            <a:ext cx="14536419" cy="948701"/>
            <a:chOff x="0" y="1"/>
            <a:chExt cx="14536419" cy="948701"/>
          </a:xfrm>
        </p:grpSpPr>
        <p:sp>
          <p:nvSpPr>
            <p:cNvPr id="165" name="Google Shape;165;p5"/>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 name="Google Shape;166;p5"/>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 name="Google Shape;167;p5"/>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8" name="Google Shape;168;p5"/>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5"/>
          <p:cNvSpPr txBox="1"/>
          <p:nvPr/>
        </p:nvSpPr>
        <p:spPr>
          <a:xfrm>
            <a:off x="903857" y="9571461"/>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05.</a:t>
            </a:r>
            <a:endParaRPr b="0" i="0" sz="2600" u="none" cap="none" strike="noStrike">
              <a:solidFill>
                <a:srgbClr val="000000"/>
              </a:solidFill>
              <a:latin typeface="Arial"/>
              <a:ea typeface="Arial"/>
              <a:cs typeface="Arial"/>
              <a:sym typeface="Arial"/>
            </a:endParaRPr>
          </a:p>
        </p:txBody>
      </p:sp>
      <p:sp>
        <p:nvSpPr>
          <p:cNvPr id="170" name="Google Shape;170;p5"/>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171" name="Google Shape;171;p5"/>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6"/>
          <p:cNvSpPr txBox="1"/>
          <p:nvPr/>
        </p:nvSpPr>
        <p:spPr>
          <a:xfrm>
            <a:off x="3060600" y="9629773"/>
            <a:ext cx="494157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Introducción y planteamiento del problema</a:t>
            </a:r>
            <a:endParaRPr b="0" i="0" sz="2000" u="none" cap="none" strike="noStrike">
              <a:solidFill>
                <a:srgbClr val="000000"/>
              </a:solidFill>
              <a:latin typeface="Arial"/>
              <a:ea typeface="Arial"/>
              <a:cs typeface="Arial"/>
              <a:sym typeface="Arial"/>
            </a:endParaRPr>
          </a:p>
        </p:txBody>
      </p:sp>
      <p:sp>
        <p:nvSpPr>
          <p:cNvPr id="177" name="Google Shape;177;p6"/>
          <p:cNvSpPr txBox="1"/>
          <p:nvPr/>
        </p:nvSpPr>
        <p:spPr>
          <a:xfrm>
            <a:off x="16105787" y="9632059"/>
            <a:ext cx="1210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grpSp>
        <p:nvGrpSpPr>
          <p:cNvPr id="178" name="Google Shape;178;p6"/>
          <p:cNvGrpSpPr/>
          <p:nvPr/>
        </p:nvGrpSpPr>
        <p:grpSpPr>
          <a:xfrm>
            <a:off x="0" y="1"/>
            <a:ext cx="14536419" cy="948701"/>
            <a:chOff x="0" y="1"/>
            <a:chExt cx="14536419" cy="948701"/>
          </a:xfrm>
        </p:grpSpPr>
        <p:sp>
          <p:nvSpPr>
            <p:cNvPr id="179" name="Google Shape;179;p6"/>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 name="Google Shape;180;p6"/>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 name="Google Shape;181;p6"/>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2" name="Google Shape;182;p6"/>
          <p:cNvSpPr txBox="1"/>
          <p:nvPr/>
        </p:nvSpPr>
        <p:spPr>
          <a:xfrm>
            <a:off x="903857" y="9549700"/>
            <a:ext cx="550545"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06.</a:t>
            </a:r>
            <a:endParaRPr b="0" i="0" sz="2600" u="none" cap="none" strike="noStrike">
              <a:solidFill>
                <a:srgbClr val="000000"/>
              </a:solidFill>
              <a:latin typeface="Arial"/>
              <a:ea typeface="Arial"/>
              <a:cs typeface="Arial"/>
              <a:sym typeface="Arial"/>
            </a:endParaRPr>
          </a:p>
        </p:txBody>
      </p:sp>
      <p:sp>
        <p:nvSpPr>
          <p:cNvPr descr="$PPTXTitle" id="183" name="Google Shape;183;p6"/>
          <p:cNvSpPr txBox="1"/>
          <p:nvPr>
            <p:ph type="title"/>
          </p:nvPr>
        </p:nvSpPr>
        <p:spPr>
          <a:xfrm>
            <a:off x="3031356" y="1550978"/>
            <a:ext cx="11856720" cy="2036455"/>
          </a:xfrm>
          <a:prstGeom prst="rect">
            <a:avLst/>
          </a:prstGeom>
          <a:noFill/>
          <a:ln>
            <a:noFill/>
          </a:ln>
        </p:spPr>
        <p:txBody>
          <a:bodyPr anchorCtr="0" anchor="t" bIns="0" lIns="0" spcFirstLastPara="1" rIns="0" wrap="square" tIns="111750">
            <a:spAutoFit/>
          </a:bodyPr>
          <a:lstStyle/>
          <a:p>
            <a:pPr indent="0" lvl="0" marL="12700" marR="5080" rtl="0" algn="l">
              <a:lnSpc>
                <a:spcPct val="110000"/>
              </a:lnSpc>
              <a:spcBef>
                <a:spcPts val="0"/>
              </a:spcBef>
              <a:spcAft>
                <a:spcPts val="0"/>
              </a:spcAft>
              <a:buSzPts val="1400"/>
              <a:buNone/>
            </a:pPr>
            <a:r>
              <a:rPr lang="en-US" sz="6800"/>
              <a:t>Transformando variables para clasificar</a:t>
            </a:r>
            <a:endParaRPr sz="6800"/>
          </a:p>
        </p:txBody>
      </p:sp>
      <p:grpSp>
        <p:nvGrpSpPr>
          <p:cNvPr id="184" name="Google Shape;184;p6"/>
          <p:cNvGrpSpPr/>
          <p:nvPr/>
        </p:nvGrpSpPr>
        <p:grpSpPr>
          <a:xfrm>
            <a:off x="989577" y="1692498"/>
            <a:ext cx="845838" cy="846028"/>
            <a:chOff x="989577" y="1692498"/>
            <a:chExt cx="845838" cy="846028"/>
          </a:xfrm>
        </p:grpSpPr>
        <p:sp>
          <p:nvSpPr>
            <p:cNvPr id="185" name="Google Shape;185;p6"/>
            <p:cNvSpPr/>
            <p:nvPr/>
          </p:nvSpPr>
          <p:spPr>
            <a:xfrm>
              <a:off x="989577" y="169249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 name="Google Shape;186;p6"/>
            <p:cNvSpPr/>
            <p:nvPr/>
          </p:nvSpPr>
          <p:spPr>
            <a:xfrm>
              <a:off x="1287792" y="1692527"/>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 name="Google Shape;187;p6"/>
            <p:cNvSpPr/>
            <p:nvPr/>
          </p:nvSpPr>
          <p:spPr>
            <a:xfrm>
              <a:off x="989596" y="1843201"/>
              <a:ext cx="845819" cy="695325"/>
            </a:xfrm>
            <a:custGeom>
              <a:rect b="b" l="l" r="r" t="t"/>
              <a:pathLst>
                <a:path extrusionOk="0" h="695325" w="845819">
                  <a:moveTo>
                    <a:pt x="845527" y="518782"/>
                  </a:moveTo>
                  <a:lnTo>
                    <a:pt x="839520" y="473151"/>
                  </a:lnTo>
                  <a:lnTo>
                    <a:pt x="821905" y="430618"/>
                  </a:lnTo>
                  <a:lnTo>
                    <a:pt x="793877" y="394106"/>
                  </a:lnTo>
                  <a:lnTo>
                    <a:pt x="671830" y="272072"/>
                  </a:lnTo>
                  <a:lnTo>
                    <a:pt x="422757" y="22961"/>
                  </a:lnTo>
                  <a:lnTo>
                    <a:pt x="399770" y="0"/>
                  </a:lnTo>
                  <a:lnTo>
                    <a:pt x="150685" y="249085"/>
                  </a:lnTo>
                  <a:lnTo>
                    <a:pt x="173659" y="272072"/>
                  </a:lnTo>
                  <a:lnTo>
                    <a:pt x="51650" y="394081"/>
                  </a:lnTo>
                  <a:lnTo>
                    <a:pt x="23622" y="430593"/>
                  </a:lnTo>
                  <a:lnTo>
                    <a:pt x="6007" y="473125"/>
                  </a:lnTo>
                  <a:lnTo>
                    <a:pt x="0" y="518756"/>
                  </a:lnTo>
                  <a:lnTo>
                    <a:pt x="381" y="530301"/>
                  </a:lnTo>
                  <a:lnTo>
                    <a:pt x="9359" y="575449"/>
                  </a:lnTo>
                  <a:lnTo>
                    <a:pt x="29718" y="616724"/>
                  </a:lnTo>
                  <a:lnTo>
                    <a:pt x="59855" y="651116"/>
                  </a:lnTo>
                  <a:lnTo>
                    <a:pt x="98069" y="676630"/>
                  </a:lnTo>
                  <a:lnTo>
                    <a:pt x="141655" y="691426"/>
                  </a:lnTo>
                  <a:lnTo>
                    <a:pt x="176060" y="694817"/>
                  </a:lnTo>
                  <a:lnTo>
                    <a:pt x="187591" y="694436"/>
                  </a:lnTo>
                  <a:lnTo>
                    <a:pt x="232740" y="685457"/>
                  </a:lnTo>
                  <a:lnTo>
                    <a:pt x="274027" y="665099"/>
                  </a:lnTo>
                  <a:lnTo>
                    <a:pt x="422744" y="521157"/>
                  </a:lnTo>
                  <a:lnTo>
                    <a:pt x="544791" y="643191"/>
                  </a:lnTo>
                  <a:lnTo>
                    <a:pt x="581304" y="671220"/>
                  </a:lnTo>
                  <a:lnTo>
                    <a:pt x="623836" y="688835"/>
                  </a:lnTo>
                  <a:lnTo>
                    <a:pt x="669467" y="694842"/>
                  </a:lnTo>
                  <a:lnTo>
                    <a:pt x="680999" y="694474"/>
                  </a:lnTo>
                  <a:lnTo>
                    <a:pt x="726147" y="685482"/>
                  </a:lnTo>
                  <a:lnTo>
                    <a:pt x="767422" y="665124"/>
                  </a:lnTo>
                  <a:lnTo>
                    <a:pt x="801827" y="634987"/>
                  </a:lnTo>
                  <a:lnTo>
                    <a:pt x="827341" y="596773"/>
                  </a:lnTo>
                  <a:lnTo>
                    <a:pt x="842137"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8" name="Google Shape;188;p6"/>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89" name="Google Shape;189;p6"/>
          <p:cNvGrpSpPr/>
          <p:nvPr/>
        </p:nvGrpSpPr>
        <p:grpSpPr>
          <a:xfrm>
            <a:off x="12909053" y="4052112"/>
            <a:ext cx="4449445" cy="4730750"/>
            <a:chOff x="12909053" y="4052112"/>
            <a:chExt cx="4449445" cy="4730750"/>
          </a:xfrm>
        </p:grpSpPr>
        <p:sp>
          <p:nvSpPr>
            <p:cNvPr id="190" name="Google Shape;190;p6"/>
            <p:cNvSpPr/>
            <p:nvPr/>
          </p:nvSpPr>
          <p:spPr>
            <a:xfrm>
              <a:off x="12909053" y="4052112"/>
              <a:ext cx="4449445" cy="4730750"/>
            </a:xfrm>
            <a:custGeom>
              <a:rect b="b" l="l" r="r" t="t"/>
              <a:pathLst>
                <a:path extrusionOk="0" h="4730750" w="4449444">
                  <a:moveTo>
                    <a:pt x="4009047" y="0"/>
                  </a:moveTo>
                  <a:lnTo>
                    <a:pt x="447675" y="0"/>
                  </a:lnTo>
                  <a:lnTo>
                    <a:pt x="433031" y="177"/>
                  </a:lnTo>
                  <a:lnTo>
                    <a:pt x="389229" y="3771"/>
                  </a:lnTo>
                  <a:lnTo>
                    <a:pt x="346011" y="11633"/>
                  </a:lnTo>
                  <a:lnTo>
                    <a:pt x="303758" y="23698"/>
                  </a:lnTo>
                  <a:lnTo>
                    <a:pt x="262890" y="39852"/>
                  </a:lnTo>
                  <a:lnTo>
                    <a:pt x="223812" y="59918"/>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282579"/>
                  </a:lnTo>
                  <a:lnTo>
                    <a:pt x="3771" y="4341025"/>
                  </a:lnTo>
                  <a:lnTo>
                    <a:pt x="11633" y="4384243"/>
                  </a:lnTo>
                  <a:lnTo>
                    <a:pt x="23698" y="4426496"/>
                  </a:lnTo>
                  <a:lnTo>
                    <a:pt x="39852" y="4467364"/>
                  </a:lnTo>
                  <a:lnTo>
                    <a:pt x="59931" y="4506442"/>
                  </a:lnTo>
                  <a:lnTo>
                    <a:pt x="83731" y="4543374"/>
                  </a:lnTo>
                  <a:lnTo>
                    <a:pt x="111048" y="4577791"/>
                  </a:lnTo>
                  <a:lnTo>
                    <a:pt x="141604" y="4609363"/>
                  </a:lnTo>
                  <a:lnTo>
                    <a:pt x="175107" y="4637786"/>
                  </a:lnTo>
                  <a:lnTo>
                    <a:pt x="211239" y="4662792"/>
                  </a:lnTo>
                  <a:lnTo>
                    <a:pt x="249643" y="4684141"/>
                  </a:lnTo>
                  <a:lnTo>
                    <a:pt x="289953" y="4701616"/>
                  </a:lnTo>
                  <a:lnTo>
                    <a:pt x="331787" y="4715065"/>
                  </a:lnTo>
                  <a:lnTo>
                    <a:pt x="374738" y="4724336"/>
                  </a:lnTo>
                  <a:lnTo>
                    <a:pt x="418388" y="4729353"/>
                  </a:lnTo>
                  <a:lnTo>
                    <a:pt x="440347" y="4730254"/>
                  </a:lnTo>
                  <a:lnTo>
                    <a:pt x="4001719" y="4730254"/>
                  </a:lnTo>
                  <a:lnTo>
                    <a:pt x="4060164" y="4726482"/>
                  </a:lnTo>
                  <a:lnTo>
                    <a:pt x="4103395" y="4718608"/>
                  </a:lnTo>
                  <a:lnTo>
                    <a:pt x="4145635" y="4706556"/>
                  </a:lnTo>
                  <a:lnTo>
                    <a:pt x="4186504" y="4690402"/>
                  </a:lnTo>
                  <a:lnTo>
                    <a:pt x="4225582" y="4670323"/>
                  </a:lnTo>
                  <a:lnTo>
                    <a:pt x="4262513" y="4646523"/>
                  </a:lnTo>
                  <a:lnTo>
                    <a:pt x="4296943" y="4619205"/>
                  </a:lnTo>
                  <a:lnTo>
                    <a:pt x="4328502" y="4588649"/>
                  </a:lnTo>
                  <a:lnTo>
                    <a:pt x="4356938" y="4555147"/>
                  </a:lnTo>
                  <a:lnTo>
                    <a:pt x="4381931" y="4519015"/>
                  </a:lnTo>
                  <a:lnTo>
                    <a:pt x="4403280" y="4480610"/>
                  </a:lnTo>
                  <a:lnTo>
                    <a:pt x="4420755" y="4440301"/>
                  </a:lnTo>
                  <a:lnTo>
                    <a:pt x="4434192" y="4398467"/>
                  </a:lnTo>
                  <a:lnTo>
                    <a:pt x="4443476" y="4355515"/>
                  </a:lnTo>
                  <a:lnTo>
                    <a:pt x="4448505" y="4311865"/>
                  </a:lnTo>
                  <a:lnTo>
                    <a:pt x="4449394" y="4289907"/>
                  </a:lnTo>
                  <a:lnTo>
                    <a:pt x="4449394" y="447675"/>
                  </a:lnTo>
                  <a:lnTo>
                    <a:pt x="4445635" y="389229"/>
                  </a:lnTo>
                  <a:lnTo>
                    <a:pt x="4437761" y="346011"/>
                  </a:lnTo>
                  <a:lnTo>
                    <a:pt x="4425696" y="303758"/>
                  </a:lnTo>
                  <a:lnTo>
                    <a:pt x="4409541" y="262890"/>
                  </a:lnTo>
                  <a:lnTo>
                    <a:pt x="4389475" y="223812"/>
                  </a:lnTo>
                  <a:lnTo>
                    <a:pt x="4365663" y="186880"/>
                  </a:lnTo>
                  <a:lnTo>
                    <a:pt x="4338345" y="152463"/>
                  </a:lnTo>
                  <a:lnTo>
                    <a:pt x="4307789" y="120891"/>
                  </a:lnTo>
                  <a:lnTo>
                    <a:pt x="4274286" y="92468"/>
                  </a:lnTo>
                  <a:lnTo>
                    <a:pt x="4238155" y="67462"/>
                  </a:lnTo>
                  <a:lnTo>
                    <a:pt x="4199750" y="46113"/>
                  </a:lnTo>
                  <a:lnTo>
                    <a:pt x="4159440" y="28638"/>
                  </a:lnTo>
                  <a:lnTo>
                    <a:pt x="4117606" y="15201"/>
                  </a:lnTo>
                  <a:lnTo>
                    <a:pt x="4074655" y="5918"/>
                  </a:lnTo>
                  <a:lnTo>
                    <a:pt x="4031005" y="901"/>
                  </a:lnTo>
                  <a:lnTo>
                    <a:pt x="400904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 name="Google Shape;191;p6"/>
            <p:cNvSpPr/>
            <p:nvPr/>
          </p:nvSpPr>
          <p:spPr>
            <a:xfrm>
              <a:off x="12909082" y="4186636"/>
              <a:ext cx="1235710" cy="1040130"/>
            </a:xfrm>
            <a:custGeom>
              <a:rect b="b" l="l" r="r" t="t"/>
              <a:pathLst>
                <a:path extrusionOk="0" h="1040129" w="1235709">
                  <a:moveTo>
                    <a:pt x="760387" y="0"/>
                  </a:moveTo>
                  <a:lnTo>
                    <a:pt x="0" y="0"/>
                  </a:lnTo>
                  <a:lnTo>
                    <a:pt x="0" y="1039571"/>
                  </a:lnTo>
                  <a:lnTo>
                    <a:pt x="760387" y="1039571"/>
                  </a:lnTo>
                  <a:lnTo>
                    <a:pt x="791455" y="1038552"/>
                  </a:lnTo>
                  <a:lnTo>
                    <a:pt x="852991" y="1030446"/>
                  </a:lnTo>
                  <a:lnTo>
                    <a:pt x="913000" y="1014365"/>
                  </a:lnTo>
                  <a:lnTo>
                    <a:pt x="970338" y="990617"/>
                  </a:lnTo>
                  <a:lnTo>
                    <a:pt x="1024144" y="959551"/>
                  </a:lnTo>
                  <a:lnTo>
                    <a:pt x="1073386" y="921766"/>
                  </a:lnTo>
                  <a:lnTo>
                    <a:pt x="1117320" y="877833"/>
                  </a:lnTo>
                  <a:lnTo>
                    <a:pt x="1155100" y="828600"/>
                  </a:lnTo>
                  <a:lnTo>
                    <a:pt x="1186161" y="774796"/>
                  </a:lnTo>
                  <a:lnTo>
                    <a:pt x="1209912" y="717458"/>
                  </a:lnTo>
                  <a:lnTo>
                    <a:pt x="1225994" y="656740"/>
                  </a:lnTo>
                  <a:lnTo>
                    <a:pt x="1234095" y="576902"/>
                  </a:lnTo>
                  <a:lnTo>
                    <a:pt x="1235113" y="519785"/>
                  </a:lnTo>
                  <a:lnTo>
                    <a:pt x="1234095" y="462669"/>
                  </a:lnTo>
                  <a:lnTo>
                    <a:pt x="1231052" y="418393"/>
                  </a:lnTo>
                  <a:lnTo>
                    <a:pt x="1218933" y="351853"/>
                  </a:lnTo>
                  <a:lnTo>
                    <a:pt x="1198975" y="293055"/>
                  </a:lnTo>
                  <a:lnTo>
                    <a:pt x="1171511" y="237362"/>
                  </a:lnTo>
                  <a:lnTo>
                    <a:pt x="1137016" y="185735"/>
                  </a:lnTo>
                  <a:lnTo>
                    <a:pt x="1096073" y="139052"/>
                  </a:lnTo>
                  <a:lnTo>
                    <a:pt x="1049383" y="98107"/>
                  </a:lnTo>
                  <a:lnTo>
                    <a:pt x="997750" y="63601"/>
                  </a:lnTo>
                  <a:lnTo>
                    <a:pt x="942057" y="36142"/>
                  </a:lnTo>
                  <a:lnTo>
                    <a:pt x="883259" y="16179"/>
                  </a:lnTo>
                  <a:lnTo>
                    <a:pt x="822356" y="4065"/>
                  </a:lnTo>
                  <a:lnTo>
                    <a:pt x="760387"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p6"/>
            <p:cNvSpPr/>
            <p:nvPr/>
          </p:nvSpPr>
          <p:spPr>
            <a:xfrm>
              <a:off x="13190341" y="4754881"/>
              <a:ext cx="182880" cy="294640"/>
            </a:xfrm>
            <a:custGeom>
              <a:rect b="b" l="l" r="r" t="t"/>
              <a:pathLst>
                <a:path extrusionOk="0" h="294639" w="182880">
                  <a:moveTo>
                    <a:pt x="157143" y="0"/>
                  </a:moveTo>
                  <a:lnTo>
                    <a:pt x="67221" y="35964"/>
                  </a:lnTo>
                  <a:lnTo>
                    <a:pt x="44018" y="72058"/>
                  </a:lnTo>
                  <a:lnTo>
                    <a:pt x="44018" y="142162"/>
                  </a:lnTo>
                  <a:lnTo>
                    <a:pt x="42329" y="148804"/>
                  </a:lnTo>
                  <a:lnTo>
                    <a:pt x="0" y="225055"/>
                  </a:lnTo>
                  <a:lnTo>
                    <a:pt x="143167" y="294460"/>
                  </a:lnTo>
                  <a:lnTo>
                    <a:pt x="182829" y="215136"/>
                  </a:lnTo>
                  <a:lnTo>
                    <a:pt x="133248" y="215136"/>
                  </a:lnTo>
                  <a:lnTo>
                    <a:pt x="121700" y="212789"/>
                  </a:lnTo>
                  <a:lnTo>
                    <a:pt x="112242" y="206398"/>
                  </a:lnTo>
                  <a:lnTo>
                    <a:pt x="105852" y="196941"/>
                  </a:lnTo>
                  <a:lnTo>
                    <a:pt x="103504" y="185393"/>
                  </a:lnTo>
                  <a:lnTo>
                    <a:pt x="103504" y="96150"/>
                  </a:lnTo>
                  <a:lnTo>
                    <a:pt x="168655" y="55408"/>
                  </a:lnTo>
                  <a:lnTo>
                    <a:pt x="174588" y="50570"/>
                  </a:lnTo>
                  <a:lnTo>
                    <a:pt x="179047" y="44470"/>
                  </a:lnTo>
                  <a:lnTo>
                    <a:pt x="181854" y="37441"/>
                  </a:lnTo>
                  <a:lnTo>
                    <a:pt x="182829" y="29818"/>
                  </a:lnTo>
                  <a:lnTo>
                    <a:pt x="179299" y="15616"/>
                  </a:lnTo>
                  <a:lnTo>
                    <a:pt x="170062" y="5195"/>
                  </a:lnTo>
                  <a:lnTo>
                    <a:pt x="157143" y="0"/>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93" name="Google Shape;193;p6"/>
            <p:cNvPicPr preferRelativeResize="0"/>
            <p:nvPr/>
          </p:nvPicPr>
          <p:blipFill rotWithShape="1">
            <a:blip r:embed="rId3">
              <a:alphaModFix/>
            </a:blip>
            <a:srcRect b="0" l="0" r="0" t="0"/>
            <a:stretch/>
          </p:blipFill>
          <p:spPr>
            <a:xfrm>
              <a:off x="13313675" y="4553685"/>
              <a:ext cx="218142" cy="396504"/>
            </a:xfrm>
            <a:prstGeom prst="rect">
              <a:avLst/>
            </a:prstGeom>
            <a:noFill/>
            <a:ln>
              <a:noFill/>
            </a:ln>
          </p:spPr>
        </p:pic>
        <p:sp>
          <p:nvSpPr>
            <p:cNvPr id="194" name="Google Shape;194;p6"/>
            <p:cNvSpPr/>
            <p:nvPr/>
          </p:nvSpPr>
          <p:spPr>
            <a:xfrm>
              <a:off x="13462401" y="4434602"/>
              <a:ext cx="337185" cy="297815"/>
            </a:xfrm>
            <a:custGeom>
              <a:rect b="b" l="l" r="r" t="t"/>
              <a:pathLst>
                <a:path extrusionOk="0" h="297814" w="337184">
                  <a:moveTo>
                    <a:pt x="290234" y="254723"/>
                  </a:moveTo>
                  <a:lnTo>
                    <a:pt x="84086" y="254723"/>
                  </a:lnTo>
                  <a:lnTo>
                    <a:pt x="106004" y="272567"/>
                  </a:lnTo>
                  <a:lnTo>
                    <a:pt x="131071" y="286016"/>
                  </a:lnTo>
                  <a:lnTo>
                    <a:pt x="158722" y="294503"/>
                  </a:lnTo>
                  <a:lnTo>
                    <a:pt x="188391" y="297459"/>
                  </a:lnTo>
                  <a:lnTo>
                    <a:pt x="235383" y="289872"/>
                  </a:lnTo>
                  <a:lnTo>
                    <a:pt x="276208" y="268749"/>
                  </a:lnTo>
                  <a:lnTo>
                    <a:pt x="290234" y="254723"/>
                  </a:lnTo>
                  <a:close/>
                </a:path>
                <a:path extrusionOk="0" h="297814" w="337184">
                  <a:moveTo>
                    <a:pt x="188391" y="0"/>
                  </a:moveTo>
                  <a:lnTo>
                    <a:pt x="141400" y="7585"/>
                  </a:lnTo>
                  <a:lnTo>
                    <a:pt x="100574" y="28706"/>
                  </a:lnTo>
                  <a:lnTo>
                    <a:pt x="68372" y="60907"/>
                  </a:lnTo>
                  <a:lnTo>
                    <a:pt x="47249" y="101733"/>
                  </a:lnTo>
                  <a:lnTo>
                    <a:pt x="39662" y="148729"/>
                  </a:lnTo>
                  <a:lnTo>
                    <a:pt x="40538" y="164796"/>
                  </a:lnTo>
                  <a:lnTo>
                    <a:pt x="42997" y="179761"/>
                  </a:lnTo>
                  <a:lnTo>
                    <a:pt x="43097" y="180368"/>
                  </a:lnTo>
                  <a:lnTo>
                    <a:pt x="47238" y="195364"/>
                  </a:lnTo>
                  <a:lnTo>
                    <a:pt x="52857" y="209702"/>
                  </a:lnTo>
                  <a:lnTo>
                    <a:pt x="0" y="277622"/>
                  </a:lnTo>
                  <a:lnTo>
                    <a:pt x="84086" y="254723"/>
                  </a:lnTo>
                  <a:lnTo>
                    <a:pt x="290234" y="254723"/>
                  </a:lnTo>
                  <a:lnTo>
                    <a:pt x="308090" y="236867"/>
                  </a:lnTo>
                  <a:lnTo>
                    <a:pt x="229247" y="236867"/>
                  </a:lnTo>
                  <a:lnTo>
                    <a:pt x="221602" y="232803"/>
                  </a:lnTo>
                  <a:lnTo>
                    <a:pt x="218935" y="225869"/>
                  </a:lnTo>
                  <a:lnTo>
                    <a:pt x="208419" y="197713"/>
                  </a:lnTo>
                  <a:lnTo>
                    <a:pt x="203971" y="189794"/>
                  </a:lnTo>
                  <a:lnTo>
                    <a:pt x="202485" y="188391"/>
                  </a:lnTo>
                  <a:lnTo>
                    <a:pt x="99148" y="188391"/>
                  </a:lnTo>
                  <a:lnTo>
                    <a:pt x="99148" y="99161"/>
                  </a:lnTo>
                  <a:lnTo>
                    <a:pt x="328203" y="99161"/>
                  </a:lnTo>
                  <a:lnTo>
                    <a:pt x="308411" y="60907"/>
                  </a:lnTo>
                  <a:lnTo>
                    <a:pt x="276208" y="28706"/>
                  </a:lnTo>
                  <a:lnTo>
                    <a:pt x="235383" y="7585"/>
                  </a:lnTo>
                  <a:lnTo>
                    <a:pt x="188391" y="0"/>
                  </a:lnTo>
                  <a:close/>
                </a:path>
                <a:path extrusionOk="0" h="297814" w="337184">
                  <a:moveTo>
                    <a:pt x="328203" y="99161"/>
                  </a:moveTo>
                  <a:lnTo>
                    <a:pt x="256817" y="99161"/>
                  </a:lnTo>
                  <a:lnTo>
                    <a:pt x="263390" y="100398"/>
                  </a:lnTo>
                  <a:lnTo>
                    <a:pt x="269420" y="104120"/>
                  </a:lnTo>
                  <a:lnTo>
                    <a:pt x="273779" y="109720"/>
                  </a:lnTo>
                  <a:lnTo>
                    <a:pt x="275945" y="116700"/>
                  </a:lnTo>
                  <a:lnTo>
                    <a:pt x="280403" y="156362"/>
                  </a:lnTo>
                  <a:lnTo>
                    <a:pt x="279529" y="164796"/>
                  </a:lnTo>
                  <a:lnTo>
                    <a:pt x="275483" y="171791"/>
                  </a:lnTo>
                  <a:lnTo>
                    <a:pt x="268953" y="176591"/>
                  </a:lnTo>
                  <a:lnTo>
                    <a:pt x="260194" y="178473"/>
                  </a:lnTo>
                  <a:lnTo>
                    <a:pt x="236677" y="178473"/>
                  </a:lnTo>
                  <a:lnTo>
                    <a:pt x="246202" y="216649"/>
                  </a:lnTo>
                  <a:lnTo>
                    <a:pt x="248081" y="224078"/>
                  </a:lnTo>
                  <a:lnTo>
                    <a:pt x="244208" y="232206"/>
                  </a:lnTo>
                  <a:lnTo>
                    <a:pt x="229247" y="236867"/>
                  </a:lnTo>
                  <a:lnTo>
                    <a:pt x="308090" y="236867"/>
                  </a:lnTo>
                  <a:lnTo>
                    <a:pt x="308411" y="236546"/>
                  </a:lnTo>
                  <a:lnTo>
                    <a:pt x="329534" y="195721"/>
                  </a:lnTo>
                  <a:lnTo>
                    <a:pt x="337121" y="148729"/>
                  </a:lnTo>
                  <a:lnTo>
                    <a:pt x="329534" y="101733"/>
                  </a:lnTo>
                  <a:lnTo>
                    <a:pt x="328203" y="99161"/>
                  </a:lnTo>
                  <a:close/>
                </a:path>
                <a:path extrusionOk="0" h="297814" w="337184">
                  <a:moveTo>
                    <a:pt x="185061" y="99161"/>
                  </a:moveTo>
                  <a:lnTo>
                    <a:pt x="138811" y="99161"/>
                  </a:lnTo>
                  <a:lnTo>
                    <a:pt x="138811" y="188391"/>
                  </a:lnTo>
                  <a:lnTo>
                    <a:pt x="202485" y="188391"/>
                  </a:lnTo>
                  <a:lnTo>
                    <a:pt x="197502" y="183689"/>
                  </a:lnTo>
                  <a:lnTo>
                    <a:pt x="189526" y="179761"/>
                  </a:lnTo>
                  <a:lnTo>
                    <a:pt x="181211" y="178473"/>
                  </a:lnTo>
                  <a:lnTo>
                    <a:pt x="158546" y="178473"/>
                  </a:lnTo>
                  <a:lnTo>
                    <a:pt x="158546" y="108966"/>
                  </a:lnTo>
                  <a:lnTo>
                    <a:pt x="171729" y="108966"/>
                  </a:lnTo>
                  <a:lnTo>
                    <a:pt x="185061" y="99161"/>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5" name="Google Shape;195;p6"/>
          <p:cNvGrpSpPr/>
          <p:nvPr/>
        </p:nvGrpSpPr>
        <p:grpSpPr>
          <a:xfrm>
            <a:off x="7976592" y="4052112"/>
            <a:ext cx="4449445" cy="4730750"/>
            <a:chOff x="7976592" y="4052112"/>
            <a:chExt cx="4449445" cy="4730750"/>
          </a:xfrm>
        </p:grpSpPr>
        <p:sp>
          <p:nvSpPr>
            <p:cNvPr id="196" name="Google Shape;196;p6"/>
            <p:cNvSpPr/>
            <p:nvPr/>
          </p:nvSpPr>
          <p:spPr>
            <a:xfrm>
              <a:off x="7976592" y="4052112"/>
              <a:ext cx="4449445" cy="4730750"/>
            </a:xfrm>
            <a:custGeom>
              <a:rect b="b" l="l" r="r" t="t"/>
              <a:pathLst>
                <a:path extrusionOk="0" h="4730750" w="4449445">
                  <a:moveTo>
                    <a:pt x="4009047" y="0"/>
                  </a:moveTo>
                  <a:lnTo>
                    <a:pt x="447675" y="0"/>
                  </a:lnTo>
                  <a:lnTo>
                    <a:pt x="433031" y="177"/>
                  </a:lnTo>
                  <a:lnTo>
                    <a:pt x="389229" y="3771"/>
                  </a:lnTo>
                  <a:lnTo>
                    <a:pt x="346011" y="11633"/>
                  </a:lnTo>
                  <a:lnTo>
                    <a:pt x="303758" y="23698"/>
                  </a:lnTo>
                  <a:lnTo>
                    <a:pt x="262890" y="39852"/>
                  </a:lnTo>
                  <a:lnTo>
                    <a:pt x="223812" y="59918"/>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282579"/>
                  </a:lnTo>
                  <a:lnTo>
                    <a:pt x="3771" y="4341025"/>
                  </a:lnTo>
                  <a:lnTo>
                    <a:pt x="11633" y="4384243"/>
                  </a:lnTo>
                  <a:lnTo>
                    <a:pt x="23698" y="4426496"/>
                  </a:lnTo>
                  <a:lnTo>
                    <a:pt x="39852" y="4467364"/>
                  </a:lnTo>
                  <a:lnTo>
                    <a:pt x="59931" y="4506442"/>
                  </a:lnTo>
                  <a:lnTo>
                    <a:pt x="83731" y="4543374"/>
                  </a:lnTo>
                  <a:lnTo>
                    <a:pt x="111048" y="4577791"/>
                  </a:lnTo>
                  <a:lnTo>
                    <a:pt x="141604" y="4609363"/>
                  </a:lnTo>
                  <a:lnTo>
                    <a:pt x="175107" y="4637786"/>
                  </a:lnTo>
                  <a:lnTo>
                    <a:pt x="211239" y="4662792"/>
                  </a:lnTo>
                  <a:lnTo>
                    <a:pt x="249643" y="4684141"/>
                  </a:lnTo>
                  <a:lnTo>
                    <a:pt x="289953" y="4701616"/>
                  </a:lnTo>
                  <a:lnTo>
                    <a:pt x="331787" y="4715065"/>
                  </a:lnTo>
                  <a:lnTo>
                    <a:pt x="374738" y="4724336"/>
                  </a:lnTo>
                  <a:lnTo>
                    <a:pt x="418388" y="4729353"/>
                  </a:lnTo>
                  <a:lnTo>
                    <a:pt x="440347" y="4730254"/>
                  </a:lnTo>
                  <a:lnTo>
                    <a:pt x="4001719" y="4730254"/>
                  </a:lnTo>
                  <a:lnTo>
                    <a:pt x="4060164" y="4726482"/>
                  </a:lnTo>
                  <a:lnTo>
                    <a:pt x="4103395" y="4718608"/>
                  </a:lnTo>
                  <a:lnTo>
                    <a:pt x="4145635" y="4706556"/>
                  </a:lnTo>
                  <a:lnTo>
                    <a:pt x="4186504" y="4690402"/>
                  </a:lnTo>
                  <a:lnTo>
                    <a:pt x="4225594" y="4670323"/>
                  </a:lnTo>
                  <a:lnTo>
                    <a:pt x="4262513" y="4646523"/>
                  </a:lnTo>
                  <a:lnTo>
                    <a:pt x="4296930" y="4619205"/>
                  </a:lnTo>
                  <a:lnTo>
                    <a:pt x="4328502" y="4588649"/>
                  </a:lnTo>
                  <a:lnTo>
                    <a:pt x="4356938" y="4555147"/>
                  </a:lnTo>
                  <a:lnTo>
                    <a:pt x="4381931" y="4519015"/>
                  </a:lnTo>
                  <a:lnTo>
                    <a:pt x="4403280" y="4480610"/>
                  </a:lnTo>
                  <a:lnTo>
                    <a:pt x="4420755" y="4440301"/>
                  </a:lnTo>
                  <a:lnTo>
                    <a:pt x="4434192" y="4398467"/>
                  </a:lnTo>
                  <a:lnTo>
                    <a:pt x="4443476" y="4355515"/>
                  </a:lnTo>
                  <a:lnTo>
                    <a:pt x="4448505" y="4311865"/>
                  </a:lnTo>
                  <a:lnTo>
                    <a:pt x="4449394" y="4289907"/>
                  </a:lnTo>
                  <a:lnTo>
                    <a:pt x="4449394" y="447675"/>
                  </a:lnTo>
                  <a:lnTo>
                    <a:pt x="4445622" y="389229"/>
                  </a:lnTo>
                  <a:lnTo>
                    <a:pt x="4437761" y="346011"/>
                  </a:lnTo>
                  <a:lnTo>
                    <a:pt x="4425696" y="303758"/>
                  </a:lnTo>
                  <a:lnTo>
                    <a:pt x="4409541" y="262890"/>
                  </a:lnTo>
                  <a:lnTo>
                    <a:pt x="4389475" y="223812"/>
                  </a:lnTo>
                  <a:lnTo>
                    <a:pt x="4365663" y="186880"/>
                  </a:lnTo>
                  <a:lnTo>
                    <a:pt x="4338345" y="152463"/>
                  </a:lnTo>
                  <a:lnTo>
                    <a:pt x="4307801" y="120891"/>
                  </a:lnTo>
                  <a:lnTo>
                    <a:pt x="4274286" y="92468"/>
                  </a:lnTo>
                  <a:lnTo>
                    <a:pt x="4238155" y="67462"/>
                  </a:lnTo>
                  <a:lnTo>
                    <a:pt x="4199750" y="46113"/>
                  </a:lnTo>
                  <a:lnTo>
                    <a:pt x="4159440" y="28638"/>
                  </a:lnTo>
                  <a:lnTo>
                    <a:pt x="4117606" y="15201"/>
                  </a:lnTo>
                  <a:lnTo>
                    <a:pt x="4074655" y="5918"/>
                  </a:lnTo>
                  <a:lnTo>
                    <a:pt x="4031005" y="901"/>
                  </a:lnTo>
                  <a:lnTo>
                    <a:pt x="400904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 name="Google Shape;197;p6"/>
            <p:cNvSpPr/>
            <p:nvPr/>
          </p:nvSpPr>
          <p:spPr>
            <a:xfrm>
              <a:off x="7976621" y="4186636"/>
              <a:ext cx="1235710" cy="1040130"/>
            </a:xfrm>
            <a:custGeom>
              <a:rect b="b" l="l" r="r" t="t"/>
              <a:pathLst>
                <a:path extrusionOk="0" h="1040129" w="1235709">
                  <a:moveTo>
                    <a:pt x="760387" y="0"/>
                  </a:moveTo>
                  <a:lnTo>
                    <a:pt x="0" y="0"/>
                  </a:lnTo>
                  <a:lnTo>
                    <a:pt x="0" y="1039571"/>
                  </a:lnTo>
                  <a:lnTo>
                    <a:pt x="760387" y="1039571"/>
                  </a:lnTo>
                  <a:lnTo>
                    <a:pt x="791455" y="1038552"/>
                  </a:lnTo>
                  <a:lnTo>
                    <a:pt x="852991" y="1030446"/>
                  </a:lnTo>
                  <a:lnTo>
                    <a:pt x="913000" y="1014365"/>
                  </a:lnTo>
                  <a:lnTo>
                    <a:pt x="970338" y="990617"/>
                  </a:lnTo>
                  <a:lnTo>
                    <a:pt x="1024144" y="959551"/>
                  </a:lnTo>
                  <a:lnTo>
                    <a:pt x="1073386" y="921766"/>
                  </a:lnTo>
                  <a:lnTo>
                    <a:pt x="1117320" y="877833"/>
                  </a:lnTo>
                  <a:lnTo>
                    <a:pt x="1155100" y="828600"/>
                  </a:lnTo>
                  <a:lnTo>
                    <a:pt x="1186161" y="774796"/>
                  </a:lnTo>
                  <a:lnTo>
                    <a:pt x="1209912" y="717458"/>
                  </a:lnTo>
                  <a:lnTo>
                    <a:pt x="1225994" y="656740"/>
                  </a:lnTo>
                  <a:lnTo>
                    <a:pt x="1234095" y="576902"/>
                  </a:lnTo>
                  <a:lnTo>
                    <a:pt x="1235113" y="519785"/>
                  </a:lnTo>
                  <a:lnTo>
                    <a:pt x="1234095" y="462669"/>
                  </a:lnTo>
                  <a:lnTo>
                    <a:pt x="1231052" y="418393"/>
                  </a:lnTo>
                  <a:lnTo>
                    <a:pt x="1218933" y="351853"/>
                  </a:lnTo>
                  <a:lnTo>
                    <a:pt x="1198975" y="293055"/>
                  </a:lnTo>
                  <a:lnTo>
                    <a:pt x="1171511" y="237362"/>
                  </a:lnTo>
                  <a:lnTo>
                    <a:pt x="1137016" y="185735"/>
                  </a:lnTo>
                  <a:lnTo>
                    <a:pt x="1096073" y="139052"/>
                  </a:lnTo>
                  <a:lnTo>
                    <a:pt x="1049383" y="98107"/>
                  </a:lnTo>
                  <a:lnTo>
                    <a:pt x="997750" y="63601"/>
                  </a:lnTo>
                  <a:lnTo>
                    <a:pt x="942057" y="36142"/>
                  </a:lnTo>
                  <a:lnTo>
                    <a:pt x="883259" y="16179"/>
                  </a:lnTo>
                  <a:lnTo>
                    <a:pt x="822356" y="4065"/>
                  </a:lnTo>
                  <a:lnTo>
                    <a:pt x="760387"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 name="Google Shape;198;p6"/>
            <p:cNvSpPr/>
            <p:nvPr/>
          </p:nvSpPr>
          <p:spPr>
            <a:xfrm>
              <a:off x="8252261" y="4434606"/>
              <a:ext cx="615315" cy="615315"/>
            </a:xfrm>
            <a:custGeom>
              <a:rect b="b" l="l" r="r" t="t"/>
              <a:pathLst>
                <a:path extrusionOk="0" h="615314" w="615315">
                  <a:moveTo>
                    <a:pt x="121645" y="0"/>
                  </a:moveTo>
                  <a:lnTo>
                    <a:pt x="5362" y="108718"/>
                  </a:lnTo>
                  <a:lnTo>
                    <a:pt x="0" y="121640"/>
                  </a:lnTo>
                  <a:lnTo>
                    <a:pt x="1340" y="128517"/>
                  </a:lnTo>
                  <a:lnTo>
                    <a:pt x="5362" y="134562"/>
                  </a:lnTo>
                  <a:lnTo>
                    <a:pt x="480190" y="609403"/>
                  </a:lnTo>
                  <a:lnTo>
                    <a:pt x="486235" y="613410"/>
                  </a:lnTo>
                  <a:lnTo>
                    <a:pt x="493112" y="614746"/>
                  </a:lnTo>
                  <a:lnTo>
                    <a:pt x="499989" y="613410"/>
                  </a:lnTo>
                  <a:lnTo>
                    <a:pt x="506034" y="609403"/>
                  </a:lnTo>
                  <a:lnTo>
                    <a:pt x="534891" y="580542"/>
                  </a:lnTo>
                  <a:lnTo>
                    <a:pt x="493121" y="580542"/>
                  </a:lnTo>
                  <a:lnTo>
                    <a:pt x="484525" y="578870"/>
                  </a:lnTo>
                  <a:lnTo>
                    <a:pt x="476964" y="573855"/>
                  </a:lnTo>
                  <a:lnTo>
                    <a:pt x="471949" y="566302"/>
                  </a:lnTo>
                  <a:lnTo>
                    <a:pt x="470277" y="557707"/>
                  </a:lnTo>
                  <a:lnTo>
                    <a:pt x="471949" y="549113"/>
                  </a:lnTo>
                  <a:lnTo>
                    <a:pt x="476964" y="541559"/>
                  </a:lnTo>
                  <a:lnTo>
                    <a:pt x="484519" y="536537"/>
                  </a:lnTo>
                  <a:lnTo>
                    <a:pt x="493117" y="534863"/>
                  </a:lnTo>
                  <a:lnTo>
                    <a:pt x="580564" y="534863"/>
                  </a:lnTo>
                  <a:lnTo>
                    <a:pt x="609399" y="506025"/>
                  </a:lnTo>
                  <a:lnTo>
                    <a:pt x="613414" y="499986"/>
                  </a:lnTo>
                  <a:lnTo>
                    <a:pt x="614753" y="493114"/>
                  </a:lnTo>
                  <a:lnTo>
                    <a:pt x="613414" y="486238"/>
                  </a:lnTo>
                  <a:lnTo>
                    <a:pt x="609399" y="480193"/>
                  </a:lnTo>
                  <a:lnTo>
                    <a:pt x="602707" y="473500"/>
                  </a:lnTo>
                  <a:lnTo>
                    <a:pt x="545036" y="473500"/>
                  </a:lnTo>
                  <a:lnTo>
                    <a:pt x="531180" y="459670"/>
                  </a:lnTo>
                  <a:lnTo>
                    <a:pt x="545036" y="445814"/>
                  </a:lnTo>
                  <a:lnTo>
                    <a:pt x="489664" y="445814"/>
                  </a:lnTo>
                  <a:lnTo>
                    <a:pt x="475821" y="431971"/>
                  </a:lnTo>
                  <a:lnTo>
                    <a:pt x="517350" y="390442"/>
                  </a:lnTo>
                  <a:lnTo>
                    <a:pt x="461965" y="390442"/>
                  </a:lnTo>
                  <a:lnTo>
                    <a:pt x="448122" y="376612"/>
                  </a:lnTo>
                  <a:lnTo>
                    <a:pt x="475796" y="348926"/>
                  </a:lnTo>
                  <a:lnTo>
                    <a:pt x="420436" y="348926"/>
                  </a:lnTo>
                  <a:lnTo>
                    <a:pt x="406606" y="335070"/>
                  </a:lnTo>
                  <a:lnTo>
                    <a:pt x="434279" y="307397"/>
                  </a:lnTo>
                  <a:lnTo>
                    <a:pt x="378920" y="307397"/>
                  </a:lnTo>
                  <a:lnTo>
                    <a:pt x="365064" y="293554"/>
                  </a:lnTo>
                  <a:lnTo>
                    <a:pt x="378920" y="279698"/>
                  </a:lnTo>
                  <a:lnTo>
                    <a:pt x="323535" y="279698"/>
                  </a:lnTo>
                  <a:lnTo>
                    <a:pt x="309705" y="265868"/>
                  </a:lnTo>
                  <a:lnTo>
                    <a:pt x="351222" y="224339"/>
                  </a:lnTo>
                  <a:lnTo>
                    <a:pt x="295862" y="224339"/>
                  </a:lnTo>
                  <a:lnTo>
                    <a:pt x="282032" y="210508"/>
                  </a:lnTo>
                  <a:lnTo>
                    <a:pt x="309718" y="182810"/>
                  </a:lnTo>
                  <a:lnTo>
                    <a:pt x="254333" y="182810"/>
                  </a:lnTo>
                  <a:lnTo>
                    <a:pt x="240490" y="168967"/>
                  </a:lnTo>
                  <a:lnTo>
                    <a:pt x="268176" y="141281"/>
                  </a:lnTo>
                  <a:lnTo>
                    <a:pt x="212817" y="141281"/>
                  </a:lnTo>
                  <a:lnTo>
                    <a:pt x="198961" y="127438"/>
                  </a:lnTo>
                  <a:lnTo>
                    <a:pt x="212810" y="113595"/>
                  </a:lnTo>
                  <a:lnTo>
                    <a:pt x="157445" y="113595"/>
                  </a:lnTo>
                  <a:lnTo>
                    <a:pt x="143602" y="99739"/>
                  </a:lnTo>
                  <a:lnTo>
                    <a:pt x="186248" y="57029"/>
                  </a:lnTo>
                  <a:lnTo>
                    <a:pt x="134572" y="5353"/>
                  </a:lnTo>
                  <a:lnTo>
                    <a:pt x="128521" y="1338"/>
                  </a:lnTo>
                  <a:lnTo>
                    <a:pt x="121645" y="0"/>
                  </a:lnTo>
                  <a:close/>
                </a:path>
                <a:path extrusionOk="0" h="615314" w="615315">
                  <a:moveTo>
                    <a:pt x="580564" y="534863"/>
                  </a:moveTo>
                  <a:lnTo>
                    <a:pt x="493117" y="534863"/>
                  </a:lnTo>
                  <a:lnTo>
                    <a:pt x="501712" y="536537"/>
                  </a:lnTo>
                  <a:lnTo>
                    <a:pt x="509260" y="541559"/>
                  </a:lnTo>
                  <a:lnTo>
                    <a:pt x="514275" y="549113"/>
                  </a:lnTo>
                  <a:lnTo>
                    <a:pt x="515947" y="557707"/>
                  </a:lnTo>
                  <a:lnTo>
                    <a:pt x="514275" y="566302"/>
                  </a:lnTo>
                  <a:lnTo>
                    <a:pt x="509260" y="573855"/>
                  </a:lnTo>
                  <a:lnTo>
                    <a:pt x="501713" y="578870"/>
                  </a:lnTo>
                  <a:lnTo>
                    <a:pt x="493121" y="580542"/>
                  </a:lnTo>
                  <a:lnTo>
                    <a:pt x="534891" y="580542"/>
                  </a:lnTo>
                  <a:lnTo>
                    <a:pt x="580564" y="534863"/>
                  </a:lnTo>
                  <a:close/>
                </a:path>
                <a:path extrusionOk="0" h="615314" w="615315">
                  <a:moveTo>
                    <a:pt x="573865" y="444658"/>
                  </a:moveTo>
                  <a:lnTo>
                    <a:pt x="545036" y="473500"/>
                  </a:lnTo>
                  <a:lnTo>
                    <a:pt x="602707" y="473500"/>
                  </a:lnTo>
                  <a:lnTo>
                    <a:pt x="573865" y="444658"/>
                  </a:lnTo>
                  <a:close/>
                </a:path>
                <a:path extrusionOk="0" h="615314" w="615315">
                  <a:moveTo>
                    <a:pt x="532336" y="403129"/>
                  </a:moveTo>
                  <a:lnTo>
                    <a:pt x="489664" y="445814"/>
                  </a:lnTo>
                  <a:lnTo>
                    <a:pt x="545036" y="445814"/>
                  </a:lnTo>
                  <a:lnTo>
                    <a:pt x="560035" y="430815"/>
                  </a:lnTo>
                  <a:lnTo>
                    <a:pt x="532336" y="403129"/>
                  </a:lnTo>
                  <a:close/>
                </a:path>
                <a:path extrusionOk="0" h="615314" w="615315">
                  <a:moveTo>
                    <a:pt x="490807" y="361600"/>
                  </a:moveTo>
                  <a:lnTo>
                    <a:pt x="461965" y="390442"/>
                  </a:lnTo>
                  <a:lnTo>
                    <a:pt x="517350" y="390442"/>
                  </a:lnTo>
                  <a:lnTo>
                    <a:pt x="518506" y="389286"/>
                  </a:lnTo>
                  <a:lnTo>
                    <a:pt x="490807" y="361600"/>
                  </a:lnTo>
                  <a:close/>
                </a:path>
                <a:path extrusionOk="0" h="615314" w="615315">
                  <a:moveTo>
                    <a:pt x="449291" y="320071"/>
                  </a:moveTo>
                  <a:lnTo>
                    <a:pt x="420436" y="348926"/>
                  </a:lnTo>
                  <a:lnTo>
                    <a:pt x="475796" y="348926"/>
                  </a:lnTo>
                  <a:lnTo>
                    <a:pt x="476964" y="347757"/>
                  </a:lnTo>
                  <a:lnTo>
                    <a:pt x="449291" y="320071"/>
                  </a:lnTo>
                  <a:close/>
                </a:path>
                <a:path extrusionOk="0" h="615314" w="615315">
                  <a:moveTo>
                    <a:pt x="407749" y="278555"/>
                  </a:moveTo>
                  <a:lnTo>
                    <a:pt x="378920" y="307397"/>
                  </a:lnTo>
                  <a:lnTo>
                    <a:pt x="434279" y="307397"/>
                  </a:lnTo>
                  <a:lnTo>
                    <a:pt x="435448" y="306228"/>
                  </a:lnTo>
                  <a:lnTo>
                    <a:pt x="407749" y="278555"/>
                  </a:lnTo>
                  <a:close/>
                </a:path>
                <a:path extrusionOk="0" h="615314" w="615315">
                  <a:moveTo>
                    <a:pt x="366220" y="237013"/>
                  </a:moveTo>
                  <a:lnTo>
                    <a:pt x="323535" y="279698"/>
                  </a:lnTo>
                  <a:lnTo>
                    <a:pt x="378920" y="279698"/>
                  </a:lnTo>
                  <a:lnTo>
                    <a:pt x="393919" y="264699"/>
                  </a:lnTo>
                  <a:lnTo>
                    <a:pt x="366220" y="237013"/>
                  </a:lnTo>
                  <a:close/>
                </a:path>
                <a:path extrusionOk="0" h="615314" w="615315">
                  <a:moveTo>
                    <a:pt x="324691" y="195497"/>
                  </a:moveTo>
                  <a:lnTo>
                    <a:pt x="295862" y="224339"/>
                  </a:lnTo>
                  <a:lnTo>
                    <a:pt x="351222" y="224339"/>
                  </a:lnTo>
                  <a:lnTo>
                    <a:pt x="352390" y="223170"/>
                  </a:lnTo>
                  <a:lnTo>
                    <a:pt x="324691" y="195497"/>
                  </a:lnTo>
                  <a:close/>
                </a:path>
                <a:path extrusionOk="0" h="615314" w="615315">
                  <a:moveTo>
                    <a:pt x="283175" y="153955"/>
                  </a:moveTo>
                  <a:lnTo>
                    <a:pt x="254333" y="182810"/>
                  </a:lnTo>
                  <a:lnTo>
                    <a:pt x="309718" y="182810"/>
                  </a:lnTo>
                  <a:lnTo>
                    <a:pt x="310873" y="181654"/>
                  </a:lnTo>
                  <a:lnTo>
                    <a:pt x="283175" y="153955"/>
                  </a:lnTo>
                  <a:close/>
                </a:path>
                <a:path extrusionOk="0" h="615314" w="615315">
                  <a:moveTo>
                    <a:pt x="241658" y="112439"/>
                  </a:moveTo>
                  <a:lnTo>
                    <a:pt x="212817" y="141281"/>
                  </a:lnTo>
                  <a:lnTo>
                    <a:pt x="268176" y="141281"/>
                  </a:lnTo>
                  <a:lnTo>
                    <a:pt x="269332" y="140125"/>
                  </a:lnTo>
                  <a:lnTo>
                    <a:pt x="241658" y="112439"/>
                  </a:lnTo>
                  <a:close/>
                </a:path>
                <a:path extrusionOk="0" h="615314" w="615315">
                  <a:moveTo>
                    <a:pt x="200129" y="70910"/>
                  </a:moveTo>
                  <a:lnTo>
                    <a:pt x="157445" y="113595"/>
                  </a:lnTo>
                  <a:lnTo>
                    <a:pt x="212810" y="113595"/>
                  </a:lnTo>
                  <a:lnTo>
                    <a:pt x="227815" y="98596"/>
                  </a:lnTo>
                  <a:lnTo>
                    <a:pt x="200129" y="70910"/>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9" name="Google Shape;199;p6"/>
          <p:cNvGrpSpPr/>
          <p:nvPr/>
        </p:nvGrpSpPr>
        <p:grpSpPr>
          <a:xfrm>
            <a:off x="3044130" y="4052112"/>
            <a:ext cx="4449445" cy="4730750"/>
            <a:chOff x="3044130" y="4052112"/>
            <a:chExt cx="4449445" cy="4730750"/>
          </a:xfrm>
        </p:grpSpPr>
        <p:sp>
          <p:nvSpPr>
            <p:cNvPr id="200" name="Google Shape;200;p6"/>
            <p:cNvSpPr/>
            <p:nvPr/>
          </p:nvSpPr>
          <p:spPr>
            <a:xfrm>
              <a:off x="3044130" y="4052112"/>
              <a:ext cx="4449445" cy="4730750"/>
            </a:xfrm>
            <a:custGeom>
              <a:rect b="b" l="l" r="r" t="t"/>
              <a:pathLst>
                <a:path extrusionOk="0" h="4730750" w="4449445">
                  <a:moveTo>
                    <a:pt x="4009047" y="0"/>
                  </a:moveTo>
                  <a:lnTo>
                    <a:pt x="447675" y="0"/>
                  </a:lnTo>
                  <a:lnTo>
                    <a:pt x="433031" y="177"/>
                  </a:lnTo>
                  <a:lnTo>
                    <a:pt x="389229" y="3771"/>
                  </a:lnTo>
                  <a:lnTo>
                    <a:pt x="346011" y="11633"/>
                  </a:lnTo>
                  <a:lnTo>
                    <a:pt x="303758" y="23698"/>
                  </a:lnTo>
                  <a:lnTo>
                    <a:pt x="262890" y="39852"/>
                  </a:lnTo>
                  <a:lnTo>
                    <a:pt x="223812" y="59918"/>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282579"/>
                  </a:lnTo>
                  <a:lnTo>
                    <a:pt x="3771" y="4341025"/>
                  </a:lnTo>
                  <a:lnTo>
                    <a:pt x="11633" y="4384243"/>
                  </a:lnTo>
                  <a:lnTo>
                    <a:pt x="23698" y="4426496"/>
                  </a:lnTo>
                  <a:lnTo>
                    <a:pt x="39852" y="4467364"/>
                  </a:lnTo>
                  <a:lnTo>
                    <a:pt x="59918" y="4506442"/>
                  </a:lnTo>
                  <a:lnTo>
                    <a:pt x="83731" y="4543374"/>
                  </a:lnTo>
                  <a:lnTo>
                    <a:pt x="111048" y="4577791"/>
                  </a:lnTo>
                  <a:lnTo>
                    <a:pt x="141604" y="4609363"/>
                  </a:lnTo>
                  <a:lnTo>
                    <a:pt x="175107" y="4637786"/>
                  </a:lnTo>
                  <a:lnTo>
                    <a:pt x="211239" y="4662792"/>
                  </a:lnTo>
                  <a:lnTo>
                    <a:pt x="249643" y="4684141"/>
                  </a:lnTo>
                  <a:lnTo>
                    <a:pt x="289953" y="4701616"/>
                  </a:lnTo>
                  <a:lnTo>
                    <a:pt x="331787" y="4715065"/>
                  </a:lnTo>
                  <a:lnTo>
                    <a:pt x="374738" y="4724336"/>
                  </a:lnTo>
                  <a:lnTo>
                    <a:pt x="418388" y="4729353"/>
                  </a:lnTo>
                  <a:lnTo>
                    <a:pt x="440347" y="4730254"/>
                  </a:lnTo>
                  <a:lnTo>
                    <a:pt x="4001719" y="4730254"/>
                  </a:lnTo>
                  <a:lnTo>
                    <a:pt x="4060164" y="4726482"/>
                  </a:lnTo>
                  <a:lnTo>
                    <a:pt x="4103395" y="4718608"/>
                  </a:lnTo>
                  <a:lnTo>
                    <a:pt x="4145635" y="4706556"/>
                  </a:lnTo>
                  <a:lnTo>
                    <a:pt x="4186504" y="4690402"/>
                  </a:lnTo>
                  <a:lnTo>
                    <a:pt x="4225594" y="4670323"/>
                  </a:lnTo>
                  <a:lnTo>
                    <a:pt x="4262513" y="4646523"/>
                  </a:lnTo>
                  <a:lnTo>
                    <a:pt x="4296930" y="4619205"/>
                  </a:lnTo>
                  <a:lnTo>
                    <a:pt x="4328502" y="4588649"/>
                  </a:lnTo>
                  <a:lnTo>
                    <a:pt x="4356938" y="4555147"/>
                  </a:lnTo>
                  <a:lnTo>
                    <a:pt x="4381931" y="4519015"/>
                  </a:lnTo>
                  <a:lnTo>
                    <a:pt x="4403280" y="4480610"/>
                  </a:lnTo>
                  <a:lnTo>
                    <a:pt x="4420755" y="4440301"/>
                  </a:lnTo>
                  <a:lnTo>
                    <a:pt x="4434192" y="4398467"/>
                  </a:lnTo>
                  <a:lnTo>
                    <a:pt x="4443476" y="4355515"/>
                  </a:lnTo>
                  <a:lnTo>
                    <a:pt x="4448505" y="4311865"/>
                  </a:lnTo>
                  <a:lnTo>
                    <a:pt x="4449394" y="4289907"/>
                  </a:lnTo>
                  <a:lnTo>
                    <a:pt x="4449394" y="447675"/>
                  </a:lnTo>
                  <a:lnTo>
                    <a:pt x="4445622" y="389229"/>
                  </a:lnTo>
                  <a:lnTo>
                    <a:pt x="4437761" y="346011"/>
                  </a:lnTo>
                  <a:lnTo>
                    <a:pt x="4425696" y="303758"/>
                  </a:lnTo>
                  <a:lnTo>
                    <a:pt x="4409541" y="262890"/>
                  </a:lnTo>
                  <a:lnTo>
                    <a:pt x="4389475" y="223812"/>
                  </a:lnTo>
                  <a:lnTo>
                    <a:pt x="4365663" y="186880"/>
                  </a:lnTo>
                  <a:lnTo>
                    <a:pt x="4338345" y="152463"/>
                  </a:lnTo>
                  <a:lnTo>
                    <a:pt x="4307801" y="120891"/>
                  </a:lnTo>
                  <a:lnTo>
                    <a:pt x="4274286" y="92468"/>
                  </a:lnTo>
                  <a:lnTo>
                    <a:pt x="4238155" y="67462"/>
                  </a:lnTo>
                  <a:lnTo>
                    <a:pt x="4199750" y="46113"/>
                  </a:lnTo>
                  <a:lnTo>
                    <a:pt x="4159440" y="28638"/>
                  </a:lnTo>
                  <a:lnTo>
                    <a:pt x="4117606" y="15201"/>
                  </a:lnTo>
                  <a:lnTo>
                    <a:pt x="4074655" y="5918"/>
                  </a:lnTo>
                  <a:lnTo>
                    <a:pt x="4031005" y="901"/>
                  </a:lnTo>
                  <a:lnTo>
                    <a:pt x="400904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 name="Google Shape;201;p6"/>
            <p:cNvSpPr/>
            <p:nvPr/>
          </p:nvSpPr>
          <p:spPr>
            <a:xfrm>
              <a:off x="3044146" y="4186636"/>
              <a:ext cx="1235710" cy="1040130"/>
            </a:xfrm>
            <a:custGeom>
              <a:rect b="b" l="l" r="r" t="t"/>
              <a:pathLst>
                <a:path extrusionOk="0" h="1040129" w="1235710">
                  <a:moveTo>
                    <a:pt x="760399" y="0"/>
                  </a:moveTo>
                  <a:lnTo>
                    <a:pt x="0" y="0"/>
                  </a:lnTo>
                  <a:lnTo>
                    <a:pt x="0" y="1039571"/>
                  </a:lnTo>
                  <a:lnTo>
                    <a:pt x="760399" y="1039571"/>
                  </a:lnTo>
                  <a:lnTo>
                    <a:pt x="791467" y="1038552"/>
                  </a:lnTo>
                  <a:lnTo>
                    <a:pt x="853004" y="1030446"/>
                  </a:lnTo>
                  <a:lnTo>
                    <a:pt x="913012" y="1014365"/>
                  </a:lnTo>
                  <a:lnTo>
                    <a:pt x="970351" y="990617"/>
                  </a:lnTo>
                  <a:lnTo>
                    <a:pt x="1024157" y="959551"/>
                  </a:lnTo>
                  <a:lnTo>
                    <a:pt x="1073399" y="921766"/>
                  </a:lnTo>
                  <a:lnTo>
                    <a:pt x="1117333" y="877833"/>
                  </a:lnTo>
                  <a:lnTo>
                    <a:pt x="1155113" y="828600"/>
                  </a:lnTo>
                  <a:lnTo>
                    <a:pt x="1186174" y="774796"/>
                  </a:lnTo>
                  <a:lnTo>
                    <a:pt x="1209925" y="717458"/>
                  </a:lnTo>
                  <a:lnTo>
                    <a:pt x="1226006" y="656740"/>
                  </a:lnTo>
                  <a:lnTo>
                    <a:pt x="1234108" y="576902"/>
                  </a:lnTo>
                  <a:lnTo>
                    <a:pt x="1235125" y="519785"/>
                  </a:lnTo>
                  <a:lnTo>
                    <a:pt x="1234108" y="462669"/>
                  </a:lnTo>
                  <a:lnTo>
                    <a:pt x="1231064" y="418393"/>
                  </a:lnTo>
                  <a:lnTo>
                    <a:pt x="1218946" y="351853"/>
                  </a:lnTo>
                  <a:lnTo>
                    <a:pt x="1198987" y="293055"/>
                  </a:lnTo>
                  <a:lnTo>
                    <a:pt x="1171524" y="237362"/>
                  </a:lnTo>
                  <a:lnTo>
                    <a:pt x="1137029" y="185735"/>
                  </a:lnTo>
                  <a:lnTo>
                    <a:pt x="1096086" y="139052"/>
                  </a:lnTo>
                  <a:lnTo>
                    <a:pt x="1049396" y="98107"/>
                  </a:lnTo>
                  <a:lnTo>
                    <a:pt x="997762" y="63601"/>
                  </a:lnTo>
                  <a:lnTo>
                    <a:pt x="942070" y="36142"/>
                  </a:lnTo>
                  <a:lnTo>
                    <a:pt x="883272" y="16179"/>
                  </a:lnTo>
                  <a:lnTo>
                    <a:pt x="822369" y="4065"/>
                  </a:lnTo>
                  <a:lnTo>
                    <a:pt x="760399"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 name="Google Shape;202;p6"/>
            <p:cNvSpPr/>
            <p:nvPr/>
          </p:nvSpPr>
          <p:spPr>
            <a:xfrm>
              <a:off x="3678405" y="4608784"/>
              <a:ext cx="102870" cy="41275"/>
            </a:xfrm>
            <a:custGeom>
              <a:rect b="b" l="l" r="r" t="t"/>
              <a:pathLst>
                <a:path extrusionOk="0" h="41275" w="102870">
                  <a:moveTo>
                    <a:pt x="60718" y="0"/>
                  </a:moveTo>
                  <a:lnTo>
                    <a:pt x="41744" y="0"/>
                  </a:lnTo>
                  <a:lnTo>
                    <a:pt x="33515" y="6540"/>
                  </a:lnTo>
                  <a:lnTo>
                    <a:pt x="30594" y="19088"/>
                  </a:lnTo>
                  <a:lnTo>
                    <a:pt x="28257" y="21805"/>
                  </a:lnTo>
                  <a:lnTo>
                    <a:pt x="21958" y="24295"/>
                  </a:lnTo>
                  <a:lnTo>
                    <a:pt x="18389" y="23914"/>
                  </a:lnTo>
                  <a:lnTo>
                    <a:pt x="13995" y="20980"/>
                  </a:lnTo>
                  <a:lnTo>
                    <a:pt x="12141" y="20446"/>
                  </a:lnTo>
                  <a:lnTo>
                    <a:pt x="4584" y="20485"/>
                  </a:lnTo>
                  <a:lnTo>
                    <a:pt x="0" y="25082"/>
                  </a:lnTo>
                  <a:lnTo>
                    <a:pt x="0" y="36398"/>
                  </a:lnTo>
                  <a:lnTo>
                    <a:pt x="4584" y="40982"/>
                  </a:lnTo>
                  <a:lnTo>
                    <a:pt x="10248" y="40982"/>
                  </a:lnTo>
                  <a:lnTo>
                    <a:pt x="97878" y="40982"/>
                  </a:lnTo>
                  <a:lnTo>
                    <a:pt x="102463" y="36398"/>
                  </a:lnTo>
                  <a:lnTo>
                    <a:pt x="102463" y="25082"/>
                  </a:lnTo>
                  <a:lnTo>
                    <a:pt x="97878" y="20485"/>
                  </a:lnTo>
                  <a:lnTo>
                    <a:pt x="90322" y="20446"/>
                  </a:lnTo>
                  <a:lnTo>
                    <a:pt x="88468" y="20980"/>
                  </a:lnTo>
                  <a:lnTo>
                    <a:pt x="84074" y="23914"/>
                  </a:lnTo>
                  <a:lnTo>
                    <a:pt x="80505" y="24295"/>
                  </a:lnTo>
                  <a:lnTo>
                    <a:pt x="74206" y="21805"/>
                  </a:lnTo>
                  <a:lnTo>
                    <a:pt x="71869" y="19088"/>
                  </a:lnTo>
                  <a:lnTo>
                    <a:pt x="68961" y="6540"/>
                  </a:lnTo>
                  <a:lnTo>
                    <a:pt x="60718" y="0"/>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 name="Google Shape;203;p6"/>
            <p:cNvSpPr/>
            <p:nvPr/>
          </p:nvSpPr>
          <p:spPr>
            <a:xfrm>
              <a:off x="3319780" y="4434585"/>
              <a:ext cx="615315" cy="615315"/>
            </a:xfrm>
            <a:custGeom>
              <a:rect b="b" l="l" r="r" t="t"/>
              <a:pathLst>
                <a:path extrusionOk="0" h="615314" w="615314">
                  <a:moveTo>
                    <a:pt x="174193" y="420103"/>
                  </a:moveTo>
                  <a:lnTo>
                    <a:pt x="153708" y="420103"/>
                  </a:lnTo>
                  <a:lnTo>
                    <a:pt x="153708" y="440588"/>
                  </a:lnTo>
                  <a:lnTo>
                    <a:pt x="174193" y="440588"/>
                  </a:lnTo>
                  <a:lnTo>
                    <a:pt x="174193" y="420103"/>
                  </a:lnTo>
                  <a:close/>
                </a:path>
                <a:path extrusionOk="0" h="615314" w="615314">
                  <a:moveTo>
                    <a:pt x="215188" y="399618"/>
                  </a:moveTo>
                  <a:lnTo>
                    <a:pt x="194691" y="399618"/>
                  </a:lnTo>
                  <a:lnTo>
                    <a:pt x="194691" y="440588"/>
                  </a:lnTo>
                  <a:lnTo>
                    <a:pt x="215188" y="440588"/>
                  </a:lnTo>
                  <a:lnTo>
                    <a:pt x="215188" y="399618"/>
                  </a:lnTo>
                  <a:close/>
                </a:path>
                <a:path extrusionOk="0" h="615314" w="615314">
                  <a:moveTo>
                    <a:pt x="256159" y="368871"/>
                  </a:moveTo>
                  <a:lnTo>
                    <a:pt x="235673" y="368871"/>
                  </a:lnTo>
                  <a:lnTo>
                    <a:pt x="235673" y="440588"/>
                  </a:lnTo>
                  <a:lnTo>
                    <a:pt x="256159" y="440588"/>
                  </a:lnTo>
                  <a:lnTo>
                    <a:pt x="256159" y="368871"/>
                  </a:lnTo>
                  <a:close/>
                </a:path>
                <a:path extrusionOk="0" h="615314" w="615314">
                  <a:moveTo>
                    <a:pt x="293662" y="164884"/>
                  </a:moveTo>
                  <a:lnTo>
                    <a:pt x="253288" y="156273"/>
                  </a:lnTo>
                  <a:lnTo>
                    <a:pt x="252056" y="160274"/>
                  </a:lnTo>
                  <a:lnTo>
                    <a:pt x="250113" y="168262"/>
                  </a:lnTo>
                  <a:lnTo>
                    <a:pt x="213537" y="174307"/>
                  </a:lnTo>
                  <a:lnTo>
                    <a:pt x="208559" y="175107"/>
                  </a:lnTo>
                  <a:lnTo>
                    <a:pt x="204914" y="179412"/>
                  </a:lnTo>
                  <a:lnTo>
                    <a:pt x="204927" y="184454"/>
                  </a:lnTo>
                  <a:lnTo>
                    <a:pt x="225425" y="184454"/>
                  </a:lnTo>
                  <a:lnTo>
                    <a:pt x="236156" y="186347"/>
                  </a:lnTo>
                  <a:lnTo>
                    <a:pt x="245300" y="191681"/>
                  </a:lnTo>
                  <a:lnTo>
                    <a:pt x="252095" y="199796"/>
                  </a:lnTo>
                  <a:lnTo>
                    <a:pt x="255752" y="210070"/>
                  </a:lnTo>
                  <a:lnTo>
                    <a:pt x="259638" y="233730"/>
                  </a:lnTo>
                  <a:lnTo>
                    <a:pt x="267665" y="236385"/>
                  </a:lnTo>
                  <a:lnTo>
                    <a:pt x="275539" y="239420"/>
                  </a:lnTo>
                  <a:lnTo>
                    <a:pt x="283248" y="242849"/>
                  </a:lnTo>
                  <a:lnTo>
                    <a:pt x="290791" y="246646"/>
                  </a:lnTo>
                  <a:lnTo>
                    <a:pt x="293560" y="244690"/>
                  </a:lnTo>
                  <a:lnTo>
                    <a:pt x="290652" y="234988"/>
                  </a:lnTo>
                  <a:lnTo>
                    <a:pt x="288569" y="225094"/>
                  </a:lnTo>
                  <a:lnTo>
                    <a:pt x="287312" y="215061"/>
                  </a:lnTo>
                  <a:lnTo>
                    <a:pt x="286893" y="204939"/>
                  </a:lnTo>
                  <a:lnTo>
                    <a:pt x="287312" y="194741"/>
                  </a:lnTo>
                  <a:lnTo>
                    <a:pt x="288582" y="184619"/>
                  </a:lnTo>
                  <a:lnTo>
                    <a:pt x="290703" y="174650"/>
                  </a:lnTo>
                  <a:lnTo>
                    <a:pt x="293662" y="164884"/>
                  </a:lnTo>
                  <a:close/>
                </a:path>
                <a:path extrusionOk="0" h="615314" w="615314">
                  <a:moveTo>
                    <a:pt x="307403" y="409867"/>
                  </a:moveTo>
                  <a:lnTo>
                    <a:pt x="299300" y="370014"/>
                  </a:lnTo>
                  <a:lnTo>
                    <a:pt x="284708" y="348399"/>
                  </a:lnTo>
                  <a:lnTo>
                    <a:pt x="277329" y="337464"/>
                  </a:lnTo>
                  <a:lnTo>
                    <a:pt x="276644" y="337007"/>
                  </a:lnTo>
                  <a:lnTo>
                    <a:pt x="276644" y="352983"/>
                  </a:lnTo>
                  <a:lnTo>
                    <a:pt x="276644" y="456501"/>
                  </a:lnTo>
                  <a:lnTo>
                    <a:pt x="272072" y="461073"/>
                  </a:lnTo>
                  <a:lnTo>
                    <a:pt x="137807" y="461073"/>
                  </a:lnTo>
                  <a:lnTo>
                    <a:pt x="133235" y="456501"/>
                  </a:lnTo>
                  <a:lnTo>
                    <a:pt x="133235" y="404215"/>
                  </a:lnTo>
                  <a:lnTo>
                    <a:pt x="137807" y="399630"/>
                  </a:lnTo>
                  <a:lnTo>
                    <a:pt x="174193" y="399630"/>
                  </a:lnTo>
                  <a:lnTo>
                    <a:pt x="174218" y="383717"/>
                  </a:lnTo>
                  <a:lnTo>
                    <a:pt x="178790" y="379145"/>
                  </a:lnTo>
                  <a:lnTo>
                    <a:pt x="215176" y="379145"/>
                  </a:lnTo>
                  <a:lnTo>
                    <a:pt x="215201" y="352983"/>
                  </a:lnTo>
                  <a:lnTo>
                    <a:pt x="219786" y="348399"/>
                  </a:lnTo>
                  <a:lnTo>
                    <a:pt x="272072" y="348399"/>
                  </a:lnTo>
                  <a:lnTo>
                    <a:pt x="276644" y="352983"/>
                  </a:lnTo>
                  <a:lnTo>
                    <a:pt x="276644" y="337007"/>
                  </a:lnTo>
                  <a:lnTo>
                    <a:pt x="244792" y="315493"/>
                  </a:lnTo>
                  <a:lnTo>
                    <a:pt x="204939" y="307403"/>
                  </a:lnTo>
                  <a:lnTo>
                    <a:pt x="168630" y="314020"/>
                  </a:lnTo>
                  <a:lnTo>
                    <a:pt x="137858" y="332371"/>
                  </a:lnTo>
                  <a:lnTo>
                    <a:pt x="115265" y="360172"/>
                  </a:lnTo>
                  <a:lnTo>
                    <a:pt x="103492" y="395160"/>
                  </a:lnTo>
                  <a:lnTo>
                    <a:pt x="104597" y="425424"/>
                  </a:lnTo>
                  <a:lnTo>
                    <a:pt x="104724" y="428866"/>
                  </a:lnTo>
                  <a:lnTo>
                    <a:pt x="104838" y="432028"/>
                  </a:lnTo>
                  <a:lnTo>
                    <a:pt x="118605" y="465112"/>
                  </a:lnTo>
                  <a:lnTo>
                    <a:pt x="142900" y="491451"/>
                  </a:lnTo>
                  <a:lnTo>
                    <a:pt x="175831" y="508114"/>
                  </a:lnTo>
                  <a:lnTo>
                    <a:pt x="212521" y="512051"/>
                  </a:lnTo>
                  <a:lnTo>
                    <a:pt x="247218" y="503161"/>
                  </a:lnTo>
                  <a:lnTo>
                    <a:pt x="276758" y="482892"/>
                  </a:lnTo>
                  <a:lnTo>
                    <a:pt x="292074" y="461073"/>
                  </a:lnTo>
                  <a:lnTo>
                    <a:pt x="297967" y="452691"/>
                  </a:lnTo>
                  <a:lnTo>
                    <a:pt x="287261" y="446900"/>
                  </a:lnTo>
                  <a:lnTo>
                    <a:pt x="285419" y="440664"/>
                  </a:lnTo>
                  <a:lnTo>
                    <a:pt x="290855" y="430707"/>
                  </a:lnTo>
                  <a:lnTo>
                    <a:pt x="297091" y="428866"/>
                  </a:lnTo>
                  <a:lnTo>
                    <a:pt x="304736" y="433019"/>
                  </a:lnTo>
                  <a:lnTo>
                    <a:pt x="305701" y="428866"/>
                  </a:lnTo>
                  <a:lnTo>
                    <a:pt x="306514" y="425424"/>
                  </a:lnTo>
                  <a:lnTo>
                    <a:pt x="307403" y="417652"/>
                  </a:lnTo>
                  <a:lnTo>
                    <a:pt x="307403" y="409867"/>
                  </a:lnTo>
                  <a:close/>
                </a:path>
                <a:path extrusionOk="0" h="615314" w="615314">
                  <a:moveTo>
                    <a:pt x="409879" y="384340"/>
                  </a:moveTo>
                  <a:lnTo>
                    <a:pt x="406222" y="380034"/>
                  </a:lnTo>
                  <a:lnTo>
                    <a:pt x="364667" y="373189"/>
                  </a:lnTo>
                  <a:lnTo>
                    <a:pt x="361099" y="359956"/>
                  </a:lnTo>
                  <a:lnTo>
                    <a:pt x="356412" y="347116"/>
                  </a:lnTo>
                  <a:lnTo>
                    <a:pt x="350621" y="334721"/>
                  </a:lnTo>
                  <a:lnTo>
                    <a:pt x="343776" y="322872"/>
                  </a:lnTo>
                  <a:lnTo>
                    <a:pt x="368312" y="288582"/>
                  </a:lnTo>
                  <a:lnTo>
                    <a:pt x="367880" y="283006"/>
                  </a:lnTo>
                  <a:lnTo>
                    <a:pt x="331800" y="246913"/>
                  </a:lnTo>
                  <a:lnTo>
                    <a:pt x="326212" y="246481"/>
                  </a:lnTo>
                  <a:lnTo>
                    <a:pt x="291922" y="271030"/>
                  </a:lnTo>
                  <a:lnTo>
                    <a:pt x="280060" y="264172"/>
                  </a:lnTo>
                  <a:lnTo>
                    <a:pt x="267677" y="258381"/>
                  </a:lnTo>
                  <a:lnTo>
                    <a:pt x="254838" y="253682"/>
                  </a:lnTo>
                  <a:lnTo>
                    <a:pt x="241617" y="250126"/>
                  </a:lnTo>
                  <a:lnTo>
                    <a:pt x="234721" y="208521"/>
                  </a:lnTo>
                  <a:lnTo>
                    <a:pt x="230441" y="204927"/>
                  </a:lnTo>
                  <a:lnTo>
                    <a:pt x="179438" y="204927"/>
                  </a:lnTo>
                  <a:lnTo>
                    <a:pt x="175158" y="208521"/>
                  </a:lnTo>
                  <a:lnTo>
                    <a:pt x="168262" y="250126"/>
                  </a:lnTo>
                  <a:lnTo>
                    <a:pt x="155028" y="253682"/>
                  </a:lnTo>
                  <a:lnTo>
                    <a:pt x="142189" y="258381"/>
                  </a:lnTo>
                  <a:lnTo>
                    <a:pt x="129806" y="264172"/>
                  </a:lnTo>
                  <a:lnTo>
                    <a:pt x="117957" y="271030"/>
                  </a:lnTo>
                  <a:lnTo>
                    <a:pt x="83667" y="246481"/>
                  </a:lnTo>
                  <a:lnTo>
                    <a:pt x="78079" y="246913"/>
                  </a:lnTo>
                  <a:lnTo>
                    <a:pt x="41998" y="283006"/>
                  </a:lnTo>
                  <a:lnTo>
                    <a:pt x="41567" y="288582"/>
                  </a:lnTo>
                  <a:lnTo>
                    <a:pt x="66103" y="322872"/>
                  </a:lnTo>
                  <a:lnTo>
                    <a:pt x="59245" y="334721"/>
                  </a:lnTo>
                  <a:lnTo>
                    <a:pt x="53454" y="347116"/>
                  </a:lnTo>
                  <a:lnTo>
                    <a:pt x="48768" y="359956"/>
                  </a:lnTo>
                  <a:lnTo>
                    <a:pt x="45212" y="373189"/>
                  </a:lnTo>
                  <a:lnTo>
                    <a:pt x="3657" y="380034"/>
                  </a:lnTo>
                  <a:lnTo>
                    <a:pt x="0" y="384340"/>
                  </a:lnTo>
                  <a:lnTo>
                    <a:pt x="0" y="435394"/>
                  </a:lnTo>
                  <a:lnTo>
                    <a:pt x="3657" y="439699"/>
                  </a:lnTo>
                  <a:lnTo>
                    <a:pt x="45212" y="446544"/>
                  </a:lnTo>
                  <a:lnTo>
                    <a:pt x="48768" y="459765"/>
                  </a:lnTo>
                  <a:lnTo>
                    <a:pt x="53454" y="472605"/>
                  </a:lnTo>
                  <a:lnTo>
                    <a:pt x="59245" y="484987"/>
                  </a:lnTo>
                  <a:lnTo>
                    <a:pt x="66103" y="496849"/>
                  </a:lnTo>
                  <a:lnTo>
                    <a:pt x="41567" y="531139"/>
                  </a:lnTo>
                  <a:lnTo>
                    <a:pt x="41998" y="536727"/>
                  </a:lnTo>
                  <a:lnTo>
                    <a:pt x="78079" y="572820"/>
                  </a:lnTo>
                  <a:lnTo>
                    <a:pt x="83667" y="573252"/>
                  </a:lnTo>
                  <a:lnTo>
                    <a:pt x="117957" y="548690"/>
                  </a:lnTo>
                  <a:lnTo>
                    <a:pt x="129806" y="555548"/>
                  </a:lnTo>
                  <a:lnTo>
                    <a:pt x="142189" y="561340"/>
                  </a:lnTo>
                  <a:lnTo>
                    <a:pt x="155028" y="566026"/>
                  </a:lnTo>
                  <a:lnTo>
                    <a:pt x="168262" y="569595"/>
                  </a:lnTo>
                  <a:lnTo>
                    <a:pt x="175158" y="611212"/>
                  </a:lnTo>
                  <a:lnTo>
                    <a:pt x="179438" y="614807"/>
                  </a:lnTo>
                  <a:lnTo>
                    <a:pt x="230441" y="614807"/>
                  </a:lnTo>
                  <a:lnTo>
                    <a:pt x="234721" y="611212"/>
                  </a:lnTo>
                  <a:lnTo>
                    <a:pt x="241617" y="569595"/>
                  </a:lnTo>
                  <a:lnTo>
                    <a:pt x="254838" y="566026"/>
                  </a:lnTo>
                  <a:lnTo>
                    <a:pt x="267677" y="561340"/>
                  </a:lnTo>
                  <a:lnTo>
                    <a:pt x="280060" y="555548"/>
                  </a:lnTo>
                  <a:lnTo>
                    <a:pt x="291922" y="548690"/>
                  </a:lnTo>
                  <a:lnTo>
                    <a:pt x="326212" y="573239"/>
                  </a:lnTo>
                  <a:lnTo>
                    <a:pt x="331800" y="572808"/>
                  </a:lnTo>
                  <a:lnTo>
                    <a:pt x="367880" y="536727"/>
                  </a:lnTo>
                  <a:lnTo>
                    <a:pt x="368312" y="531139"/>
                  </a:lnTo>
                  <a:lnTo>
                    <a:pt x="343776" y="496849"/>
                  </a:lnTo>
                  <a:lnTo>
                    <a:pt x="346811" y="492150"/>
                  </a:lnTo>
                  <a:lnTo>
                    <a:pt x="349554" y="487260"/>
                  </a:lnTo>
                  <a:lnTo>
                    <a:pt x="351967" y="482206"/>
                  </a:lnTo>
                  <a:lnTo>
                    <a:pt x="316001" y="462635"/>
                  </a:lnTo>
                  <a:lnTo>
                    <a:pt x="296722" y="491680"/>
                  </a:lnTo>
                  <a:lnTo>
                    <a:pt x="270624" y="513791"/>
                  </a:lnTo>
                  <a:lnTo>
                    <a:pt x="239445" y="527862"/>
                  </a:lnTo>
                  <a:lnTo>
                    <a:pt x="204939" y="532815"/>
                  </a:lnTo>
                  <a:lnTo>
                    <a:pt x="157073" y="523151"/>
                  </a:lnTo>
                  <a:lnTo>
                    <a:pt x="117995" y="496798"/>
                  </a:lnTo>
                  <a:lnTo>
                    <a:pt x="91643" y="457720"/>
                  </a:lnTo>
                  <a:lnTo>
                    <a:pt x="81991" y="409867"/>
                  </a:lnTo>
                  <a:lnTo>
                    <a:pt x="91643" y="362000"/>
                  </a:lnTo>
                  <a:lnTo>
                    <a:pt x="117995" y="322922"/>
                  </a:lnTo>
                  <a:lnTo>
                    <a:pt x="157073" y="296570"/>
                  </a:lnTo>
                  <a:lnTo>
                    <a:pt x="204939" y="286918"/>
                  </a:lnTo>
                  <a:lnTo>
                    <a:pt x="252793" y="296570"/>
                  </a:lnTo>
                  <a:lnTo>
                    <a:pt x="291871" y="322922"/>
                  </a:lnTo>
                  <a:lnTo>
                    <a:pt x="318223" y="362000"/>
                  </a:lnTo>
                  <a:lnTo>
                    <a:pt x="327888" y="409867"/>
                  </a:lnTo>
                  <a:lnTo>
                    <a:pt x="327609" y="418299"/>
                  </a:lnTo>
                  <a:lnTo>
                    <a:pt x="326758" y="426669"/>
                  </a:lnTo>
                  <a:lnTo>
                    <a:pt x="325310" y="434975"/>
                  </a:lnTo>
                  <a:lnTo>
                    <a:pt x="323278" y="443166"/>
                  </a:lnTo>
                  <a:lnTo>
                    <a:pt x="359956" y="463143"/>
                  </a:lnTo>
                  <a:lnTo>
                    <a:pt x="361886" y="457720"/>
                  </a:lnTo>
                  <a:lnTo>
                    <a:pt x="363461" y="452170"/>
                  </a:lnTo>
                  <a:lnTo>
                    <a:pt x="364667" y="446544"/>
                  </a:lnTo>
                  <a:lnTo>
                    <a:pt x="406222" y="439699"/>
                  </a:lnTo>
                  <a:lnTo>
                    <a:pt x="409879" y="435394"/>
                  </a:lnTo>
                  <a:lnTo>
                    <a:pt x="409879" y="384340"/>
                  </a:lnTo>
                  <a:close/>
                </a:path>
                <a:path extrusionOk="0" h="615314" w="615314">
                  <a:moveTo>
                    <a:pt x="511022" y="188353"/>
                  </a:moveTo>
                  <a:lnTo>
                    <a:pt x="506260" y="174612"/>
                  </a:lnTo>
                  <a:lnTo>
                    <a:pt x="506171" y="174332"/>
                  </a:lnTo>
                  <a:lnTo>
                    <a:pt x="499643" y="155511"/>
                  </a:lnTo>
                  <a:lnTo>
                    <a:pt x="498221" y="153720"/>
                  </a:lnTo>
                  <a:lnTo>
                    <a:pt x="481571" y="132854"/>
                  </a:lnTo>
                  <a:lnTo>
                    <a:pt x="481571" y="204939"/>
                  </a:lnTo>
                  <a:lnTo>
                    <a:pt x="479158" y="216903"/>
                  </a:lnTo>
                  <a:lnTo>
                    <a:pt x="472567" y="226682"/>
                  </a:lnTo>
                  <a:lnTo>
                    <a:pt x="462800" y="233273"/>
                  </a:lnTo>
                  <a:lnTo>
                    <a:pt x="450824" y="235686"/>
                  </a:lnTo>
                  <a:lnTo>
                    <a:pt x="368858" y="235686"/>
                  </a:lnTo>
                  <a:lnTo>
                    <a:pt x="356908" y="233273"/>
                  </a:lnTo>
                  <a:lnTo>
                    <a:pt x="347611" y="226999"/>
                  </a:lnTo>
                  <a:lnTo>
                    <a:pt x="347129" y="226682"/>
                  </a:lnTo>
                  <a:lnTo>
                    <a:pt x="340550" y="216903"/>
                  </a:lnTo>
                  <a:lnTo>
                    <a:pt x="338124" y="204939"/>
                  </a:lnTo>
                  <a:lnTo>
                    <a:pt x="340550" y="192976"/>
                  </a:lnTo>
                  <a:lnTo>
                    <a:pt x="347129" y="183210"/>
                  </a:lnTo>
                  <a:lnTo>
                    <a:pt x="356908" y="176618"/>
                  </a:lnTo>
                  <a:lnTo>
                    <a:pt x="368236" y="174332"/>
                  </a:lnTo>
                  <a:lnTo>
                    <a:pt x="372364" y="174332"/>
                  </a:lnTo>
                  <a:lnTo>
                    <a:pt x="374091" y="174612"/>
                  </a:lnTo>
                  <a:lnTo>
                    <a:pt x="380657" y="165900"/>
                  </a:lnTo>
                  <a:lnTo>
                    <a:pt x="389140" y="159321"/>
                  </a:lnTo>
                  <a:lnTo>
                    <a:pt x="399034" y="155168"/>
                  </a:lnTo>
                  <a:lnTo>
                    <a:pt x="409841" y="153720"/>
                  </a:lnTo>
                  <a:lnTo>
                    <a:pt x="420662" y="155168"/>
                  </a:lnTo>
                  <a:lnTo>
                    <a:pt x="430555" y="159321"/>
                  </a:lnTo>
                  <a:lnTo>
                    <a:pt x="439039" y="165900"/>
                  </a:lnTo>
                  <a:lnTo>
                    <a:pt x="445604" y="174612"/>
                  </a:lnTo>
                  <a:lnTo>
                    <a:pt x="447332" y="174332"/>
                  </a:lnTo>
                  <a:lnTo>
                    <a:pt x="451459" y="174332"/>
                  </a:lnTo>
                  <a:lnTo>
                    <a:pt x="462800" y="176618"/>
                  </a:lnTo>
                  <a:lnTo>
                    <a:pt x="472567" y="183210"/>
                  </a:lnTo>
                  <a:lnTo>
                    <a:pt x="479158" y="192976"/>
                  </a:lnTo>
                  <a:lnTo>
                    <a:pt x="481571" y="204939"/>
                  </a:lnTo>
                  <a:lnTo>
                    <a:pt x="481571" y="132854"/>
                  </a:lnTo>
                  <a:lnTo>
                    <a:pt x="477964" y="128333"/>
                  </a:lnTo>
                  <a:lnTo>
                    <a:pt x="447497" y="109626"/>
                  </a:lnTo>
                  <a:lnTo>
                    <a:pt x="412470" y="102501"/>
                  </a:lnTo>
                  <a:lnTo>
                    <a:pt x="378066" y="107556"/>
                  </a:lnTo>
                  <a:lnTo>
                    <a:pt x="347332" y="123786"/>
                  </a:lnTo>
                  <a:lnTo>
                    <a:pt x="323265" y="150228"/>
                  </a:lnTo>
                  <a:lnTo>
                    <a:pt x="345414" y="155016"/>
                  </a:lnTo>
                  <a:lnTo>
                    <a:pt x="348894" y="159804"/>
                  </a:lnTo>
                  <a:lnTo>
                    <a:pt x="347891" y="169291"/>
                  </a:lnTo>
                  <a:lnTo>
                    <a:pt x="347776" y="170256"/>
                  </a:lnTo>
                  <a:lnTo>
                    <a:pt x="343242" y="174332"/>
                  </a:lnTo>
                  <a:lnTo>
                    <a:pt x="337540" y="174332"/>
                  </a:lnTo>
                  <a:lnTo>
                    <a:pt x="313842" y="169291"/>
                  </a:lnTo>
                  <a:lnTo>
                    <a:pt x="311035" y="177952"/>
                  </a:lnTo>
                  <a:lnTo>
                    <a:pt x="309003" y="186817"/>
                  </a:lnTo>
                  <a:lnTo>
                    <a:pt x="307797" y="195834"/>
                  </a:lnTo>
                  <a:lnTo>
                    <a:pt x="307390" y="204939"/>
                  </a:lnTo>
                  <a:lnTo>
                    <a:pt x="307606" y="211810"/>
                  </a:lnTo>
                  <a:lnTo>
                    <a:pt x="308292" y="218643"/>
                  </a:lnTo>
                  <a:lnTo>
                    <a:pt x="309448" y="225412"/>
                  </a:lnTo>
                  <a:lnTo>
                    <a:pt x="311073" y="232092"/>
                  </a:lnTo>
                  <a:lnTo>
                    <a:pt x="316128" y="228777"/>
                  </a:lnTo>
                  <a:lnTo>
                    <a:pt x="322033" y="226999"/>
                  </a:lnTo>
                  <a:lnTo>
                    <a:pt x="336372" y="226999"/>
                  </a:lnTo>
                  <a:lnTo>
                    <a:pt x="344068" y="230200"/>
                  </a:lnTo>
                  <a:lnTo>
                    <a:pt x="378802" y="264985"/>
                  </a:lnTo>
                  <a:lnTo>
                    <a:pt x="384924" y="273685"/>
                  </a:lnTo>
                  <a:lnTo>
                    <a:pt x="387667" y="283654"/>
                  </a:lnTo>
                  <a:lnTo>
                    <a:pt x="386956" y="293966"/>
                  </a:lnTo>
                  <a:lnTo>
                    <a:pt x="382689" y="303707"/>
                  </a:lnTo>
                  <a:lnTo>
                    <a:pt x="389382" y="305333"/>
                  </a:lnTo>
                  <a:lnTo>
                    <a:pt x="396151" y="306501"/>
                  </a:lnTo>
                  <a:lnTo>
                    <a:pt x="402983" y="307187"/>
                  </a:lnTo>
                  <a:lnTo>
                    <a:pt x="409841" y="307403"/>
                  </a:lnTo>
                  <a:lnTo>
                    <a:pt x="445058" y="301193"/>
                  </a:lnTo>
                  <a:lnTo>
                    <a:pt x="475208" y="283895"/>
                  </a:lnTo>
                  <a:lnTo>
                    <a:pt x="497865" y="257517"/>
                  </a:lnTo>
                  <a:lnTo>
                    <a:pt x="506044" y="235991"/>
                  </a:lnTo>
                  <a:lnTo>
                    <a:pt x="506158" y="235686"/>
                  </a:lnTo>
                  <a:lnTo>
                    <a:pt x="510552" y="224104"/>
                  </a:lnTo>
                  <a:lnTo>
                    <a:pt x="510654" y="216903"/>
                  </a:lnTo>
                  <a:lnTo>
                    <a:pt x="510717" y="211810"/>
                  </a:lnTo>
                  <a:lnTo>
                    <a:pt x="510806" y="204939"/>
                  </a:lnTo>
                  <a:lnTo>
                    <a:pt x="510921" y="195834"/>
                  </a:lnTo>
                  <a:lnTo>
                    <a:pt x="511022" y="188353"/>
                  </a:lnTo>
                  <a:close/>
                </a:path>
                <a:path extrusionOk="0" h="615314" w="615314">
                  <a:moveTo>
                    <a:pt x="563537" y="578383"/>
                  </a:moveTo>
                  <a:lnTo>
                    <a:pt x="558952" y="573798"/>
                  </a:lnTo>
                  <a:lnTo>
                    <a:pt x="553288" y="573798"/>
                  </a:lnTo>
                  <a:lnTo>
                    <a:pt x="465658" y="573798"/>
                  </a:lnTo>
                  <a:lnTo>
                    <a:pt x="461073" y="578383"/>
                  </a:lnTo>
                  <a:lnTo>
                    <a:pt x="461073" y="589699"/>
                  </a:lnTo>
                  <a:lnTo>
                    <a:pt x="465658" y="594296"/>
                  </a:lnTo>
                  <a:lnTo>
                    <a:pt x="558952" y="594296"/>
                  </a:lnTo>
                  <a:lnTo>
                    <a:pt x="563537" y="589699"/>
                  </a:lnTo>
                  <a:lnTo>
                    <a:pt x="563537" y="578383"/>
                  </a:lnTo>
                  <a:close/>
                </a:path>
                <a:path extrusionOk="0" h="615314" w="615314">
                  <a:moveTo>
                    <a:pt x="563537" y="537400"/>
                  </a:moveTo>
                  <a:lnTo>
                    <a:pt x="558952" y="532815"/>
                  </a:lnTo>
                  <a:lnTo>
                    <a:pt x="553288" y="532815"/>
                  </a:lnTo>
                  <a:lnTo>
                    <a:pt x="465658" y="532815"/>
                  </a:lnTo>
                  <a:lnTo>
                    <a:pt x="461073" y="537400"/>
                  </a:lnTo>
                  <a:lnTo>
                    <a:pt x="461073" y="548716"/>
                  </a:lnTo>
                  <a:lnTo>
                    <a:pt x="465658" y="553313"/>
                  </a:lnTo>
                  <a:lnTo>
                    <a:pt x="558952" y="553313"/>
                  </a:lnTo>
                  <a:lnTo>
                    <a:pt x="563537" y="548716"/>
                  </a:lnTo>
                  <a:lnTo>
                    <a:pt x="563537" y="537400"/>
                  </a:lnTo>
                  <a:close/>
                </a:path>
                <a:path extrusionOk="0" h="615314" w="615314">
                  <a:moveTo>
                    <a:pt x="563537" y="496404"/>
                  </a:moveTo>
                  <a:lnTo>
                    <a:pt x="558952" y="491820"/>
                  </a:lnTo>
                  <a:lnTo>
                    <a:pt x="553288" y="491820"/>
                  </a:lnTo>
                  <a:lnTo>
                    <a:pt x="486156" y="491820"/>
                  </a:lnTo>
                  <a:lnTo>
                    <a:pt x="481571" y="496404"/>
                  </a:lnTo>
                  <a:lnTo>
                    <a:pt x="481571" y="507720"/>
                  </a:lnTo>
                  <a:lnTo>
                    <a:pt x="486156" y="512318"/>
                  </a:lnTo>
                  <a:lnTo>
                    <a:pt x="558952" y="512318"/>
                  </a:lnTo>
                  <a:lnTo>
                    <a:pt x="563537" y="507720"/>
                  </a:lnTo>
                  <a:lnTo>
                    <a:pt x="563537" y="496404"/>
                  </a:lnTo>
                  <a:close/>
                </a:path>
                <a:path extrusionOk="0" h="615314" w="615314">
                  <a:moveTo>
                    <a:pt x="614781" y="179412"/>
                  </a:moveTo>
                  <a:lnTo>
                    <a:pt x="611136" y="175107"/>
                  </a:lnTo>
                  <a:lnTo>
                    <a:pt x="606158" y="174307"/>
                  </a:lnTo>
                  <a:lnTo>
                    <a:pt x="569582" y="168262"/>
                  </a:lnTo>
                  <a:lnTo>
                    <a:pt x="566026" y="155041"/>
                  </a:lnTo>
                  <a:lnTo>
                    <a:pt x="561327" y="142189"/>
                  </a:lnTo>
                  <a:lnTo>
                    <a:pt x="555536" y="129806"/>
                  </a:lnTo>
                  <a:lnTo>
                    <a:pt x="548678" y="117957"/>
                  </a:lnTo>
                  <a:lnTo>
                    <a:pt x="573227" y="83667"/>
                  </a:lnTo>
                  <a:lnTo>
                    <a:pt x="572795" y="78079"/>
                  </a:lnTo>
                  <a:lnTo>
                    <a:pt x="536714" y="41998"/>
                  </a:lnTo>
                  <a:lnTo>
                    <a:pt x="531126" y="41554"/>
                  </a:lnTo>
                  <a:lnTo>
                    <a:pt x="496836" y="66116"/>
                  </a:lnTo>
                  <a:lnTo>
                    <a:pt x="484987" y="59245"/>
                  </a:lnTo>
                  <a:lnTo>
                    <a:pt x="472605" y="53454"/>
                  </a:lnTo>
                  <a:lnTo>
                    <a:pt x="459765" y="48768"/>
                  </a:lnTo>
                  <a:lnTo>
                    <a:pt x="446532" y="45212"/>
                  </a:lnTo>
                  <a:lnTo>
                    <a:pt x="439635" y="3594"/>
                  </a:lnTo>
                  <a:lnTo>
                    <a:pt x="435343" y="0"/>
                  </a:lnTo>
                  <a:lnTo>
                    <a:pt x="384352" y="0"/>
                  </a:lnTo>
                  <a:lnTo>
                    <a:pt x="380060" y="3594"/>
                  </a:lnTo>
                  <a:lnTo>
                    <a:pt x="373164" y="45212"/>
                  </a:lnTo>
                  <a:lnTo>
                    <a:pt x="359943" y="48768"/>
                  </a:lnTo>
                  <a:lnTo>
                    <a:pt x="347103" y="53454"/>
                  </a:lnTo>
                  <a:lnTo>
                    <a:pt x="334721" y="59245"/>
                  </a:lnTo>
                  <a:lnTo>
                    <a:pt x="322859" y="66116"/>
                  </a:lnTo>
                  <a:lnTo>
                    <a:pt x="288569" y="41554"/>
                  </a:lnTo>
                  <a:lnTo>
                    <a:pt x="282981" y="41998"/>
                  </a:lnTo>
                  <a:lnTo>
                    <a:pt x="246900" y="78079"/>
                  </a:lnTo>
                  <a:lnTo>
                    <a:pt x="246468" y="83667"/>
                  </a:lnTo>
                  <a:lnTo>
                    <a:pt x="271018" y="117957"/>
                  </a:lnTo>
                  <a:lnTo>
                    <a:pt x="267144" y="124040"/>
                  </a:lnTo>
                  <a:lnTo>
                    <a:pt x="263690" y="130365"/>
                  </a:lnTo>
                  <a:lnTo>
                    <a:pt x="260667" y="136906"/>
                  </a:lnTo>
                  <a:lnTo>
                    <a:pt x="302056" y="145719"/>
                  </a:lnTo>
                  <a:lnTo>
                    <a:pt x="329438" y="111861"/>
                  </a:lnTo>
                  <a:lnTo>
                    <a:pt x="365734" y="90144"/>
                  </a:lnTo>
                  <a:lnTo>
                    <a:pt x="407250" y="81978"/>
                  </a:lnTo>
                  <a:lnTo>
                    <a:pt x="450240" y="88798"/>
                  </a:lnTo>
                  <a:lnTo>
                    <a:pt x="488188" y="110134"/>
                  </a:lnTo>
                  <a:lnTo>
                    <a:pt x="515658" y="142316"/>
                  </a:lnTo>
                  <a:lnTo>
                    <a:pt x="530631" y="181876"/>
                  </a:lnTo>
                  <a:lnTo>
                    <a:pt x="531075" y="225412"/>
                  </a:lnTo>
                  <a:lnTo>
                    <a:pt x="516356" y="266382"/>
                  </a:lnTo>
                  <a:lnTo>
                    <a:pt x="489216" y="298843"/>
                  </a:lnTo>
                  <a:lnTo>
                    <a:pt x="452704" y="320192"/>
                  </a:lnTo>
                  <a:lnTo>
                    <a:pt x="409841" y="327888"/>
                  </a:lnTo>
                  <a:lnTo>
                    <a:pt x="399732" y="327469"/>
                  </a:lnTo>
                  <a:lnTo>
                    <a:pt x="389699" y="326224"/>
                  </a:lnTo>
                  <a:lnTo>
                    <a:pt x="379806" y="324142"/>
                  </a:lnTo>
                  <a:lnTo>
                    <a:pt x="370090" y="321233"/>
                  </a:lnTo>
                  <a:lnTo>
                    <a:pt x="368147" y="324002"/>
                  </a:lnTo>
                  <a:lnTo>
                    <a:pt x="371944" y="331546"/>
                  </a:lnTo>
                  <a:lnTo>
                    <a:pt x="375361" y="339267"/>
                  </a:lnTo>
                  <a:lnTo>
                    <a:pt x="378396" y="347129"/>
                  </a:lnTo>
                  <a:lnTo>
                    <a:pt x="381050" y="355142"/>
                  </a:lnTo>
                  <a:lnTo>
                    <a:pt x="404622" y="359041"/>
                  </a:lnTo>
                  <a:lnTo>
                    <a:pt x="414921" y="362673"/>
                  </a:lnTo>
                  <a:lnTo>
                    <a:pt x="423075" y="369455"/>
                  </a:lnTo>
                  <a:lnTo>
                    <a:pt x="428434" y="378612"/>
                  </a:lnTo>
                  <a:lnTo>
                    <a:pt x="430339" y="389369"/>
                  </a:lnTo>
                  <a:lnTo>
                    <a:pt x="430339" y="409854"/>
                  </a:lnTo>
                  <a:lnTo>
                    <a:pt x="435343" y="409879"/>
                  </a:lnTo>
                  <a:lnTo>
                    <a:pt x="439635" y="406285"/>
                  </a:lnTo>
                  <a:lnTo>
                    <a:pt x="446532" y="364680"/>
                  </a:lnTo>
                  <a:lnTo>
                    <a:pt x="459765" y="361111"/>
                  </a:lnTo>
                  <a:lnTo>
                    <a:pt x="472605" y="356425"/>
                  </a:lnTo>
                  <a:lnTo>
                    <a:pt x="484987" y="350634"/>
                  </a:lnTo>
                  <a:lnTo>
                    <a:pt x="496836" y="343776"/>
                  </a:lnTo>
                  <a:lnTo>
                    <a:pt x="531126" y="368325"/>
                  </a:lnTo>
                  <a:lnTo>
                    <a:pt x="536714" y="367893"/>
                  </a:lnTo>
                  <a:lnTo>
                    <a:pt x="572795" y="331812"/>
                  </a:lnTo>
                  <a:lnTo>
                    <a:pt x="573227" y="326224"/>
                  </a:lnTo>
                  <a:lnTo>
                    <a:pt x="548678" y="291934"/>
                  </a:lnTo>
                  <a:lnTo>
                    <a:pt x="555536" y="280073"/>
                  </a:lnTo>
                  <a:lnTo>
                    <a:pt x="561327" y="267690"/>
                  </a:lnTo>
                  <a:lnTo>
                    <a:pt x="566026" y="254850"/>
                  </a:lnTo>
                  <a:lnTo>
                    <a:pt x="569582" y="241617"/>
                  </a:lnTo>
                  <a:lnTo>
                    <a:pt x="611136" y="234772"/>
                  </a:lnTo>
                  <a:lnTo>
                    <a:pt x="614781" y="230466"/>
                  </a:lnTo>
                  <a:lnTo>
                    <a:pt x="614781" y="179412"/>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04" name="Google Shape;204;p6"/>
            <p:cNvPicPr preferRelativeResize="0"/>
            <p:nvPr/>
          </p:nvPicPr>
          <p:blipFill rotWithShape="1">
            <a:blip r:embed="rId4">
              <a:alphaModFix/>
            </a:blip>
            <a:srcRect b="0" l="0" r="0" t="0"/>
            <a:stretch/>
          </p:blipFill>
          <p:spPr>
            <a:xfrm>
              <a:off x="3504222" y="4506321"/>
              <a:ext cx="76238" cy="84531"/>
            </a:xfrm>
            <a:prstGeom prst="rect">
              <a:avLst/>
            </a:prstGeom>
            <a:noFill/>
            <a:ln>
              <a:noFill/>
            </a:ln>
          </p:spPr>
        </p:pic>
        <p:sp>
          <p:nvSpPr>
            <p:cNvPr id="205" name="Google Shape;205;p6"/>
            <p:cNvSpPr/>
            <p:nvPr/>
          </p:nvSpPr>
          <p:spPr>
            <a:xfrm>
              <a:off x="3381273" y="4506327"/>
              <a:ext cx="400050" cy="440690"/>
            </a:xfrm>
            <a:custGeom>
              <a:rect b="b" l="l" r="r" t="t"/>
              <a:pathLst>
                <a:path extrusionOk="0" h="440689" w="400050">
                  <a:moveTo>
                    <a:pt x="102463" y="86563"/>
                  </a:moveTo>
                  <a:lnTo>
                    <a:pt x="97878" y="81965"/>
                  </a:lnTo>
                  <a:lnTo>
                    <a:pt x="4584" y="81965"/>
                  </a:lnTo>
                  <a:lnTo>
                    <a:pt x="0" y="86563"/>
                  </a:lnTo>
                  <a:lnTo>
                    <a:pt x="0" y="97878"/>
                  </a:lnTo>
                  <a:lnTo>
                    <a:pt x="4584" y="102463"/>
                  </a:lnTo>
                  <a:lnTo>
                    <a:pt x="10248" y="102463"/>
                  </a:lnTo>
                  <a:lnTo>
                    <a:pt x="97878" y="102463"/>
                  </a:lnTo>
                  <a:lnTo>
                    <a:pt x="102463" y="97878"/>
                  </a:lnTo>
                  <a:lnTo>
                    <a:pt x="102463" y="86563"/>
                  </a:lnTo>
                  <a:close/>
                </a:path>
                <a:path extrusionOk="0" h="440689" w="400050">
                  <a:moveTo>
                    <a:pt x="102463" y="45580"/>
                  </a:moveTo>
                  <a:lnTo>
                    <a:pt x="97878" y="40982"/>
                  </a:lnTo>
                  <a:lnTo>
                    <a:pt x="4584" y="40982"/>
                  </a:lnTo>
                  <a:lnTo>
                    <a:pt x="0" y="45580"/>
                  </a:lnTo>
                  <a:lnTo>
                    <a:pt x="0" y="56896"/>
                  </a:lnTo>
                  <a:lnTo>
                    <a:pt x="4584" y="61480"/>
                  </a:lnTo>
                  <a:lnTo>
                    <a:pt x="10248" y="61480"/>
                  </a:lnTo>
                  <a:lnTo>
                    <a:pt x="97878" y="61480"/>
                  </a:lnTo>
                  <a:lnTo>
                    <a:pt x="102463" y="56896"/>
                  </a:lnTo>
                  <a:lnTo>
                    <a:pt x="102463" y="45580"/>
                  </a:lnTo>
                  <a:close/>
                </a:path>
                <a:path extrusionOk="0" h="440689" w="400050">
                  <a:moveTo>
                    <a:pt x="102463" y="4597"/>
                  </a:moveTo>
                  <a:lnTo>
                    <a:pt x="97878" y="0"/>
                  </a:lnTo>
                  <a:lnTo>
                    <a:pt x="4584" y="0"/>
                  </a:lnTo>
                  <a:lnTo>
                    <a:pt x="0" y="4597"/>
                  </a:lnTo>
                  <a:lnTo>
                    <a:pt x="0" y="15913"/>
                  </a:lnTo>
                  <a:lnTo>
                    <a:pt x="4584" y="20497"/>
                  </a:lnTo>
                  <a:lnTo>
                    <a:pt x="10248" y="20497"/>
                  </a:lnTo>
                  <a:lnTo>
                    <a:pt x="97878" y="20497"/>
                  </a:lnTo>
                  <a:lnTo>
                    <a:pt x="102463" y="15913"/>
                  </a:lnTo>
                  <a:lnTo>
                    <a:pt x="102463" y="4597"/>
                  </a:lnTo>
                  <a:close/>
                </a:path>
                <a:path extrusionOk="0" h="440689" w="400050">
                  <a:moveTo>
                    <a:pt x="399592" y="424662"/>
                  </a:moveTo>
                  <a:lnTo>
                    <a:pt x="395008" y="420077"/>
                  </a:lnTo>
                  <a:lnTo>
                    <a:pt x="389343" y="420077"/>
                  </a:lnTo>
                  <a:lnTo>
                    <a:pt x="350926" y="420077"/>
                  </a:lnTo>
                  <a:lnTo>
                    <a:pt x="298462" y="391388"/>
                  </a:lnTo>
                  <a:lnTo>
                    <a:pt x="296278" y="397929"/>
                  </a:lnTo>
                  <a:lnTo>
                    <a:pt x="293598" y="404304"/>
                  </a:lnTo>
                  <a:lnTo>
                    <a:pt x="290474" y="410451"/>
                  </a:lnTo>
                  <a:lnTo>
                    <a:pt x="344957" y="440156"/>
                  </a:lnTo>
                  <a:lnTo>
                    <a:pt x="346646" y="440575"/>
                  </a:lnTo>
                  <a:lnTo>
                    <a:pt x="395008" y="440575"/>
                  </a:lnTo>
                  <a:lnTo>
                    <a:pt x="399592" y="435978"/>
                  </a:lnTo>
                  <a:lnTo>
                    <a:pt x="399592" y="424662"/>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6" name="Google Shape;206;p6"/>
          <p:cNvSpPr txBox="1"/>
          <p:nvPr/>
        </p:nvSpPr>
        <p:spPr>
          <a:xfrm>
            <a:off x="13141027" y="5458521"/>
            <a:ext cx="3941445" cy="2247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Impacto en el modelo</a:t>
            </a:r>
            <a:endParaRPr b="0" i="0" sz="2600" u="none" cap="none" strike="noStrike">
              <a:solidFill>
                <a:srgbClr val="000000"/>
              </a:solidFill>
              <a:latin typeface="Arial"/>
              <a:ea typeface="Arial"/>
              <a:cs typeface="Arial"/>
              <a:sym typeface="Arial"/>
            </a:endParaRPr>
          </a:p>
          <a:p>
            <a:pPr indent="-216535" lvl="0" marL="228600" marR="508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selección del umbral influye en la cantidad de positivos y negativos detectados.</a:t>
            </a:r>
            <a:endParaRPr b="0" i="0" sz="2000" u="none" cap="none" strike="noStrike">
              <a:solidFill>
                <a:srgbClr val="000000"/>
              </a:solidFill>
              <a:latin typeface="Arial"/>
              <a:ea typeface="Arial"/>
              <a:cs typeface="Arial"/>
              <a:sym typeface="Arial"/>
            </a:endParaRPr>
          </a:p>
          <a:p>
            <a:pPr indent="-216535" lvl="0" marL="228600" marR="889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Es fundamental justiﬁcar el criterio usado para la etiqueta.</a:t>
            </a:r>
            <a:endParaRPr b="0" i="0" sz="2000" u="none" cap="none" strike="noStrike">
              <a:solidFill>
                <a:srgbClr val="000000"/>
              </a:solidFill>
              <a:latin typeface="Arial"/>
              <a:ea typeface="Arial"/>
              <a:cs typeface="Arial"/>
              <a:sym typeface="Arial"/>
            </a:endParaRPr>
          </a:p>
        </p:txBody>
      </p:sp>
      <p:sp>
        <p:nvSpPr>
          <p:cNvPr id="207" name="Google Shape;207;p6"/>
          <p:cNvSpPr txBox="1"/>
          <p:nvPr/>
        </p:nvSpPr>
        <p:spPr>
          <a:xfrm>
            <a:off x="8208564" y="5458521"/>
            <a:ext cx="3815715" cy="2247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Deﬁnición de umbral</a:t>
            </a:r>
            <a:endParaRPr b="0" i="0" sz="2600" u="none" cap="none" strike="noStrike">
              <a:solidFill>
                <a:srgbClr val="000000"/>
              </a:solidFill>
              <a:latin typeface="Arial"/>
              <a:ea typeface="Arial"/>
              <a:cs typeface="Arial"/>
              <a:sym typeface="Arial"/>
            </a:endParaRPr>
          </a:p>
          <a:p>
            <a:pPr indent="-216535" lvl="0" marL="228600" marR="1905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El umbral determina cuándo una propina se considera 'alta'.</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Un umbral mal elegido puede desbalancear las clases y afectar el modelo.</a:t>
            </a:r>
            <a:endParaRPr b="0" i="0" sz="2000" u="none" cap="none" strike="noStrike">
              <a:solidFill>
                <a:srgbClr val="000000"/>
              </a:solidFill>
              <a:latin typeface="Arial"/>
              <a:ea typeface="Arial"/>
              <a:cs typeface="Arial"/>
              <a:sym typeface="Arial"/>
            </a:endParaRPr>
          </a:p>
        </p:txBody>
      </p:sp>
      <p:sp>
        <p:nvSpPr>
          <p:cNvPr id="208" name="Google Shape;208;p6"/>
          <p:cNvSpPr txBox="1"/>
          <p:nvPr/>
        </p:nvSpPr>
        <p:spPr>
          <a:xfrm>
            <a:off x="3276103" y="5458521"/>
            <a:ext cx="3704590" cy="2948940"/>
          </a:xfrm>
          <a:prstGeom prst="rect">
            <a:avLst/>
          </a:prstGeom>
          <a:noFill/>
          <a:ln>
            <a:noFill/>
          </a:ln>
        </p:spPr>
        <p:txBody>
          <a:bodyPr anchorCtr="0" anchor="t" bIns="0" lIns="0" spcFirstLastPara="1" rIns="0" wrap="square" tIns="12700">
            <a:spAutoFit/>
          </a:bodyPr>
          <a:lstStyle/>
          <a:p>
            <a:pPr indent="0" lvl="0" marL="12700" marR="47117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tip_amount: variable continua</a:t>
            </a:r>
            <a:endParaRPr b="0" i="0" sz="2600" u="none" cap="none" strike="noStrike">
              <a:solidFill>
                <a:srgbClr val="000000"/>
              </a:solidFill>
              <a:latin typeface="Arial"/>
              <a:ea typeface="Arial"/>
              <a:cs typeface="Arial"/>
              <a:sym typeface="Arial"/>
            </a:endParaRPr>
          </a:p>
          <a:p>
            <a:pPr indent="-216535" lvl="0" marL="228600" marR="105410" rtl="0" algn="just">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No puede usarse directamente como etiqueta de clasiﬁcación binaria.</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Requiere transformación a una categoría discreta para deﬁnir la clase objetivo.</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7"/>
          <p:cNvSpPr txBox="1"/>
          <p:nvPr/>
        </p:nvSpPr>
        <p:spPr>
          <a:xfrm>
            <a:off x="3033886" y="4015435"/>
            <a:ext cx="6348095" cy="4918075"/>
          </a:xfrm>
          <a:prstGeom prst="rect">
            <a:avLst/>
          </a:prstGeom>
          <a:noFill/>
          <a:ln>
            <a:noFill/>
          </a:ln>
        </p:spPr>
        <p:txBody>
          <a:bodyPr anchorCtr="0" anchor="t" bIns="0" lIns="0" spcFirstLastPara="1" rIns="0" wrap="square" tIns="16500">
            <a:spAutoFit/>
          </a:bodyPr>
          <a:lstStyle/>
          <a:p>
            <a:pPr indent="0" lvl="0" marL="12700" marR="0" rtl="0" algn="l">
              <a:lnSpc>
                <a:spcPct val="100000"/>
              </a:lnSpc>
              <a:spcBef>
                <a:spcPts val="0"/>
              </a:spcBef>
              <a:spcAft>
                <a:spcPts val="0"/>
              </a:spcAft>
              <a:buClr>
                <a:srgbClr val="000000"/>
              </a:buClr>
              <a:buSzPts val="2150"/>
              <a:buFont typeface="Arial"/>
              <a:buNone/>
            </a:pPr>
            <a:r>
              <a:rPr b="1" i="0" lang="en-US" sz="2150" u="none" cap="none" strike="noStrike">
                <a:solidFill>
                  <a:srgbClr val="292929"/>
                </a:solidFill>
                <a:latin typeface="Arial"/>
                <a:ea typeface="Arial"/>
                <a:cs typeface="Arial"/>
                <a:sym typeface="Arial"/>
              </a:rPr>
              <a:t>Deﬁnición de clase positiva</a:t>
            </a:r>
            <a:endParaRPr b="0" i="0" sz="2150" u="none" cap="none" strike="noStrike">
              <a:solidFill>
                <a:srgbClr val="000000"/>
              </a:solidFill>
              <a:latin typeface="Arial"/>
              <a:ea typeface="Arial"/>
              <a:cs typeface="Arial"/>
              <a:sym typeface="Arial"/>
            </a:endParaRPr>
          </a:p>
          <a:p>
            <a:pPr indent="-180340" lvl="0" marL="193040" marR="0" rtl="0" algn="l">
              <a:lnSpc>
                <a:spcPct val="100000"/>
              </a:lnSpc>
              <a:spcBef>
                <a:spcPts val="1610"/>
              </a:spcBef>
              <a:spcAft>
                <a:spcPts val="0"/>
              </a:spcAft>
              <a:buClr>
                <a:srgbClr val="292929"/>
              </a:buClr>
              <a:buSzPts val="1650"/>
              <a:buFont typeface="Times New Roman"/>
              <a:buChar char="•"/>
            </a:pPr>
            <a:r>
              <a:rPr b="0" i="0" lang="en-US" sz="1650" u="none" cap="none" strike="noStrike">
                <a:solidFill>
                  <a:srgbClr val="292929"/>
                </a:solidFill>
                <a:latin typeface="Arial"/>
                <a:ea typeface="Arial"/>
                <a:cs typeface="Arial"/>
                <a:sym typeface="Arial"/>
              </a:rPr>
              <a:t>La clase positiva se establece como </a:t>
            </a:r>
            <a:r>
              <a:rPr b="1" i="0" lang="en-US" sz="1650" u="none" cap="none" strike="noStrike">
                <a:solidFill>
                  <a:srgbClr val="F2620F"/>
                </a:solidFill>
                <a:latin typeface="Arial"/>
                <a:ea typeface="Arial"/>
                <a:cs typeface="Arial"/>
                <a:sym typeface="Arial"/>
              </a:rPr>
              <a:t>is_high_tip = 1</a:t>
            </a:r>
            <a:r>
              <a:rPr b="0" i="0" lang="en-US" sz="1650" u="none" cap="none" strike="noStrike">
                <a:solidFill>
                  <a:srgbClr val="292929"/>
                </a:solidFill>
                <a:latin typeface="Arial"/>
                <a:ea typeface="Arial"/>
                <a:cs typeface="Arial"/>
                <a:sym typeface="Arial"/>
              </a:rPr>
              <a:t>.</a:t>
            </a:r>
            <a:endParaRPr b="0" i="0" sz="1650" u="none" cap="none" strike="noStrike">
              <a:solidFill>
                <a:srgbClr val="000000"/>
              </a:solidFill>
              <a:latin typeface="Arial"/>
              <a:ea typeface="Arial"/>
              <a:cs typeface="Arial"/>
              <a:sym typeface="Arial"/>
            </a:endParaRPr>
          </a:p>
          <a:p>
            <a:pPr indent="-180340" lvl="0" marL="193040" marR="0" rtl="0" algn="l">
              <a:lnSpc>
                <a:spcPct val="100000"/>
              </a:lnSpc>
              <a:spcBef>
                <a:spcPts val="450"/>
              </a:spcBef>
              <a:spcAft>
                <a:spcPts val="0"/>
              </a:spcAft>
              <a:buClr>
                <a:srgbClr val="292929"/>
              </a:buClr>
              <a:buSzPts val="1650"/>
              <a:buFont typeface="Times New Roman"/>
              <a:buChar char="•"/>
            </a:pPr>
            <a:r>
              <a:rPr b="0" i="0" lang="en-US" sz="1650" u="none" cap="none" strike="noStrike">
                <a:solidFill>
                  <a:srgbClr val="292929"/>
                </a:solidFill>
                <a:latin typeface="Arial"/>
                <a:ea typeface="Arial"/>
                <a:cs typeface="Arial"/>
                <a:sym typeface="Arial"/>
              </a:rPr>
              <a:t>Representa viajes con propina alta según un criterio explícito.</a:t>
            </a:r>
            <a:endParaRPr b="0" i="0" sz="1650" u="none" cap="none" strike="noStrike">
              <a:solidFill>
                <a:srgbClr val="000000"/>
              </a:solidFill>
              <a:latin typeface="Arial"/>
              <a:ea typeface="Arial"/>
              <a:cs typeface="Arial"/>
              <a:sym typeface="Arial"/>
            </a:endParaRPr>
          </a:p>
          <a:p>
            <a:pPr indent="0" lvl="0" marL="0" marR="0" rtl="0" algn="l">
              <a:lnSpc>
                <a:spcPct val="100000"/>
              </a:lnSpc>
              <a:spcBef>
                <a:spcPts val="335"/>
              </a:spcBef>
              <a:spcAft>
                <a:spcPts val="0"/>
              </a:spcAft>
              <a:buClr>
                <a:srgbClr val="292929"/>
              </a:buClr>
              <a:buSzPts val="1650"/>
              <a:buFont typeface="Times New Roman"/>
              <a:buNone/>
            </a:pPr>
            <a:r>
              <a:t/>
            </a:r>
            <a:endParaRPr b="0" i="0" sz="16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150"/>
              <a:buFont typeface="Arial"/>
              <a:buNone/>
            </a:pPr>
            <a:r>
              <a:rPr b="1" i="0" lang="en-US" sz="2150" u="none" cap="none" strike="noStrike">
                <a:solidFill>
                  <a:srgbClr val="292929"/>
                </a:solidFill>
                <a:latin typeface="Arial"/>
                <a:ea typeface="Arial"/>
                <a:cs typeface="Arial"/>
                <a:sym typeface="Arial"/>
              </a:rPr>
              <a:t>Impacto en métricas de evaluación</a:t>
            </a:r>
            <a:endParaRPr b="0" i="0" sz="2150" u="none" cap="none" strike="noStrike">
              <a:solidFill>
                <a:srgbClr val="000000"/>
              </a:solidFill>
              <a:latin typeface="Arial"/>
              <a:ea typeface="Arial"/>
              <a:cs typeface="Arial"/>
              <a:sym typeface="Arial"/>
            </a:endParaRPr>
          </a:p>
          <a:p>
            <a:pPr indent="-180340" lvl="0" marL="192405" marR="5080" rtl="0" algn="l">
              <a:lnSpc>
                <a:spcPct val="101600"/>
              </a:lnSpc>
              <a:spcBef>
                <a:spcPts val="1580"/>
              </a:spcBef>
              <a:spcAft>
                <a:spcPts val="0"/>
              </a:spcAft>
              <a:buClr>
                <a:srgbClr val="292929"/>
              </a:buClr>
              <a:buSzPts val="1650"/>
              <a:buFont typeface="Times New Roman"/>
              <a:buChar char="•"/>
            </a:pPr>
            <a:r>
              <a:rPr b="0" i="0" lang="en-US" sz="1650" u="none" cap="none" strike="noStrike">
                <a:solidFill>
                  <a:srgbClr val="292929"/>
                </a:solidFill>
                <a:latin typeface="Arial"/>
                <a:ea typeface="Arial"/>
                <a:cs typeface="Arial"/>
                <a:sym typeface="Arial"/>
              </a:rPr>
              <a:t>Las métricas como </a:t>
            </a:r>
            <a:r>
              <a:rPr b="1" i="0" lang="en-US" sz="1650" u="none" cap="none" strike="noStrike">
                <a:solidFill>
                  <a:srgbClr val="F2620F"/>
                </a:solidFill>
                <a:latin typeface="Arial"/>
                <a:ea typeface="Arial"/>
                <a:cs typeface="Arial"/>
                <a:sym typeface="Arial"/>
              </a:rPr>
              <a:t>precision </a:t>
            </a:r>
            <a:r>
              <a:rPr b="0" i="0" lang="en-US" sz="1650" u="none" cap="none" strike="noStrike">
                <a:solidFill>
                  <a:srgbClr val="292929"/>
                </a:solidFill>
                <a:latin typeface="Arial"/>
                <a:ea typeface="Arial"/>
                <a:cs typeface="Arial"/>
                <a:sym typeface="Arial"/>
              </a:rPr>
              <a:t>y </a:t>
            </a:r>
            <a:r>
              <a:rPr b="1" i="0" lang="en-US" sz="1650" u="none" cap="none" strike="noStrike">
                <a:solidFill>
                  <a:srgbClr val="F2620F"/>
                </a:solidFill>
                <a:latin typeface="Arial"/>
                <a:ea typeface="Arial"/>
                <a:cs typeface="Arial"/>
                <a:sym typeface="Arial"/>
              </a:rPr>
              <a:t>recall </a:t>
            </a:r>
            <a:r>
              <a:rPr b="0" i="0" lang="en-US" sz="1650" u="none" cap="none" strike="noStrike">
                <a:solidFill>
                  <a:srgbClr val="292929"/>
                </a:solidFill>
                <a:latin typeface="Arial"/>
                <a:ea typeface="Arial"/>
                <a:cs typeface="Arial"/>
                <a:sym typeface="Arial"/>
              </a:rPr>
              <a:t>se calculan respecto a la clase positiva.</a:t>
            </a:r>
            <a:endParaRPr b="0" i="0" sz="1650" u="none" cap="none" strike="noStrike">
              <a:solidFill>
                <a:srgbClr val="000000"/>
              </a:solidFill>
              <a:latin typeface="Arial"/>
              <a:ea typeface="Arial"/>
              <a:cs typeface="Arial"/>
              <a:sym typeface="Arial"/>
            </a:endParaRPr>
          </a:p>
          <a:p>
            <a:pPr indent="-180340" lvl="0" marL="192405" marR="118745" rtl="0" algn="l">
              <a:lnSpc>
                <a:spcPct val="101600"/>
              </a:lnSpc>
              <a:spcBef>
                <a:spcPts val="420"/>
              </a:spcBef>
              <a:spcAft>
                <a:spcPts val="0"/>
              </a:spcAft>
              <a:buClr>
                <a:srgbClr val="292929"/>
              </a:buClr>
              <a:buSzPts val="1650"/>
              <a:buFont typeface="Times New Roman"/>
              <a:buChar char="•"/>
            </a:pPr>
            <a:r>
              <a:rPr b="0" i="0" lang="en-US" sz="1650" u="none" cap="none" strike="noStrike">
                <a:solidFill>
                  <a:srgbClr val="292929"/>
                </a:solidFill>
                <a:latin typeface="Arial"/>
                <a:ea typeface="Arial"/>
                <a:cs typeface="Arial"/>
                <a:sym typeface="Arial"/>
              </a:rPr>
              <a:t>La interpretación de resultados depende de cómo se deﬁne la clase positiva.</a:t>
            </a:r>
            <a:endParaRPr b="0" i="0" sz="1650" u="none" cap="none" strike="noStrike">
              <a:solidFill>
                <a:srgbClr val="000000"/>
              </a:solidFill>
              <a:latin typeface="Arial"/>
              <a:ea typeface="Arial"/>
              <a:cs typeface="Arial"/>
              <a:sym typeface="Arial"/>
            </a:endParaRPr>
          </a:p>
          <a:p>
            <a:pPr indent="0" lvl="0" marL="0" marR="0" rtl="0" algn="l">
              <a:lnSpc>
                <a:spcPct val="100000"/>
              </a:lnSpc>
              <a:spcBef>
                <a:spcPts val="335"/>
              </a:spcBef>
              <a:spcAft>
                <a:spcPts val="0"/>
              </a:spcAft>
              <a:buClr>
                <a:srgbClr val="292929"/>
              </a:buClr>
              <a:buSzPts val="1650"/>
              <a:buFont typeface="Times New Roman"/>
              <a:buNone/>
            </a:pPr>
            <a:r>
              <a:t/>
            </a:r>
            <a:endParaRPr b="0" i="0" sz="16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150"/>
              <a:buFont typeface="Arial"/>
              <a:buNone/>
            </a:pPr>
            <a:r>
              <a:rPr b="1" i="0" lang="en-US" sz="2150" u="none" cap="none" strike="noStrike">
                <a:solidFill>
                  <a:srgbClr val="292929"/>
                </a:solidFill>
                <a:latin typeface="Arial"/>
                <a:ea typeface="Arial"/>
                <a:cs typeface="Arial"/>
                <a:sym typeface="Arial"/>
              </a:rPr>
              <a:t>Objetivo del modelo</a:t>
            </a:r>
            <a:endParaRPr b="0" i="0" sz="2150" u="none" cap="none" strike="noStrike">
              <a:solidFill>
                <a:srgbClr val="000000"/>
              </a:solidFill>
              <a:latin typeface="Arial"/>
              <a:ea typeface="Arial"/>
              <a:cs typeface="Arial"/>
              <a:sym typeface="Arial"/>
            </a:endParaRPr>
          </a:p>
          <a:p>
            <a:pPr indent="-180340" lvl="0" marL="192405" marR="910590" rtl="0" algn="l">
              <a:lnSpc>
                <a:spcPct val="101600"/>
              </a:lnSpc>
              <a:spcBef>
                <a:spcPts val="1580"/>
              </a:spcBef>
              <a:spcAft>
                <a:spcPts val="0"/>
              </a:spcAft>
              <a:buClr>
                <a:srgbClr val="292929"/>
              </a:buClr>
              <a:buSzPts val="1650"/>
              <a:buFont typeface="Times New Roman"/>
              <a:buChar char="•"/>
            </a:pPr>
            <a:r>
              <a:rPr b="0" i="0" lang="en-US" sz="1650" u="none" cap="none" strike="noStrike">
                <a:solidFill>
                  <a:srgbClr val="292929"/>
                </a:solidFill>
                <a:latin typeface="Arial"/>
                <a:ea typeface="Arial"/>
                <a:cs typeface="Arial"/>
                <a:sym typeface="Arial"/>
              </a:rPr>
              <a:t>El modelo busca identiﬁcar patrones que aumentan la probabilidad de propina alta.</a:t>
            </a:r>
            <a:endParaRPr b="0" i="0" sz="1650" u="none" cap="none" strike="noStrike">
              <a:solidFill>
                <a:srgbClr val="000000"/>
              </a:solidFill>
              <a:latin typeface="Arial"/>
              <a:ea typeface="Arial"/>
              <a:cs typeface="Arial"/>
              <a:sym typeface="Arial"/>
            </a:endParaRPr>
          </a:p>
          <a:p>
            <a:pPr indent="-180340" lvl="0" marL="192405" marR="39370" rtl="0" algn="l">
              <a:lnSpc>
                <a:spcPct val="101600"/>
              </a:lnSpc>
              <a:spcBef>
                <a:spcPts val="420"/>
              </a:spcBef>
              <a:spcAft>
                <a:spcPts val="0"/>
              </a:spcAft>
              <a:buClr>
                <a:srgbClr val="292929"/>
              </a:buClr>
              <a:buSzPts val="1650"/>
              <a:buFont typeface="Times New Roman"/>
              <a:buChar char="•"/>
            </a:pPr>
            <a:r>
              <a:rPr b="0" i="0" lang="en-US" sz="1650" u="none" cap="none" strike="noStrike">
                <a:solidFill>
                  <a:srgbClr val="292929"/>
                </a:solidFill>
                <a:latin typeface="Arial"/>
                <a:ea typeface="Arial"/>
                <a:cs typeface="Arial"/>
                <a:sym typeface="Arial"/>
              </a:rPr>
              <a:t>La elección de la clase positiva guía el enfoque del análisis y la toma de decisiones.</a:t>
            </a:r>
            <a:endParaRPr b="0" i="0" sz="1650" u="none" cap="none" strike="noStrike">
              <a:solidFill>
                <a:srgbClr val="000000"/>
              </a:solidFill>
              <a:latin typeface="Arial"/>
              <a:ea typeface="Arial"/>
              <a:cs typeface="Arial"/>
              <a:sym typeface="Arial"/>
            </a:endParaRPr>
          </a:p>
        </p:txBody>
      </p:sp>
      <p:sp>
        <p:nvSpPr>
          <p:cNvPr descr="$PPTXTitle" id="214" name="Google Shape;214;p7"/>
          <p:cNvSpPr txBox="1"/>
          <p:nvPr>
            <p:ph type="title"/>
          </p:nvPr>
        </p:nvSpPr>
        <p:spPr>
          <a:xfrm>
            <a:off x="3033923" y="1578198"/>
            <a:ext cx="6303010" cy="1633139"/>
          </a:xfrm>
          <a:prstGeom prst="rect">
            <a:avLst/>
          </a:prstGeom>
          <a:noFill/>
          <a:ln>
            <a:noFill/>
          </a:ln>
        </p:spPr>
        <p:txBody>
          <a:bodyPr anchorCtr="0" anchor="t" bIns="0" lIns="0" spcFirstLastPara="1" rIns="0" wrap="square" tIns="93325">
            <a:spAutoFit/>
          </a:bodyPr>
          <a:lstStyle/>
          <a:p>
            <a:pPr indent="0" lvl="0" marL="12700" marR="5080" rtl="0" algn="l">
              <a:lnSpc>
                <a:spcPct val="110370"/>
              </a:lnSpc>
              <a:spcBef>
                <a:spcPts val="0"/>
              </a:spcBef>
              <a:spcAft>
                <a:spcPts val="0"/>
              </a:spcAft>
              <a:buSzPts val="1400"/>
              <a:buNone/>
            </a:pPr>
            <a:r>
              <a:rPr lang="en-US" sz="5400"/>
              <a:t>Clase positiva y objetivo del modelo</a:t>
            </a:r>
            <a:endParaRPr sz="5400"/>
          </a:p>
        </p:txBody>
      </p:sp>
      <p:pic>
        <p:nvPicPr>
          <p:cNvPr id="215" name="Google Shape;215;p7"/>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216" name="Google Shape;216;p7"/>
          <p:cNvGrpSpPr/>
          <p:nvPr/>
        </p:nvGrpSpPr>
        <p:grpSpPr>
          <a:xfrm>
            <a:off x="989620" y="1689060"/>
            <a:ext cx="845821" cy="846024"/>
            <a:chOff x="989620" y="1689060"/>
            <a:chExt cx="845821" cy="846024"/>
          </a:xfrm>
        </p:grpSpPr>
        <p:sp>
          <p:nvSpPr>
            <p:cNvPr id="217" name="Google Shape;217;p7"/>
            <p:cNvSpPr/>
            <p:nvPr/>
          </p:nvSpPr>
          <p:spPr>
            <a:xfrm>
              <a:off x="989620" y="1689060"/>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 name="Google Shape;218;p7"/>
            <p:cNvSpPr/>
            <p:nvPr/>
          </p:nvSpPr>
          <p:spPr>
            <a:xfrm>
              <a:off x="1287824" y="1689080"/>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 name="Google Shape;219;p7"/>
            <p:cNvSpPr/>
            <p:nvPr/>
          </p:nvSpPr>
          <p:spPr>
            <a:xfrm>
              <a:off x="989622" y="1839759"/>
              <a:ext cx="845819" cy="695325"/>
            </a:xfrm>
            <a:custGeom>
              <a:rect b="b" l="l" r="r" t="t"/>
              <a:pathLst>
                <a:path extrusionOk="0" h="695325" w="845819">
                  <a:moveTo>
                    <a:pt x="845527" y="518782"/>
                  </a:moveTo>
                  <a:lnTo>
                    <a:pt x="839520" y="473151"/>
                  </a:lnTo>
                  <a:lnTo>
                    <a:pt x="821905" y="430618"/>
                  </a:lnTo>
                  <a:lnTo>
                    <a:pt x="793877" y="394106"/>
                  </a:lnTo>
                  <a:lnTo>
                    <a:pt x="399770" y="0"/>
                  </a:lnTo>
                  <a:lnTo>
                    <a:pt x="150685" y="249085"/>
                  </a:lnTo>
                  <a:lnTo>
                    <a:pt x="173685" y="272097"/>
                  </a:lnTo>
                  <a:lnTo>
                    <a:pt x="51650" y="394144"/>
                  </a:lnTo>
                  <a:lnTo>
                    <a:pt x="23622" y="430657"/>
                  </a:lnTo>
                  <a:lnTo>
                    <a:pt x="6007" y="473189"/>
                  </a:lnTo>
                  <a:lnTo>
                    <a:pt x="0" y="518820"/>
                  </a:lnTo>
                  <a:lnTo>
                    <a:pt x="381" y="530364"/>
                  </a:lnTo>
                  <a:lnTo>
                    <a:pt x="9359" y="575513"/>
                  </a:lnTo>
                  <a:lnTo>
                    <a:pt x="29718" y="616788"/>
                  </a:lnTo>
                  <a:lnTo>
                    <a:pt x="59855" y="651179"/>
                  </a:lnTo>
                  <a:lnTo>
                    <a:pt x="98069" y="676694"/>
                  </a:lnTo>
                  <a:lnTo>
                    <a:pt x="141655" y="691502"/>
                  </a:lnTo>
                  <a:lnTo>
                    <a:pt x="176060" y="694880"/>
                  </a:lnTo>
                  <a:lnTo>
                    <a:pt x="187591" y="694499"/>
                  </a:lnTo>
                  <a:lnTo>
                    <a:pt x="232740" y="685520"/>
                  </a:lnTo>
                  <a:lnTo>
                    <a:pt x="274027" y="665162"/>
                  </a:lnTo>
                  <a:lnTo>
                    <a:pt x="422783" y="521195"/>
                  </a:lnTo>
                  <a:lnTo>
                    <a:pt x="544791" y="643191"/>
                  </a:lnTo>
                  <a:lnTo>
                    <a:pt x="581304" y="671220"/>
                  </a:lnTo>
                  <a:lnTo>
                    <a:pt x="623836" y="688835"/>
                  </a:lnTo>
                  <a:lnTo>
                    <a:pt x="669467" y="694842"/>
                  </a:lnTo>
                  <a:lnTo>
                    <a:pt x="681012" y="694474"/>
                  </a:lnTo>
                  <a:lnTo>
                    <a:pt x="726160" y="685495"/>
                  </a:lnTo>
                  <a:lnTo>
                    <a:pt x="767435" y="665124"/>
                  </a:lnTo>
                  <a:lnTo>
                    <a:pt x="801827" y="634987"/>
                  </a:lnTo>
                  <a:lnTo>
                    <a:pt x="827341" y="596773"/>
                  </a:lnTo>
                  <a:lnTo>
                    <a:pt x="842149"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0" name="Google Shape;220;p7"/>
          <p:cNvGrpSpPr/>
          <p:nvPr/>
        </p:nvGrpSpPr>
        <p:grpSpPr>
          <a:xfrm>
            <a:off x="0" y="1"/>
            <a:ext cx="14536419" cy="948701"/>
            <a:chOff x="0" y="1"/>
            <a:chExt cx="14536419" cy="948701"/>
          </a:xfrm>
        </p:grpSpPr>
        <p:sp>
          <p:nvSpPr>
            <p:cNvPr id="221" name="Google Shape;221;p7"/>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 name="Google Shape;222;p7"/>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3" name="Google Shape;223;p7"/>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24" name="Google Shape;224;p7"/>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5" name="Google Shape;225;p7"/>
          <p:cNvSpPr txBox="1"/>
          <p:nvPr/>
        </p:nvSpPr>
        <p:spPr>
          <a:xfrm>
            <a:off x="903857" y="9571461"/>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07.</a:t>
            </a:r>
            <a:endParaRPr b="0" i="0" sz="2600" u="none" cap="none" strike="noStrike">
              <a:solidFill>
                <a:srgbClr val="000000"/>
              </a:solidFill>
              <a:latin typeface="Arial"/>
              <a:ea typeface="Arial"/>
              <a:cs typeface="Arial"/>
              <a:sym typeface="Arial"/>
            </a:endParaRPr>
          </a:p>
        </p:txBody>
      </p:sp>
      <p:sp>
        <p:nvSpPr>
          <p:cNvPr id="226" name="Google Shape;226;p7"/>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227" name="Google Shape;227;p7"/>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8"/>
          <p:cNvGrpSpPr/>
          <p:nvPr/>
        </p:nvGrpSpPr>
        <p:grpSpPr>
          <a:xfrm>
            <a:off x="1018814" y="4787036"/>
            <a:ext cx="845824" cy="846023"/>
            <a:chOff x="1018814" y="4787036"/>
            <a:chExt cx="845824" cy="846023"/>
          </a:xfrm>
        </p:grpSpPr>
        <p:sp>
          <p:nvSpPr>
            <p:cNvPr id="233" name="Google Shape;233;p8"/>
            <p:cNvSpPr/>
            <p:nvPr/>
          </p:nvSpPr>
          <p:spPr>
            <a:xfrm>
              <a:off x="1018814" y="4787036"/>
              <a:ext cx="547370"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 name="Google Shape;234;p8"/>
            <p:cNvSpPr/>
            <p:nvPr/>
          </p:nvSpPr>
          <p:spPr>
            <a:xfrm>
              <a:off x="1317037" y="4787046"/>
              <a:ext cx="547370"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 name="Google Shape;235;p8"/>
            <p:cNvSpPr/>
            <p:nvPr/>
          </p:nvSpPr>
          <p:spPr>
            <a:xfrm>
              <a:off x="1018819" y="4937734"/>
              <a:ext cx="845819" cy="695325"/>
            </a:xfrm>
            <a:custGeom>
              <a:rect b="b" l="l" r="r" t="t"/>
              <a:pathLst>
                <a:path extrusionOk="0" h="695325" w="845819">
                  <a:moveTo>
                    <a:pt x="845527" y="518782"/>
                  </a:moveTo>
                  <a:lnTo>
                    <a:pt x="839520" y="473151"/>
                  </a:lnTo>
                  <a:lnTo>
                    <a:pt x="821905" y="430618"/>
                  </a:lnTo>
                  <a:lnTo>
                    <a:pt x="793877" y="394106"/>
                  </a:lnTo>
                  <a:lnTo>
                    <a:pt x="671855" y="272097"/>
                  </a:lnTo>
                  <a:lnTo>
                    <a:pt x="422757" y="22999"/>
                  </a:lnTo>
                  <a:lnTo>
                    <a:pt x="399770" y="0"/>
                  </a:lnTo>
                  <a:lnTo>
                    <a:pt x="150685" y="249085"/>
                  </a:lnTo>
                  <a:lnTo>
                    <a:pt x="173672" y="272084"/>
                  </a:lnTo>
                  <a:lnTo>
                    <a:pt x="51650" y="394119"/>
                  </a:lnTo>
                  <a:lnTo>
                    <a:pt x="23622" y="430631"/>
                  </a:lnTo>
                  <a:lnTo>
                    <a:pt x="6007" y="473163"/>
                  </a:lnTo>
                  <a:lnTo>
                    <a:pt x="0" y="518795"/>
                  </a:lnTo>
                  <a:lnTo>
                    <a:pt x="368" y="530339"/>
                  </a:lnTo>
                  <a:lnTo>
                    <a:pt x="9347" y="575487"/>
                  </a:lnTo>
                  <a:lnTo>
                    <a:pt x="29718" y="616762"/>
                  </a:lnTo>
                  <a:lnTo>
                    <a:pt x="59855" y="651154"/>
                  </a:lnTo>
                  <a:lnTo>
                    <a:pt x="98069" y="676668"/>
                  </a:lnTo>
                  <a:lnTo>
                    <a:pt x="141655" y="691464"/>
                  </a:lnTo>
                  <a:lnTo>
                    <a:pt x="176060" y="694855"/>
                  </a:lnTo>
                  <a:lnTo>
                    <a:pt x="187591" y="694474"/>
                  </a:lnTo>
                  <a:lnTo>
                    <a:pt x="232727" y="685495"/>
                  </a:lnTo>
                  <a:lnTo>
                    <a:pt x="274015" y="665137"/>
                  </a:lnTo>
                  <a:lnTo>
                    <a:pt x="422770" y="521182"/>
                  </a:lnTo>
                  <a:lnTo>
                    <a:pt x="544791" y="643191"/>
                  </a:lnTo>
                  <a:lnTo>
                    <a:pt x="581304" y="671220"/>
                  </a:lnTo>
                  <a:lnTo>
                    <a:pt x="623836" y="688835"/>
                  </a:lnTo>
                  <a:lnTo>
                    <a:pt x="669467" y="694842"/>
                  </a:lnTo>
                  <a:lnTo>
                    <a:pt x="681012" y="694461"/>
                  </a:lnTo>
                  <a:lnTo>
                    <a:pt x="726160" y="685482"/>
                  </a:lnTo>
                  <a:lnTo>
                    <a:pt x="767435" y="665124"/>
                  </a:lnTo>
                  <a:lnTo>
                    <a:pt x="801827" y="634987"/>
                  </a:lnTo>
                  <a:lnTo>
                    <a:pt x="827341" y="596773"/>
                  </a:lnTo>
                  <a:lnTo>
                    <a:pt x="842137"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236" name="Google Shape;236;p8"/>
          <p:cNvSpPr txBox="1"/>
          <p:nvPr>
            <p:ph type="title"/>
          </p:nvPr>
        </p:nvSpPr>
        <p:spPr>
          <a:xfrm>
            <a:off x="3060574" y="4514600"/>
            <a:ext cx="14652600" cy="2660400"/>
          </a:xfrm>
          <a:prstGeom prst="rect">
            <a:avLst/>
          </a:prstGeom>
          <a:noFill/>
          <a:ln>
            <a:noFill/>
          </a:ln>
        </p:spPr>
        <p:txBody>
          <a:bodyPr anchorCtr="0" anchor="t" bIns="0" lIns="0" spcFirstLastPara="1" rIns="0" wrap="square" tIns="12700">
            <a:spAutoFit/>
          </a:bodyPr>
          <a:lstStyle/>
          <a:p>
            <a:pPr indent="0" lvl="0" marL="12700" rtl="0" algn="l">
              <a:lnSpc>
                <a:spcPct val="115000"/>
              </a:lnSpc>
              <a:spcBef>
                <a:spcPts val="0"/>
              </a:spcBef>
              <a:spcAft>
                <a:spcPts val="0"/>
              </a:spcAft>
              <a:buSzPts val="1400"/>
              <a:buNone/>
            </a:pPr>
            <a:r>
              <a:rPr b="1" lang="en-US" sz="8000">
                <a:latin typeface="Arial"/>
                <a:ea typeface="Arial"/>
                <a:cs typeface="Arial"/>
                <a:sym typeface="Arial"/>
              </a:rPr>
              <a:t>Fundamentos del modelo y</a:t>
            </a:r>
            <a:endParaRPr sz="8000">
              <a:latin typeface="Arial"/>
              <a:ea typeface="Arial"/>
              <a:cs typeface="Arial"/>
              <a:sym typeface="Arial"/>
            </a:endParaRPr>
          </a:p>
          <a:p>
            <a:pPr indent="0" lvl="0" marL="12700" rtl="0" algn="l">
              <a:lnSpc>
                <a:spcPct val="115000"/>
              </a:lnSpc>
              <a:spcBef>
                <a:spcPts val="0"/>
              </a:spcBef>
              <a:spcAft>
                <a:spcPts val="0"/>
              </a:spcAft>
              <a:buSzPts val="1400"/>
              <a:buNone/>
            </a:pPr>
            <a:r>
              <a:rPr b="1" lang="en-US" sz="8000">
                <a:latin typeface="Arial"/>
                <a:ea typeface="Arial"/>
                <a:cs typeface="Arial"/>
                <a:sym typeface="Arial"/>
              </a:rPr>
              <a:t>datos</a:t>
            </a:r>
            <a:endParaRPr sz="8000">
              <a:latin typeface="Arial"/>
              <a:ea typeface="Arial"/>
              <a:cs typeface="Arial"/>
              <a:sym typeface="Arial"/>
            </a:endParaRPr>
          </a:p>
        </p:txBody>
      </p:sp>
      <p:grpSp>
        <p:nvGrpSpPr>
          <p:cNvPr id="237" name="Google Shape;237;p8"/>
          <p:cNvGrpSpPr/>
          <p:nvPr/>
        </p:nvGrpSpPr>
        <p:grpSpPr>
          <a:xfrm>
            <a:off x="0" y="1"/>
            <a:ext cx="14536419" cy="948701"/>
            <a:chOff x="0" y="1"/>
            <a:chExt cx="14536419" cy="948701"/>
          </a:xfrm>
        </p:grpSpPr>
        <p:sp>
          <p:nvSpPr>
            <p:cNvPr id="238" name="Google Shape;238;p8"/>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 name="Google Shape;239;p8"/>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 name="Google Shape;240;p8"/>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1" name="Google Shape;241;p8"/>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 name="Google Shape;242;p8"/>
          <p:cNvSpPr txBox="1"/>
          <p:nvPr/>
        </p:nvSpPr>
        <p:spPr>
          <a:xfrm>
            <a:off x="903857" y="9567912"/>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08.</a:t>
            </a:r>
            <a:endParaRPr b="0" i="0" sz="2600" u="none" cap="none" strike="noStrike">
              <a:solidFill>
                <a:srgbClr val="000000"/>
              </a:solidFill>
              <a:latin typeface="Arial"/>
              <a:ea typeface="Arial"/>
              <a:cs typeface="Arial"/>
              <a:sym typeface="Arial"/>
            </a:endParaRPr>
          </a:p>
        </p:txBody>
      </p:sp>
      <p:sp>
        <p:nvSpPr>
          <p:cNvPr id="243" name="Google Shape;243;p8"/>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244" name="Google Shape;244;p8"/>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pSp>
        <p:nvGrpSpPr>
          <p:cNvPr id="249" name="Google Shape;249;g3d8b67da081_0_193"/>
          <p:cNvGrpSpPr/>
          <p:nvPr/>
        </p:nvGrpSpPr>
        <p:grpSpPr>
          <a:xfrm>
            <a:off x="1018814" y="4787036"/>
            <a:ext cx="845824" cy="846023"/>
            <a:chOff x="1018814" y="4787036"/>
            <a:chExt cx="845824" cy="846023"/>
          </a:xfrm>
        </p:grpSpPr>
        <p:sp>
          <p:nvSpPr>
            <p:cNvPr id="250" name="Google Shape;250;g3d8b67da081_0_193"/>
            <p:cNvSpPr/>
            <p:nvPr/>
          </p:nvSpPr>
          <p:spPr>
            <a:xfrm>
              <a:off x="1018814" y="4787036"/>
              <a:ext cx="547369"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1" name="Google Shape;251;g3d8b67da081_0_193"/>
            <p:cNvSpPr/>
            <p:nvPr/>
          </p:nvSpPr>
          <p:spPr>
            <a:xfrm>
              <a:off x="1317037" y="4787046"/>
              <a:ext cx="547369"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 name="Google Shape;252;g3d8b67da081_0_193"/>
            <p:cNvSpPr/>
            <p:nvPr/>
          </p:nvSpPr>
          <p:spPr>
            <a:xfrm>
              <a:off x="1018819" y="4937734"/>
              <a:ext cx="845819" cy="695325"/>
            </a:xfrm>
            <a:custGeom>
              <a:rect b="b" l="l" r="r" t="t"/>
              <a:pathLst>
                <a:path extrusionOk="0" h="695325" w="845819">
                  <a:moveTo>
                    <a:pt x="845527" y="518782"/>
                  </a:moveTo>
                  <a:lnTo>
                    <a:pt x="839520" y="473151"/>
                  </a:lnTo>
                  <a:lnTo>
                    <a:pt x="821905" y="430618"/>
                  </a:lnTo>
                  <a:lnTo>
                    <a:pt x="793877" y="394106"/>
                  </a:lnTo>
                  <a:lnTo>
                    <a:pt x="671855" y="272097"/>
                  </a:lnTo>
                  <a:lnTo>
                    <a:pt x="422757" y="22999"/>
                  </a:lnTo>
                  <a:lnTo>
                    <a:pt x="399770" y="0"/>
                  </a:lnTo>
                  <a:lnTo>
                    <a:pt x="150685" y="249085"/>
                  </a:lnTo>
                  <a:lnTo>
                    <a:pt x="173672" y="272084"/>
                  </a:lnTo>
                  <a:lnTo>
                    <a:pt x="51650" y="394119"/>
                  </a:lnTo>
                  <a:lnTo>
                    <a:pt x="23622" y="430631"/>
                  </a:lnTo>
                  <a:lnTo>
                    <a:pt x="6007" y="473163"/>
                  </a:lnTo>
                  <a:lnTo>
                    <a:pt x="0" y="518795"/>
                  </a:lnTo>
                  <a:lnTo>
                    <a:pt x="368" y="530339"/>
                  </a:lnTo>
                  <a:lnTo>
                    <a:pt x="9347" y="575487"/>
                  </a:lnTo>
                  <a:lnTo>
                    <a:pt x="29718" y="616762"/>
                  </a:lnTo>
                  <a:lnTo>
                    <a:pt x="59855" y="651154"/>
                  </a:lnTo>
                  <a:lnTo>
                    <a:pt x="98069" y="676668"/>
                  </a:lnTo>
                  <a:lnTo>
                    <a:pt x="141655" y="691464"/>
                  </a:lnTo>
                  <a:lnTo>
                    <a:pt x="176060" y="694855"/>
                  </a:lnTo>
                  <a:lnTo>
                    <a:pt x="187591" y="694474"/>
                  </a:lnTo>
                  <a:lnTo>
                    <a:pt x="232727" y="685495"/>
                  </a:lnTo>
                  <a:lnTo>
                    <a:pt x="274015" y="665137"/>
                  </a:lnTo>
                  <a:lnTo>
                    <a:pt x="422770" y="521182"/>
                  </a:lnTo>
                  <a:lnTo>
                    <a:pt x="544791" y="643191"/>
                  </a:lnTo>
                  <a:lnTo>
                    <a:pt x="581304" y="671220"/>
                  </a:lnTo>
                  <a:lnTo>
                    <a:pt x="623836" y="688835"/>
                  </a:lnTo>
                  <a:lnTo>
                    <a:pt x="669467" y="694842"/>
                  </a:lnTo>
                  <a:lnTo>
                    <a:pt x="681012" y="694461"/>
                  </a:lnTo>
                  <a:lnTo>
                    <a:pt x="726160" y="685482"/>
                  </a:lnTo>
                  <a:lnTo>
                    <a:pt x="767435" y="665124"/>
                  </a:lnTo>
                  <a:lnTo>
                    <a:pt x="801827" y="634987"/>
                  </a:lnTo>
                  <a:lnTo>
                    <a:pt x="827341" y="596773"/>
                  </a:lnTo>
                  <a:lnTo>
                    <a:pt x="842137"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53" name="Google Shape;253;g3d8b67da081_0_193"/>
          <p:cNvGrpSpPr/>
          <p:nvPr/>
        </p:nvGrpSpPr>
        <p:grpSpPr>
          <a:xfrm>
            <a:off x="0" y="1"/>
            <a:ext cx="14536419" cy="948701"/>
            <a:chOff x="0" y="1"/>
            <a:chExt cx="14536419" cy="948701"/>
          </a:xfrm>
        </p:grpSpPr>
        <p:sp>
          <p:nvSpPr>
            <p:cNvPr id="254" name="Google Shape;254;g3d8b67da081_0_193"/>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 name="Google Shape;255;g3d8b67da081_0_193"/>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 name="Google Shape;256;g3d8b67da081_0_193"/>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57" name="Google Shape;257;g3d8b67da081_0_193"/>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 name="Google Shape;258;g3d8b67da081_0_193"/>
          <p:cNvSpPr txBox="1"/>
          <p:nvPr/>
        </p:nvSpPr>
        <p:spPr>
          <a:xfrm>
            <a:off x="903857" y="9567912"/>
            <a:ext cx="550500" cy="400200"/>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08.</a:t>
            </a:r>
            <a:endParaRPr b="0" i="0" sz="2600" u="none" cap="none" strike="noStrike">
              <a:solidFill>
                <a:srgbClr val="000000"/>
              </a:solidFill>
              <a:latin typeface="Arial"/>
              <a:ea typeface="Arial"/>
              <a:cs typeface="Arial"/>
              <a:sym typeface="Arial"/>
            </a:endParaRPr>
          </a:p>
        </p:txBody>
      </p:sp>
      <p:sp>
        <p:nvSpPr>
          <p:cNvPr id="259" name="Google Shape;259;g3d8b67da081_0_193"/>
          <p:cNvSpPr txBox="1"/>
          <p:nvPr>
            <p:ph idx="10" type="dt"/>
          </p:nvPr>
        </p:nvSpPr>
        <p:spPr>
          <a:xfrm>
            <a:off x="3060581" y="9651677"/>
            <a:ext cx="2143800" cy="6603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260" name="Google Shape;260;g3d8b67da081_0_193"/>
          <p:cNvSpPr txBox="1"/>
          <p:nvPr>
            <p:ph idx="11" type="ftr"/>
          </p:nvPr>
        </p:nvSpPr>
        <p:spPr>
          <a:xfrm>
            <a:off x="16105767" y="9653963"/>
            <a:ext cx="1211100" cy="3078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pic>
        <p:nvPicPr>
          <p:cNvPr descr="Aprender Clasificación en Machine Learning FÁCIL! ✅ (Cómo funciona la Clasificación, tipos de algoritmos y para qué sirve. Algoritmos de Clasificación) &#10;&#10;❤️👇SÓLO PARA LOS AMANTES DE LA INTELIGENCIA ARTIFICIAL:&#10;Si quieres aprender TODO sobre Inteligencia Artificial, te recomiendo que te suscribas 👉👉 &#10;https://www.youtube.com/channel/UCdaUGY5rcAUB49VllY3Hsfg?sub_confirmation=1&#10;&#10;¿Qué utilizo yo para desarrollar en Machine Learning?&#10;&#10;📺Gigabyte Technology G27FC: https://amzn.to/2PzkoLW&#10;📺Acer Nitro VG240YS: https://amzn.to/3sQAIGC&#10;🐭Logitech G PRO X SUPERLIGHT: https://amzn.to/3qbptGJ&#10;⌨️Newskill Suiko Ivory: https://amzn.to/3v76fFj&#10;🎙Blue Yeti Microphone : https://amzn.to/3kHxrGJ &#10;🔊Razer Nari Essential Auriculares: https://amzn.to/386NhW0&#10;&#10;★SÍGUEME EN MIS OTRAS REDES★&#10;►Instagram: https://www.instagram.com/aprendeinnovando/&#10;►Facebook: https://www.facebook.com/Aprende-Innovando-106407887999892/&#10;&#10;#clasificación #algoritmosdeclasificación #innovación" id="261" name="Google Shape;261;g3d8b67da081_0_193" title="Clasificación en MACHINE LEARNING RÁPIDO! - (Explicado en 7 MINUTOS) 🦾">
            <a:hlinkClick r:id="rId3"/>
          </p:cNvPr>
          <p:cNvPicPr preferRelativeResize="0"/>
          <p:nvPr/>
        </p:nvPicPr>
        <p:blipFill rotWithShape="1">
          <a:blip r:embed="rId4">
            <a:alphaModFix/>
          </a:blip>
          <a:srcRect b="0" l="0" r="0" t="0"/>
          <a:stretch/>
        </p:blipFill>
        <p:spPr>
          <a:xfrm>
            <a:off x="1" y="2"/>
            <a:ext cx="1828799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9"/>
          <p:cNvSpPr txBox="1"/>
          <p:nvPr/>
        </p:nvSpPr>
        <p:spPr>
          <a:xfrm>
            <a:off x="3033886" y="4018296"/>
            <a:ext cx="6245860" cy="517017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292929"/>
                </a:solidFill>
                <a:latin typeface="Arial"/>
                <a:ea typeface="Arial"/>
                <a:cs typeface="Arial"/>
                <a:sym typeface="Arial"/>
              </a:rPr>
              <a:t>¿Qué es la regresión logística?</a:t>
            </a:r>
            <a:endParaRPr b="0" i="0" sz="2000" u="none" cap="none" strike="noStrike">
              <a:solidFill>
                <a:srgbClr val="000000"/>
              </a:solidFill>
              <a:latin typeface="Arial"/>
              <a:ea typeface="Arial"/>
              <a:cs typeface="Arial"/>
              <a:sym typeface="Arial"/>
            </a:endParaRPr>
          </a:p>
          <a:p>
            <a:pPr indent="-168275" lvl="0" marL="180975" marR="0" rtl="0" algn="l">
              <a:lnSpc>
                <a:spcPct val="100000"/>
              </a:lnSpc>
              <a:spcBef>
                <a:spcPts val="1490"/>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Modelo estadístico para problemas de </a:t>
            </a:r>
            <a:r>
              <a:rPr b="1" i="0" lang="en-US" sz="1550" u="none" cap="none" strike="noStrike">
                <a:solidFill>
                  <a:srgbClr val="F2620F"/>
                </a:solidFill>
                <a:latin typeface="Arial"/>
                <a:ea typeface="Arial"/>
                <a:cs typeface="Arial"/>
                <a:sym typeface="Arial"/>
              </a:rPr>
              <a:t>clasiﬁcación binaria</a:t>
            </a:r>
            <a:r>
              <a:rPr b="0" i="0" lang="en-US" sz="1550" u="none" cap="none" strike="noStrike">
                <a:solidFill>
                  <a:srgbClr val="292929"/>
                </a:solidFill>
                <a:latin typeface="Arial"/>
                <a:ea typeface="Arial"/>
                <a:cs typeface="Arial"/>
                <a:sym typeface="Arial"/>
              </a:rPr>
              <a:t>.</a:t>
            </a:r>
            <a:endParaRPr b="0" i="0" sz="1550" u="none" cap="none" strike="noStrike">
              <a:solidFill>
                <a:srgbClr val="000000"/>
              </a:solidFill>
              <a:latin typeface="Arial"/>
              <a:ea typeface="Arial"/>
              <a:cs typeface="Arial"/>
              <a:sym typeface="Arial"/>
            </a:endParaRPr>
          </a:p>
          <a:p>
            <a:pPr indent="-168275" lvl="0" marL="180975" marR="0" rtl="0" algn="l">
              <a:lnSpc>
                <a:spcPct val="100000"/>
              </a:lnSpc>
              <a:spcBef>
                <a:spcPts val="409"/>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Predice la probabilidad de pertenecer a una clase positiva.</a:t>
            </a:r>
            <a:endParaRPr b="0" i="0" sz="1550" u="none" cap="none" strike="noStrike">
              <a:solidFill>
                <a:srgbClr val="000000"/>
              </a:solidFill>
              <a:latin typeface="Arial"/>
              <a:ea typeface="Arial"/>
              <a:cs typeface="Arial"/>
              <a:sym typeface="Arial"/>
            </a:endParaRPr>
          </a:p>
          <a:p>
            <a:pPr indent="0" lvl="0" marL="0" marR="0" rtl="0" algn="l">
              <a:lnSpc>
                <a:spcPct val="100000"/>
              </a:lnSpc>
              <a:spcBef>
                <a:spcPts val="305"/>
              </a:spcBef>
              <a:spcAft>
                <a:spcPts val="0"/>
              </a:spcAft>
              <a:buClr>
                <a:srgbClr val="292929"/>
              </a:buClr>
              <a:buSzPts val="1550"/>
              <a:buFont typeface="Times New Roman"/>
              <a:buNone/>
            </a:pPr>
            <a:r>
              <a:t/>
            </a:r>
            <a:endParaRPr b="0" i="0" sz="1550" u="none" cap="none" strike="noStrike">
              <a:solidFill>
                <a:srgbClr val="000000"/>
              </a:solidFill>
              <a:latin typeface="Arial"/>
              <a:ea typeface="Arial"/>
              <a:cs typeface="Arial"/>
              <a:sym typeface="Arial"/>
            </a:endParaRPr>
          </a:p>
          <a:p>
            <a:pPr indent="0" lvl="0" marL="12700" marR="0" rtl="0" algn="l">
              <a:lnSpc>
                <a:spcPct val="100000"/>
              </a:lnSpc>
              <a:spcBef>
                <a:spcPts val="5"/>
              </a:spcBef>
              <a:spcAft>
                <a:spcPts val="0"/>
              </a:spcAft>
              <a:buClr>
                <a:srgbClr val="000000"/>
              </a:buClr>
              <a:buSzPts val="2000"/>
              <a:buFont typeface="Arial"/>
              <a:buNone/>
            </a:pPr>
            <a:r>
              <a:rPr b="1" i="0" lang="en-US" sz="2000" u="none" cap="none" strike="noStrike">
                <a:solidFill>
                  <a:srgbClr val="292929"/>
                </a:solidFill>
                <a:latin typeface="Arial"/>
                <a:ea typeface="Arial"/>
                <a:cs typeface="Arial"/>
                <a:sym typeface="Arial"/>
              </a:rPr>
              <a:t>Estimación de probabilidades</a:t>
            </a:r>
            <a:endParaRPr b="0" i="0" sz="2000" u="none" cap="none" strike="noStrike">
              <a:solidFill>
                <a:srgbClr val="000000"/>
              </a:solidFill>
              <a:latin typeface="Arial"/>
              <a:ea typeface="Arial"/>
              <a:cs typeface="Arial"/>
              <a:sym typeface="Arial"/>
            </a:endParaRPr>
          </a:p>
          <a:p>
            <a:pPr indent="-168275" lvl="0" marL="180975" marR="0" rtl="0" algn="l">
              <a:lnSpc>
                <a:spcPct val="100000"/>
              </a:lnSpc>
              <a:spcBef>
                <a:spcPts val="1490"/>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Salida del modelo: probabilidad entre 0 y 1 para cada observación.</a:t>
            </a:r>
            <a:endParaRPr b="0" i="0" sz="1550" u="none" cap="none" strike="noStrike">
              <a:solidFill>
                <a:srgbClr val="000000"/>
              </a:solidFill>
              <a:latin typeface="Arial"/>
              <a:ea typeface="Arial"/>
              <a:cs typeface="Arial"/>
              <a:sym typeface="Arial"/>
            </a:endParaRPr>
          </a:p>
          <a:p>
            <a:pPr indent="-168275" lvl="0" marL="180340" marR="608965" rtl="0" algn="l">
              <a:lnSpc>
                <a:spcPct val="101000"/>
              </a:lnSpc>
              <a:spcBef>
                <a:spcPts val="39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Permite ajustar el </a:t>
            </a:r>
            <a:r>
              <a:rPr b="1" i="0" lang="en-US" sz="1550" u="none" cap="none" strike="noStrike">
                <a:solidFill>
                  <a:srgbClr val="F2620F"/>
                </a:solidFill>
                <a:latin typeface="Arial"/>
                <a:ea typeface="Arial"/>
                <a:cs typeface="Arial"/>
                <a:sym typeface="Arial"/>
              </a:rPr>
              <a:t>umbral de decisión </a:t>
            </a:r>
            <a:r>
              <a:rPr b="0" i="0" lang="en-US" sz="1550" u="none" cap="none" strike="noStrike">
                <a:solidFill>
                  <a:srgbClr val="292929"/>
                </a:solidFill>
                <a:latin typeface="Arial"/>
                <a:ea typeface="Arial"/>
                <a:cs typeface="Arial"/>
                <a:sym typeface="Arial"/>
              </a:rPr>
              <a:t>según el objetivo del 	análisis.</a:t>
            </a:r>
            <a:endParaRPr b="0" i="0" sz="1550" u="none" cap="none" strike="noStrike">
              <a:solidFill>
                <a:srgbClr val="000000"/>
              </a:solidFill>
              <a:latin typeface="Arial"/>
              <a:ea typeface="Arial"/>
              <a:cs typeface="Arial"/>
              <a:sym typeface="Arial"/>
            </a:endParaRPr>
          </a:p>
          <a:p>
            <a:pPr indent="0" lvl="0" marL="0" marR="0" rtl="0" algn="l">
              <a:lnSpc>
                <a:spcPct val="100000"/>
              </a:lnSpc>
              <a:spcBef>
                <a:spcPts val="305"/>
              </a:spcBef>
              <a:spcAft>
                <a:spcPts val="0"/>
              </a:spcAft>
              <a:buClr>
                <a:srgbClr val="292929"/>
              </a:buClr>
              <a:buSzPts val="1550"/>
              <a:buFont typeface="Times New Roman"/>
              <a:buNone/>
            </a:pPr>
            <a:r>
              <a:t/>
            </a:r>
            <a:endParaRPr b="0" i="0" sz="15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292929"/>
                </a:solidFill>
                <a:latin typeface="Arial"/>
                <a:ea typeface="Arial"/>
                <a:cs typeface="Arial"/>
                <a:sym typeface="Arial"/>
              </a:rPr>
              <a:t>Conversión de probabilidades a clases</a:t>
            </a:r>
            <a:endParaRPr b="0" i="0" sz="2000" u="none" cap="none" strike="noStrike">
              <a:solidFill>
                <a:srgbClr val="000000"/>
              </a:solidFill>
              <a:latin typeface="Arial"/>
              <a:ea typeface="Arial"/>
              <a:cs typeface="Arial"/>
              <a:sym typeface="Arial"/>
            </a:endParaRPr>
          </a:p>
          <a:p>
            <a:pPr indent="-168275" lvl="0" marL="180975" marR="0" rtl="0" algn="l">
              <a:lnSpc>
                <a:spcPct val="100000"/>
              </a:lnSpc>
              <a:spcBef>
                <a:spcPts val="149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Se deﬁne un umbral (ejemplo: 0.50) para asignar la clase ﬁnal.</a:t>
            </a:r>
            <a:endParaRPr b="0" i="0" sz="1550" u="none" cap="none" strike="noStrike">
              <a:solidFill>
                <a:srgbClr val="000000"/>
              </a:solidFill>
              <a:latin typeface="Arial"/>
              <a:ea typeface="Arial"/>
              <a:cs typeface="Arial"/>
              <a:sym typeface="Arial"/>
            </a:endParaRPr>
          </a:p>
          <a:p>
            <a:pPr indent="-168275" lvl="0" marL="180975" marR="0" rtl="0" algn="l">
              <a:lnSpc>
                <a:spcPct val="100000"/>
              </a:lnSpc>
              <a:spcBef>
                <a:spcPts val="40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El umbral afecta la cantidad de positivos y negativos predichos.</a:t>
            </a:r>
            <a:endParaRPr b="0" i="0" sz="1550" u="none" cap="none" strike="noStrike">
              <a:solidFill>
                <a:srgbClr val="000000"/>
              </a:solidFill>
              <a:latin typeface="Arial"/>
              <a:ea typeface="Arial"/>
              <a:cs typeface="Arial"/>
              <a:sym typeface="Arial"/>
            </a:endParaRPr>
          </a:p>
          <a:p>
            <a:pPr indent="0" lvl="0" marL="0" marR="0" rtl="0" algn="l">
              <a:lnSpc>
                <a:spcPct val="100000"/>
              </a:lnSpc>
              <a:spcBef>
                <a:spcPts val="310"/>
              </a:spcBef>
              <a:spcAft>
                <a:spcPts val="0"/>
              </a:spcAft>
              <a:buClr>
                <a:srgbClr val="292929"/>
              </a:buClr>
              <a:buSzPts val="1550"/>
              <a:buFont typeface="Times New Roman"/>
              <a:buNone/>
            </a:pPr>
            <a:r>
              <a:t/>
            </a:r>
            <a:endParaRPr b="0" i="0" sz="15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292929"/>
                </a:solidFill>
                <a:latin typeface="Arial"/>
                <a:ea typeface="Arial"/>
                <a:cs typeface="Arial"/>
                <a:sym typeface="Arial"/>
              </a:rPr>
              <a:t>Variables de entrada</a:t>
            </a:r>
            <a:endParaRPr b="0" i="0" sz="2000" u="none" cap="none" strike="noStrike">
              <a:solidFill>
                <a:srgbClr val="000000"/>
              </a:solidFill>
              <a:latin typeface="Arial"/>
              <a:ea typeface="Arial"/>
              <a:cs typeface="Arial"/>
              <a:sym typeface="Arial"/>
            </a:endParaRPr>
          </a:p>
          <a:p>
            <a:pPr indent="-168275" lvl="0" marL="180975" marR="0" rtl="0" algn="l">
              <a:lnSpc>
                <a:spcPct val="100000"/>
              </a:lnSpc>
              <a:spcBef>
                <a:spcPts val="149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Puede utilizar variables </a:t>
            </a:r>
            <a:r>
              <a:rPr b="1" i="0" lang="en-US" sz="1550" u="none" cap="none" strike="noStrike">
                <a:solidFill>
                  <a:srgbClr val="F2620F"/>
                </a:solidFill>
                <a:latin typeface="Arial"/>
                <a:ea typeface="Arial"/>
                <a:cs typeface="Arial"/>
                <a:sym typeface="Arial"/>
              </a:rPr>
              <a:t>numéricas </a:t>
            </a:r>
            <a:r>
              <a:rPr b="0" i="0" lang="en-US" sz="1550" u="none" cap="none" strike="noStrike">
                <a:solidFill>
                  <a:srgbClr val="292929"/>
                </a:solidFill>
                <a:latin typeface="Arial"/>
                <a:ea typeface="Arial"/>
                <a:cs typeface="Arial"/>
                <a:sym typeface="Arial"/>
              </a:rPr>
              <a:t>y </a:t>
            </a:r>
            <a:r>
              <a:rPr b="1" i="0" lang="en-US" sz="1550" u="none" cap="none" strike="noStrike">
                <a:solidFill>
                  <a:srgbClr val="F2620F"/>
                </a:solidFill>
                <a:latin typeface="Arial"/>
                <a:ea typeface="Arial"/>
                <a:cs typeface="Arial"/>
                <a:sym typeface="Arial"/>
              </a:rPr>
              <a:t>categóricas </a:t>
            </a:r>
            <a:r>
              <a:rPr b="0" i="0" lang="en-US" sz="1550" u="none" cap="none" strike="noStrike">
                <a:solidFill>
                  <a:srgbClr val="292929"/>
                </a:solidFill>
                <a:latin typeface="Arial"/>
                <a:ea typeface="Arial"/>
                <a:cs typeface="Arial"/>
                <a:sym typeface="Arial"/>
              </a:rPr>
              <a:t>del viaje.</a:t>
            </a:r>
            <a:endParaRPr b="0" i="0" sz="1550" u="none" cap="none" strike="noStrike">
              <a:solidFill>
                <a:srgbClr val="000000"/>
              </a:solidFill>
              <a:latin typeface="Arial"/>
              <a:ea typeface="Arial"/>
              <a:cs typeface="Arial"/>
              <a:sym typeface="Arial"/>
            </a:endParaRPr>
          </a:p>
          <a:p>
            <a:pPr indent="-168275" lvl="0" marL="180975" marR="0" rtl="0" algn="l">
              <a:lnSpc>
                <a:spcPct val="100000"/>
              </a:lnSpc>
              <a:spcBef>
                <a:spcPts val="40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Evitar variables que revelen directamente la respuesta.</a:t>
            </a:r>
            <a:endParaRPr b="0" i="0" sz="1550" u="none" cap="none" strike="noStrike">
              <a:solidFill>
                <a:srgbClr val="000000"/>
              </a:solidFill>
              <a:latin typeface="Arial"/>
              <a:ea typeface="Arial"/>
              <a:cs typeface="Arial"/>
              <a:sym typeface="Arial"/>
            </a:endParaRPr>
          </a:p>
        </p:txBody>
      </p:sp>
      <p:sp>
        <p:nvSpPr>
          <p:cNvPr descr="$PPTXTitle" id="267" name="Google Shape;267;p9"/>
          <p:cNvSpPr txBox="1"/>
          <p:nvPr>
            <p:ph type="title"/>
          </p:nvPr>
        </p:nvSpPr>
        <p:spPr>
          <a:xfrm>
            <a:off x="3033923" y="1574457"/>
            <a:ext cx="6259195" cy="1687000"/>
          </a:xfrm>
          <a:prstGeom prst="rect">
            <a:avLst/>
          </a:prstGeom>
          <a:noFill/>
          <a:ln>
            <a:noFill/>
          </a:ln>
        </p:spPr>
        <p:txBody>
          <a:bodyPr anchorCtr="0" anchor="t" bIns="0" lIns="0" spcFirstLastPara="1" rIns="0" wrap="square" tIns="95875">
            <a:spAutoFit/>
          </a:bodyPr>
          <a:lstStyle/>
          <a:p>
            <a:pPr indent="0" lvl="0" marL="12700" marR="5080" rtl="0" algn="l">
              <a:lnSpc>
                <a:spcPct val="110178"/>
              </a:lnSpc>
              <a:spcBef>
                <a:spcPts val="0"/>
              </a:spcBef>
              <a:spcAft>
                <a:spcPts val="0"/>
              </a:spcAft>
              <a:buSzPts val="1400"/>
              <a:buNone/>
            </a:pPr>
            <a:r>
              <a:rPr lang="en-US" sz="5600"/>
              <a:t>Regresión logística      como base</a:t>
            </a:r>
            <a:endParaRPr sz="5600"/>
          </a:p>
        </p:txBody>
      </p:sp>
      <p:pic>
        <p:nvPicPr>
          <p:cNvPr id="268" name="Google Shape;268;p9"/>
          <p:cNvPicPr preferRelativeResize="0"/>
          <p:nvPr/>
        </p:nvPicPr>
        <p:blipFill rotWithShape="1">
          <a:blip r:embed="rId3">
            <a:alphaModFix/>
          </a:blip>
          <a:srcRect b="0" l="0" r="0" t="0"/>
          <a:stretch/>
        </p:blipFill>
        <p:spPr>
          <a:xfrm>
            <a:off x="9958552" y="2433269"/>
            <a:ext cx="7399807" cy="4927600"/>
          </a:xfrm>
          <a:prstGeom prst="rect">
            <a:avLst/>
          </a:prstGeom>
          <a:noFill/>
          <a:ln>
            <a:noFill/>
          </a:ln>
        </p:spPr>
      </p:pic>
      <p:grpSp>
        <p:nvGrpSpPr>
          <p:cNvPr id="269" name="Google Shape;269;p9"/>
          <p:cNvGrpSpPr/>
          <p:nvPr/>
        </p:nvGrpSpPr>
        <p:grpSpPr>
          <a:xfrm>
            <a:off x="989622" y="1689054"/>
            <a:ext cx="845819" cy="846030"/>
            <a:chOff x="989622" y="1689054"/>
            <a:chExt cx="845819" cy="846030"/>
          </a:xfrm>
        </p:grpSpPr>
        <p:sp>
          <p:nvSpPr>
            <p:cNvPr id="270" name="Google Shape;270;p9"/>
            <p:cNvSpPr/>
            <p:nvPr/>
          </p:nvSpPr>
          <p:spPr>
            <a:xfrm>
              <a:off x="989638" y="168908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 name="Google Shape;271;p9"/>
            <p:cNvSpPr/>
            <p:nvPr/>
          </p:nvSpPr>
          <p:spPr>
            <a:xfrm>
              <a:off x="1287842" y="1689054"/>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 name="Google Shape;272;p9"/>
            <p:cNvSpPr/>
            <p:nvPr/>
          </p:nvSpPr>
          <p:spPr>
            <a:xfrm>
              <a:off x="989622" y="1839759"/>
              <a:ext cx="845819" cy="695325"/>
            </a:xfrm>
            <a:custGeom>
              <a:rect b="b" l="l" r="r" t="t"/>
              <a:pathLst>
                <a:path extrusionOk="0" h="695325" w="845819">
                  <a:moveTo>
                    <a:pt x="845527" y="518782"/>
                  </a:moveTo>
                  <a:lnTo>
                    <a:pt x="839520" y="473151"/>
                  </a:lnTo>
                  <a:lnTo>
                    <a:pt x="821905" y="430618"/>
                  </a:lnTo>
                  <a:lnTo>
                    <a:pt x="793877" y="394106"/>
                  </a:lnTo>
                  <a:lnTo>
                    <a:pt x="399770" y="0"/>
                  </a:lnTo>
                  <a:lnTo>
                    <a:pt x="150685" y="249085"/>
                  </a:lnTo>
                  <a:lnTo>
                    <a:pt x="173685" y="272097"/>
                  </a:lnTo>
                  <a:lnTo>
                    <a:pt x="51650" y="394144"/>
                  </a:lnTo>
                  <a:lnTo>
                    <a:pt x="23622" y="430657"/>
                  </a:lnTo>
                  <a:lnTo>
                    <a:pt x="6007" y="473189"/>
                  </a:lnTo>
                  <a:lnTo>
                    <a:pt x="0" y="518820"/>
                  </a:lnTo>
                  <a:lnTo>
                    <a:pt x="368" y="530364"/>
                  </a:lnTo>
                  <a:lnTo>
                    <a:pt x="9347" y="575513"/>
                  </a:lnTo>
                  <a:lnTo>
                    <a:pt x="29718" y="616788"/>
                  </a:lnTo>
                  <a:lnTo>
                    <a:pt x="59855" y="651179"/>
                  </a:lnTo>
                  <a:lnTo>
                    <a:pt x="98069" y="676694"/>
                  </a:lnTo>
                  <a:lnTo>
                    <a:pt x="141655" y="691502"/>
                  </a:lnTo>
                  <a:lnTo>
                    <a:pt x="176060" y="694880"/>
                  </a:lnTo>
                  <a:lnTo>
                    <a:pt x="187591" y="694499"/>
                  </a:lnTo>
                  <a:lnTo>
                    <a:pt x="232727" y="685520"/>
                  </a:lnTo>
                  <a:lnTo>
                    <a:pt x="274015" y="665162"/>
                  </a:lnTo>
                  <a:lnTo>
                    <a:pt x="422783" y="521195"/>
                  </a:lnTo>
                  <a:lnTo>
                    <a:pt x="544791" y="643191"/>
                  </a:lnTo>
                  <a:lnTo>
                    <a:pt x="581304" y="671220"/>
                  </a:lnTo>
                  <a:lnTo>
                    <a:pt x="623836" y="688835"/>
                  </a:lnTo>
                  <a:lnTo>
                    <a:pt x="669467" y="694842"/>
                  </a:lnTo>
                  <a:lnTo>
                    <a:pt x="680999" y="694474"/>
                  </a:lnTo>
                  <a:lnTo>
                    <a:pt x="726147" y="685495"/>
                  </a:lnTo>
                  <a:lnTo>
                    <a:pt x="767422" y="665124"/>
                  </a:lnTo>
                  <a:lnTo>
                    <a:pt x="801827" y="634987"/>
                  </a:lnTo>
                  <a:lnTo>
                    <a:pt x="827341" y="596773"/>
                  </a:lnTo>
                  <a:lnTo>
                    <a:pt x="842137"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3" name="Google Shape;273;p9"/>
          <p:cNvGrpSpPr/>
          <p:nvPr/>
        </p:nvGrpSpPr>
        <p:grpSpPr>
          <a:xfrm>
            <a:off x="0" y="1"/>
            <a:ext cx="14536419" cy="948701"/>
            <a:chOff x="0" y="1"/>
            <a:chExt cx="14536419" cy="948701"/>
          </a:xfrm>
        </p:grpSpPr>
        <p:sp>
          <p:nvSpPr>
            <p:cNvPr id="274" name="Google Shape;274;p9"/>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 name="Google Shape;275;p9"/>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 name="Google Shape;276;p9"/>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7" name="Google Shape;277;p9"/>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8" name="Google Shape;278;p9"/>
          <p:cNvSpPr txBox="1"/>
          <p:nvPr/>
        </p:nvSpPr>
        <p:spPr>
          <a:xfrm>
            <a:off x="903857" y="9571461"/>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09.</a:t>
            </a:r>
            <a:endParaRPr b="0" i="0" sz="2600" u="none" cap="none" strike="noStrike">
              <a:solidFill>
                <a:srgbClr val="000000"/>
              </a:solidFill>
              <a:latin typeface="Arial"/>
              <a:ea typeface="Arial"/>
              <a:cs typeface="Arial"/>
              <a:sym typeface="Arial"/>
            </a:endParaRPr>
          </a:p>
        </p:txBody>
      </p:sp>
      <p:sp>
        <p:nvSpPr>
          <p:cNvPr id="279" name="Google Shape;279;p9"/>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280" name="Google Shape;280;p9"/>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0"/>
          <p:cNvSpPr txBox="1"/>
          <p:nvPr/>
        </p:nvSpPr>
        <p:spPr>
          <a:xfrm>
            <a:off x="13261922" y="4750746"/>
            <a:ext cx="3951604" cy="81788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Selección estratégica del umbral</a:t>
            </a:r>
            <a:endParaRPr b="0" i="0" sz="2600" u="none" cap="none" strike="noStrike">
              <a:solidFill>
                <a:srgbClr val="000000"/>
              </a:solidFill>
              <a:latin typeface="Arial"/>
              <a:ea typeface="Arial"/>
              <a:cs typeface="Arial"/>
              <a:sym typeface="Arial"/>
            </a:endParaRPr>
          </a:p>
        </p:txBody>
      </p:sp>
      <p:sp>
        <p:nvSpPr>
          <p:cNvPr id="286" name="Google Shape;286;p10"/>
          <p:cNvSpPr txBox="1"/>
          <p:nvPr/>
        </p:nvSpPr>
        <p:spPr>
          <a:xfrm>
            <a:off x="13262072" y="5909111"/>
            <a:ext cx="3286125" cy="939800"/>
          </a:xfrm>
          <a:prstGeom prst="rect">
            <a:avLst/>
          </a:prstGeom>
          <a:noFill/>
          <a:ln>
            <a:noFill/>
          </a:ln>
        </p:spPr>
        <p:txBody>
          <a:bodyPr anchorCtr="0" anchor="t" bIns="0" lIns="0" spcFirstLastPara="1" rIns="0" wrap="square" tIns="12700">
            <a:spAutoFit/>
          </a:bodyPr>
          <a:lstStyle/>
          <a:p>
            <a:pPr indent="-216535" lvl="0" marL="228600" marR="5080" rtl="0" algn="just">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El umbral se ajusta según el objetivo: minimizar errores o equilibrar métricas.</a:t>
            </a:r>
            <a:endParaRPr b="0" i="0" sz="2000" u="none" cap="none" strike="noStrike">
              <a:solidFill>
                <a:srgbClr val="000000"/>
              </a:solidFill>
              <a:latin typeface="Arial"/>
              <a:ea typeface="Arial"/>
              <a:cs typeface="Arial"/>
              <a:sym typeface="Arial"/>
            </a:endParaRPr>
          </a:p>
        </p:txBody>
      </p:sp>
      <p:sp>
        <p:nvSpPr>
          <p:cNvPr id="287" name="Google Shape;287;p10"/>
          <p:cNvSpPr txBox="1"/>
          <p:nvPr/>
        </p:nvSpPr>
        <p:spPr>
          <a:xfrm>
            <a:off x="8163011" y="4750872"/>
            <a:ext cx="3877310" cy="81788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Impacto del umbral en el modelo</a:t>
            </a:r>
            <a:endParaRPr b="0" i="0" sz="2600" u="none" cap="none" strike="noStrike">
              <a:solidFill>
                <a:srgbClr val="000000"/>
              </a:solidFill>
              <a:latin typeface="Arial"/>
              <a:ea typeface="Arial"/>
              <a:cs typeface="Arial"/>
              <a:sym typeface="Arial"/>
            </a:endParaRPr>
          </a:p>
        </p:txBody>
      </p:sp>
      <p:sp>
        <p:nvSpPr>
          <p:cNvPr id="288" name="Google Shape;288;p10"/>
          <p:cNvSpPr txBox="1"/>
          <p:nvPr/>
        </p:nvSpPr>
        <p:spPr>
          <a:xfrm>
            <a:off x="8163011" y="5909111"/>
            <a:ext cx="3942079" cy="1644650"/>
          </a:xfrm>
          <a:prstGeom prst="rect">
            <a:avLst/>
          </a:prstGeom>
          <a:noFill/>
          <a:ln>
            <a:noFill/>
          </a:ln>
        </p:spPr>
        <p:txBody>
          <a:bodyPr anchorCtr="0" anchor="t" bIns="0" lIns="0" spcFirstLastPara="1" rIns="0" wrap="square" tIns="12700">
            <a:spAutoFit/>
          </a:bodyPr>
          <a:lstStyle/>
          <a:p>
            <a:pPr indent="-216535" lvl="0" marL="228600" marR="7620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Modiﬁcar el umbral cambia la cantidad de positivos y negativos predichos.</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75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Un umbral bajo aumenta el </a:t>
            </a:r>
            <a:r>
              <a:rPr b="1" i="0" lang="en-US" sz="2000" u="none" cap="none" strike="noStrike">
                <a:solidFill>
                  <a:srgbClr val="F2620F"/>
                </a:solidFill>
                <a:latin typeface="Arial"/>
                <a:ea typeface="Arial"/>
                <a:cs typeface="Arial"/>
                <a:sym typeface="Arial"/>
              </a:rPr>
              <a:t>recall</a:t>
            </a:r>
            <a:r>
              <a:rPr b="0" i="0" lang="en-US" sz="2000" u="none" cap="none" strike="noStrike">
                <a:solidFill>
                  <a:srgbClr val="262626"/>
                </a:solidFill>
                <a:latin typeface="Arial"/>
                <a:ea typeface="Arial"/>
                <a:cs typeface="Arial"/>
                <a:sym typeface="Arial"/>
              </a:rPr>
              <a:t>; uno alto mejora la </a:t>
            </a:r>
            <a:r>
              <a:rPr b="1" i="0" lang="en-US" sz="2000" u="none" cap="none" strike="noStrike">
                <a:solidFill>
                  <a:srgbClr val="F2620F"/>
                </a:solidFill>
                <a:latin typeface="Arial"/>
                <a:ea typeface="Arial"/>
                <a:cs typeface="Arial"/>
                <a:sym typeface="Arial"/>
              </a:rPr>
              <a:t>precision</a:t>
            </a:r>
            <a:r>
              <a:rPr b="0" i="0" lang="en-US" sz="2000" u="none" cap="none" strike="noStrike">
                <a:solidFill>
                  <a:srgbClr val="262626"/>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289" name="Google Shape;289;p10"/>
          <p:cNvSpPr txBox="1"/>
          <p:nvPr/>
        </p:nvSpPr>
        <p:spPr>
          <a:xfrm>
            <a:off x="3063949" y="4750872"/>
            <a:ext cx="2797175" cy="81788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De probabilidad a decisión</a:t>
            </a:r>
            <a:endParaRPr b="0" i="0" sz="2600" u="none" cap="none" strike="noStrike">
              <a:solidFill>
                <a:srgbClr val="000000"/>
              </a:solidFill>
              <a:latin typeface="Arial"/>
              <a:ea typeface="Arial"/>
              <a:cs typeface="Arial"/>
              <a:sym typeface="Arial"/>
            </a:endParaRPr>
          </a:p>
        </p:txBody>
      </p:sp>
      <p:sp>
        <p:nvSpPr>
          <p:cNvPr id="290" name="Google Shape;290;p10"/>
          <p:cNvSpPr txBox="1"/>
          <p:nvPr/>
        </p:nvSpPr>
        <p:spPr>
          <a:xfrm>
            <a:off x="3063949" y="5909111"/>
            <a:ext cx="4043045" cy="1339850"/>
          </a:xfrm>
          <a:prstGeom prst="rect">
            <a:avLst/>
          </a:prstGeom>
          <a:noFill/>
          <a:ln>
            <a:noFill/>
          </a:ln>
        </p:spPr>
        <p:txBody>
          <a:bodyPr anchorCtr="0" anchor="t" bIns="0" lIns="0" spcFirstLastPara="1" rIns="0" wrap="square" tIns="12700">
            <a:spAutoFit/>
          </a:bodyPr>
          <a:lstStyle/>
          <a:p>
            <a:pPr indent="-216535" lvl="0" marL="228600" marR="8001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El modelo estima la </a:t>
            </a:r>
            <a:r>
              <a:rPr b="1" i="0" lang="en-US" sz="2000" u="none" cap="none" strike="noStrike">
                <a:solidFill>
                  <a:srgbClr val="F2620F"/>
                </a:solidFill>
                <a:latin typeface="Arial"/>
                <a:ea typeface="Arial"/>
                <a:cs typeface="Arial"/>
                <a:sym typeface="Arial"/>
              </a:rPr>
              <a:t>probabilidad </a:t>
            </a:r>
            <a:r>
              <a:rPr b="0" i="0" lang="en-US" sz="2000" u="none" cap="none" strike="noStrike">
                <a:solidFill>
                  <a:srgbClr val="262626"/>
                </a:solidFill>
                <a:latin typeface="Arial"/>
                <a:ea typeface="Arial"/>
                <a:cs typeface="Arial"/>
                <a:sym typeface="Arial"/>
              </a:rPr>
              <a:t>de pertenecer a la clase positiva.</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75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Se aplica un </a:t>
            </a:r>
            <a:r>
              <a:rPr b="1" i="0" lang="en-US" sz="2000" u="none" cap="none" strike="noStrike">
                <a:solidFill>
                  <a:srgbClr val="F2620F"/>
                </a:solidFill>
                <a:latin typeface="Arial"/>
                <a:ea typeface="Arial"/>
                <a:cs typeface="Arial"/>
                <a:sym typeface="Arial"/>
              </a:rPr>
              <a:t>umbral </a:t>
            </a:r>
            <a:r>
              <a:rPr b="0" i="0" lang="en-US" sz="2000" u="none" cap="none" strike="noStrike">
                <a:solidFill>
                  <a:srgbClr val="262626"/>
                </a:solidFill>
                <a:latin typeface="Arial"/>
                <a:ea typeface="Arial"/>
                <a:cs typeface="Arial"/>
                <a:sym typeface="Arial"/>
              </a:rPr>
              <a:t>para convertir la probabilidad en una clase ﬁnal.</a:t>
            </a:r>
            <a:endParaRPr b="0" i="0" sz="2000" u="none" cap="none" strike="noStrike">
              <a:solidFill>
                <a:srgbClr val="000000"/>
              </a:solidFill>
              <a:latin typeface="Arial"/>
              <a:ea typeface="Arial"/>
              <a:cs typeface="Arial"/>
              <a:sym typeface="Arial"/>
            </a:endParaRPr>
          </a:p>
        </p:txBody>
      </p:sp>
      <p:sp>
        <p:nvSpPr>
          <p:cNvPr descr="$PPTXTitle" id="291" name="Google Shape;291;p10"/>
          <p:cNvSpPr txBox="1"/>
          <p:nvPr>
            <p:ph type="title"/>
          </p:nvPr>
        </p:nvSpPr>
        <p:spPr>
          <a:xfrm>
            <a:off x="3031356" y="1550978"/>
            <a:ext cx="14208760" cy="1061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6800"/>
              <a:t>Probabilidad y decisión final</a:t>
            </a:r>
            <a:endParaRPr sz="6800"/>
          </a:p>
        </p:txBody>
      </p:sp>
      <p:grpSp>
        <p:nvGrpSpPr>
          <p:cNvPr id="292" name="Google Shape;292;p10"/>
          <p:cNvGrpSpPr/>
          <p:nvPr/>
        </p:nvGrpSpPr>
        <p:grpSpPr>
          <a:xfrm>
            <a:off x="989567" y="1692474"/>
            <a:ext cx="845836" cy="846027"/>
            <a:chOff x="989567" y="1692474"/>
            <a:chExt cx="845836" cy="846027"/>
          </a:xfrm>
        </p:grpSpPr>
        <p:sp>
          <p:nvSpPr>
            <p:cNvPr id="293" name="Google Shape;293;p10"/>
            <p:cNvSpPr/>
            <p:nvPr/>
          </p:nvSpPr>
          <p:spPr>
            <a:xfrm>
              <a:off x="989567" y="169249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4" name="Google Shape;294;p10"/>
            <p:cNvSpPr/>
            <p:nvPr/>
          </p:nvSpPr>
          <p:spPr>
            <a:xfrm>
              <a:off x="1287813" y="1692474"/>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 name="Google Shape;295;p10"/>
            <p:cNvSpPr/>
            <p:nvPr/>
          </p:nvSpPr>
          <p:spPr>
            <a:xfrm>
              <a:off x="989584" y="1843176"/>
              <a:ext cx="845819" cy="695325"/>
            </a:xfrm>
            <a:custGeom>
              <a:rect b="b" l="l" r="r" t="t"/>
              <a:pathLst>
                <a:path extrusionOk="0" h="695325" w="845819">
                  <a:moveTo>
                    <a:pt x="845553" y="518782"/>
                  </a:moveTo>
                  <a:lnTo>
                    <a:pt x="839546" y="473151"/>
                  </a:lnTo>
                  <a:lnTo>
                    <a:pt x="821931" y="430618"/>
                  </a:lnTo>
                  <a:lnTo>
                    <a:pt x="793902" y="394106"/>
                  </a:lnTo>
                  <a:lnTo>
                    <a:pt x="399796" y="0"/>
                  </a:lnTo>
                  <a:lnTo>
                    <a:pt x="150710" y="249085"/>
                  </a:lnTo>
                  <a:lnTo>
                    <a:pt x="173697" y="272084"/>
                  </a:lnTo>
                  <a:lnTo>
                    <a:pt x="51650" y="394131"/>
                  </a:lnTo>
                  <a:lnTo>
                    <a:pt x="23622" y="430644"/>
                  </a:lnTo>
                  <a:lnTo>
                    <a:pt x="6007" y="473176"/>
                  </a:lnTo>
                  <a:lnTo>
                    <a:pt x="0" y="518807"/>
                  </a:lnTo>
                  <a:lnTo>
                    <a:pt x="381" y="530352"/>
                  </a:lnTo>
                  <a:lnTo>
                    <a:pt x="9359" y="575500"/>
                  </a:lnTo>
                  <a:lnTo>
                    <a:pt x="29718" y="616775"/>
                  </a:lnTo>
                  <a:lnTo>
                    <a:pt x="59855" y="651167"/>
                  </a:lnTo>
                  <a:lnTo>
                    <a:pt x="98069" y="676681"/>
                  </a:lnTo>
                  <a:lnTo>
                    <a:pt x="141655" y="691489"/>
                  </a:lnTo>
                  <a:lnTo>
                    <a:pt x="176060" y="694867"/>
                  </a:lnTo>
                  <a:lnTo>
                    <a:pt x="187591" y="694486"/>
                  </a:lnTo>
                  <a:lnTo>
                    <a:pt x="232740" y="685507"/>
                  </a:lnTo>
                  <a:lnTo>
                    <a:pt x="274027" y="665149"/>
                  </a:lnTo>
                  <a:lnTo>
                    <a:pt x="422783" y="521169"/>
                  </a:lnTo>
                  <a:lnTo>
                    <a:pt x="544817" y="643191"/>
                  </a:lnTo>
                  <a:lnTo>
                    <a:pt x="581329" y="671220"/>
                  </a:lnTo>
                  <a:lnTo>
                    <a:pt x="623862" y="688835"/>
                  </a:lnTo>
                  <a:lnTo>
                    <a:pt x="669493" y="694842"/>
                  </a:lnTo>
                  <a:lnTo>
                    <a:pt x="681037" y="694474"/>
                  </a:lnTo>
                  <a:lnTo>
                    <a:pt x="726186" y="685482"/>
                  </a:lnTo>
                  <a:lnTo>
                    <a:pt x="767461" y="665124"/>
                  </a:lnTo>
                  <a:lnTo>
                    <a:pt x="801852" y="634987"/>
                  </a:lnTo>
                  <a:lnTo>
                    <a:pt x="827366" y="596773"/>
                  </a:lnTo>
                  <a:lnTo>
                    <a:pt x="842162" y="553186"/>
                  </a:lnTo>
                  <a:lnTo>
                    <a:pt x="845172" y="530326"/>
                  </a:lnTo>
                  <a:lnTo>
                    <a:pt x="845553"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96" name="Google Shape;296;p10"/>
          <p:cNvGrpSpPr/>
          <p:nvPr/>
        </p:nvGrpSpPr>
        <p:grpSpPr>
          <a:xfrm>
            <a:off x="0" y="1"/>
            <a:ext cx="14536419" cy="948701"/>
            <a:chOff x="0" y="1"/>
            <a:chExt cx="14536419" cy="948701"/>
          </a:xfrm>
        </p:grpSpPr>
        <p:sp>
          <p:nvSpPr>
            <p:cNvPr id="297" name="Google Shape;297;p10"/>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8" name="Google Shape;298;p10"/>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9" name="Google Shape;299;p10"/>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0" name="Google Shape;300;p10"/>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1" name="Google Shape;301;p10"/>
          <p:cNvSpPr txBox="1"/>
          <p:nvPr/>
        </p:nvSpPr>
        <p:spPr>
          <a:xfrm>
            <a:off x="903857" y="9571996"/>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10.</a:t>
            </a:r>
            <a:endParaRPr b="0" i="0" sz="2600" u="none" cap="none" strike="noStrike">
              <a:solidFill>
                <a:srgbClr val="000000"/>
              </a:solidFill>
              <a:latin typeface="Arial"/>
              <a:ea typeface="Arial"/>
              <a:cs typeface="Arial"/>
              <a:sym typeface="Arial"/>
            </a:endParaRPr>
          </a:p>
        </p:txBody>
      </p:sp>
      <p:sp>
        <p:nvSpPr>
          <p:cNvPr id="302" name="Google Shape;302;p10"/>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303" name="Google Shape;303;p10"/>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grpSp>
        <p:nvGrpSpPr>
          <p:cNvPr id="308" name="Google Shape;308;p11"/>
          <p:cNvGrpSpPr/>
          <p:nvPr/>
        </p:nvGrpSpPr>
        <p:grpSpPr>
          <a:xfrm>
            <a:off x="0" y="1"/>
            <a:ext cx="14536419" cy="948701"/>
            <a:chOff x="0" y="1"/>
            <a:chExt cx="14536419" cy="948701"/>
          </a:xfrm>
        </p:grpSpPr>
        <p:sp>
          <p:nvSpPr>
            <p:cNvPr id="309" name="Google Shape;309;p11"/>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0" name="Google Shape;310;p11"/>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 name="Google Shape;311;p11"/>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12" name="Google Shape;312;p11"/>
          <p:cNvSpPr/>
          <p:nvPr/>
        </p:nvSpPr>
        <p:spPr>
          <a:xfrm>
            <a:off x="13196217" y="5924322"/>
            <a:ext cx="4046854" cy="3148330"/>
          </a:xfrm>
          <a:custGeom>
            <a:rect b="b" l="l" r="r" t="t"/>
            <a:pathLst>
              <a:path extrusionOk="0" h="3148329" w="4046855">
                <a:moveTo>
                  <a:pt x="3587356" y="0"/>
                </a:moveTo>
                <a:lnTo>
                  <a:pt x="466725" y="0"/>
                </a:lnTo>
                <a:lnTo>
                  <a:pt x="451446" y="190"/>
                </a:lnTo>
                <a:lnTo>
                  <a:pt x="405803" y="3937"/>
                </a:lnTo>
                <a:lnTo>
                  <a:pt x="360730" y="12128"/>
                </a:lnTo>
                <a:lnTo>
                  <a:pt x="316687" y="24714"/>
                </a:lnTo>
                <a:lnTo>
                  <a:pt x="274078" y="41541"/>
                </a:lnTo>
                <a:lnTo>
                  <a:pt x="233337" y="62471"/>
                </a:lnTo>
                <a:lnTo>
                  <a:pt x="194830" y="87299"/>
                </a:lnTo>
                <a:lnTo>
                  <a:pt x="158953" y="115773"/>
                </a:lnTo>
                <a:lnTo>
                  <a:pt x="126034" y="147637"/>
                </a:lnTo>
                <a:lnTo>
                  <a:pt x="96393" y="182562"/>
                </a:lnTo>
                <a:lnTo>
                  <a:pt x="70332" y="220230"/>
                </a:lnTo>
                <a:lnTo>
                  <a:pt x="48082" y="260273"/>
                </a:lnTo>
                <a:lnTo>
                  <a:pt x="29857" y="302298"/>
                </a:lnTo>
                <a:lnTo>
                  <a:pt x="15836" y="345909"/>
                </a:lnTo>
                <a:lnTo>
                  <a:pt x="6172" y="390690"/>
                </a:lnTo>
                <a:lnTo>
                  <a:pt x="939" y="436194"/>
                </a:lnTo>
                <a:lnTo>
                  <a:pt x="0" y="459092"/>
                </a:lnTo>
                <a:lnTo>
                  <a:pt x="0" y="2681516"/>
                </a:lnTo>
                <a:lnTo>
                  <a:pt x="1498" y="2719666"/>
                </a:lnTo>
                <a:lnTo>
                  <a:pt x="7480" y="2765082"/>
                </a:lnTo>
                <a:lnTo>
                  <a:pt x="17881" y="2809684"/>
                </a:lnTo>
                <a:lnTo>
                  <a:pt x="32600" y="2853067"/>
                </a:lnTo>
                <a:lnTo>
                  <a:pt x="51511" y="2894799"/>
                </a:lnTo>
                <a:lnTo>
                  <a:pt x="74409" y="2934462"/>
                </a:lnTo>
                <a:lnTo>
                  <a:pt x="101092" y="2971698"/>
                </a:lnTo>
                <a:lnTo>
                  <a:pt x="131305" y="3006140"/>
                </a:lnTo>
                <a:lnTo>
                  <a:pt x="164731" y="3037446"/>
                </a:lnTo>
                <a:lnTo>
                  <a:pt x="201079" y="3065348"/>
                </a:lnTo>
                <a:lnTo>
                  <a:pt x="239979" y="3089529"/>
                </a:lnTo>
                <a:lnTo>
                  <a:pt x="281063" y="3109798"/>
                </a:lnTo>
                <a:lnTo>
                  <a:pt x="323926" y="3125927"/>
                </a:lnTo>
                <a:lnTo>
                  <a:pt x="368185" y="3137776"/>
                </a:lnTo>
                <a:lnTo>
                  <a:pt x="413372" y="3145243"/>
                </a:lnTo>
                <a:lnTo>
                  <a:pt x="459092" y="3148241"/>
                </a:lnTo>
                <a:lnTo>
                  <a:pt x="3579723" y="3148241"/>
                </a:lnTo>
                <a:lnTo>
                  <a:pt x="3617861" y="3146742"/>
                </a:lnTo>
                <a:lnTo>
                  <a:pt x="3663276" y="3140760"/>
                </a:lnTo>
                <a:lnTo>
                  <a:pt x="3707892" y="3130359"/>
                </a:lnTo>
                <a:lnTo>
                  <a:pt x="3751275" y="3115640"/>
                </a:lnTo>
                <a:lnTo>
                  <a:pt x="3792994" y="3096729"/>
                </a:lnTo>
                <a:lnTo>
                  <a:pt x="3832669" y="3073831"/>
                </a:lnTo>
                <a:lnTo>
                  <a:pt x="3869905" y="3047149"/>
                </a:lnTo>
                <a:lnTo>
                  <a:pt x="3904335" y="3016935"/>
                </a:lnTo>
                <a:lnTo>
                  <a:pt x="3935653" y="2983509"/>
                </a:lnTo>
                <a:lnTo>
                  <a:pt x="3963542" y="2947162"/>
                </a:lnTo>
                <a:lnTo>
                  <a:pt x="3987736" y="2908261"/>
                </a:lnTo>
                <a:lnTo>
                  <a:pt x="4007992" y="2867177"/>
                </a:lnTo>
                <a:lnTo>
                  <a:pt x="4024134" y="2824302"/>
                </a:lnTo>
                <a:lnTo>
                  <a:pt x="4035983" y="2780055"/>
                </a:lnTo>
                <a:lnTo>
                  <a:pt x="4043451" y="2734868"/>
                </a:lnTo>
                <a:lnTo>
                  <a:pt x="4046448" y="2689148"/>
                </a:lnTo>
                <a:lnTo>
                  <a:pt x="4046448" y="466725"/>
                </a:lnTo>
                <a:lnTo>
                  <a:pt x="4044950" y="428574"/>
                </a:lnTo>
                <a:lnTo>
                  <a:pt x="4038968" y="383159"/>
                </a:lnTo>
                <a:lnTo>
                  <a:pt x="4028566" y="338556"/>
                </a:lnTo>
                <a:lnTo>
                  <a:pt x="4013847" y="295173"/>
                </a:lnTo>
                <a:lnTo>
                  <a:pt x="3994937" y="253453"/>
                </a:lnTo>
                <a:lnTo>
                  <a:pt x="3972039" y="213779"/>
                </a:lnTo>
                <a:lnTo>
                  <a:pt x="3945343" y="176542"/>
                </a:lnTo>
                <a:lnTo>
                  <a:pt x="3915143" y="142100"/>
                </a:lnTo>
                <a:lnTo>
                  <a:pt x="3881716" y="110782"/>
                </a:lnTo>
                <a:lnTo>
                  <a:pt x="3845369" y="82905"/>
                </a:lnTo>
                <a:lnTo>
                  <a:pt x="3806469" y="58712"/>
                </a:lnTo>
                <a:lnTo>
                  <a:pt x="3765384" y="38455"/>
                </a:lnTo>
                <a:lnTo>
                  <a:pt x="3722522" y="22313"/>
                </a:lnTo>
                <a:lnTo>
                  <a:pt x="3678262" y="10452"/>
                </a:lnTo>
                <a:lnTo>
                  <a:pt x="3633076" y="2997"/>
                </a:lnTo>
                <a:lnTo>
                  <a:pt x="3587356"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3" name="Google Shape;313;p11"/>
          <p:cNvSpPr/>
          <p:nvPr/>
        </p:nvSpPr>
        <p:spPr>
          <a:xfrm>
            <a:off x="8134797" y="5924322"/>
            <a:ext cx="4046854" cy="3148330"/>
          </a:xfrm>
          <a:custGeom>
            <a:rect b="b" l="l" r="r" t="t"/>
            <a:pathLst>
              <a:path extrusionOk="0" h="3148329" w="4046854">
                <a:moveTo>
                  <a:pt x="3587356" y="0"/>
                </a:moveTo>
                <a:lnTo>
                  <a:pt x="466725" y="0"/>
                </a:lnTo>
                <a:lnTo>
                  <a:pt x="451446" y="190"/>
                </a:lnTo>
                <a:lnTo>
                  <a:pt x="405803" y="3937"/>
                </a:lnTo>
                <a:lnTo>
                  <a:pt x="360730" y="12128"/>
                </a:lnTo>
                <a:lnTo>
                  <a:pt x="316687" y="24714"/>
                </a:lnTo>
                <a:lnTo>
                  <a:pt x="274078" y="41541"/>
                </a:lnTo>
                <a:lnTo>
                  <a:pt x="233337" y="62471"/>
                </a:lnTo>
                <a:lnTo>
                  <a:pt x="194830" y="87299"/>
                </a:lnTo>
                <a:lnTo>
                  <a:pt x="158953" y="115773"/>
                </a:lnTo>
                <a:lnTo>
                  <a:pt x="126034" y="147637"/>
                </a:lnTo>
                <a:lnTo>
                  <a:pt x="96393" y="182562"/>
                </a:lnTo>
                <a:lnTo>
                  <a:pt x="70332" y="220230"/>
                </a:lnTo>
                <a:lnTo>
                  <a:pt x="48082" y="260273"/>
                </a:lnTo>
                <a:lnTo>
                  <a:pt x="29857" y="302298"/>
                </a:lnTo>
                <a:lnTo>
                  <a:pt x="15836" y="345909"/>
                </a:lnTo>
                <a:lnTo>
                  <a:pt x="6172" y="390690"/>
                </a:lnTo>
                <a:lnTo>
                  <a:pt x="939" y="436194"/>
                </a:lnTo>
                <a:lnTo>
                  <a:pt x="0" y="459092"/>
                </a:lnTo>
                <a:lnTo>
                  <a:pt x="0" y="2681516"/>
                </a:lnTo>
                <a:lnTo>
                  <a:pt x="1498" y="2719666"/>
                </a:lnTo>
                <a:lnTo>
                  <a:pt x="7480" y="2765082"/>
                </a:lnTo>
                <a:lnTo>
                  <a:pt x="17881" y="2809684"/>
                </a:lnTo>
                <a:lnTo>
                  <a:pt x="32600" y="2853067"/>
                </a:lnTo>
                <a:lnTo>
                  <a:pt x="51511" y="2894799"/>
                </a:lnTo>
                <a:lnTo>
                  <a:pt x="74409" y="2934462"/>
                </a:lnTo>
                <a:lnTo>
                  <a:pt x="101092" y="2971698"/>
                </a:lnTo>
                <a:lnTo>
                  <a:pt x="131305" y="3006140"/>
                </a:lnTo>
                <a:lnTo>
                  <a:pt x="164731" y="3037446"/>
                </a:lnTo>
                <a:lnTo>
                  <a:pt x="201079" y="3065348"/>
                </a:lnTo>
                <a:lnTo>
                  <a:pt x="239979" y="3089529"/>
                </a:lnTo>
                <a:lnTo>
                  <a:pt x="281063" y="3109798"/>
                </a:lnTo>
                <a:lnTo>
                  <a:pt x="323938" y="3125927"/>
                </a:lnTo>
                <a:lnTo>
                  <a:pt x="368185" y="3137776"/>
                </a:lnTo>
                <a:lnTo>
                  <a:pt x="413372" y="3145243"/>
                </a:lnTo>
                <a:lnTo>
                  <a:pt x="459092" y="3148241"/>
                </a:lnTo>
                <a:lnTo>
                  <a:pt x="3579723" y="3148241"/>
                </a:lnTo>
                <a:lnTo>
                  <a:pt x="3617861" y="3146742"/>
                </a:lnTo>
                <a:lnTo>
                  <a:pt x="3663276" y="3140760"/>
                </a:lnTo>
                <a:lnTo>
                  <a:pt x="3707904" y="3130359"/>
                </a:lnTo>
                <a:lnTo>
                  <a:pt x="3751275" y="3115640"/>
                </a:lnTo>
                <a:lnTo>
                  <a:pt x="3792994" y="3096729"/>
                </a:lnTo>
                <a:lnTo>
                  <a:pt x="3832669" y="3073831"/>
                </a:lnTo>
                <a:lnTo>
                  <a:pt x="3869905" y="3047149"/>
                </a:lnTo>
                <a:lnTo>
                  <a:pt x="3904335" y="3016935"/>
                </a:lnTo>
                <a:lnTo>
                  <a:pt x="3935653" y="2983509"/>
                </a:lnTo>
                <a:lnTo>
                  <a:pt x="3963542" y="2947162"/>
                </a:lnTo>
                <a:lnTo>
                  <a:pt x="3987736" y="2908261"/>
                </a:lnTo>
                <a:lnTo>
                  <a:pt x="4007992" y="2867177"/>
                </a:lnTo>
                <a:lnTo>
                  <a:pt x="4024134" y="2824302"/>
                </a:lnTo>
                <a:lnTo>
                  <a:pt x="4035983" y="2780055"/>
                </a:lnTo>
                <a:lnTo>
                  <a:pt x="4043451" y="2734868"/>
                </a:lnTo>
                <a:lnTo>
                  <a:pt x="4046448" y="2689148"/>
                </a:lnTo>
                <a:lnTo>
                  <a:pt x="4046448" y="466725"/>
                </a:lnTo>
                <a:lnTo>
                  <a:pt x="4044950" y="428574"/>
                </a:lnTo>
                <a:lnTo>
                  <a:pt x="4038968" y="383159"/>
                </a:lnTo>
                <a:lnTo>
                  <a:pt x="4028566" y="338556"/>
                </a:lnTo>
                <a:lnTo>
                  <a:pt x="4013847" y="295173"/>
                </a:lnTo>
                <a:lnTo>
                  <a:pt x="3994937" y="253453"/>
                </a:lnTo>
                <a:lnTo>
                  <a:pt x="3972026" y="213779"/>
                </a:lnTo>
                <a:lnTo>
                  <a:pt x="3945343" y="176542"/>
                </a:lnTo>
                <a:lnTo>
                  <a:pt x="3915143" y="142100"/>
                </a:lnTo>
                <a:lnTo>
                  <a:pt x="3881716" y="110782"/>
                </a:lnTo>
                <a:lnTo>
                  <a:pt x="3845369" y="82905"/>
                </a:lnTo>
                <a:lnTo>
                  <a:pt x="3806469" y="58712"/>
                </a:lnTo>
                <a:lnTo>
                  <a:pt x="3765384" y="38455"/>
                </a:lnTo>
                <a:lnTo>
                  <a:pt x="3722522" y="22313"/>
                </a:lnTo>
                <a:lnTo>
                  <a:pt x="3678262" y="10452"/>
                </a:lnTo>
                <a:lnTo>
                  <a:pt x="3633076" y="2997"/>
                </a:lnTo>
                <a:lnTo>
                  <a:pt x="3587356"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4" name="Google Shape;314;p11"/>
          <p:cNvSpPr/>
          <p:nvPr/>
        </p:nvSpPr>
        <p:spPr>
          <a:xfrm>
            <a:off x="3073374" y="5924322"/>
            <a:ext cx="4046854" cy="3148330"/>
          </a:xfrm>
          <a:custGeom>
            <a:rect b="b" l="l" r="r" t="t"/>
            <a:pathLst>
              <a:path extrusionOk="0" h="3148329" w="4046854">
                <a:moveTo>
                  <a:pt x="3587356" y="0"/>
                </a:moveTo>
                <a:lnTo>
                  <a:pt x="466725" y="0"/>
                </a:lnTo>
                <a:lnTo>
                  <a:pt x="451446" y="190"/>
                </a:lnTo>
                <a:lnTo>
                  <a:pt x="405803" y="3937"/>
                </a:lnTo>
                <a:lnTo>
                  <a:pt x="360730" y="12128"/>
                </a:lnTo>
                <a:lnTo>
                  <a:pt x="316687" y="24714"/>
                </a:lnTo>
                <a:lnTo>
                  <a:pt x="274078" y="41541"/>
                </a:lnTo>
                <a:lnTo>
                  <a:pt x="233337" y="62471"/>
                </a:lnTo>
                <a:lnTo>
                  <a:pt x="194830" y="87299"/>
                </a:lnTo>
                <a:lnTo>
                  <a:pt x="158953" y="115773"/>
                </a:lnTo>
                <a:lnTo>
                  <a:pt x="126034" y="147637"/>
                </a:lnTo>
                <a:lnTo>
                  <a:pt x="96393" y="182562"/>
                </a:lnTo>
                <a:lnTo>
                  <a:pt x="70332" y="220230"/>
                </a:lnTo>
                <a:lnTo>
                  <a:pt x="48082" y="260273"/>
                </a:lnTo>
                <a:lnTo>
                  <a:pt x="29857" y="302298"/>
                </a:lnTo>
                <a:lnTo>
                  <a:pt x="15836" y="345909"/>
                </a:lnTo>
                <a:lnTo>
                  <a:pt x="6172" y="390690"/>
                </a:lnTo>
                <a:lnTo>
                  <a:pt x="939" y="436194"/>
                </a:lnTo>
                <a:lnTo>
                  <a:pt x="0" y="459092"/>
                </a:lnTo>
                <a:lnTo>
                  <a:pt x="0" y="2681516"/>
                </a:lnTo>
                <a:lnTo>
                  <a:pt x="1498" y="2719666"/>
                </a:lnTo>
                <a:lnTo>
                  <a:pt x="7480" y="2765082"/>
                </a:lnTo>
                <a:lnTo>
                  <a:pt x="17881" y="2809684"/>
                </a:lnTo>
                <a:lnTo>
                  <a:pt x="32600" y="2853067"/>
                </a:lnTo>
                <a:lnTo>
                  <a:pt x="51511" y="2894799"/>
                </a:lnTo>
                <a:lnTo>
                  <a:pt x="74409" y="2934462"/>
                </a:lnTo>
                <a:lnTo>
                  <a:pt x="101092" y="2971698"/>
                </a:lnTo>
                <a:lnTo>
                  <a:pt x="131305" y="3006140"/>
                </a:lnTo>
                <a:lnTo>
                  <a:pt x="164731" y="3037446"/>
                </a:lnTo>
                <a:lnTo>
                  <a:pt x="201079" y="3065348"/>
                </a:lnTo>
                <a:lnTo>
                  <a:pt x="239979" y="3089529"/>
                </a:lnTo>
                <a:lnTo>
                  <a:pt x="281063" y="3109798"/>
                </a:lnTo>
                <a:lnTo>
                  <a:pt x="323938" y="3125927"/>
                </a:lnTo>
                <a:lnTo>
                  <a:pt x="368185" y="3137776"/>
                </a:lnTo>
                <a:lnTo>
                  <a:pt x="413372" y="3145243"/>
                </a:lnTo>
                <a:lnTo>
                  <a:pt x="459092" y="3148241"/>
                </a:lnTo>
                <a:lnTo>
                  <a:pt x="3579723" y="3148241"/>
                </a:lnTo>
                <a:lnTo>
                  <a:pt x="3617861" y="3146742"/>
                </a:lnTo>
                <a:lnTo>
                  <a:pt x="3663276" y="3140760"/>
                </a:lnTo>
                <a:lnTo>
                  <a:pt x="3707904" y="3130359"/>
                </a:lnTo>
                <a:lnTo>
                  <a:pt x="3751275" y="3115640"/>
                </a:lnTo>
                <a:lnTo>
                  <a:pt x="3792994" y="3096729"/>
                </a:lnTo>
                <a:lnTo>
                  <a:pt x="3832669" y="3073831"/>
                </a:lnTo>
                <a:lnTo>
                  <a:pt x="3869905" y="3047149"/>
                </a:lnTo>
                <a:lnTo>
                  <a:pt x="3904335" y="3016935"/>
                </a:lnTo>
                <a:lnTo>
                  <a:pt x="3935653" y="2983509"/>
                </a:lnTo>
                <a:lnTo>
                  <a:pt x="3963542" y="2947162"/>
                </a:lnTo>
                <a:lnTo>
                  <a:pt x="3987736" y="2908261"/>
                </a:lnTo>
                <a:lnTo>
                  <a:pt x="4007992" y="2867177"/>
                </a:lnTo>
                <a:lnTo>
                  <a:pt x="4024134" y="2824302"/>
                </a:lnTo>
                <a:lnTo>
                  <a:pt x="4035983" y="2780055"/>
                </a:lnTo>
                <a:lnTo>
                  <a:pt x="4043451" y="2734868"/>
                </a:lnTo>
                <a:lnTo>
                  <a:pt x="4046448" y="2689148"/>
                </a:lnTo>
                <a:lnTo>
                  <a:pt x="4046448" y="466725"/>
                </a:lnTo>
                <a:lnTo>
                  <a:pt x="4044950" y="428574"/>
                </a:lnTo>
                <a:lnTo>
                  <a:pt x="4038968" y="383159"/>
                </a:lnTo>
                <a:lnTo>
                  <a:pt x="4028566" y="338556"/>
                </a:lnTo>
                <a:lnTo>
                  <a:pt x="4013847" y="295173"/>
                </a:lnTo>
                <a:lnTo>
                  <a:pt x="3994937" y="253453"/>
                </a:lnTo>
                <a:lnTo>
                  <a:pt x="3972026" y="213779"/>
                </a:lnTo>
                <a:lnTo>
                  <a:pt x="3945343" y="176542"/>
                </a:lnTo>
                <a:lnTo>
                  <a:pt x="3915143" y="142100"/>
                </a:lnTo>
                <a:lnTo>
                  <a:pt x="3881716" y="110782"/>
                </a:lnTo>
                <a:lnTo>
                  <a:pt x="3845369" y="82905"/>
                </a:lnTo>
                <a:lnTo>
                  <a:pt x="3806469" y="58712"/>
                </a:lnTo>
                <a:lnTo>
                  <a:pt x="3765384" y="38455"/>
                </a:lnTo>
                <a:lnTo>
                  <a:pt x="3722522" y="22313"/>
                </a:lnTo>
                <a:lnTo>
                  <a:pt x="3678262" y="10452"/>
                </a:lnTo>
                <a:lnTo>
                  <a:pt x="3633076" y="2997"/>
                </a:lnTo>
                <a:lnTo>
                  <a:pt x="3587356"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descr="$PPTXTitle" id="315" name="Google Shape;315;p11"/>
          <p:cNvSpPr txBox="1"/>
          <p:nvPr>
            <p:ph type="title"/>
          </p:nvPr>
        </p:nvSpPr>
        <p:spPr>
          <a:xfrm>
            <a:off x="3031356" y="1550978"/>
            <a:ext cx="14208760" cy="1061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6800"/>
              <a:t>Variables predictoras en el proyecto</a:t>
            </a:r>
            <a:endParaRPr sz="6800"/>
          </a:p>
        </p:txBody>
      </p:sp>
      <p:grpSp>
        <p:nvGrpSpPr>
          <p:cNvPr id="316" name="Google Shape;316;p11"/>
          <p:cNvGrpSpPr/>
          <p:nvPr/>
        </p:nvGrpSpPr>
        <p:grpSpPr>
          <a:xfrm>
            <a:off x="989584" y="1692474"/>
            <a:ext cx="845819" cy="846001"/>
            <a:chOff x="989584" y="1692474"/>
            <a:chExt cx="845819" cy="846001"/>
          </a:xfrm>
        </p:grpSpPr>
        <p:sp>
          <p:nvSpPr>
            <p:cNvPr id="317" name="Google Shape;317;p11"/>
            <p:cNvSpPr/>
            <p:nvPr/>
          </p:nvSpPr>
          <p:spPr>
            <a:xfrm>
              <a:off x="989611" y="169249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11"/>
            <p:cNvSpPr/>
            <p:nvPr/>
          </p:nvSpPr>
          <p:spPr>
            <a:xfrm>
              <a:off x="1287772" y="1692474"/>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11"/>
            <p:cNvSpPr/>
            <p:nvPr/>
          </p:nvSpPr>
          <p:spPr>
            <a:xfrm>
              <a:off x="989584" y="1843150"/>
              <a:ext cx="845819" cy="695325"/>
            </a:xfrm>
            <a:custGeom>
              <a:rect b="b" l="l" r="r" t="t"/>
              <a:pathLst>
                <a:path extrusionOk="0" h="695325" w="845819">
                  <a:moveTo>
                    <a:pt x="845515" y="518782"/>
                  </a:moveTo>
                  <a:lnTo>
                    <a:pt x="839508" y="473151"/>
                  </a:lnTo>
                  <a:lnTo>
                    <a:pt x="821893" y="430618"/>
                  </a:lnTo>
                  <a:lnTo>
                    <a:pt x="793864" y="394106"/>
                  </a:lnTo>
                  <a:lnTo>
                    <a:pt x="399757" y="0"/>
                  </a:lnTo>
                  <a:lnTo>
                    <a:pt x="150672" y="249085"/>
                  </a:lnTo>
                  <a:lnTo>
                    <a:pt x="173697" y="272122"/>
                  </a:lnTo>
                  <a:lnTo>
                    <a:pt x="51650" y="394182"/>
                  </a:lnTo>
                  <a:lnTo>
                    <a:pt x="23622" y="430695"/>
                  </a:lnTo>
                  <a:lnTo>
                    <a:pt x="6007" y="473227"/>
                  </a:lnTo>
                  <a:lnTo>
                    <a:pt x="0" y="518858"/>
                  </a:lnTo>
                  <a:lnTo>
                    <a:pt x="368" y="530402"/>
                  </a:lnTo>
                  <a:lnTo>
                    <a:pt x="9347" y="575551"/>
                  </a:lnTo>
                  <a:lnTo>
                    <a:pt x="29718" y="616826"/>
                  </a:lnTo>
                  <a:lnTo>
                    <a:pt x="59855" y="651217"/>
                  </a:lnTo>
                  <a:lnTo>
                    <a:pt x="98069" y="676732"/>
                  </a:lnTo>
                  <a:lnTo>
                    <a:pt x="141655" y="691540"/>
                  </a:lnTo>
                  <a:lnTo>
                    <a:pt x="176060" y="694918"/>
                  </a:lnTo>
                  <a:lnTo>
                    <a:pt x="187591" y="694537"/>
                  </a:lnTo>
                  <a:lnTo>
                    <a:pt x="232727" y="685558"/>
                  </a:lnTo>
                  <a:lnTo>
                    <a:pt x="274015" y="665200"/>
                  </a:lnTo>
                  <a:lnTo>
                    <a:pt x="422795" y="521220"/>
                  </a:lnTo>
                  <a:lnTo>
                    <a:pt x="544779" y="643191"/>
                  </a:lnTo>
                  <a:lnTo>
                    <a:pt x="581291" y="671220"/>
                  </a:lnTo>
                  <a:lnTo>
                    <a:pt x="623824" y="688835"/>
                  </a:lnTo>
                  <a:lnTo>
                    <a:pt x="669455" y="694842"/>
                  </a:lnTo>
                  <a:lnTo>
                    <a:pt x="680999" y="694461"/>
                  </a:lnTo>
                  <a:lnTo>
                    <a:pt x="726147" y="685482"/>
                  </a:lnTo>
                  <a:lnTo>
                    <a:pt x="767422" y="665124"/>
                  </a:lnTo>
                  <a:lnTo>
                    <a:pt x="801814" y="634987"/>
                  </a:lnTo>
                  <a:lnTo>
                    <a:pt x="827328" y="596773"/>
                  </a:lnTo>
                  <a:lnTo>
                    <a:pt x="842124" y="553186"/>
                  </a:lnTo>
                  <a:lnTo>
                    <a:pt x="845134" y="530326"/>
                  </a:lnTo>
                  <a:lnTo>
                    <a:pt x="845515"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0" name="Google Shape;320;p11"/>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21" name="Google Shape;321;p11"/>
          <p:cNvPicPr preferRelativeResize="0"/>
          <p:nvPr/>
        </p:nvPicPr>
        <p:blipFill rotWithShape="1">
          <a:blip r:embed="rId3">
            <a:alphaModFix/>
          </a:blip>
          <a:srcRect b="0" l="0" r="0" t="0"/>
          <a:stretch/>
        </p:blipFill>
        <p:spPr>
          <a:xfrm>
            <a:off x="13196251" y="3102584"/>
            <a:ext cx="4046321" cy="2336800"/>
          </a:xfrm>
          <a:prstGeom prst="rect">
            <a:avLst/>
          </a:prstGeom>
          <a:noFill/>
          <a:ln>
            <a:noFill/>
          </a:ln>
        </p:spPr>
      </p:pic>
      <p:pic>
        <p:nvPicPr>
          <p:cNvPr id="322" name="Google Shape;322;p11"/>
          <p:cNvPicPr preferRelativeResize="0"/>
          <p:nvPr/>
        </p:nvPicPr>
        <p:blipFill rotWithShape="1">
          <a:blip r:embed="rId4">
            <a:alphaModFix/>
          </a:blip>
          <a:srcRect b="0" l="0" r="0" t="0"/>
          <a:stretch/>
        </p:blipFill>
        <p:spPr>
          <a:xfrm>
            <a:off x="8134832" y="3102584"/>
            <a:ext cx="4046321" cy="2336800"/>
          </a:xfrm>
          <a:prstGeom prst="rect">
            <a:avLst/>
          </a:prstGeom>
          <a:noFill/>
          <a:ln>
            <a:noFill/>
          </a:ln>
        </p:spPr>
      </p:pic>
      <p:pic>
        <p:nvPicPr>
          <p:cNvPr id="323" name="Google Shape;323;p11"/>
          <p:cNvPicPr preferRelativeResize="0"/>
          <p:nvPr/>
        </p:nvPicPr>
        <p:blipFill rotWithShape="1">
          <a:blip r:embed="rId5">
            <a:alphaModFix/>
          </a:blip>
          <a:srcRect b="0" l="0" r="0" t="0"/>
          <a:stretch/>
        </p:blipFill>
        <p:spPr>
          <a:xfrm>
            <a:off x="3073412" y="3102584"/>
            <a:ext cx="4046321" cy="2336800"/>
          </a:xfrm>
          <a:prstGeom prst="rect">
            <a:avLst/>
          </a:prstGeom>
          <a:noFill/>
          <a:ln>
            <a:noFill/>
          </a:ln>
        </p:spPr>
      </p:pic>
      <p:sp>
        <p:nvSpPr>
          <p:cNvPr id="324" name="Google Shape;324;p11"/>
          <p:cNvSpPr txBox="1"/>
          <p:nvPr/>
        </p:nvSpPr>
        <p:spPr>
          <a:xfrm>
            <a:off x="13196214" y="5229923"/>
            <a:ext cx="4046854" cy="1913024"/>
          </a:xfrm>
          <a:prstGeom prst="rect">
            <a:avLst/>
          </a:prstGeom>
          <a:solidFill>
            <a:srgbClr val="F2620F"/>
          </a:solidFill>
          <a:ln>
            <a:noFill/>
          </a:ln>
        </p:spPr>
        <p:txBody>
          <a:bodyPr anchorCtr="0" anchor="t" bIns="0" lIns="0" spcFirstLastPara="1" rIns="0" wrap="square" tIns="163825">
            <a:spAutoFit/>
          </a:bodyPr>
          <a:lstStyle/>
          <a:p>
            <a:pPr indent="0" lvl="0" marL="213995" marR="344170" rtl="0" algn="l">
              <a:lnSpc>
                <a:spcPct val="101099"/>
              </a:lnSpc>
              <a:spcBef>
                <a:spcPts val="0"/>
              </a:spcBef>
              <a:spcAft>
                <a:spcPts val="0"/>
              </a:spcAft>
              <a:buClr>
                <a:srgbClr val="000000"/>
              </a:buClr>
              <a:buSzPts val="2300"/>
              <a:buFont typeface="Arial"/>
              <a:buNone/>
            </a:pPr>
            <a:r>
              <a:rPr b="1" i="0" lang="en-US" sz="2300" u="none" cap="none" strike="noStrike">
                <a:solidFill>
                  <a:srgbClr val="F7F7F7"/>
                </a:solidFill>
                <a:latin typeface="Arial"/>
                <a:ea typeface="Arial"/>
                <a:cs typeface="Arial"/>
                <a:sym typeface="Arial"/>
              </a:rPr>
              <a:t>Impacto en la calidad del modelo</a:t>
            </a:r>
            <a:endParaRPr b="0" i="0" sz="2300" u="none" cap="none" strike="noStrike">
              <a:solidFill>
                <a:srgbClr val="000000"/>
              </a:solidFill>
              <a:latin typeface="Arial"/>
              <a:ea typeface="Arial"/>
              <a:cs typeface="Arial"/>
              <a:sym typeface="Arial"/>
            </a:endParaRPr>
          </a:p>
          <a:p>
            <a:pPr indent="-192405" lvl="0" marL="405765" marR="320675" rtl="0" algn="l">
              <a:lnSpc>
                <a:spcPct val="102200"/>
              </a:lnSpc>
              <a:spcBef>
                <a:spcPts val="1680"/>
              </a:spcBef>
              <a:spcAft>
                <a:spcPts val="0"/>
              </a:spcAft>
              <a:buClr>
                <a:srgbClr val="F7F7F7"/>
              </a:buClr>
              <a:buSzPts val="1750"/>
              <a:buFont typeface="Times New Roman"/>
              <a:buChar char="•"/>
            </a:pPr>
            <a:r>
              <a:rPr b="0" i="0" lang="en-US" sz="1750" u="none" cap="none" strike="noStrike">
                <a:solidFill>
                  <a:srgbClr val="F7F7F7"/>
                </a:solidFill>
                <a:latin typeface="Arial"/>
                <a:ea typeface="Arial"/>
                <a:cs typeface="Arial"/>
                <a:sym typeface="Arial"/>
              </a:rPr>
              <a:t>La correcta selección de variables mejora la </a:t>
            </a:r>
            <a:r>
              <a:rPr b="1" i="0" lang="en-US" sz="1750" u="none" cap="none" strike="noStrike">
                <a:solidFill>
                  <a:srgbClr val="F7F7F7"/>
                </a:solidFill>
                <a:latin typeface="Arial"/>
                <a:ea typeface="Arial"/>
                <a:cs typeface="Arial"/>
                <a:sym typeface="Arial"/>
              </a:rPr>
              <a:t>generalización </a:t>
            </a:r>
            <a:r>
              <a:rPr b="0" i="0" lang="en-US" sz="1750" u="none" cap="none" strike="noStrike">
                <a:solidFill>
                  <a:srgbClr val="F7F7F7"/>
                </a:solidFill>
                <a:latin typeface="Arial"/>
                <a:ea typeface="Arial"/>
                <a:cs typeface="Arial"/>
                <a:sym typeface="Arial"/>
              </a:rPr>
              <a:t>y evita resultados artiﬁcialmente inflados.</a:t>
            </a:r>
            <a:endParaRPr b="0" i="0" sz="1750" u="none" cap="none" strike="noStrike">
              <a:solidFill>
                <a:srgbClr val="000000"/>
              </a:solidFill>
              <a:latin typeface="Arial"/>
              <a:ea typeface="Arial"/>
              <a:cs typeface="Arial"/>
              <a:sym typeface="Arial"/>
            </a:endParaRPr>
          </a:p>
        </p:txBody>
      </p:sp>
      <p:sp>
        <p:nvSpPr>
          <p:cNvPr id="325" name="Google Shape;325;p11"/>
          <p:cNvSpPr txBox="1"/>
          <p:nvPr/>
        </p:nvSpPr>
        <p:spPr>
          <a:xfrm>
            <a:off x="903857" y="9572153"/>
            <a:ext cx="550545" cy="384721"/>
          </a:xfrm>
          <a:prstGeom prst="rect">
            <a:avLst/>
          </a:prstGeom>
          <a:noFill/>
          <a:ln>
            <a:noFill/>
          </a:ln>
        </p:spPr>
        <p:txBody>
          <a:bodyPr anchorCtr="0" anchor="t" bIns="0" lIns="0" spcFirstLastPara="1" rIns="0" wrap="square" tIns="0">
            <a:spAutoFit/>
          </a:bodyPr>
          <a:lstStyle/>
          <a:p>
            <a:pPr indent="0" lvl="0" marL="12700" marR="0" rtl="0" algn="l">
              <a:lnSpc>
                <a:spcPct val="117115"/>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11.</a:t>
            </a:r>
            <a:endParaRPr b="0" i="0" sz="2600" u="none" cap="none" strike="noStrike">
              <a:solidFill>
                <a:srgbClr val="000000"/>
              </a:solidFill>
              <a:latin typeface="Arial"/>
              <a:ea typeface="Arial"/>
              <a:cs typeface="Arial"/>
              <a:sym typeface="Arial"/>
            </a:endParaRPr>
          </a:p>
        </p:txBody>
      </p:sp>
      <p:sp>
        <p:nvSpPr>
          <p:cNvPr id="326" name="Google Shape;326;p11"/>
          <p:cNvSpPr txBox="1"/>
          <p:nvPr/>
        </p:nvSpPr>
        <p:spPr>
          <a:xfrm>
            <a:off x="3060600" y="9656443"/>
            <a:ext cx="3824604" cy="294953"/>
          </a:xfrm>
          <a:prstGeom prst="rect">
            <a:avLst/>
          </a:prstGeom>
          <a:noFill/>
          <a:ln>
            <a:noFill/>
          </a:ln>
        </p:spPr>
        <p:txBody>
          <a:bodyPr anchorCtr="0" anchor="t" bIns="0" lIns="0" spcFirstLastPara="1" rIns="0" wrap="square" tIns="0">
            <a:spAutoFit/>
          </a:bodyPr>
          <a:lstStyle/>
          <a:p>
            <a:pPr indent="0" lvl="0" marL="12700" marR="0" rtl="0" algn="l">
              <a:lnSpc>
                <a:spcPct val="1145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Fundamentos del modelo y datos</a:t>
            </a:r>
            <a:endParaRPr b="0" i="0" sz="2000" u="none" cap="none" strike="noStrike">
              <a:solidFill>
                <a:srgbClr val="000000"/>
              </a:solidFill>
              <a:latin typeface="Arial"/>
              <a:ea typeface="Arial"/>
              <a:cs typeface="Arial"/>
              <a:sym typeface="Arial"/>
            </a:endParaRPr>
          </a:p>
        </p:txBody>
      </p:sp>
      <p:sp>
        <p:nvSpPr>
          <p:cNvPr id="327" name="Google Shape;327;p11"/>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
        <p:nvSpPr>
          <p:cNvPr id="328" name="Google Shape;328;p11"/>
          <p:cNvSpPr txBox="1"/>
          <p:nvPr/>
        </p:nvSpPr>
        <p:spPr>
          <a:xfrm>
            <a:off x="8134794" y="5229923"/>
            <a:ext cx="4046854" cy="2517775"/>
          </a:xfrm>
          <a:prstGeom prst="rect">
            <a:avLst/>
          </a:prstGeom>
          <a:solidFill>
            <a:srgbClr val="F2620F"/>
          </a:solidFill>
          <a:ln>
            <a:noFill/>
          </a:ln>
        </p:spPr>
        <p:txBody>
          <a:bodyPr anchorCtr="0" anchor="t" bIns="0" lIns="0" spcFirstLastPara="1" rIns="0" wrap="square" tIns="163825">
            <a:spAutoFit/>
          </a:bodyPr>
          <a:lstStyle/>
          <a:p>
            <a:pPr indent="0" lvl="0" marL="213995" marR="507365" rtl="0" algn="l">
              <a:lnSpc>
                <a:spcPct val="101099"/>
              </a:lnSpc>
              <a:spcBef>
                <a:spcPts val="0"/>
              </a:spcBef>
              <a:spcAft>
                <a:spcPts val="0"/>
              </a:spcAft>
              <a:buClr>
                <a:srgbClr val="000000"/>
              </a:buClr>
              <a:buSzPts val="2300"/>
              <a:buFont typeface="Arial"/>
              <a:buNone/>
            </a:pPr>
            <a:r>
              <a:rPr b="1" i="0" lang="en-US" sz="2300" u="none" cap="none" strike="noStrike">
                <a:solidFill>
                  <a:srgbClr val="F7F7F7"/>
                </a:solidFill>
                <a:latin typeface="Arial"/>
                <a:ea typeface="Arial"/>
                <a:cs typeface="Arial"/>
                <a:sym typeface="Arial"/>
              </a:rPr>
              <a:t>Selección cuidadosa de variables</a:t>
            </a:r>
            <a:endParaRPr b="0" i="0" sz="2300" u="none" cap="none" strike="noStrike">
              <a:solidFill>
                <a:srgbClr val="000000"/>
              </a:solidFill>
              <a:latin typeface="Arial"/>
              <a:ea typeface="Arial"/>
              <a:cs typeface="Arial"/>
              <a:sym typeface="Arial"/>
            </a:endParaRPr>
          </a:p>
          <a:p>
            <a:pPr indent="-192405" lvl="0" marL="405765" marR="231140" rtl="0" algn="l">
              <a:lnSpc>
                <a:spcPct val="102200"/>
              </a:lnSpc>
              <a:spcBef>
                <a:spcPts val="1680"/>
              </a:spcBef>
              <a:spcAft>
                <a:spcPts val="0"/>
              </a:spcAft>
              <a:buClr>
                <a:srgbClr val="F7F7F7"/>
              </a:buClr>
              <a:buSzPts val="1750"/>
              <a:buFont typeface="Times New Roman"/>
              <a:buChar char="•"/>
            </a:pPr>
            <a:r>
              <a:rPr b="0" i="0" lang="en-US" sz="1750" u="none" cap="none" strike="noStrike">
                <a:solidFill>
                  <a:srgbClr val="F7F7F7"/>
                </a:solidFill>
                <a:latin typeface="Arial"/>
                <a:ea typeface="Arial"/>
                <a:cs typeface="Arial"/>
                <a:sym typeface="Arial"/>
              </a:rPr>
              <a:t>Solo se usan variables disponibles antes de ﬁnalizar el viaje para evitar </a:t>
            </a:r>
            <a:r>
              <a:rPr b="1" i="0" lang="en-US" sz="1750" u="none" cap="none" strike="noStrike">
                <a:solidFill>
                  <a:srgbClr val="F7F7F7"/>
                </a:solidFill>
                <a:latin typeface="Arial"/>
                <a:ea typeface="Arial"/>
                <a:cs typeface="Arial"/>
                <a:sym typeface="Arial"/>
              </a:rPr>
              <a:t>fuga de información</a:t>
            </a:r>
            <a:r>
              <a:rPr b="0" i="0" lang="en-US" sz="1750" u="none" cap="none" strike="noStrike">
                <a:solidFill>
                  <a:srgbClr val="F7F7F7"/>
                </a:solidFill>
                <a:latin typeface="Arial"/>
                <a:ea typeface="Arial"/>
                <a:cs typeface="Arial"/>
                <a:sym typeface="Arial"/>
              </a:rPr>
              <a:t>.</a:t>
            </a:r>
            <a:endParaRPr b="0" i="0" sz="1750" u="none" cap="none" strike="noStrike">
              <a:solidFill>
                <a:srgbClr val="000000"/>
              </a:solidFill>
              <a:latin typeface="Arial"/>
              <a:ea typeface="Arial"/>
              <a:cs typeface="Arial"/>
              <a:sym typeface="Arial"/>
            </a:endParaRPr>
          </a:p>
          <a:p>
            <a:pPr indent="-192405" lvl="0" marL="405765" marR="233045" rtl="0" algn="l">
              <a:lnSpc>
                <a:spcPct val="102200"/>
              </a:lnSpc>
              <a:spcBef>
                <a:spcPts val="445"/>
              </a:spcBef>
              <a:spcAft>
                <a:spcPts val="0"/>
              </a:spcAft>
              <a:buClr>
                <a:srgbClr val="F7F7F7"/>
              </a:buClr>
              <a:buSzPts val="1750"/>
              <a:buFont typeface="Times New Roman"/>
              <a:buChar char="•"/>
            </a:pPr>
            <a:r>
              <a:rPr b="0" i="0" lang="en-US" sz="1750" u="none" cap="none" strike="noStrike">
                <a:solidFill>
                  <a:srgbClr val="F7F7F7"/>
                </a:solidFill>
                <a:latin typeface="Arial"/>
                <a:ea typeface="Arial"/>
                <a:cs typeface="Arial"/>
                <a:sym typeface="Arial"/>
              </a:rPr>
              <a:t>Se excluyen columnas que revelan directamente la propina o</a:t>
            </a:r>
            <a:endParaRPr b="0" i="0" sz="1750" u="none" cap="none" strike="noStrike">
              <a:solidFill>
                <a:srgbClr val="000000"/>
              </a:solidFill>
              <a:latin typeface="Arial"/>
              <a:ea typeface="Arial"/>
              <a:cs typeface="Arial"/>
              <a:sym typeface="Arial"/>
            </a:endParaRPr>
          </a:p>
        </p:txBody>
      </p:sp>
      <p:sp>
        <p:nvSpPr>
          <p:cNvPr id="329" name="Google Shape;329;p11"/>
          <p:cNvSpPr txBox="1"/>
          <p:nvPr/>
        </p:nvSpPr>
        <p:spPr>
          <a:xfrm>
            <a:off x="8529463" y="7724190"/>
            <a:ext cx="2552700" cy="286617"/>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750"/>
              <a:buFont typeface="Arial"/>
              <a:buNone/>
            </a:pPr>
            <a:r>
              <a:rPr b="0" i="0" lang="en-US" sz="1750" u="none" cap="none" strike="noStrike">
                <a:solidFill>
                  <a:srgbClr val="F7F7F7"/>
                </a:solidFill>
                <a:latin typeface="Arial"/>
                <a:ea typeface="Arial"/>
                <a:cs typeface="Arial"/>
                <a:sym typeface="Arial"/>
              </a:rPr>
              <a:t>derivadas de la respuesta.</a:t>
            </a:r>
            <a:endParaRPr b="0" i="0" sz="1750" u="none" cap="none" strike="noStrike">
              <a:solidFill>
                <a:srgbClr val="000000"/>
              </a:solidFill>
              <a:latin typeface="Arial"/>
              <a:ea typeface="Arial"/>
              <a:cs typeface="Arial"/>
              <a:sym typeface="Arial"/>
            </a:endParaRPr>
          </a:p>
        </p:txBody>
      </p:sp>
      <p:sp>
        <p:nvSpPr>
          <p:cNvPr id="330" name="Google Shape;330;p11"/>
          <p:cNvSpPr txBox="1"/>
          <p:nvPr/>
        </p:nvSpPr>
        <p:spPr>
          <a:xfrm>
            <a:off x="3073374" y="5229923"/>
            <a:ext cx="4046854" cy="2517775"/>
          </a:xfrm>
          <a:prstGeom prst="rect">
            <a:avLst/>
          </a:prstGeom>
          <a:solidFill>
            <a:srgbClr val="F2620F"/>
          </a:solidFill>
          <a:ln>
            <a:noFill/>
          </a:ln>
        </p:spPr>
        <p:txBody>
          <a:bodyPr anchorCtr="0" anchor="t" bIns="0" lIns="0" spcFirstLastPara="1" rIns="0" wrap="square" tIns="163825">
            <a:spAutoFit/>
          </a:bodyPr>
          <a:lstStyle/>
          <a:p>
            <a:pPr indent="0" lvl="0" marL="213995" marR="1289050" rtl="0" algn="l">
              <a:lnSpc>
                <a:spcPct val="101099"/>
              </a:lnSpc>
              <a:spcBef>
                <a:spcPts val="0"/>
              </a:spcBef>
              <a:spcAft>
                <a:spcPts val="0"/>
              </a:spcAft>
              <a:buClr>
                <a:srgbClr val="000000"/>
              </a:buClr>
              <a:buSzPts val="2300"/>
              <a:buFont typeface="Arial"/>
              <a:buNone/>
            </a:pPr>
            <a:r>
              <a:rPr b="1" i="0" lang="en-US" sz="2300" u="none" cap="none" strike="noStrike">
                <a:solidFill>
                  <a:srgbClr val="F7F7F7"/>
                </a:solidFill>
                <a:latin typeface="Arial"/>
                <a:ea typeface="Arial"/>
                <a:cs typeface="Arial"/>
                <a:sym typeface="Arial"/>
              </a:rPr>
              <a:t>Tipos de variables utilizadas</a:t>
            </a:r>
            <a:endParaRPr b="0" i="0" sz="2300" u="none" cap="none" strike="noStrike">
              <a:solidFill>
                <a:srgbClr val="000000"/>
              </a:solidFill>
              <a:latin typeface="Arial"/>
              <a:ea typeface="Arial"/>
              <a:cs typeface="Arial"/>
              <a:sym typeface="Arial"/>
            </a:endParaRPr>
          </a:p>
          <a:p>
            <a:pPr indent="-192405" lvl="0" marL="405765" marR="366395" rtl="0" algn="l">
              <a:lnSpc>
                <a:spcPct val="102200"/>
              </a:lnSpc>
              <a:spcBef>
                <a:spcPts val="1680"/>
              </a:spcBef>
              <a:spcAft>
                <a:spcPts val="0"/>
              </a:spcAft>
              <a:buClr>
                <a:srgbClr val="F7F7F7"/>
              </a:buClr>
              <a:buSzPts val="1750"/>
              <a:buFont typeface="Times New Roman"/>
              <a:buChar char="•"/>
            </a:pPr>
            <a:r>
              <a:rPr b="0" i="0" lang="en-US" sz="1750" u="none" cap="none" strike="noStrike">
                <a:solidFill>
                  <a:srgbClr val="F7F7F7"/>
                </a:solidFill>
                <a:latin typeface="Arial"/>
                <a:ea typeface="Arial"/>
                <a:cs typeface="Arial"/>
                <a:sym typeface="Arial"/>
              </a:rPr>
              <a:t>Se emplean variables </a:t>
            </a:r>
            <a:r>
              <a:rPr b="1" i="0" lang="en-US" sz="1750" u="none" cap="none" strike="noStrike">
                <a:solidFill>
                  <a:srgbClr val="F7F7F7"/>
                </a:solidFill>
                <a:latin typeface="Arial"/>
                <a:ea typeface="Arial"/>
                <a:cs typeface="Arial"/>
                <a:sym typeface="Arial"/>
              </a:rPr>
              <a:t>numéricas </a:t>
            </a:r>
            <a:r>
              <a:rPr b="0" i="0" lang="en-US" sz="1750" u="none" cap="none" strike="noStrike">
                <a:solidFill>
                  <a:srgbClr val="F7F7F7"/>
                </a:solidFill>
                <a:latin typeface="Arial"/>
                <a:ea typeface="Arial"/>
                <a:cs typeface="Arial"/>
                <a:sym typeface="Arial"/>
              </a:rPr>
              <a:t>como distancia, tarifa y duración del viaje.</a:t>
            </a:r>
            <a:endParaRPr b="0" i="0" sz="1750" u="none" cap="none" strike="noStrike">
              <a:solidFill>
                <a:srgbClr val="000000"/>
              </a:solidFill>
              <a:latin typeface="Arial"/>
              <a:ea typeface="Arial"/>
              <a:cs typeface="Arial"/>
              <a:sym typeface="Arial"/>
            </a:endParaRPr>
          </a:p>
          <a:p>
            <a:pPr indent="-192405" lvl="0" marL="405765" marR="496570" rtl="0" algn="l">
              <a:lnSpc>
                <a:spcPct val="102200"/>
              </a:lnSpc>
              <a:spcBef>
                <a:spcPts val="445"/>
              </a:spcBef>
              <a:spcAft>
                <a:spcPts val="0"/>
              </a:spcAft>
              <a:buClr>
                <a:srgbClr val="F7F7F7"/>
              </a:buClr>
              <a:buSzPts val="1750"/>
              <a:buFont typeface="Times New Roman"/>
              <a:buChar char="•"/>
            </a:pPr>
            <a:r>
              <a:rPr b="0" i="0" lang="en-US" sz="1750" u="none" cap="none" strike="noStrike">
                <a:solidFill>
                  <a:srgbClr val="F7F7F7"/>
                </a:solidFill>
                <a:latin typeface="Arial"/>
                <a:ea typeface="Arial"/>
                <a:cs typeface="Arial"/>
                <a:sym typeface="Arial"/>
              </a:rPr>
              <a:t>Variables </a:t>
            </a:r>
            <a:r>
              <a:rPr b="1" i="0" lang="en-US" sz="1750" u="none" cap="none" strike="noStrike">
                <a:solidFill>
                  <a:srgbClr val="F7F7F7"/>
                </a:solidFill>
                <a:latin typeface="Arial"/>
                <a:ea typeface="Arial"/>
                <a:cs typeface="Arial"/>
                <a:sym typeface="Arial"/>
              </a:rPr>
              <a:t>categóricas </a:t>
            </a:r>
            <a:r>
              <a:rPr b="0" i="0" lang="en-US" sz="1750" u="none" cap="none" strike="noStrike">
                <a:solidFill>
                  <a:srgbClr val="F7F7F7"/>
                </a:solidFill>
                <a:latin typeface="Arial"/>
                <a:ea typeface="Arial"/>
                <a:cs typeface="Arial"/>
                <a:sym typeface="Arial"/>
              </a:rPr>
              <a:t>incluyen tipo de pago, proveedor y zonas</a:t>
            </a:r>
            <a:endParaRPr b="0" i="0" sz="1750" u="none" cap="none" strike="noStrike">
              <a:solidFill>
                <a:srgbClr val="000000"/>
              </a:solidFill>
              <a:latin typeface="Arial"/>
              <a:ea typeface="Arial"/>
              <a:cs typeface="Arial"/>
              <a:sym typeface="Arial"/>
            </a:endParaRPr>
          </a:p>
        </p:txBody>
      </p:sp>
      <p:sp>
        <p:nvSpPr>
          <p:cNvPr id="331" name="Google Shape;331;p11"/>
          <p:cNvSpPr txBox="1"/>
          <p:nvPr/>
        </p:nvSpPr>
        <p:spPr>
          <a:xfrm>
            <a:off x="3468042" y="7724190"/>
            <a:ext cx="1800225" cy="286617"/>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750"/>
              <a:buFont typeface="Arial"/>
              <a:buNone/>
            </a:pPr>
            <a:r>
              <a:rPr b="0" i="0" lang="en-US" sz="1750" u="none" cap="none" strike="noStrike">
                <a:solidFill>
                  <a:srgbClr val="F7F7F7"/>
                </a:solidFill>
                <a:latin typeface="Arial"/>
                <a:ea typeface="Arial"/>
                <a:cs typeface="Arial"/>
                <a:sym typeface="Arial"/>
              </a:rPr>
              <a:t>de origen/destino.</a:t>
            </a:r>
            <a:endParaRPr b="0" i="0" sz="175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2"/>
          <p:cNvSpPr txBox="1"/>
          <p:nvPr/>
        </p:nvSpPr>
        <p:spPr>
          <a:xfrm>
            <a:off x="13274079" y="4890876"/>
            <a:ext cx="3985895" cy="2967479"/>
          </a:xfrm>
          <a:prstGeom prst="rect">
            <a:avLst/>
          </a:prstGeom>
          <a:noFill/>
          <a:ln>
            <a:noFill/>
          </a:ln>
        </p:spPr>
        <p:txBody>
          <a:bodyPr anchorCtr="0" anchor="t" bIns="0" lIns="0" spcFirstLastPara="1" rIns="0" wrap="square" tIns="12700">
            <a:spAutoFit/>
          </a:bodyPr>
          <a:lstStyle/>
          <a:p>
            <a:pPr indent="0" lvl="0" marL="12700" marR="823594"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Buenas prácticas en preparación</a:t>
            </a:r>
            <a:endParaRPr b="0" i="0" sz="2600" u="none" cap="none" strike="noStrike">
              <a:solidFill>
                <a:srgbClr val="000000"/>
              </a:solidFill>
              <a:latin typeface="Arial"/>
              <a:ea typeface="Arial"/>
              <a:cs typeface="Arial"/>
              <a:sym typeface="Arial"/>
            </a:endParaRPr>
          </a:p>
          <a:p>
            <a:pPr indent="-216535" lvl="0" marL="228600" marR="58419"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Evitar incluir variables que revelen la respuesta o que solo estén disponibles después del evento.</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Justiﬁcar la elección de la etiqueta y el umbral para asegurar resultados reproducibles y coherentes.</a:t>
            </a:r>
            <a:endParaRPr b="0" i="0" sz="2000" u="none" cap="none" strike="noStrike">
              <a:solidFill>
                <a:srgbClr val="000000"/>
              </a:solidFill>
              <a:latin typeface="Arial"/>
              <a:ea typeface="Arial"/>
              <a:cs typeface="Arial"/>
              <a:sym typeface="Arial"/>
            </a:endParaRPr>
          </a:p>
        </p:txBody>
      </p:sp>
      <p:sp>
        <p:nvSpPr>
          <p:cNvPr id="337" name="Google Shape;337;p12"/>
          <p:cNvSpPr txBox="1"/>
          <p:nvPr/>
        </p:nvSpPr>
        <p:spPr>
          <a:xfrm>
            <a:off x="8167341" y="4890889"/>
            <a:ext cx="3938270" cy="3558540"/>
          </a:xfrm>
          <a:prstGeom prst="rect">
            <a:avLst/>
          </a:prstGeom>
          <a:noFill/>
          <a:ln>
            <a:noFill/>
          </a:ln>
        </p:spPr>
        <p:txBody>
          <a:bodyPr anchorCtr="0" anchor="t" bIns="0" lIns="0" spcFirstLastPara="1" rIns="0" wrap="square" tIns="12700">
            <a:spAutoFit/>
          </a:bodyPr>
          <a:lstStyle/>
          <a:p>
            <a:pPr indent="0" lvl="0" marL="12700" marR="123317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Consulta base en BigQuery ML</a:t>
            </a:r>
            <a:endParaRPr b="0" i="0" sz="2600" u="none" cap="none" strike="noStrike">
              <a:solidFill>
                <a:srgbClr val="000000"/>
              </a:solidFill>
              <a:latin typeface="Arial"/>
              <a:ea typeface="Arial"/>
              <a:cs typeface="Arial"/>
              <a:sym typeface="Arial"/>
            </a:endParaRPr>
          </a:p>
          <a:p>
            <a:pPr indent="-216535" lvl="0" marL="228600" marR="1651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sentencia CREATE MODEL deﬁne el tipo de modelo, la etiqueta y la columna de partición para separar los datos.</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Se seleccionan variables relevantes del viaje, excluyendo aquellas que puedan causar </a:t>
            </a:r>
            <a:r>
              <a:rPr b="1" i="0" lang="en-US" sz="2000" u="none" cap="none" strike="noStrike">
                <a:solidFill>
                  <a:srgbClr val="F2620F"/>
                </a:solidFill>
                <a:latin typeface="Arial"/>
                <a:ea typeface="Arial"/>
                <a:cs typeface="Arial"/>
                <a:sym typeface="Arial"/>
              </a:rPr>
              <a:t>fuga de información</a:t>
            </a:r>
            <a:r>
              <a:rPr b="0" i="0" lang="en-US" sz="2000" u="none" cap="none" strike="noStrike">
                <a:solidFill>
                  <a:srgbClr val="262626"/>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338" name="Google Shape;338;p12"/>
          <p:cNvSpPr txBox="1"/>
          <p:nvPr/>
        </p:nvSpPr>
        <p:spPr>
          <a:xfrm>
            <a:off x="3060600" y="4890889"/>
            <a:ext cx="3912235" cy="3558540"/>
          </a:xfrm>
          <a:prstGeom prst="rect">
            <a:avLst/>
          </a:prstGeom>
          <a:noFill/>
          <a:ln>
            <a:noFill/>
          </a:ln>
        </p:spPr>
        <p:txBody>
          <a:bodyPr anchorCtr="0" anchor="t" bIns="0" lIns="0" spcFirstLastPara="1" rIns="0" wrap="square" tIns="12700">
            <a:spAutoFit/>
          </a:bodyPr>
          <a:lstStyle/>
          <a:p>
            <a:pPr indent="0" lvl="0" marL="12700" marR="334645"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División estratégica de datos</a:t>
            </a:r>
            <a:endParaRPr b="0" i="0" sz="2600" u="none" cap="none" strike="noStrike">
              <a:solidFill>
                <a:srgbClr val="000000"/>
              </a:solidFill>
              <a:latin typeface="Arial"/>
              <a:ea typeface="Arial"/>
              <a:cs typeface="Arial"/>
              <a:sym typeface="Arial"/>
            </a:endParaRPr>
          </a:p>
          <a:p>
            <a:pPr indent="-216535" lvl="0" marL="228600" marR="110489"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Se utilizan tres conjuntos: </a:t>
            </a:r>
            <a:r>
              <a:rPr b="1" i="0" lang="en-US" sz="2000" u="none" cap="none" strike="noStrike">
                <a:solidFill>
                  <a:srgbClr val="F2620F"/>
                </a:solidFill>
                <a:latin typeface="Arial"/>
                <a:ea typeface="Arial"/>
                <a:cs typeface="Arial"/>
                <a:sym typeface="Arial"/>
              </a:rPr>
              <a:t>TRAIN </a:t>
            </a:r>
            <a:r>
              <a:rPr b="0" i="0" lang="en-US" sz="2000" u="none" cap="none" strike="noStrike">
                <a:solidFill>
                  <a:srgbClr val="262626"/>
                </a:solidFill>
                <a:latin typeface="Arial"/>
                <a:ea typeface="Arial"/>
                <a:cs typeface="Arial"/>
                <a:sym typeface="Arial"/>
              </a:rPr>
              <a:t>para entrenamiento, </a:t>
            </a:r>
            <a:r>
              <a:rPr b="1" i="0" lang="en-US" sz="2000" u="none" cap="none" strike="noStrike">
                <a:solidFill>
                  <a:srgbClr val="F2620F"/>
                </a:solidFill>
                <a:latin typeface="Arial"/>
                <a:ea typeface="Arial"/>
                <a:cs typeface="Arial"/>
                <a:sym typeface="Arial"/>
              </a:rPr>
              <a:t>EVAL </a:t>
            </a:r>
            <a:r>
              <a:rPr b="0" i="0" lang="en-US" sz="2000" u="none" cap="none" strike="noStrike">
                <a:solidFill>
                  <a:srgbClr val="262626"/>
                </a:solidFill>
                <a:latin typeface="Arial"/>
                <a:ea typeface="Arial"/>
                <a:cs typeface="Arial"/>
                <a:sym typeface="Arial"/>
              </a:rPr>
              <a:t>para evaluación y </a:t>
            </a:r>
            <a:r>
              <a:rPr b="1" i="0" lang="en-US" sz="2000" u="none" cap="none" strike="noStrike">
                <a:solidFill>
                  <a:srgbClr val="F2620F"/>
                </a:solidFill>
                <a:latin typeface="Arial"/>
                <a:ea typeface="Arial"/>
                <a:cs typeface="Arial"/>
                <a:sym typeface="Arial"/>
              </a:rPr>
              <a:t>PREDICT </a:t>
            </a:r>
            <a:r>
              <a:rPr b="0" i="0" lang="en-US" sz="2000" u="none" cap="none" strike="noStrike">
                <a:solidFill>
                  <a:srgbClr val="262626"/>
                </a:solidFill>
                <a:latin typeface="Arial"/>
                <a:ea typeface="Arial"/>
                <a:cs typeface="Arial"/>
                <a:sym typeface="Arial"/>
              </a:rPr>
              <a:t>para predicción futura.</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separación temporal garantiza que el modelo aprenda de datos históricos y se evalúe en periodos posteriores.</a:t>
            </a:r>
            <a:endParaRPr b="0" i="0" sz="2000" u="none" cap="none" strike="noStrike">
              <a:solidFill>
                <a:srgbClr val="000000"/>
              </a:solidFill>
              <a:latin typeface="Arial"/>
              <a:ea typeface="Arial"/>
              <a:cs typeface="Arial"/>
              <a:sym typeface="Arial"/>
            </a:endParaRPr>
          </a:p>
        </p:txBody>
      </p:sp>
      <p:grpSp>
        <p:nvGrpSpPr>
          <p:cNvPr id="339" name="Google Shape;339;p12"/>
          <p:cNvGrpSpPr/>
          <p:nvPr/>
        </p:nvGrpSpPr>
        <p:grpSpPr>
          <a:xfrm>
            <a:off x="13286792" y="3814124"/>
            <a:ext cx="720323" cy="720386"/>
            <a:chOff x="13286792" y="3814124"/>
            <a:chExt cx="720323" cy="720386"/>
          </a:xfrm>
        </p:grpSpPr>
        <p:sp>
          <p:nvSpPr>
            <p:cNvPr id="340" name="Google Shape;340;p12"/>
            <p:cNvSpPr/>
            <p:nvPr/>
          </p:nvSpPr>
          <p:spPr>
            <a:xfrm>
              <a:off x="13286792" y="3814124"/>
              <a:ext cx="621030" cy="645795"/>
            </a:xfrm>
            <a:custGeom>
              <a:rect b="b" l="l" r="r" t="t"/>
              <a:pathLst>
                <a:path extrusionOk="0" h="645795" w="621030">
                  <a:moveTo>
                    <a:pt x="615111" y="49720"/>
                  </a:moveTo>
                  <a:lnTo>
                    <a:pt x="5549" y="49720"/>
                  </a:lnTo>
                  <a:lnTo>
                    <a:pt x="0" y="55283"/>
                  </a:lnTo>
                  <a:lnTo>
                    <a:pt x="0" y="640003"/>
                  </a:lnTo>
                  <a:lnTo>
                    <a:pt x="5549" y="645566"/>
                  </a:lnTo>
                  <a:lnTo>
                    <a:pt x="342011" y="645566"/>
                  </a:lnTo>
                  <a:lnTo>
                    <a:pt x="347573" y="640003"/>
                  </a:lnTo>
                  <a:lnTo>
                    <a:pt x="347573" y="626287"/>
                  </a:lnTo>
                  <a:lnTo>
                    <a:pt x="342011" y="620737"/>
                  </a:lnTo>
                  <a:lnTo>
                    <a:pt x="24828" y="620737"/>
                  </a:lnTo>
                  <a:lnTo>
                    <a:pt x="24828" y="173850"/>
                  </a:lnTo>
                  <a:lnTo>
                    <a:pt x="620661" y="173850"/>
                  </a:lnTo>
                  <a:lnTo>
                    <a:pt x="620661" y="124206"/>
                  </a:lnTo>
                  <a:lnTo>
                    <a:pt x="111721" y="124206"/>
                  </a:lnTo>
                  <a:lnTo>
                    <a:pt x="90601" y="120511"/>
                  </a:lnTo>
                  <a:lnTo>
                    <a:pt x="72456" y="110216"/>
                  </a:lnTo>
                  <a:lnTo>
                    <a:pt x="58736" y="94502"/>
                  </a:lnTo>
                  <a:lnTo>
                    <a:pt x="50888" y="74549"/>
                  </a:lnTo>
                  <a:lnTo>
                    <a:pt x="620661" y="74549"/>
                  </a:lnTo>
                  <a:lnTo>
                    <a:pt x="620661" y="55283"/>
                  </a:lnTo>
                  <a:lnTo>
                    <a:pt x="615111" y="49720"/>
                  </a:lnTo>
                  <a:close/>
                </a:path>
                <a:path extrusionOk="0" h="645795" w="621030">
                  <a:moveTo>
                    <a:pt x="620661" y="173850"/>
                  </a:moveTo>
                  <a:lnTo>
                    <a:pt x="595833" y="173850"/>
                  </a:lnTo>
                  <a:lnTo>
                    <a:pt x="595833" y="317258"/>
                  </a:lnTo>
                  <a:lnTo>
                    <a:pt x="601395" y="322808"/>
                  </a:lnTo>
                  <a:lnTo>
                    <a:pt x="615111" y="322808"/>
                  </a:lnTo>
                  <a:lnTo>
                    <a:pt x="620661" y="317258"/>
                  </a:lnTo>
                  <a:lnTo>
                    <a:pt x="620661" y="173850"/>
                  </a:lnTo>
                  <a:close/>
                </a:path>
                <a:path extrusionOk="0" h="645795" w="621030">
                  <a:moveTo>
                    <a:pt x="249504" y="74549"/>
                  </a:moveTo>
                  <a:lnTo>
                    <a:pt x="75717" y="74549"/>
                  </a:lnTo>
                  <a:lnTo>
                    <a:pt x="81186" y="84684"/>
                  </a:lnTo>
                  <a:lnTo>
                    <a:pt x="89284" y="92511"/>
                  </a:lnTo>
                  <a:lnTo>
                    <a:pt x="99348" y="97564"/>
                  </a:lnTo>
                  <a:lnTo>
                    <a:pt x="110718" y="99377"/>
                  </a:lnTo>
                  <a:lnTo>
                    <a:pt x="117576" y="99377"/>
                  </a:lnTo>
                  <a:lnTo>
                    <a:pt x="123139" y="104927"/>
                  </a:lnTo>
                  <a:lnTo>
                    <a:pt x="123139" y="118643"/>
                  </a:lnTo>
                  <a:lnTo>
                    <a:pt x="117576" y="124206"/>
                  </a:lnTo>
                  <a:lnTo>
                    <a:pt x="310337" y="124206"/>
                  </a:lnTo>
                  <a:lnTo>
                    <a:pt x="289216" y="120511"/>
                  </a:lnTo>
                  <a:lnTo>
                    <a:pt x="271071" y="110216"/>
                  </a:lnTo>
                  <a:lnTo>
                    <a:pt x="257352" y="94502"/>
                  </a:lnTo>
                  <a:lnTo>
                    <a:pt x="249504" y="74549"/>
                  </a:lnTo>
                  <a:close/>
                </a:path>
                <a:path extrusionOk="0" h="645795" w="621030">
                  <a:moveTo>
                    <a:pt x="448119" y="74549"/>
                  </a:moveTo>
                  <a:lnTo>
                    <a:pt x="274332" y="74549"/>
                  </a:lnTo>
                  <a:lnTo>
                    <a:pt x="279801" y="84684"/>
                  </a:lnTo>
                  <a:lnTo>
                    <a:pt x="287899" y="92511"/>
                  </a:lnTo>
                  <a:lnTo>
                    <a:pt x="297964" y="97564"/>
                  </a:lnTo>
                  <a:lnTo>
                    <a:pt x="309333" y="99377"/>
                  </a:lnTo>
                  <a:lnTo>
                    <a:pt x="316191" y="99377"/>
                  </a:lnTo>
                  <a:lnTo>
                    <a:pt x="321754" y="104927"/>
                  </a:lnTo>
                  <a:lnTo>
                    <a:pt x="321754" y="118643"/>
                  </a:lnTo>
                  <a:lnTo>
                    <a:pt x="316191" y="124206"/>
                  </a:lnTo>
                  <a:lnTo>
                    <a:pt x="508939" y="124206"/>
                  </a:lnTo>
                  <a:lnTo>
                    <a:pt x="487826" y="120511"/>
                  </a:lnTo>
                  <a:lnTo>
                    <a:pt x="469685" y="110216"/>
                  </a:lnTo>
                  <a:lnTo>
                    <a:pt x="455967" y="94502"/>
                  </a:lnTo>
                  <a:lnTo>
                    <a:pt x="448119" y="74549"/>
                  </a:lnTo>
                  <a:close/>
                </a:path>
                <a:path extrusionOk="0" h="645795" w="621030">
                  <a:moveTo>
                    <a:pt x="620661" y="74549"/>
                  </a:moveTo>
                  <a:lnTo>
                    <a:pt x="472948" y="74549"/>
                  </a:lnTo>
                  <a:lnTo>
                    <a:pt x="478416" y="84684"/>
                  </a:lnTo>
                  <a:lnTo>
                    <a:pt x="486514" y="92511"/>
                  </a:lnTo>
                  <a:lnTo>
                    <a:pt x="496579" y="97564"/>
                  </a:lnTo>
                  <a:lnTo>
                    <a:pt x="507949" y="99377"/>
                  </a:lnTo>
                  <a:lnTo>
                    <a:pt x="514807" y="99377"/>
                  </a:lnTo>
                  <a:lnTo>
                    <a:pt x="520369" y="104927"/>
                  </a:lnTo>
                  <a:lnTo>
                    <a:pt x="520369" y="118643"/>
                  </a:lnTo>
                  <a:lnTo>
                    <a:pt x="514807" y="124206"/>
                  </a:lnTo>
                  <a:lnTo>
                    <a:pt x="620661" y="124206"/>
                  </a:lnTo>
                  <a:lnTo>
                    <a:pt x="620661" y="74549"/>
                  </a:lnTo>
                  <a:close/>
                </a:path>
                <a:path extrusionOk="0" h="645795" w="621030">
                  <a:moveTo>
                    <a:pt x="111721" y="0"/>
                  </a:moveTo>
                  <a:lnTo>
                    <a:pt x="90586" y="3700"/>
                  </a:lnTo>
                  <a:lnTo>
                    <a:pt x="72437" y="14011"/>
                  </a:lnTo>
                  <a:lnTo>
                    <a:pt x="58722" y="29746"/>
                  </a:lnTo>
                  <a:lnTo>
                    <a:pt x="50888" y="49720"/>
                  </a:lnTo>
                  <a:lnTo>
                    <a:pt x="76708" y="49720"/>
                  </a:lnTo>
                  <a:lnTo>
                    <a:pt x="82112" y="39492"/>
                  </a:lnTo>
                  <a:lnTo>
                    <a:pt x="90200" y="31589"/>
                  </a:lnTo>
                  <a:lnTo>
                    <a:pt x="100294" y="26494"/>
                  </a:lnTo>
                  <a:lnTo>
                    <a:pt x="111721" y="24688"/>
                  </a:lnTo>
                  <a:lnTo>
                    <a:pt x="160300" y="24688"/>
                  </a:lnTo>
                  <a:lnTo>
                    <a:pt x="150995" y="14011"/>
                  </a:lnTo>
                  <a:lnTo>
                    <a:pt x="132849" y="3700"/>
                  </a:lnTo>
                  <a:lnTo>
                    <a:pt x="111721" y="0"/>
                  </a:lnTo>
                  <a:close/>
                </a:path>
                <a:path extrusionOk="0" h="645795" w="621030">
                  <a:moveTo>
                    <a:pt x="160300" y="24688"/>
                  </a:moveTo>
                  <a:lnTo>
                    <a:pt x="111721" y="24688"/>
                  </a:lnTo>
                  <a:lnTo>
                    <a:pt x="123141" y="26494"/>
                  </a:lnTo>
                  <a:lnTo>
                    <a:pt x="133232" y="31589"/>
                  </a:lnTo>
                  <a:lnTo>
                    <a:pt x="141318" y="39492"/>
                  </a:lnTo>
                  <a:lnTo>
                    <a:pt x="146723" y="49720"/>
                  </a:lnTo>
                  <a:lnTo>
                    <a:pt x="172542" y="49720"/>
                  </a:lnTo>
                  <a:lnTo>
                    <a:pt x="164708" y="29746"/>
                  </a:lnTo>
                  <a:lnTo>
                    <a:pt x="160300" y="24688"/>
                  </a:lnTo>
                  <a:close/>
                </a:path>
                <a:path extrusionOk="0" h="645795" w="621030">
                  <a:moveTo>
                    <a:pt x="310337" y="0"/>
                  </a:moveTo>
                  <a:lnTo>
                    <a:pt x="289202" y="3700"/>
                  </a:lnTo>
                  <a:lnTo>
                    <a:pt x="271052" y="14011"/>
                  </a:lnTo>
                  <a:lnTo>
                    <a:pt x="257337" y="29746"/>
                  </a:lnTo>
                  <a:lnTo>
                    <a:pt x="249504" y="49720"/>
                  </a:lnTo>
                  <a:lnTo>
                    <a:pt x="275323" y="49720"/>
                  </a:lnTo>
                  <a:lnTo>
                    <a:pt x="280728" y="39492"/>
                  </a:lnTo>
                  <a:lnTo>
                    <a:pt x="288815" y="31589"/>
                  </a:lnTo>
                  <a:lnTo>
                    <a:pt x="298910" y="26494"/>
                  </a:lnTo>
                  <a:lnTo>
                    <a:pt x="310337" y="24688"/>
                  </a:lnTo>
                  <a:lnTo>
                    <a:pt x="358921" y="24688"/>
                  </a:lnTo>
                  <a:lnTo>
                    <a:pt x="349615" y="14011"/>
                  </a:lnTo>
                  <a:lnTo>
                    <a:pt x="331466" y="3700"/>
                  </a:lnTo>
                  <a:lnTo>
                    <a:pt x="310337" y="0"/>
                  </a:lnTo>
                  <a:close/>
                </a:path>
                <a:path extrusionOk="0" h="645795" w="621030">
                  <a:moveTo>
                    <a:pt x="358921" y="24688"/>
                  </a:moveTo>
                  <a:lnTo>
                    <a:pt x="310337" y="24688"/>
                  </a:lnTo>
                  <a:lnTo>
                    <a:pt x="321756" y="26494"/>
                  </a:lnTo>
                  <a:lnTo>
                    <a:pt x="331847" y="31589"/>
                  </a:lnTo>
                  <a:lnTo>
                    <a:pt x="339933" y="39492"/>
                  </a:lnTo>
                  <a:lnTo>
                    <a:pt x="345338" y="49720"/>
                  </a:lnTo>
                  <a:lnTo>
                    <a:pt x="371157" y="49720"/>
                  </a:lnTo>
                  <a:lnTo>
                    <a:pt x="363329" y="29746"/>
                  </a:lnTo>
                  <a:lnTo>
                    <a:pt x="358921" y="24688"/>
                  </a:lnTo>
                  <a:close/>
                </a:path>
                <a:path extrusionOk="0" h="645795" w="621030">
                  <a:moveTo>
                    <a:pt x="508939" y="0"/>
                  </a:moveTo>
                  <a:lnTo>
                    <a:pt x="487811" y="3700"/>
                  </a:lnTo>
                  <a:lnTo>
                    <a:pt x="469666" y="14011"/>
                  </a:lnTo>
                  <a:lnTo>
                    <a:pt x="455952" y="29746"/>
                  </a:lnTo>
                  <a:lnTo>
                    <a:pt x="448119" y="49720"/>
                  </a:lnTo>
                  <a:lnTo>
                    <a:pt x="473938" y="49720"/>
                  </a:lnTo>
                  <a:lnTo>
                    <a:pt x="479343" y="39492"/>
                  </a:lnTo>
                  <a:lnTo>
                    <a:pt x="487429" y="31589"/>
                  </a:lnTo>
                  <a:lnTo>
                    <a:pt x="497520" y="26494"/>
                  </a:lnTo>
                  <a:lnTo>
                    <a:pt x="508939" y="24688"/>
                  </a:lnTo>
                  <a:lnTo>
                    <a:pt x="557530" y="24688"/>
                  </a:lnTo>
                  <a:lnTo>
                    <a:pt x="548224" y="14011"/>
                  </a:lnTo>
                  <a:lnTo>
                    <a:pt x="530074" y="3700"/>
                  </a:lnTo>
                  <a:lnTo>
                    <a:pt x="508939" y="0"/>
                  </a:lnTo>
                  <a:close/>
                </a:path>
                <a:path extrusionOk="0" h="645795" w="621030">
                  <a:moveTo>
                    <a:pt x="557530" y="24688"/>
                  </a:moveTo>
                  <a:lnTo>
                    <a:pt x="508939" y="24688"/>
                  </a:lnTo>
                  <a:lnTo>
                    <a:pt x="520366" y="26494"/>
                  </a:lnTo>
                  <a:lnTo>
                    <a:pt x="530461" y="31589"/>
                  </a:lnTo>
                  <a:lnTo>
                    <a:pt x="538548" y="39492"/>
                  </a:lnTo>
                  <a:lnTo>
                    <a:pt x="543953" y="49720"/>
                  </a:lnTo>
                  <a:lnTo>
                    <a:pt x="569772" y="49720"/>
                  </a:lnTo>
                  <a:lnTo>
                    <a:pt x="561939" y="29746"/>
                  </a:lnTo>
                  <a:lnTo>
                    <a:pt x="557530" y="24688"/>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1" name="Google Shape;341;p12"/>
            <p:cNvPicPr preferRelativeResize="0"/>
            <p:nvPr/>
          </p:nvPicPr>
          <p:blipFill rotWithShape="1">
            <a:blip r:embed="rId3">
              <a:alphaModFix/>
            </a:blip>
            <a:srcRect b="0" l="0" r="0" t="0"/>
            <a:stretch/>
          </p:blipFill>
          <p:spPr>
            <a:xfrm>
              <a:off x="13361269" y="4037638"/>
              <a:ext cx="99301" cy="99301"/>
            </a:xfrm>
            <a:prstGeom prst="rect">
              <a:avLst/>
            </a:prstGeom>
            <a:noFill/>
            <a:ln>
              <a:noFill/>
            </a:ln>
          </p:spPr>
        </p:pic>
        <p:pic>
          <p:nvPicPr>
            <p:cNvPr id="342" name="Google Shape;342;p12"/>
            <p:cNvPicPr preferRelativeResize="0"/>
            <p:nvPr/>
          </p:nvPicPr>
          <p:blipFill rotWithShape="1">
            <a:blip r:embed="rId3">
              <a:alphaModFix/>
            </a:blip>
            <a:srcRect b="0" l="0" r="0" t="0"/>
            <a:stretch/>
          </p:blipFill>
          <p:spPr>
            <a:xfrm>
              <a:off x="13485403" y="4037638"/>
              <a:ext cx="99301" cy="99301"/>
            </a:xfrm>
            <a:prstGeom prst="rect">
              <a:avLst/>
            </a:prstGeom>
            <a:noFill/>
            <a:ln>
              <a:noFill/>
            </a:ln>
          </p:spPr>
        </p:pic>
        <p:pic>
          <p:nvPicPr>
            <p:cNvPr id="343" name="Google Shape;343;p12"/>
            <p:cNvPicPr preferRelativeResize="0"/>
            <p:nvPr/>
          </p:nvPicPr>
          <p:blipFill rotWithShape="1">
            <a:blip r:embed="rId3">
              <a:alphaModFix/>
            </a:blip>
            <a:srcRect b="0" l="0" r="0" t="0"/>
            <a:stretch/>
          </p:blipFill>
          <p:spPr>
            <a:xfrm>
              <a:off x="13361269" y="4161772"/>
              <a:ext cx="99301" cy="99301"/>
            </a:xfrm>
            <a:prstGeom prst="rect">
              <a:avLst/>
            </a:prstGeom>
            <a:noFill/>
            <a:ln>
              <a:noFill/>
            </a:ln>
          </p:spPr>
        </p:pic>
        <p:pic>
          <p:nvPicPr>
            <p:cNvPr id="344" name="Google Shape;344;p12"/>
            <p:cNvPicPr preferRelativeResize="0"/>
            <p:nvPr/>
          </p:nvPicPr>
          <p:blipFill rotWithShape="1">
            <a:blip r:embed="rId3">
              <a:alphaModFix/>
            </a:blip>
            <a:srcRect b="0" l="0" r="0" t="0"/>
            <a:stretch/>
          </p:blipFill>
          <p:spPr>
            <a:xfrm>
              <a:off x="13485403" y="4161772"/>
              <a:ext cx="99301" cy="99301"/>
            </a:xfrm>
            <a:prstGeom prst="rect">
              <a:avLst/>
            </a:prstGeom>
            <a:noFill/>
            <a:ln>
              <a:noFill/>
            </a:ln>
          </p:spPr>
        </p:pic>
        <p:pic>
          <p:nvPicPr>
            <p:cNvPr id="345" name="Google Shape;345;p12"/>
            <p:cNvPicPr preferRelativeResize="0"/>
            <p:nvPr/>
          </p:nvPicPr>
          <p:blipFill rotWithShape="1">
            <a:blip r:embed="rId4">
              <a:alphaModFix/>
            </a:blip>
            <a:srcRect b="0" l="0" r="0" t="0"/>
            <a:stretch/>
          </p:blipFill>
          <p:spPr>
            <a:xfrm>
              <a:off x="13609543" y="4161772"/>
              <a:ext cx="99301" cy="99301"/>
            </a:xfrm>
            <a:prstGeom prst="rect">
              <a:avLst/>
            </a:prstGeom>
            <a:noFill/>
            <a:ln>
              <a:noFill/>
            </a:ln>
          </p:spPr>
        </p:pic>
        <p:pic>
          <p:nvPicPr>
            <p:cNvPr id="346" name="Google Shape;346;p12"/>
            <p:cNvPicPr preferRelativeResize="0"/>
            <p:nvPr/>
          </p:nvPicPr>
          <p:blipFill rotWithShape="1">
            <a:blip r:embed="rId3">
              <a:alphaModFix/>
            </a:blip>
            <a:srcRect b="0" l="0" r="0" t="0"/>
            <a:stretch/>
          </p:blipFill>
          <p:spPr>
            <a:xfrm>
              <a:off x="13361269" y="4285905"/>
              <a:ext cx="99301" cy="99301"/>
            </a:xfrm>
            <a:prstGeom prst="rect">
              <a:avLst/>
            </a:prstGeom>
            <a:noFill/>
            <a:ln>
              <a:noFill/>
            </a:ln>
          </p:spPr>
        </p:pic>
        <p:pic>
          <p:nvPicPr>
            <p:cNvPr id="347" name="Google Shape;347;p12"/>
            <p:cNvPicPr preferRelativeResize="0"/>
            <p:nvPr/>
          </p:nvPicPr>
          <p:blipFill rotWithShape="1">
            <a:blip r:embed="rId3">
              <a:alphaModFix/>
            </a:blip>
            <a:srcRect b="0" l="0" r="0" t="0"/>
            <a:stretch/>
          </p:blipFill>
          <p:spPr>
            <a:xfrm>
              <a:off x="13485403" y="4285905"/>
              <a:ext cx="99301" cy="99301"/>
            </a:xfrm>
            <a:prstGeom prst="rect">
              <a:avLst/>
            </a:prstGeom>
            <a:noFill/>
            <a:ln>
              <a:noFill/>
            </a:ln>
          </p:spPr>
        </p:pic>
        <p:pic>
          <p:nvPicPr>
            <p:cNvPr id="348" name="Google Shape;348;p12"/>
            <p:cNvPicPr preferRelativeResize="0"/>
            <p:nvPr/>
          </p:nvPicPr>
          <p:blipFill rotWithShape="1">
            <a:blip r:embed="rId3">
              <a:alphaModFix/>
            </a:blip>
            <a:srcRect b="0" l="0" r="0" t="0"/>
            <a:stretch/>
          </p:blipFill>
          <p:spPr>
            <a:xfrm>
              <a:off x="13609538" y="4037638"/>
              <a:ext cx="99301" cy="99301"/>
            </a:xfrm>
            <a:prstGeom prst="rect">
              <a:avLst/>
            </a:prstGeom>
            <a:noFill/>
            <a:ln>
              <a:noFill/>
            </a:ln>
          </p:spPr>
        </p:pic>
        <p:pic>
          <p:nvPicPr>
            <p:cNvPr id="349" name="Google Shape;349;p12"/>
            <p:cNvPicPr preferRelativeResize="0"/>
            <p:nvPr/>
          </p:nvPicPr>
          <p:blipFill rotWithShape="1">
            <a:blip r:embed="rId5">
              <a:alphaModFix/>
            </a:blip>
            <a:srcRect b="0" l="0" r="0" t="0"/>
            <a:stretch/>
          </p:blipFill>
          <p:spPr>
            <a:xfrm>
              <a:off x="13733672" y="4037638"/>
              <a:ext cx="99301" cy="99301"/>
            </a:xfrm>
            <a:prstGeom prst="rect">
              <a:avLst/>
            </a:prstGeom>
            <a:noFill/>
            <a:ln>
              <a:noFill/>
            </a:ln>
          </p:spPr>
        </p:pic>
        <p:sp>
          <p:nvSpPr>
            <p:cNvPr id="350" name="Google Shape;350;p12"/>
            <p:cNvSpPr/>
            <p:nvPr/>
          </p:nvSpPr>
          <p:spPr>
            <a:xfrm>
              <a:off x="13634370" y="4161765"/>
              <a:ext cx="372745" cy="372745"/>
            </a:xfrm>
            <a:custGeom>
              <a:rect b="b" l="l" r="r" t="t"/>
              <a:pathLst>
                <a:path extrusionOk="0" h="372745" w="372744">
                  <a:moveTo>
                    <a:pt x="186194" y="0"/>
                  </a:moveTo>
                  <a:lnTo>
                    <a:pt x="136696" y="6651"/>
                  </a:lnTo>
                  <a:lnTo>
                    <a:pt x="92218" y="25421"/>
                  </a:lnTo>
                  <a:lnTo>
                    <a:pt x="54535" y="54536"/>
                  </a:lnTo>
                  <a:lnTo>
                    <a:pt x="25421" y="92222"/>
                  </a:lnTo>
                  <a:lnTo>
                    <a:pt x="6651" y="136704"/>
                  </a:lnTo>
                  <a:lnTo>
                    <a:pt x="0" y="186207"/>
                  </a:lnTo>
                  <a:lnTo>
                    <a:pt x="6651" y="235705"/>
                  </a:lnTo>
                  <a:lnTo>
                    <a:pt x="25421" y="280183"/>
                  </a:lnTo>
                  <a:lnTo>
                    <a:pt x="54535" y="317866"/>
                  </a:lnTo>
                  <a:lnTo>
                    <a:pt x="92449" y="347078"/>
                  </a:lnTo>
                  <a:lnTo>
                    <a:pt x="136696" y="365751"/>
                  </a:lnTo>
                  <a:lnTo>
                    <a:pt x="186194" y="372402"/>
                  </a:lnTo>
                  <a:lnTo>
                    <a:pt x="235692" y="365751"/>
                  </a:lnTo>
                  <a:lnTo>
                    <a:pt x="279939" y="347078"/>
                  </a:lnTo>
                  <a:lnTo>
                    <a:pt x="173786" y="347078"/>
                  </a:lnTo>
                  <a:lnTo>
                    <a:pt x="173786" y="332676"/>
                  </a:lnTo>
                  <a:lnTo>
                    <a:pt x="116433" y="332676"/>
                  </a:lnTo>
                  <a:lnTo>
                    <a:pt x="108966" y="329260"/>
                  </a:lnTo>
                  <a:lnTo>
                    <a:pt x="101828" y="325196"/>
                  </a:lnTo>
                  <a:lnTo>
                    <a:pt x="95084" y="320509"/>
                  </a:lnTo>
                  <a:lnTo>
                    <a:pt x="101041" y="310337"/>
                  </a:lnTo>
                  <a:lnTo>
                    <a:pt x="104406" y="304380"/>
                  </a:lnTo>
                  <a:lnTo>
                    <a:pt x="111950" y="302272"/>
                  </a:lnTo>
                  <a:lnTo>
                    <a:pt x="259459" y="302272"/>
                  </a:lnTo>
                  <a:lnTo>
                    <a:pt x="261670" y="301028"/>
                  </a:lnTo>
                  <a:lnTo>
                    <a:pt x="330863" y="301028"/>
                  </a:lnTo>
                  <a:lnTo>
                    <a:pt x="346968" y="280183"/>
                  </a:lnTo>
                  <a:lnTo>
                    <a:pt x="348177" y="277317"/>
                  </a:lnTo>
                  <a:lnTo>
                    <a:pt x="53124" y="277317"/>
                  </a:lnTo>
                  <a:lnTo>
                    <a:pt x="48450" y="270573"/>
                  </a:lnTo>
                  <a:lnTo>
                    <a:pt x="44373" y="263423"/>
                  </a:lnTo>
                  <a:lnTo>
                    <a:pt x="40957" y="255968"/>
                  </a:lnTo>
                  <a:lnTo>
                    <a:pt x="50888" y="250012"/>
                  </a:lnTo>
                  <a:lnTo>
                    <a:pt x="56870" y="246595"/>
                  </a:lnTo>
                  <a:lnTo>
                    <a:pt x="229089" y="246595"/>
                  </a:lnTo>
                  <a:lnTo>
                    <a:pt x="227152" y="244538"/>
                  </a:lnTo>
                  <a:lnTo>
                    <a:pt x="181229" y="198615"/>
                  </a:lnTo>
                  <a:lnTo>
                    <a:pt x="25311" y="198615"/>
                  </a:lnTo>
                  <a:lnTo>
                    <a:pt x="25311" y="173786"/>
                  </a:lnTo>
                  <a:lnTo>
                    <a:pt x="173746" y="173786"/>
                  </a:lnTo>
                  <a:lnTo>
                    <a:pt x="173776" y="127050"/>
                  </a:lnTo>
                  <a:lnTo>
                    <a:pt x="56870" y="127050"/>
                  </a:lnTo>
                  <a:lnTo>
                    <a:pt x="50888" y="123634"/>
                  </a:lnTo>
                  <a:lnTo>
                    <a:pt x="40957" y="117678"/>
                  </a:lnTo>
                  <a:lnTo>
                    <a:pt x="43544" y="111963"/>
                  </a:lnTo>
                  <a:lnTo>
                    <a:pt x="46521" y="106100"/>
                  </a:lnTo>
                  <a:lnTo>
                    <a:pt x="49696" y="100517"/>
                  </a:lnTo>
                  <a:lnTo>
                    <a:pt x="53124" y="95084"/>
                  </a:lnTo>
                  <a:lnTo>
                    <a:pt x="348176" y="95084"/>
                  </a:lnTo>
                  <a:lnTo>
                    <a:pt x="346968" y="92222"/>
                  </a:lnTo>
                  <a:lnTo>
                    <a:pt x="330861" y="71373"/>
                  </a:lnTo>
                  <a:lnTo>
                    <a:pt x="111950" y="71373"/>
                  </a:lnTo>
                  <a:lnTo>
                    <a:pt x="104406" y="69265"/>
                  </a:lnTo>
                  <a:lnTo>
                    <a:pt x="101041" y="63309"/>
                  </a:lnTo>
                  <a:lnTo>
                    <a:pt x="95084" y="53124"/>
                  </a:lnTo>
                  <a:lnTo>
                    <a:pt x="101828" y="48450"/>
                  </a:lnTo>
                  <a:lnTo>
                    <a:pt x="108966" y="44386"/>
                  </a:lnTo>
                  <a:lnTo>
                    <a:pt x="116433" y="40970"/>
                  </a:lnTo>
                  <a:lnTo>
                    <a:pt x="173786" y="40970"/>
                  </a:lnTo>
                  <a:lnTo>
                    <a:pt x="173786" y="25421"/>
                  </a:lnTo>
                  <a:lnTo>
                    <a:pt x="280170" y="25421"/>
                  </a:lnTo>
                  <a:lnTo>
                    <a:pt x="235692" y="6651"/>
                  </a:lnTo>
                  <a:lnTo>
                    <a:pt x="186194" y="0"/>
                  </a:lnTo>
                  <a:close/>
                </a:path>
                <a:path extrusionOk="0" h="372745" w="372744">
                  <a:moveTo>
                    <a:pt x="251983" y="322745"/>
                  </a:moveTo>
                  <a:lnTo>
                    <a:pt x="193052" y="322745"/>
                  </a:lnTo>
                  <a:lnTo>
                    <a:pt x="198602" y="328307"/>
                  </a:lnTo>
                  <a:lnTo>
                    <a:pt x="198602" y="347078"/>
                  </a:lnTo>
                  <a:lnTo>
                    <a:pt x="280044" y="347078"/>
                  </a:lnTo>
                  <a:lnTo>
                    <a:pt x="300296" y="331431"/>
                  </a:lnTo>
                  <a:lnTo>
                    <a:pt x="257200" y="331431"/>
                  </a:lnTo>
                  <a:lnTo>
                    <a:pt x="251983" y="322745"/>
                  </a:lnTo>
                  <a:close/>
                </a:path>
                <a:path extrusionOk="0" h="372745" w="372744">
                  <a:moveTo>
                    <a:pt x="259459" y="302272"/>
                  </a:moveTo>
                  <a:lnTo>
                    <a:pt x="111950" y="302272"/>
                  </a:lnTo>
                  <a:lnTo>
                    <a:pt x="117919" y="305612"/>
                  </a:lnTo>
                  <a:lnTo>
                    <a:pt x="123825" y="309168"/>
                  </a:lnTo>
                  <a:lnTo>
                    <a:pt x="125806" y="316776"/>
                  </a:lnTo>
                  <a:lnTo>
                    <a:pt x="122389" y="322745"/>
                  </a:lnTo>
                  <a:lnTo>
                    <a:pt x="116433" y="332676"/>
                  </a:lnTo>
                  <a:lnTo>
                    <a:pt x="173786" y="332676"/>
                  </a:lnTo>
                  <a:lnTo>
                    <a:pt x="173786" y="328307"/>
                  </a:lnTo>
                  <a:lnTo>
                    <a:pt x="179336" y="322745"/>
                  </a:lnTo>
                  <a:lnTo>
                    <a:pt x="251983" y="322745"/>
                  </a:lnTo>
                  <a:lnTo>
                    <a:pt x="251244" y="321513"/>
                  </a:lnTo>
                  <a:lnTo>
                    <a:pt x="247586" y="315848"/>
                  </a:lnTo>
                  <a:lnTo>
                    <a:pt x="249008" y="308317"/>
                  </a:lnTo>
                  <a:lnTo>
                    <a:pt x="254469" y="304380"/>
                  </a:lnTo>
                  <a:lnTo>
                    <a:pt x="255714" y="304380"/>
                  </a:lnTo>
                  <a:lnTo>
                    <a:pt x="259459" y="302272"/>
                  </a:lnTo>
                  <a:close/>
                </a:path>
                <a:path extrusionOk="0" h="372745" w="372744">
                  <a:moveTo>
                    <a:pt x="330863" y="301028"/>
                  </a:moveTo>
                  <a:lnTo>
                    <a:pt x="261670" y="301028"/>
                  </a:lnTo>
                  <a:lnTo>
                    <a:pt x="269227" y="303136"/>
                  </a:lnTo>
                  <a:lnTo>
                    <a:pt x="272637" y="309168"/>
                  </a:lnTo>
                  <a:lnTo>
                    <a:pt x="278549" y="319277"/>
                  </a:lnTo>
                  <a:lnTo>
                    <a:pt x="271805" y="323951"/>
                  </a:lnTo>
                  <a:lnTo>
                    <a:pt x="264655" y="328015"/>
                  </a:lnTo>
                  <a:lnTo>
                    <a:pt x="257200" y="331431"/>
                  </a:lnTo>
                  <a:lnTo>
                    <a:pt x="300296" y="331431"/>
                  </a:lnTo>
                  <a:lnTo>
                    <a:pt x="317854" y="317866"/>
                  </a:lnTo>
                  <a:lnTo>
                    <a:pt x="330863" y="301028"/>
                  </a:lnTo>
                  <a:close/>
                </a:path>
                <a:path extrusionOk="0" h="372745" w="372744">
                  <a:moveTo>
                    <a:pt x="229089" y="246595"/>
                  </a:moveTo>
                  <a:lnTo>
                    <a:pt x="56870" y="246595"/>
                  </a:lnTo>
                  <a:lnTo>
                    <a:pt x="64477" y="248577"/>
                  </a:lnTo>
                  <a:lnTo>
                    <a:pt x="68021" y="254469"/>
                  </a:lnTo>
                  <a:lnTo>
                    <a:pt x="71361" y="260438"/>
                  </a:lnTo>
                  <a:lnTo>
                    <a:pt x="69253" y="267995"/>
                  </a:lnTo>
                  <a:lnTo>
                    <a:pt x="63296" y="271360"/>
                  </a:lnTo>
                  <a:lnTo>
                    <a:pt x="53124" y="277317"/>
                  </a:lnTo>
                  <a:lnTo>
                    <a:pt x="320509" y="277317"/>
                  </a:lnTo>
                  <a:lnTo>
                    <a:pt x="310324" y="271360"/>
                  </a:lnTo>
                  <a:lnTo>
                    <a:pt x="307251" y="269963"/>
                  </a:lnTo>
                  <a:lnTo>
                    <a:pt x="304876" y="267373"/>
                  </a:lnTo>
                  <a:lnTo>
                    <a:pt x="302628" y="260997"/>
                  </a:lnTo>
                  <a:lnTo>
                    <a:pt x="302856" y="257492"/>
                  </a:lnTo>
                  <a:lnTo>
                    <a:pt x="304368" y="254469"/>
                  </a:lnTo>
                  <a:lnTo>
                    <a:pt x="305612" y="254469"/>
                  </a:lnTo>
                  <a:lnTo>
                    <a:pt x="309156" y="248577"/>
                  </a:lnTo>
                  <a:lnTo>
                    <a:pt x="310180" y="248310"/>
                  </a:lnTo>
                  <a:lnTo>
                    <a:pt x="232562" y="248310"/>
                  </a:lnTo>
                  <a:lnTo>
                    <a:pt x="229412" y="246938"/>
                  </a:lnTo>
                  <a:lnTo>
                    <a:pt x="229089" y="246595"/>
                  </a:lnTo>
                  <a:close/>
                </a:path>
                <a:path extrusionOk="0" h="372745" w="372744">
                  <a:moveTo>
                    <a:pt x="361142" y="246595"/>
                  </a:moveTo>
                  <a:lnTo>
                    <a:pt x="316763" y="246595"/>
                  </a:lnTo>
                  <a:lnTo>
                    <a:pt x="322745" y="250012"/>
                  </a:lnTo>
                  <a:lnTo>
                    <a:pt x="332676" y="255968"/>
                  </a:lnTo>
                  <a:lnTo>
                    <a:pt x="329260" y="263423"/>
                  </a:lnTo>
                  <a:lnTo>
                    <a:pt x="325183" y="270573"/>
                  </a:lnTo>
                  <a:lnTo>
                    <a:pt x="320509" y="277317"/>
                  </a:lnTo>
                  <a:lnTo>
                    <a:pt x="348177" y="277317"/>
                  </a:lnTo>
                  <a:lnTo>
                    <a:pt x="361142" y="246595"/>
                  </a:lnTo>
                  <a:close/>
                </a:path>
                <a:path extrusionOk="0" h="372745" w="372744">
                  <a:moveTo>
                    <a:pt x="313278" y="99313"/>
                  </a:moveTo>
                  <a:lnTo>
                    <a:pt x="193052" y="99313"/>
                  </a:lnTo>
                  <a:lnTo>
                    <a:pt x="198602" y="104863"/>
                  </a:lnTo>
                  <a:lnTo>
                    <a:pt x="198602" y="180987"/>
                  </a:lnTo>
                  <a:lnTo>
                    <a:pt x="244538" y="227164"/>
                  </a:lnTo>
                  <a:lnTo>
                    <a:pt x="246938" y="229412"/>
                  </a:lnTo>
                  <a:lnTo>
                    <a:pt x="248297" y="232562"/>
                  </a:lnTo>
                  <a:lnTo>
                    <a:pt x="248297" y="239140"/>
                  </a:lnTo>
                  <a:lnTo>
                    <a:pt x="246938" y="242290"/>
                  </a:lnTo>
                  <a:lnTo>
                    <a:pt x="244538" y="244538"/>
                  </a:lnTo>
                  <a:lnTo>
                    <a:pt x="242290" y="246938"/>
                  </a:lnTo>
                  <a:lnTo>
                    <a:pt x="239141" y="248310"/>
                  </a:lnTo>
                  <a:lnTo>
                    <a:pt x="310180" y="248310"/>
                  </a:lnTo>
                  <a:lnTo>
                    <a:pt x="316763" y="246595"/>
                  </a:lnTo>
                  <a:lnTo>
                    <a:pt x="361142" y="246595"/>
                  </a:lnTo>
                  <a:lnTo>
                    <a:pt x="365738" y="235705"/>
                  </a:lnTo>
                  <a:lnTo>
                    <a:pt x="370722" y="198615"/>
                  </a:lnTo>
                  <a:lnTo>
                    <a:pt x="328295" y="198615"/>
                  </a:lnTo>
                  <a:lnTo>
                    <a:pt x="322745" y="193052"/>
                  </a:lnTo>
                  <a:lnTo>
                    <a:pt x="322745" y="179349"/>
                  </a:lnTo>
                  <a:lnTo>
                    <a:pt x="328295" y="173786"/>
                  </a:lnTo>
                  <a:lnTo>
                    <a:pt x="370720" y="173786"/>
                  </a:lnTo>
                  <a:lnTo>
                    <a:pt x="365738" y="136704"/>
                  </a:lnTo>
                  <a:lnTo>
                    <a:pt x="361139" y="125806"/>
                  </a:lnTo>
                  <a:lnTo>
                    <a:pt x="316763" y="125806"/>
                  </a:lnTo>
                  <a:lnTo>
                    <a:pt x="309156" y="123824"/>
                  </a:lnTo>
                  <a:lnTo>
                    <a:pt x="305612" y="117932"/>
                  </a:lnTo>
                  <a:lnTo>
                    <a:pt x="302260" y="111963"/>
                  </a:lnTo>
                  <a:lnTo>
                    <a:pt x="304368" y="104406"/>
                  </a:lnTo>
                  <a:lnTo>
                    <a:pt x="310324" y="101041"/>
                  </a:lnTo>
                  <a:lnTo>
                    <a:pt x="313278" y="99313"/>
                  </a:lnTo>
                  <a:close/>
                </a:path>
                <a:path extrusionOk="0" h="372745" w="372744">
                  <a:moveTo>
                    <a:pt x="173746" y="173786"/>
                  </a:moveTo>
                  <a:lnTo>
                    <a:pt x="44094" y="173786"/>
                  </a:lnTo>
                  <a:lnTo>
                    <a:pt x="49644" y="179349"/>
                  </a:lnTo>
                  <a:lnTo>
                    <a:pt x="49644" y="193052"/>
                  </a:lnTo>
                  <a:lnTo>
                    <a:pt x="44094" y="198615"/>
                  </a:lnTo>
                  <a:lnTo>
                    <a:pt x="181229" y="198615"/>
                  </a:lnTo>
                  <a:lnTo>
                    <a:pt x="177507" y="194894"/>
                  </a:lnTo>
                  <a:lnTo>
                    <a:pt x="175094" y="192646"/>
                  </a:lnTo>
                  <a:lnTo>
                    <a:pt x="173736" y="189496"/>
                  </a:lnTo>
                  <a:lnTo>
                    <a:pt x="173746" y="173786"/>
                  </a:lnTo>
                  <a:close/>
                </a:path>
                <a:path extrusionOk="0" h="372745" w="372744">
                  <a:moveTo>
                    <a:pt x="370720" y="173786"/>
                  </a:moveTo>
                  <a:lnTo>
                    <a:pt x="347065" y="173786"/>
                  </a:lnTo>
                  <a:lnTo>
                    <a:pt x="347065" y="198615"/>
                  </a:lnTo>
                  <a:lnTo>
                    <a:pt x="370722" y="198615"/>
                  </a:lnTo>
                  <a:lnTo>
                    <a:pt x="372389" y="186207"/>
                  </a:lnTo>
                  <a:lnTo>
                    <a:pt x="370720" y="173786"/>
                  </a:lnTo>
                  <a:close/>
                </a:path>
                <a:path extrusionOk="0" h="372745" w="372744">
                  <a:moveTo>
                    <a:pt x="320509" y="95084"/>
                  </a:moveTo>
                  <a:lnTo>
                    <a:pt x="53124" y="95084"/>
                  </a:lnTo>
                  <a:lnTo>
                    <a:pt x="53124" y="96329"/>
                  </a:lnTo>
                  <a:lnTo>
                    <a:pt x="63296" y="102285"/>
                  </a:lnTo>
                  <a:lnTo>
                    <a:pt x="69253" y="105651"/>
                  </a:lnTo>
                  <a:lnTo>
                    <a:pt x="71361" y="113207"/>
                  </a:lnTo>
                  <a:lnTo>
                    <a:pt x="68021" y="119164"/>
                  </a:lnTo>
                  <a:lnTo>
                    <a:pt x="64477" y="125069"/>
                  </a:lnTo>
                  <a:lnTo>
                    <a:pt x="56870" y="127050"/>
                  </a:lnTo>
                  <a:lnTo>
                    <a:pt x="173776" y="127050"/>
                  </a:lnTo>
                  <a:lnTo>
                    <a:pt x="173786" y="104863"/>
                  </a:lnTo>
                  <a:lnTo>
                    <a:pt x="179336" y="99313"/>
                  </a:lnTo>
                  <a:lnTo>
                    <a:pt x="313278" y="99313"/>
                  </a:lnTo>
                  <a:lnTo>
                    <a:pt x="320509" y="95084"/>
                  </a:lnTo>
                  <a:close/>
                </a:path>
                <a:path extrusionOk="0" h="372745" w="372744">
                  <a:moveTo>
                    <a:pt x="348176" y="95084"/>
                  </a:moveTo>
                  <a:lnTo>
                    <a:pt x="320509" y="95084"/>
                  </a:lnTo>
                  <a:lnTo>
                    <a:pt x="325183" y="101828"/>
                  </a:lnTo>
                  <a:lnTo>
                    <a:pt x="329260" y="108978"/>
                  </a:lnTo>
                  <a:lnTo>
                    <a:pt x="332676" y="116433"/>
                  </a:lnTo>
                  <a:lnTo>
                    <a:pt x="322745" y="122402"/>
                  </a:lnTo>
                  <a:lnTo>
                    <a:pt x="316763" y="125806"/>
                  </a:lnTo>
                  <a:lnTo>
                    <a:pt x="361139" y="125806"/>
                  </a:lnTo>
                  <a:lnTo>
                    <a:pt x="348176" y="95084"/>
                  </a:lnTo>
                  <a:close/>
                </a:path>
                <a:path extrusionOk="0" h="372745" w="372744">
                  <a:moveTo>
                    <a:pt x="173786" y="40970"/>
                  </a:moveTo>
                  <a:lnTo>
                    <a:pt x="116433" y="40970"/>
                  </a:lnTo>
                  <a:lnTo>
                    <a:pt x="122389" y="50901"/>
                  </a:lnTo>
                  <a:lnTo>
                    <a:pt x="125806" y="56870"/>
                  </a:lnTo>
                  <a:lnTo>
                    <a:pt x="123825" y="64477"/>
                  </a:lnTo>
                  <a:lnTo>
                    <a:pt x="117919" y="68021"/>
                  </a:lnTo>
                  <a:lnTo>
                    <a:pt x="111950" y="71373"/>
                  </a:lnTo>
                  <a:lnTo>
                    <a:pt x="261670" y="71373"/>
                  </a:lnTo>
                  <a:lnTo>
                    <a:pt x="255714" y="68021"/>
                  </a:lnTo>
                  <a:lnTo>
                    <a:pt x="252666" y="66535"/>
                  </a:lnTo>
                  <a:lnTo>
                    <a:pt x="250342" y="63880"/>
                  </a:lnTo>
                  <a:lnTo>
                    <a:pt x="248196" y="57442"/>
                  </a:lnTo>
                  <a:lnTo>
                    <a:pt x="248405" y="54536"/>
                  </a:lnTo>
                  <a:lnTo>
                    <a:pt x="248450" y="53924"/>
                  </a:lnTo>
                  <a:lnTo>
                    <a:pt x="249999" y="50901"/>
                  </a:lnTo>
                  <a:lnTo>
                    <a:pt x="251244" y="50901"/>
                  </a:lnTo>
                  <a:lnTo>
                    <a:pt x="251990" y="49656"/>
                  </a:lnTo>
                  <a:lnTo>
                    <a:pt x="179336" y="49656"/>
                  </a:lnTo>
                  <a:lnTo>
                    <a:pt x="173786" y="44094"/>
                  </a:lnTo>
                  <a:lnTo>
                    <a:pt x="173786" y="40970"/>
                  </a:lnTo>
                  <a:close/>
                </a:path>
                <a:path extrusionOk="0" h="372745" w="372744">
                  <a:moveTo>
                    <a:pt x="300294" y="40970"/>
                  </a:moveTo>
                  <a:lnTo>
                    <a:pt x="257200" y="40970"/>
                  </a:lnTo>
                  <a:lnTo>
                    <a:pt x="264655" y="44386"/>
                  </a:lnTo>
                  <a:lnTo>
                    <a:pt x="271805" y="48450"/>
                  </a:lnTo>
                  <a:lnTo>
                    <a:pt x="278549" y="53124"/>
                  </a:lnTo>
                  <a:lnTo>
                    <a:pt x="272592" y="63309"/>
                  </a:lnTo>
                  <a:lnTo>
                    <a:pt x="269227" y="69265"/>
                  </a:lnTo>
                  <a:lnTo>
                    <a:pt x="261670" y="71373"/>
                  </a:lnTo>
                  <a:lnTo>
                    <a:pt x="330861" y="71373"/>
                  </a:lnTo>
                  <a:lnTo>
                    <a:pt x="317854" y="54536"/>
                  </a:lnTo>
                  <a:lnTo>
                    <a:pt x="300294" y="40970"/>
                  </a:lnTo>
                  <a:close/>
                </a:path>
                <a:path extrusionOk="0" h="372745" w="372744">
                  <a:moveTo>
                    <a:pt x="280170" y="25421"/>
                  </a:moveTo>
                  <a:lnTo>
                    <a:pt x="198602" y="25421"/>
                  </a:lnTo>
                  <a:lnTo>
                    <a:pt x="198602" y="44094"/>
                  </a:lnTo>
                  <a:lnTo>
                    <a:pt x="193052" y="49656"/>
                  </a:lnTo>
                  <a:lnTo>
                    <a:pt x="251990" y="49656"/>
                  </a:lnTo>
                  <a:lnTo>
                    <a:pt x="257200" y="40970"/>
                  </a:lnTo>
                  <a:lnTo>
                    <a:pt x="300294" y="40970"/>
                  </a:lnTo>
                  <a:lnTo>
                    <a:pt x="280170" y="25421"/>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51" name="Google Shape;351;p12"/>
          <p:cNvGrpSpPr/>
          <p:nvPr/>
        </p:nvGrpSpPr>
        <p:grpSpPr>
          <a:xfrm>
            <a:off x="8812288" y="3814139"/>
            <a:ext cx="386715" cy="720090"/>
            <a:chOff x="8812288" y="3814139"/>
            <a:chExt cx="386715" cy="720090"/>
          </a:xfrm>
        </p:grpSpPr>
        <p:pic>
          <p:nvPicPr>
            <p:cNvPr id="352" name="Google Shape;352;p12"/>
            <p:cNvPicPr preferRelativeResize="0"/>
            <p:nvPr/>
          </p:nvPicPr>
          <p:blipFill rotWithShape="1">
            <a:blip r:embed="rId6">
              <a:alphaModFix/>
            </a:blip>
            <a:srcRect b="0" l="0" r="0" t="0"/>
            <a:stretch/>
          </p:blipFill>
          <p:spPr>
            <a:xfrm>
              <a:off x="8882547" y="4170123"/>
              <a:ext cx="245872" cy="135737"/>
            </a:xfrm>
            <a:prstGeom prst="rect">
              <a:avLst/>
            </a:prstGeom>
            <a:noFill/>
            <a:ln>
              <a:noFill/>
            </a:ln>
          </p:spPr>
        </p:pic>
        <p:sp>
          <p:nvSpPr>
            <p:cNvPr id="353" name="Google Shape;353;p12"/>
            <p:cNvSpPr/>
            <p:nvPr/>
          </p:nvSpPr>
          <p:spPr>
            <a:xfrm>
              <a:off x="8812288" y="3814139"/>
              <a:ext cx="386715" cy="720090"/>
            </a:xfrm>
            <a:custGeom>
              <a:rect b="b" l="l" r="r" t="t"/>
              <a:pathLst>
                <a:path extrusionOk="0" h="720089" w="386715">
                  <a:moveTo>
                    <a:pt x="35128" y="345960"/>
                  </a:moveTo>
                  <a:lnTo>
                    <a:pt x="26047" y="342607"/>
                  </a:lnTo>
                  <a:lnTo>
                    <a:pt x="17157" y="338797"/>
                  </a:lnTo>
                  <a:lnTo>
                    <a:pt x="8470" y="334543"/>
                  </a:lnTo>
                  <a:lnTo>
                    <a:pt x="0" y="329844"/>
                  </a:lnTo>
                  <a:lnTo>
                    <a:pt x="0" y="439039"/>
                  </a:lnTo>
                  <a:lnTo>
                    <a:pt x="2260" y="445147"/>
                  </a:lnTo>
                  <a:lnTo>
                    <a:pt x="8940" y="452005"/>
                  </a:lnTo>
                  <a:lnTo>
                    <a:pt x="19926" y="459257"/>
                  </a:lnTo>
                  <a:lnTo>
                    <a:pt x="35128" y="466572"/>
                  </a:lnTo>
                  <a:lnTo>
                    <a:pt x="35128" y="345960"/>
                  </a:lnTo>
                  <a:close/>
                </a:path>
                <a:path extrusionOk="0" h="720089" w="386715">
                  <a:moveTo>
                    <a:pt x="35128" y="117652"/>
                  </a:moveTo>
                  <a:lnTo>
                    <a:pt x="26047" y="114300"/>
                  </a:lnTo>
                  <a:lnTo>
                    <a:pt x="17157" y="110490"/>
                  </a:lnTo>
                  <a:lnTo>
                    <a:pt x="8470" y="106235"/>
                  </a:lnTo>
                  <a:lnTo>
                    <a:pt x="0" y="101536"/>
                  </a:lnTo>
                  <a:lnTo>
                    <a:pt x="0" y="210731"/>
                  </a:lnTo>
                  <a:lnTo>
                    <a:pt x="2260" y="216839"/>
                  </a:lnTo>
                  <a:lnTo>
                    <a:pt x="8940" y="223697"/>
                  </a:lnTo>
                  <a:lnTo>
                    <a:pt x="19926" y="230962"/>
                  </a:lnTo>
                  <a:lnTo>
                    <a:pt x="35128" y="238264"/>
                  </a:lnTo>
                  <a:lnTo>
                    <a:pt x="35128" y="117652"/>
                  </a:lnTo>
                  <a:close/>
                </a:path>
                <a:path extrusionOk="0" h="720089" w="386715">
                  <a:moveTo>
                    <a:pt x="386359" y="505929"/>
                  </a:moveTo>
                  <a:lnTo>
                    <a:pt x="382854" y="500507"/>
                  </a:lnTo>
                  <a:lnTo>
                    <a:pt x="374459" y="494360"/>
                  </a:lnTo>
                  <a:lnTo>
                    <a:pt x="366242" y="498106"/>
                  </a:lnTo>
                  <a:lnTo>
                    <a:pt x="357886" y="501523"/>
                  </a:lnTo>
                  <a:lnTo>
                    <a:pt x="303580" y="516394"/>
                  </a:lnTo>
                  <a:lnTo>
                    <a:pt x="230225" y="525970"/>
                  </a:lnTo>
                  <a:lnTo>
                    <a:pt x="193179" y="526846"/>
                  </a:lnTo>
                  <a:lnTo>
                    <a:pt x="156146" y="525970"/>
                  </a:lnTo>
                  <a:lnTo>
                    <a:pt x="82791" y="516394"/>
                  </a:lnTo>
                  <a:lnTo>
                    <a:pt x="45580" y="507390"/>
                  </a:lnTo>
                  <a:lnTo>
                    <a:pt x="11912" y="494360"/>
                  </a:lnTo>
                  <a:lnTo>
                    <a:pt x="3517" y="500507"/>
                  </a:lnTo>
                  <a:lnTo>
                    <a:pt x="0" y="505929"/>
                  </a:lnTo>
                  <a:lnTo>
                    <a:pt x="0" y="509282"/>
                  </a:lnTo>
                  <a:lnTo>
                    <a:pt x="12611" y="525068"/>
                  </a:lnTo>
                  <a:lnTo>
                    <a:pt x="49733" y="542340"/>
                  </a:lnTo>
                  <a:lnTo>
                    <a:pt x="110274" y="556260"/>
                  </a:lnTo>
                  <a:lnTo>
                    <a:pt x="193179" y="561975"/>
                  </a:lnTo>
                  <a:lnTo>
                    <a:pt x="276098" y="556260"/>
                  </a:lnTo>
                  <a:lnTo>
                    <a:pt x="336651" y="542340"/>
                  </a:lnTo>
                  <a:lnTo>
                    <a:pt x="373761" y="525068"/>
                  </a:lnTo>
                  <a:lnTo>
                    <a:pt x="386359" y="509282"/>
                  </a:lnTo>
                  <a:lnTo>
                    <a:pt x="386359" y="505929"/>
                  </a:lnTo>
                  <a:close/>
                </a:path>
                <a:path extrusionOk="0" h="720089" w="386715">
                  <a:moveTo>
                    <a:pt x="386359" y="277622"/>
                  </a:moveTo>
                  <a:lnTo>
                    <a:pt x="382854" y="272199"/>
                  </a:lnTo>
                  <a:lnTo>
                    <a:pt x="374459" y="266052"/>
                  </a:lnTo>
                  <a:lnTo>
                    <a:pt x="366242" y="269798"/>
                  </a:lnTo>
                  <a:lnTo>
                    <a:pt x="357886" y="273227"/>
                  </a:lnTo>
                  <a:lnTo>
                    <a:pt x="303580" y="288086"/>
                  </a:lnTo>
                  <a:lnTo>
                    <a:pt x="230225" y="297662"/>
                  </a:lnTo>
                  <a:lnTo>
                    <a:pt x="193179" y="298538"/>
                  </a:lnTo>
                  <a:lnTo>
                    <a:pt x="156146" y="297662"/>
                  </a:lnTo>
                  <a:lnTo>
                    <a:pt x="82791" y="288086"/>
                  </a:lnTo>
                  <a:lnTo>
                    <a:pt x="45580" y="279082"/>
                  </a:lnTo>
                  <a:lnTo>
                    <a:pt x="11912" y="266052"/>
                  </a:lnTo>
                  <a:lnTo>
                    <a:pt x="3517" y="272199"/>
                  </a:lnTo>
                  <a:lnTo>
                    <a:pt x="0" y="277622"/>
                  </a:lnTo>
                  <a:lnTo>
                    <a:pt x="0" y="280974"/>
                  </a:lnTo>
                  <a:lnTo>
                    <a:pt x="12611" y="296773"/>
                  </a:lnTo>
                  <a:lnTo>
                    <a:pt x="49733" y="314045"/>
                  </a:lnTo>
                  <a:lnTo>
                    <a:pt x="110274" y="327952"/>
                  </a:lnTo>
                  <a:lnTo>
                    <a:pt x="193179" y="333667"/>
                  </a:lnTo>
                  <a:lnTo>
                    <a:pt x="276098" y="327952"/>
                  </a:lnTo>
                  <a:lnTo>
                    <a:pt x="336651" y="314045"/>
                  </a:lnTo>
                  <a:lnTo>
                    <a:pt x="373761" y="296773"/>
                  </a:lnTo>
                  <a:lnTo>
                    <a:pt x="386359" y="280974"/>
                  </a:lnTo>
                  <a:lnTo>
                    <a:pt x="386359" y="277622"/>
                  </a:lnTo>
                  <a:close/>
                </a:path>
                <a:path extrusionOk="0" h="720089" w="386715">
                  <a:moveTo>
                    <a:pt x="386372" y="558165"/>
                  </a:moveTo>
                  <a:lnTo>
                    <a:pt x="377913" y="562864"/>
                  </a:lnTo>
                  <a:lnTo>
                    <a:pt x="369227" y="567131"/>
                  </a:lnTo>
                  <a:lnTo>
                    <a:pt x="360337" y="570941"/>
                  </a:lnTo>
                  <a:lnTo>
                    <a:pt x="351243" y="574281"/>
                  </a:lnTo>
                  <a:lnTo>
                    <a:pt x="351243" y="649782"/>
                  </a:lnTo>
                  <a:lnTo>
                    <a:pt x="351243" y="659485"/>
                  </a:lnTo>
                  <a:lnTo>
                    <a:pt x="343382" y="667346"/>
                  </a:lnTo>
                  <a:lnTo>
                    <a:pt x="323977" y="667346"/>
                  </a:lnTo>
                  <a:lnTo>
                    <a:pt x="316115" y="659485"/>
                  </a:lnTo>
                  <a:lnTo>
                    <a:pt x="316115" y="584288"/>
                  </a:lnTo>
                  <a:lnTo>
                    <a:pt x="267208" y="592493"/>
                  </a:lnTo>
                  <a:lnTo>
                    <a:pt x="217906" y="596595"/>
                  </a:lnTo>
                  <a:lnTo>
                    <a:pt x="168478" y="596595"/>
                  </a:lnTo>
                  <a:lnTo>
                    <a:pt x="119176" y="592493"/>
                  </a:lnTo>
                  <a:lnTo>
                    <a:pt x="70256" y="584288"/>
                  </a:lnTo>
                  <a:lnTo>
                    <a:pt x="70256" y="659485"/>
                  </a:lnTo>
                  <a:lnTo>
                    <a:pt x="62395" y="667346"/>
                  </a:lnTo>
                  <a:lnTo>
                    <a:pt x="42989" y="667346"/>
                  </a:lnTo>
                  <a:lnTo>
                    <a:pt x="35128" y="659485"/>
                  </a:lnTo>
                  <a:lnTo>
                    <a:pt x="35128" y="574268"/>
                  </a:lnTo>
                  <a:lnTo>
                    <a:pt x="26047" y="570915"/>
                  </a:lnTo>
                  <a:lnTo>
                    <a:pt x="17157" y="567105"/>
                  </a:lnTo>
                  <a:lnTo>
                    <a:pt x="8470" y="562851"/>
                  </a:lnTo>
                  <a:lnTo>
                    <a:pt x="0" y="558139"/>
                  </a:lnTo>
                  <a:lnTo>
                    <a:pt x="0" y="667346"/>
                  </a:lnTo>
                  <a:lnTo>
                    <a:pt x="12611" y="683133"/>
                  </a:lnTo>
                  <a:lnTo>
                    <a:pt x="49733" y="700405"/>
                  </a:lnTo>
                  <a:lnTo>
                    <a:pt x="110274" y="714311"/>
                  </a:lnTo>
                  <a:lnTo>
                    <a:pt x="193192" y="720026"/>
                  </a:lnTo>
                  <a:lnTo>
                    <a:pt x="276110" y="714311"/>
                  </a:lnTo>
                  <a:lnTo>
                    <a:pt x="336651" y="700405"/>
                  </a:lnTo>
                  <a:lnTo>
                    <a:pt x="373761" y="683133"/>
                  </a:lnTo>
                  <a:lnTo>
                    <a:pt x="386372" y="667346"/>
                  </a:lnTo>
                  <a:lnTo>
                    <a:pt x="386372" y="558165"/>
                  </a:lnTo>
                  <a:close/>
                </a:path>
                <a:path extrusionOk="0" h="720089" w="386715">
                  <a:moveTo>
                    <a:pt x="386372" y="329857"/>
                  </a:moveTo>
                  <a:lnTo>
                    <a:pt x="377913" y="334556"/>
                  </a:lnTo>
                  <a:lnTo>
                    <a:pt x="369227" y="338810"/>
                  </a:lnTo>
                  <a:lnTo>
                    <a:pt x="360337" y="342620"/>
                  </a:lnTo>
                  <a:lnTo>
                    <a:pt x="351243" y="345973"/>
                  </a:lnTo>
                  <a:lnTo>
                    <a:pt x="351243" y="466572"/>
                  </a:lnTo>
                  <a:lnTo>
                    <a:pt x="366445" y="459270"/>
                  </a:lnTo>
                  <a:lnTo>
                    <a:pt x="377444" y="452005"/>
                  </a:lnTo>
                  <a:lnTo>
                    <a:pt x="384124" y="445147"/>
                  </a:lnTo>
                  <a:lnTo>
                    <a:pt x="386372" y="439039"/>
                  </a:lnTo>
                  <a:lnTo>
                    <a:pt x="386372" y="329857"/>
                  </a:lnTo>
                  <a:close/>
                </a:path>
                <a:path extrusionOk="0" h="720089" w="386715">
                  <a:moveTo>
                    <a:pt x="386372" y="101561"/>
                  </a:moveTo>
                  <a:lnTo>
                    <a:pt x="377913" y="106260"/>
                  </a:lnTo>
                  <a:lnTo>
                    <a:pt x="369227" y="110515"/>
                  </a:lnTo>
                  <a:lnTo>
                    <a:pt x="360337" y="114325"/>
                  </a:lnTo>
                  <a:lnTo>
                    <a:pt x="351243" y="117678"/>
                  </a:lnTo>
                  <a:lnTo>
                    <a:pt x="351243" y="238277"/>
                  </a:lnTo>
                  <a:lnTo>
                    <a:pt x="366445" y="230962"/>
                  </a:lnTo>
                  <a:lnTo>
                    <a:pt x="377444" y="223697"/>
                  </a:lnTo>
                  <a:lnTo>
                    <a:pt x="384124" y="216839"/>
                  </a:lnTo>
                  <a:lnTo>
                    <a:pt x="386372" y="210743"/>
                  </a:lnTo>
                  <a:lnTo>
                    <a:pt x="386372" y="101561"/>
                  </a:lnTo>
                  <a:close/>
                </a:path>
                <a:path extrusionOk="0" h="720089" w="386715">
                  <a:moveTo>
                    <a:pt x="386372" y="52679"/>
                  </a:moveTo>
                  <a:lnTo>
                    <a:pt x="371195" y="32169"/>
                  </a:lnTo>
                  <a:lnTo>
                    <a:pt x="329793" y="15430"/>
                  </a:lnTo>
                  <a:lnTo>
                    <a:pt x="268389" y="4140"/>
                  </a:lnTo>
                  <a:lnTo>
                    <a:pt x="193192" y="0"/>
                  </a:lnTo>
                  <a:lnTo>
                    <a:pt x="117995" y="4140"/>
                  </a:lnTo>
                  <a:lnTo>
                    <a:pt x="56591" y="15430"/>
                  </a:lnTo>
                  <a:lnTo>
                    <a:pt x="15189" y="32169"/>
                  </a:lnTo>
                  <a:lnTo>
                    <a:pt x="12" y="52679"/>
                  </a:lnTo>
                  <a:lnTo>
                    <a:pt x="15189" y="73190"/>
                  </a:lnTo>
                  <a:lnTo>
                    <a:pt x="56591" y="89928"/>
                  </a:lnTo>
                  <a:lnTo>
                    <a:pt x="117995" y="101219"/>
                  </a:lnTo>
                  <a:lnTo>
                    <a:pt x="193192" y="105359"/>
                  </a:lnTo>
                  <a:lnTo>
                    <a:pt x="268389" y="101219"/>
                  </a:lnTo>
                  <a:lnTo>
                    <a:pt x="329793" y="89928"/>
                  </a:lnTo>
                  <a:lnTo>
                    <a:pt x="371195" y="73190"/>
                  </a:lnTo>
                  <a:lnTo>
                    <a:pt x="386372" y="52679"/>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54" name="Google Shape;354;p12"/>
            <p:cNvPicPr preferRelativeResize="0"/>
            <p:nvPr/>
          </p:nvPicPr>
          <p:blipFill rotWithShape="1">
            <a:blip r:embed="rId6">
              <a:alphaModFix/>
            </a:blip>
            <a:srcRect b="0" l="0" r="0" t="0"/>
            <a:stretch/>
          </p:blipFill>
          <p:spPr>
            <a:xfrm>
              <a:off x="8882547" y="3941819"/>
              <a:ext cx="245872" cy="135737"/>
            </a:xfrm>
            <a:prstGeom prst="rect">
              <a:avLst/>
            </a:prstGeom>
            <a:noFill/>
            <a:ln>
              <a:noFill/>
            </a:ln>
          </p:spPr>
        </p:pic>
      </p:grpSp>
      <p:grpSp>
        <p:nvGrpSpPr>
          <p:cNvPr id="355" name="Google Shape;355;p12"/>
          <p:cNvGrpSpPr/>
          <p:nvPr/>
        </p:nvGrpSpPr>
        <p:grpSpPr>
          <a:xfrm>
            <a:off x="8180070" y="3919715"/>
            <a:ext cx="527050" cy="528320"/>
            <a:chOff x="8180070" y="3919715"/>
            <a:chExt cx="527050" cy="528320"/>
          </a:xfrm>
        </p:grpSpPr>
        <p:pic>
          <p:nvPicPr>
            <p:cNvPr id="356" name="Google Shape;356;p12"/>
            <p:cNvPicPr preferRelativeResize="0"/>
            <p:nvPr/>
          </p:nvPicPr>
          <p:blipFill rotWithShape="1">
            <a:blip r:embed="rId7">
              <a:alphaModFix/>
            </a:blip>
            <a:srcRect b="0" l="0" r="0" t="0"/>
            <a:stretch/>
          </p:blipFill>
          <p:spPr>
            <a:xfrm>
              <a:off x="8180073" y="4095113"/>
              <a:ext cx="227512" cy="175628"/>
            </a:xfrm>
            <a:prstGeom prst="rect">
              <a:avLst/>
            </a:prstGeom>
            <a:noFill/>
            <a:ln>
              <a:noFill/>
            </a:ln>
          </p:spPr>
        </p:pic>
        <p:pic>
          <p:nvPicPr>
            <p:cNvPr id="357" name="Google Shape;357;p12"/>
            <p:cNvPicPr preferRelativeResize="0"/>
            <p:nvPr/>
          </p:nvPicPr>
          <p:blipFill rotWithShape="1">
            <a:blip r:embed="rId8">
              <a:alphaModFix/>
            </a:blip>
            <a:srcRect b="0" l="0" r="0" t="0"/>
            <a:stretch/>
          </p:blipFill>
          <p:spPr>
            <a:xfrm>
              <a:off x="8443504" y="4095125"/>
              <a:ext cx="105371" cy="175615"/>
            </a:xfrm>
            <a:prstGeom prst="rect">
              <a:avLst/>
            </a:prstGeom>
            <a:noFill/>
            <a:ln>
              <a:noFill/>
            </a:ln>
          </p:spPr>
        </p:pic>
        <p:pic>
          <p:nvPicPr>
            <p:cNvPr id="358" name="Google Shape;358;p12"/>
            <p:cNvPicPr preferRelativeResize="0"/>
            <p:nvPr/>
          </p:nvPicPr>
          <p:blipFill rotWithShape="1">
            <a:blip r:embed="rId9">
              <a:alphaModFix/>
            </a:blip>
            <a:srcRect b="0" l="0" r="0" t="0"/>
            <a:stretch/>
          </p:blipFill>
          <p:spPr>
            <a:xfrm>
              <a:off x="8583901" y="4093503"/>
              <a:ext cx="105473" cy="177241"/>
            </a:xfrm>
            <a:prstGeom prst="rect">
              <a:avLst/>
            </a:prstGeom>
            <a:noFill/>
            <a:ln>
              <a:noFill/>
            </a:ln>
          </p:spPr>
        </p:pic>
        <p:sp>
          <p:nvSpPr>
            <p:cNvPr id="359" name="Google Shape;359;p12"/>
            <p:cNvSpPr/>
            <p:nvPr/>
          </p:nvSpPr>
          <p:spPr>
            <a:xfrm>
              <a:off x="8180070" y="3919715"/>
              <a:ext cx="527050" cy="528320"/>
            </a:xfrm>
            <a:custGeom>
              <a:rect b="b" l="l" r="r" t="t"/>
              <a:pathLst>
                <a:path extrusionOk="0" h="528320" w="527050">
                  <a:moveTo>
                    <a:pt x="526859" y="446697"/>
                  </a:moveTo>
                  <a:lnTo>
                    <a:pt x="518998" y="438835"/>
                  </a:lnTo>
                  <a:lnTo>
                    <a:pt x="59956" y="438835"/>
                  </a:lnTo>
                  <a:lnTo>
                    <a:pt x="82664" y="416128"/>
                  </a:lnTo>
                  <a:lnTo>
                    <a:pt x="70180" y="386372"/>
                  </a:lnTo>
                  <a:lnTo>
                    <a:pt x="63627" y="387565"/>
                  </a:lnTo>
                  <a:lnTo>
                    <a:pt x="57835" y="391299"/>
                  </a:lnTo>
                  <a:lnTo>
                    <a:pt x="5143" y="443979"/>
                  </a:lnTo>
                  <a:lnTo>
                    <a:pt x="1282" y="449795"/>
                  </a:lnTo>
                  <a:lnTo>
                    <a:pt x="0" y="456399"/>
                  </a:lnTo>
                  <a:lnTo>
                    <a:pt x="1282" y="463003"/>
                  </a:lnTo>
                  <a:lnTo>
                    <a:pt x="5143" y="468820"/>
                  </a:lnTo>
                  <a:lnTo>
                    <a:pt x="62242" y="526072"/>
                  </a:lnTo>
                  <a:lnTo>
                    <a:pt x="68770" y="527900"/>
                  </a:lnTo>
                  <a:lnTo>
                    <a:pt x="81051" y="524687"/>
                  </a:lnTo>
                  <a:lnTo>
                    <a:pt x="85852" y="519887"/>
                  </a:lnTo>
                  <a:lnTo>
                    <a:pt x="89065" y="507606"/>
                  </a:lnTo>
                  <a:lnTo>
                    <a:pt x="87236" y="501078"/>
                  </a:lnTo>
                  <a:lnTo>
                    <a:pt x="59956" y="473964"/>
                  </a:lnTo>
                  <a:lnTo>
                    <a:pt x="518998" y="473964"/>
                  </a:lnTo>
                  <a:lnTo>
                    <a:pt x="526859" y="466102"/>
                  </a:lnTo>
                  <a:lnTo>
                    <a:pt x="526859" y="446697"/>
                  </a:lnTo>
                  <a:close/>
                </a:path>
                <a:path extrusionOk="0" h="528320" w="527050">
                  <a:moveTo>
                    <a:pt x="526859" y="70040"/>
                  </a:moveTo>
                  <a:lnTo>
                    <a:pt x="469023" y="4940"/>
                  </a:lnTo>
                  <a:lnTo>
                    <a:pt x="456666" y="0"/>
                  </a:lnTo>
                  <a:lnTo>
                    <a:pt x="450138" y="1320"/>
                  </a:lnTo>
                  <a:lnTo>
                    <a:pt x="444411" y="5156"/>
                  </a:lnTo>
                  <a:lnTo>
                    <a:pt x="440575" y="10883"/>
                  </a:lnTo>
                  <a:lnTo>
                    <a:pt x="439267" y="17411"/>
                  </a:lnTo>
                  <a:lnTo>
                    <a:pt x="440461" y="23964"/>
                  </a:lnTo>
                  <a:lnTo>
                    <a:pt x="444195" y="29768"/>
                  </a:lnTo>
                  <a:lnTo>
                    <a:pt x="466902" y="52476"/>
                  </a:lnTo>
                  <a:lnTo>
                    <a:pt x="7861" y="52476"/>
                  </a:lnTo>
                  <a:lnTo>
                    <a:pt x="0" y="60337"/>
                  </a:lnTo>
                  <a:lnTo>
                    <a:pt x="0" y="79743"/>
                  </a:lnTo>
                  <a:lnTo>
                    <a:pt x="7861" y="87604"/>
                  </a:lnTo>
                  <a:lnTo>
                    <a:pt x="17564" y="87604"/>
                  </a:lnTo>
                  <a:lnTo>
                    <a:pt x="466902" y="87604"/>
                  </a:lnTo>
                  <a:lnTo>
                    <a:pt x="439635" y="114719"/>
                  </a:lnTo>
                  <a:lnTo>
                    <a:pt x="437794" y="121246"/>
                  </a:lnTo>
                  <a:lnTo>
                    <a:pt x="441020" y="133527"/>
                  </a:lnTo>
                  <a:lnTo>
                    <a:pt x="445808" y="138328"/>
                  </a:lnTo>
                  <a:lnTo>
                    <a:pt x="458089" y="141541"/>
                  </a:lnTo>
                  <a:lnTo>
                    <a:pt x="464616" y="139712"/>
                  </a:lnTo>
                  <a:lnTo>
                    <a:pt x="521716" y="82461"/>
                  </a:lnTo>
                  <a:lnTo>
                    <a:pt x="525576" y="76644"/>
                  </a:lnTo>
                  <a:lnTo>
                    <a:pt x="526859" y="7004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60" name="Google Shape;360;p12"/>
          <p:cNvSpPr/>
          <p:nvPr/>
        </p:nvSpPr>
        <p:spPr>
          <a:xfrm>
            <a:off x="3073336" y="3814292"/>
            <a:ext cx="699770" cy="720090"/>
          </a:xfrm>
          <a:custGeom>
            <a:rect b="b" l="l" r="r" t="t"/>
            <a:pathLst>
              <a:path extrusionOk="0" h="720089" w="699770">
                <a:moveTo>
                  <a:pt x="643636" y="49504"/>
                </a:moveTo>
                <a:lnTo>
                  <a:pt x="619658" y="7924"/>
                </a:lnTo>
                <a:lnTo>
                  <a:pt x="587794" y="0"/>
                </a:lnTo>
                <a:lnTo>
                  <a:pt x="571830" y="3873"/>
                </a:lnTo>
                <a:lnTo>
                  <a:pt x="557568" y="12839"/>
                </a:lnTo>
                <a:lnTo>
                  <a:pt x="546938" y="25895"/>
                </a:lnTo>
                <a:lnTo>
                  <a:pt x="541147" y="41262"/>
                </a:lnTo>
                <a:lnTo>
                  <a:pt x="540435" y="57683"/>
                </a:lnTo>
                <a:lnTo>
                  <a:pt x="545096" y="73863"/>
                </a:lnTo>
                <a:lnTo>
                  <a:pt x="451523" y="141478"/>
                </a:lnTo>
                <a:lnTo>
                  <a:pt x="444881" y="138417"/>
                </a:lnTo>
                <a:lnTo>
                  <a:pt x="437642" y="136842"/>
                </a:lnTo>
                <a:lnTo>
                  <a:pt x="430314" y="136855"/>
                </a:lnTo>
                <a:lnTo>
                  <a:pt x="410210" y="140906"/>
                </a:lnTo>
                <a:lnTo>
                  <a:pt x="393788" y="151980"/>
                </a:lnTo>
                <a:lnTo>
                  <a:pt x="382714" y="168402"/>
                </a:lnTo>
                <a:lnTo>
                  <a:pt x="378650" y="188518"/>
                </a:lnTo>
                <a:lnTo>
                  <a:pt x="379437" y="197535"/>
                </a:lnTo>
                <a:lnTo>
                  <a:pt x="381774" y="206197"/>
                </a:lnTo>
                <a:lnTo>
                  <a:pt x="385610" y="214312"/>
                </a:lnTo>
                <a:lnTo>
                  <a:pt x="390855" y="221678"/>
                </a:lnTo>
                <a:lnTo>
                  <a:pt x="292150" y="382346"/>
                </a:lnTo>
                <a:lnTo>
                  <a:pt x="284975" y="378574"/>
                </a:lnTo>
                <a:lnTo>
                  <a:pt x="276987" y="376631"/>
                </a:lnTo>
                <a:lnTo>
                  <a:pt x="268884" y="376694"/>
                </a:lnTo>
                <a:lnTo>
                  <a:pt x="254863" y="378612"/>
                </a:lnTo>
                <a:lnTo>
                  <a:pt x="242112" y="384162"/>
                </a:lnTo>
                <a:lnTo>
                  <a:pt x="231317" y="392912"/>
                </a:lnTo>
                <a:lnTo>
                  <a:pt x="223126" y="404456"/>
                </a:lnTo>
                <a:lnTo>
                  <a:pt x="152171" y="338772"/>
                </a:lnTo>
                <a:lnTo>
                  <a:pt x="155194" y="332778"/>
                </a:lnTo>
                <a:lnTo>
                  <a:pt x="157378" y="326453"/>
                </a:lnTo>
                <a:lnTo>
                  <a:pt x="158686" y="319900"/>
                </a:lnTo>
                <a:lnTo>
                  <a:pt x="159105" y="313194"/>
                </a:lnTo>
                <a:lnTo>
                  <a:pt x="155028" y="293116"/>
                </a:lnTo>
                <a:lnTo>
                  <a:pt x="143954" y="276720"/>
                </a:lnTo>
                <a:lnTo>
                  <a:pt x="127533" y="265684"/>
                </a:lnTo>
                <a:lnTo>
                  <a:pt x="107442" y="261658"/>
                </a:lnTo>
                <a:lnTo>
                  <a:pt x="87363" y="265734"/>
                </a:lnTo>
                <a:lnTo>
                  <a:pt x="70980" y="276821"/>
                </a:lnTo>
                <a:lnTo>
                  <a:pt x="59931" y="293230"/>
                </a:lnTo>
                <a:lnTo>
                  <a:pt x="55892" y="313334"/>
                </a:lnTo>
                <a:lnTo>
                  <a:pt x="59982" y="333413"/>
                </a:lnTo>
                <a:lnTo>
                  <a:pt x="71069" y="349796"/>
                </a:lnTo>
                <a:lnTo>
                  <a:pt x="87477" y="360845"/>
                </a:lnTo>
                <a:lnTo>
                  <a:pt x="107569" y="364871"/>
                </a:lnTo>
                <a:lnTo>
                  <a:pt x="114617" y="364426"/>
                </a:lnTo>
                <a:lnTo>
                  <a:pt x="121488" y="362991"/>
                </a:lnTo>
                <a:lnTo>
                  <a:pt x="128079" y="360603"/>
                </a:lnTo>
                <a:lnTo>
                  <a:pt x="134302" y="357289"/>
                </a:lnTo>
                <a:lnTo>
                  <a:pt x="217589" y="434276"/>
                </a:lnTo>
                <a:lnTo>
                  <a:pt x="241642" y="472313"/>
                </a:lnTo>
                <a:lnTo>
                  <a:pt x="271665" y="480021"/>
                </a:lnTo>
                <a:lnTo>
                  <a:pt x="286702" y="476923"/>
                </a:lnTo>
                <a:lnTo>
                  <a:pt x="300177" y="469569"/>
                </a:lnTo>
                <a:lnTo>
                  <a:pt x="311061" y="458292"/>
                </a:lnTo>
                <a:lnTo>
                  <a:pt x="318084" y="444258"/>
                </a:lnTo>
                <a:lnTo>
                  <a:pt x="320548" y="429107"/>
                </a:lnTo>
                <a:lnTo>
                  <a:pt x="318465" y="413905"/>
                </a:lnTo>
                <a:lnTo>
                  <a:pt x="311810" y="399707"/>
                </a:lnTo>
                <a:lnTo>
                  <a:pt x="411683" y="236728"/>
                </a:lnTo>
                <a:lnTo>
                  <a:pt x="417614" y="239052"/>
                </a:lnTo>
                <a:lnTo>
                  <a:pt x="423938" y="240233"/>
                </a:lnTo>
                <a:lnTo>
                  <a:pt x="430314" y="240195"/>
                </a:lnTo>
                <a:lnTo>
                  <a:pt x="450418" y="236105"/>
                </a:lnTo>
                <a:lnTo>
                  <a:pt x="466839" y="225031"/>
                </a:lnTo>
                <a:lnTo>
                  <a:pt x="477913" y="208622"/>
                </a:lnTo>
                <a:lnTo>
                  <a:pt x="481990" y="188518"/>
                </a:lnTo>
                <a:lnTo>
                  <a:pt x="481380" y="180403"/>
                </a:lnTo>
                <a:lnTo>
                  <a:pt x="479501" y="172554"/>
                </a:lnTo>
                <a:lnTo>
                  <a:pt x="476389" y="165100"/>
                </a:lnTo>
                <a:lnTo>
                  <a:pt x="472097" y="158191"/>
                </a:lnTo>
                <a:lnTo>
                  <a:pt x="561682" y="93662"/>
                </a:lnTo>
                <a:lnTo>
                  <a:pt x="568515" y="97878"/>
                </a:lnTo>
                <a:lnTo>
                  <a:pt x="575881" y="100952"/>
                </a:lnTo>
                <a:lnTo>
                  <a:pt x="583628" y="102819"/>
                </a:lnTo>
                <a:lnTo>
                  <a:pt x="591629" y="103428"/>
                </a:lnTo>
                <a:lnTo>
                  <a:pt x="608253" y="100774"/>
                </a:lnTo>
                <a:lnTo>
                  <a:pt x="622820" y="93167"/>
                </a:lnTo>
                <a:lnTo>
                  <a:pt x="634276" y="81394"/>
                </a:lnTo>
                <a:lnTo>
                  <a:pt x="641578" y="66217"/>
                </a:lnTo>
                <a:lnTo>
                  <a:pt x="643636" y="49504"/>
                </a:lnTo>
                <a:close/>
              </a:path>
              <a:path extrusionOk="0" h="720089" w="699770">
                <a:moveTo>
                  <a:pt x="699223" y="699922"/>
                </a:moveTo>
                <a:lnTo>
                  <a:pt x="693470" y="694169"/>
                </a:lnTo>
                <a:lnTo>
                  <a:pt x="686371" y="694169"/>
                </a:lnTo>
                <a:lnTo>
                  <a:pt x="651662" y="694169"/>
                </a:lnTo>
                <a:lnTo>
                  <a:pt x="651662" y="162547"/>
                </a:lnTo>
                <a:lnTo>
                  <a:pt x="649617" y="152565"/>
                </a:lnTo>
                <a:lnTo>
                  <a:pt x="644105" y="144399"/>
                </a:lnTo>
                <a:lnTo>
                  <a:pt x="635952" y="138887"/>
                </a:lnTo>
                <a:lnTo>
                  <a:pt x="625957" y="136842"/>
                </a:lnTo>
                <a:lnTo>
                  <a:pt x="557453" y="136842"/>
                </a:lnTo>
                <a:lnTo>
                  <a:pt x="547458" y="138887"/>
                </a:lnTo>
                <a:lnTo>
                  <a:pt x="539292" y="144399"/>
                </a:lnTo>
                <a:lnTo>
                  <a:pt x="533781" y="152565"/>
                </a:lnTo>
                <a:lnTo>
                  <a:pt x="531749" y="162547"/>
                </a:lnTo>
                <a:lnTo>
                  <a:pt x="531749" y="694169"/>
                </a:lnTo>
                <a:lnTo>
                  <a:pt x="490232" y="694169"/>
                </a:lnTo>
                <a:lnTo>
                  <a:pt x="490232" y="319227"/>
                </a:lnTo>
                <a:lnTo>
                  <a:pt x="487527" y="312686"/>
                </a:lnTo>
                <a:lnTo>
                  <a:pt x="477875" y="303047"/>
                </a:lnTo>
                <a:lnTo>
                  <a:pt x="471335" y="300342"/>
                </a:lnTo>
                <a:lnTo>
                  <a:pt x="389318" y="300316"/>
                </a:lnTo>
                <a:lnTo>
                  <a:pt x="382765" y="303022"/>
                </a:lnTo>
                <a:lnTo>
                  <a:pt x="373113" y="312674"/>
                </a:lnTo>
                <a:lnTo>
                  <a:pt x="370408" y="319214"/>
                </a:lnTo>
                <a:lnTo>
                  <a:pt x="370433" y="694169"/>
                </a:lnTo>
                <a:lnTo>
                  <a:pt x="328790" y="694169"/>
                </a:lnTo>
                <a:lnTo>
                  <a:pt x="328790" y="534784"/>
                </a:lnTo>
                <a:lnTo>
                  <a:pt x="326085" y="528243"/>
                </a:lnTo>
                <a:lnTo>
                  <a:pt x="316433" y="518591"/>
                </a:lnTo>
                <a:lnTo>
                  <a:pt x="309905" y="515886"/>
                </a:lnTo>
                <a:lnTo>
                  <a:pt x="234696" y="515886"/>
                </a:lnTo>
                <a:lnTo>
                  <a:pt x="224701" y="517931"/>
                </a:lnTo>
                <a:lnTo>
                  <a:pt x="216535" y="523455"/>
                </a:lnTo>
                <a:lnTo>
                  <a:pt x="211023" y="531609"/>
                </a:lnTo>
                <a:lnTo>
                  <a:pt x="208991" y="541604"/>
                </a:lnTo>
                <a:lnTo>
                  <a:pt x="208991" y="694169"/>
                </a:lnTo>
                <a:lnTo>
                  <a:pt x="167474" y="694169"/>
                </a:lnTo>
                <a:lnTo>
                  <a:pt x="167474" y="443001"/>
                </a:lnTo>
                <a:lnTo>
                  <a:pt x="164769" y="436460"/>
                </a:lnTo>
                <a:lnTo>
                  <a:pt x="155130" y="426821"/>
                </a:lnTo>
                <a:lnTo>
                  <a:pt x="148590" y="424116"/>
                </a:lnTo>
                <a:lnTo>
                  <a:pt x="66446" y="424116"/>
                </a:lnTo>
                <a:lnTo>
                  <a:pt x="59905" y="426821"/>
                </a:lnTo>
                <a:lnTo>
                  <a:pt x="50253" y="436460"/>
                </a:lnTo>
                <a:lnTo>
                  <a:pt x="47548" y="443001"/>
                </a:lnTo>
                <a:lnTo>
                  <a:pt x="47548" y="694169"/>
                </a:lnTo>
                <a:lnTo>
                  <a:pt x="5753" y="694169"/>
                </a:lnTo>
                <a:lnTo>
                  <a:pt x="0" y="699922"/>
                </a:lnTo>
                <a:lnTo>
                  <a:pt x="0" y="714121"/>
                </a:lnTo>
                <a:lnTo>
                  <a:pt x="5753" y="719874"/>
                </a:lnTo>
                <a:lnTo>
                  <a:pt x="693470" y="719874"/>
                </a:lnTo>
                <a:lnTo>
                  <a:pt x="699223" y="714121"/>
                </a:lnTo>
                <a:lnTo>
                  <a:pt x="699223" y="69992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descr="$PPTXTitle" id="361" name="Google Shape;361;p12"/>
          <p:cNvSpPr txBox="1"/>
          <p:nvPr>
            <p:ph type="title"/>
          </p:nvPr>
        </p:nvSpPr>
        <p:spPr>
          <a:xfrm>
            <a:off x="3031356" y="1550978"/>
            <a:ext cx="14208760" cy="94769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SzPts val="1400"/>
              <a:buNone/>
            </a:pPr>
            <a:r>
              <a:rPr lang="en-US"/>
              <a:t>Preparando los datos para el modelo</a:t>
            </a:r>
            <a:endParaRPr/>
          </a:p>
        </p:txBody>
      </p:sp>
      <p:grpSp>
        <p:nvGrpSpPr>
          <p:cNvPr id="362" name="Google Shape;362;p12"/>
          <p:cNvGrpSpPr/>
          <p:nvPr/>
        </p:nvGrpSpPr>
        <p:grpSpPr>
          <a:xfrm>
            <a:off x="989545" y="1692479"/>
            <a:ext cx="845819" cy="846009"/>
            <a:chOff x="989545" y="1692479"/>
            <a:chExt cx="845819" cy="846009"/>
          </a:xfrm>
        </p:grpSpPr>
        <p:sp>
          <p:nvSpPr>
            <p:cNvPr id="363" name="Google Shape;363;p12"/>
            <p:cNvSpPr/>
            <p:nvPr/>
          </p:nvSpPr>
          <p:spPr>
            <a:xfrm>
              <a:off x="989578" y="1692485"/>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12"/>
            <p:cNvSpPr/>
            <p:nvPr/>
          </p:nvSpPr>
          <p:spPr>
            <a:xfrm>
              <a:off x="1287834" y="1692479"/>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5" name="Google Shape;365;p12"/>
            <p:cNvSpPr/>
            <p:nvPr/>
          </p:nvSpPr>
          <p:spPr>
            <a:xfrm>
              <a:off x="989545" y="1843163"/>
              <a:ext cx="845819" cy="695325"/>
            </a:xfrm>
            <a:custGeom>
              <a:rect b="b" l="l" r="r" t="t"/>
              <a:pathLst>
                <a:path extrusionOk="0" h="695325" w="845819">
                  <a:moveTo>
                    <a:pt x="845591" y="518782"/>
                  </a:moveTo>
                  <a:lnTo>
                    <a:pt x="839584" y="473151"/>
                  </a:lnTo>
                  <a:lnTo>
                    <a:pt x="821969" y="430618"/>
                  </a:lnTo>
                  <a:lnTo>
                    <a:pt x="793940" y="394106"/>
                  </a:lnTo>
                  <a:lnTo>
                    <a:pt x="399834" y="0"/>
                  </a:lnTo>
                  <a:lnTo>
                    <a:pt x="150749" y="249085"/>
                  </a:lnTo>
                  <a:lnTo>
                    <a:pt x="173723" y="272072"/>
                  </a:lnTo>
                  <a:lnTo>
                    <a:pt x="51650" y="394144"/>
                  </a:lnTo>
                  <a:lnTo>
                    <a:pt x="23622" y="430657"/>
                  </a:lnTo>
                  <a:lnTo>
                    <a:pt x="6007" y="473189"/>
                  </a:lnTo>
                  <a:lnTo>
                    <a:pt x="0" y="518820"/>
                  </a:lnTo>
                  <a:lnTo>
                    <a:pt x="381" y="530364"/>
                  </a:lnTo>
                  <a:lnTo>
                    <a:pt x="9359" y="575513"/>
                  </a:lnTo>
                  <a:lnTo>
                    <a:pt x="29718" y="616788"/>
                  </a:lnTo>
                  <a:lnTo>
                    <a:pt x="59855" y="651179"/>
                  </a:lnTo>
                  <a:lnTo>
                    <a:pt x="98069" y="676694"/>
                  </a:lnTo>
                  <a:lnTo>
                    <a:pt x="141655" y="691489"/>
                  </a:lnTo>
                  <a:lnTo>
                    <a:pt x="176060" y="694880"/>
                  </a:lnTo>
                  <a:lnTo>
                    <a:pt x="187591" y="694499"/>
                  </a:lnTo>
                  <a:lnTo>
                    <a:pt x="232740" y="685520"/>
                  </a:lnTo>
                  <a:lnTo>
                    <a:pt x="274027" y="665149"/>
                  </a:lnTo>
                  <a:lnTo>
                    <a:pt x="422808" y="521157"/>
                  </a:lnTo>
                  <a:lnTo>
                    <a:pt x="544855" y="643191"/>
                  </a:lnTo>
                  <a:lnTo>
                    <a:pt x="581367" y="671220"/>
                  </a:lnTo>
                  <a:lnTo>
                    <a:pt x="623900" y="688835"/>
                  </a:lnTo>
                  <a:lnTo>
                    <a:pt x="669531" y="694842"/>
                  </a:lnTo>
                  <a:lnTo>
                    <a:pt x="681062" y="694461"/>
                  </a:lnTo>
                  <a:lnTo>
                    <a:pt x="726211" y="685482"/>
                  </a:lnTo>
                  <a:lnTo>
                    <a:pt x="767486" y="665124"/>
                  </a:lnTo>
                  <a:lnTo>
                    <a:pt x="801890" y="634987"/>
                  </a:lnTo>
                  <a:lnTo>
                    <a:pt x="827405" y="596773"/>
                  </a:lnTo>
                  <a:lnTo>
                    <a:pt x="842200" y="553186"/>
                  </a:lnTo>
                  <a:lnTo>
                    <a:pt x="845210" y="530326"/>
                  </a:lnTo>
                  <a:lnTo>
                    <a:pt x="845591"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6" name="Google Shape;366;p12"/>
          <p:cNvGrpSpPr/>
          <p:nvPr/>
        </p:nvGrpSpPr>
        <p:grpSpPr>
          <a:xfrm>
            <a:off x="0" y="1"/>
            <a:ext cx="14536419" cy="948701"/>
            <a:chOff x="0" y="1"/>
            <a:chExt cx="14536419" cy="948701"/>
          </a:xfrm>
        </p:grpSpPr>
        <p:sp>
          <p:nvSpPr>
            <p:cNvPr id="367" name="Google Shape;367;p12"/>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12"/>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12"/>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0" name="Google Shape;370;p12"/>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1" name="Google Shape;371;p12"/>
          <p:cNvSpPr txBox="1"/>
          <p:nvPr>
            <p:ph idx="12" type="sldNum"/>
          </p:nvPr>
        </p:nvSpPr>
        <p:spPr>
          <a:xfrm>
            <a:off x="878457" y="9567912"/>
            <a:ext cx="575944" cy="384721"/>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372" name="Google Shape;372;p12"/>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373" name="Google Shape;373;p12"/>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grpSp>
        <p:nvGrpSpPr>
          <p:cNvPr id="378" name="Google Shape;378;p13"/>
          <p:cNvGrpSpPr/>
          <p:nvPr/>
        </p:nvGrpSpPr>
        <p:grpSpPr>
          <a:xfrm>
            <a:off x="1018818" y="4081279"/>
            <a:ext cx="845820" cy="846028"/>
            <a:chOff x="1018818" y="4081279"/>
            <a:chExt cx="845820" cy="846028"/>
          </a:xfrm>
        </p:grpSpPr>
        <p:sp>
          <p:nvSpPr>
            <p:cNvPr id="379" name="Google Shape;379;p13"/>
            <p:cNvSpPr/>
            <p:nvPr/>
          </p:nvSpPr>
          <p:spPr>
            <a:xfrm>
              <a:off x="1018818" y="4081282"/>
              <a:ext cx="547370"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13"/>
            <p:cNvSpPr/>
            <p:nvPr/>
          </p:nvSpPr>
          <p:spPr>
            <a:xfrm>
              <a:off x="1317056" y="4081279"/>
              <a:ext cx="547370"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13"/>
            <p:cNvSpPr/>
            <p:nvPr/>
          </p:nvSpPr>
          <p:spPr>
            <a:xfrm>
              <a:off x="1018819" y="4231982"/>
              <a:ext cx="845819" cy="695325"/>
            </a:xfrm>
            <a:custGeom>
              <a:rect b="b" l="l" r="r" t="t"/>
              <a:pathLst>
                <a:path extrusionOk="0" h="695325" w="845819">
                  <a:moveTo>
                    <a:pt x="845540" y="518782"/>
                  </a:moveTo>
                  <a:lnTo>
                    <a:pt x="839533" y="473151"/>
                  </a:lnTo>
                  <a:lnTo>
                    <a:pt x="821918" y="430618"/>
                  </a:lnTo>
                  <a:lnTo>
                    <a:pt x="793889" y="394106"/>
                  </a:lnTo>
                  <a:lnTo>
                    <a:pt x="671855" y="272084"/>
                  </a:lnTo>
                  <a:lnTo>
                    <a:pt x="422757" y="22987"/>
                  </a:lnTo>
                  <a:lnTo>
                    <a:pt x="399783" y="0"/>
                  </a:lnTo>
                  <a:lnTo>
                    <a:pt x="150698" y="249085"/>
                  </a:lnTo>
                  <a:lnTo>
                    <a:pt x="173672" y="272072"/>
                  </a:lnTo>
                  <a:lnTo>
                    <a:pt x="51650" y="394106"/>
                  </a:lnTo>
                  <a:lnTo>
                    <a:pt x="23622" y="430618"/>
                  </a:lnTo>
                  <a:lnTo>
                    <a:pt x="6007" y="473151"/>
                  </a:lnTo>
                  <a:lnTo>
                    <a:pt x="0" y="518782"/>
                  </a:lnTo>
                  <a:lnTo>
                    <a:pt x="381" y="530326"/>
                  </a:lnTo>
                  <a:lnTo>
                    <a:pt x="9359" y="575475"/>
                  </a:lnTo>
                  <a:lnTo>
                    <a:pt x="29718" y="616750"/>
                  </a:lnTo>
                  <a:lnTo>
                    <a:pt x="59867" y="651141"/>
                  </a:lnTo>
                  <a:lnTo>
                    <a:pt x="98082" y="676656"/>
                  </a:lnTo>
                  <a:lnTo>
                    <a:pt x="141668" y="691451"/>
                  </a:lnTo>
                  <a:lnTo>
                    <a:pt x="176060" y="694842"/>
                  </a:lnTo>
                  <a:lnTo>
                    <a:pt x="187604" y="694461"/>
                  </a:lnTo>
                  <a:lnTo>
                    <a:pt x="232740" y="685482"/>
                  </a:lnTo>
                  <a:lnTo>
                    <a:pt x="274027" y="665124"/>
                  </a:lnTo>
                  <a:lnTo>
                    <a:pt x="422770" y="521169"/>
                  </a:lnTo>
                  <a:lnTo>
                    <a:pt x="544804" y="643191"/>
                  </a:lnTo>
                  <a:lnTo>
                    <a:pt x="581317" y="671220"/>
                  </a:lnTo>
                  <a:lnTo>
                    <a:pt x="623849" y="688835"/>
                  </a:lnTo>
                  <a:lnTo>
                    <a:pt x="669480" y="694842"/>
                  </a:lnTo>
                  <a:lnTo>
                    <a:pt x="681024" y="694474"/>
                  </a:lnTo>
                  <a:lnTo>
                    <a:pt x="726173" y="685482"/>
                  </a:lnTo>
                  <a:lnTo>
                    <a:pt x="767448" y="665124"/>
                  </a:lnTo>
                  <a:lnTo>
                    <a:pt x="801839" y="634987"/>
                  </a:lnTo>
                  <a:lnTo>
                    <a:pt x="827354" y="596773"/>
                  </a:lnTo>
                  <a:lnTo>
                    <a:pt x="842149" y="553186"/>
                  </a:lnTo>
                  <a:lnTo>
                    <a:pt x="845159" y="530326"/>
                  </a:lnTo>
                  <a:lnTo>
                    <a:pt x="845540"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382" name="Google Shape;382;p13"/>
          <p:cNvSpPr txBox="1"/>
          <p:nvPr>
            <p:ph type="title"/>
          </p:nvPr>
        </p:nvSpPr>
        <p:spPr>
          <a:xfrm>
            <a:off x="3060600" y="3808833"/>
            <a:ext cx="11224260" cy="2362200"/>
          </a:xfrm>
          <a:prstGeom prst="rect">
            <a:avLst/>
          </a:prstGeom>
          <a:noFill/>
          <a:ln>
            <a:noFill/>
          </a:ln>
        </p:spPr>
        <p:txBody>
          <a:bodyPr anchorCtr="0" anchor="t" bIns="0" lIns="0" spcFirstLastPara="1" rIns="0" wrap="square" tIns="127000">
            <a:spAutoFit/>
          </a:bodyPr>
          <a:lstStyle/>
          <a:p>
            <a:pPr indent="0" lvl="0" marL="12700" marR="5080" rtl="0" algn="l">
              <a:lnSpc>
                <a:spcPct val="110000"/>
              </a:lnSpc>
              <a:spcBef>
                <a:spcPts val="0"/>
              </a:spcBef>
              <a:spcAft>
                <a:spcPts val="0"/>
              </a:spcAft>
              <a:buSzPts val="1400"/>
              <a:buNone/>
            </a:pPr>
            <a:r>
              <a:rPr b="1" lang="en-US" sz="8000">
                <a:latin typeface="Arial"/>
                <a:ea typeface="Arial"/>
                <a:cs typeface="Arial"/>
                <a:sym typeface="Arial"/>
              </a:rPr>
              <a:t>Evaluación del modelo: matriz y métricas</a:t>
            </a:r>
            <a:endParaRPr sz="8000">
              <a:latin typeface="Arial"/>
              <a:ea typeface="Arial"/>
              <a:cs typeface="Arial"/>
              <a:sym typeface="Arial"/>
            </a:endParaRPr>
          </a:p>
        </p:txBody>
      </p:sp>
      <p:grpSp>
        <p:nvGrpSpPr>
          <p:cNvPr id="383" name="Google Shape;383;p13"/>
          <p:cNvGrpSpPr/>
          <p:nvPr/>
        </p:nvGrpSpPr>
        <p:grpSpPr>
          <a:xfrm>
            <a:off x="0" y="1"/>
            <a:ext cx="14536419" cy="948701"/>
            <a:chOff x="0" y="1"/>
            <a:chExt cx="14536419" cy="948701"/>
          </a:xfrm>
        </p:grpSpPr>
        <p:sp>
          <p:nvSpPr>
            <p:cNvPr id="384" name="Google Shape;384;p13"/>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13"/>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 name="Google Shape;386;p13"/>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7" name="Google Shape;387;p13"/>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8" name="Google Shape;388;p13"/>
          <p:cNvSpPr txBox="1"/>
          <p:nvPr>
            <p:ph idx="12" type="sldNum"/>
          </p:nvPr>
        </p:nvSpPr>
        <p:spPr>
          <a:xfrm>
            <a:off x="878457" y="9567912"/>
            <a:ext cx="575944" cy="384721"/>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389" name="Google Shape;389;p13"/>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390" name="Google Shape;390;p13"/>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grpSp>
        <p:nvGrpSpPr>
          <p:cNvPr id="395" name="Google Shape;395;g3d8b67da081_0_365"/>
          <p:cNvGrpSpPr/>
          <p:nvPr/>
        </p:nvGrpSpPr>
        <p:grpSpPr>
          <a:xfrm>
            <a:off x="0" y="1"/>
            <a:ext cx="14536419" cy="948701"/>
            <a:chOff x="0" y="1"/>
            <a:chExt cx="14536419" cy="948701"/>
          </a:xfrm>
        </p:grpSpPr>
        <p:sp>
          <p:nvSpPr>
            <p:cNvPr id="396" name="Google Shape;396;g3d8b67da081_0_365"/>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g3d8b67da081_0_365"/>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g3d8b67da081_0_365"/>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9" name="Google Shape;399;g3d8b67da081_0_365"/>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 name="Google Shape;400;g3d8b67da081_0_365"/>
          <p:cNvSpPr txBox="1"/>
          <p:nvPr>
            <p:ph idx="12" type="sldNum"/>
          </p:nvPr>
        </p:nvSpPr>
        <p:spPr>
          <a:xfrm>
            <a:off x="878457" y="9567912"/>
            <a:ext cx="576000" cy="400200"/>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401" name="Google Shape;401;g3d8b67da081_0_365"/>
          <p:cNvSpPr txBox="1"/>
          <p:nvPr>
            <p:ph idx="10" type="dt"/>
          </p:nvPr>
        </p:nvSpPr>
        <p:spPr>
          <a:xfrm>
            <a:off x="3060581" y="9651677"/>
            <a:ext cx="2143800" cy="6603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402" name="Google Shape;402;g3d8b67da081_0_365"/>
          <p:cNvSpPr txBox="1"/>
          <p:nvPr>
            <p:ph idx="11" type="ftr"/>
          </p:nvPr>
        </p:nvSpPr>
        <p:spPr>
          <a:xfrm>
            <a:off x="16105767" y="9653963"/>
            <a:ext cx="1211100" cy="3078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pic>
        <p:nvPicPr>
          <p:cNvPr descr="🔥 In this video we refer to the evaluation metrics used in machine learning. Confusion matrix, Accuracy, Precision, Recall and F1-Score are the most popular metrics for classification tasks. We explain the difference of each metric on a single example, showing that accuracy is well suited for balanced datasets, while other three for imbalanced ones. In some specific cases, we may prefer recall over precision and vice versa, or we might want to have both high using F1-Score. &#10;&#10;Additionally, there are other important metrics like AUC and ROC. Metrics for unsupervised learning and regression tasks are different. These are more complex topics, which we will cover separately, so stay with us!&#10;&#10;🔍 Key points covered:&#10;&#10;0:00 - Introduction to the problem.&#10;0:20 - Understanding the confusion matrix.&#10;0:45 - Accuracy.&#10;0:59 - When not to use the accuracy?&#10;1:35 - Recall and Precision.&#10;1:45 - Precision.&#10;1:52 - Recall.&#10;2:02 - F1-Score.&#10;2:17 - How to choose between the metrics?&#10;2:25 - Important notes.&#10;2:45 - Subscribe to us!&#10;&#10;🔔 Don't forget to like, subscribe, and hit the bell icon to stay updated with our latest videos! &#10;&#10;🤖 Note that we use synthetic generations, such as AI-generated images and voices, to enhance the appeal and engagement of our content.&#10;&#10;🌐 If you have any questions or topics you want us to cover, leave a comment below. Additionally, share with your thoughts about the content, how do you think we can make them better? Thanks for watching!" id="403" name="Google Shape;403;g3d8b67da081_0_365" title="How to Evaluate Your ML Models Effectively? | Evaluation Metrics in Machine Learning!">
            <a:hlinkClick r:id="rId3"/>
          </p:cNvPr>
          <p:cNvPicPr preferRelativeResize="0"/>
          <p:nvPr/>
        </p:nvPicPr>
        <p:blipFill rotWithShape="1">
          <a:blip r:embed="rId4">
            <a:alphaModFix/>
          </a:blip>
          <a:srcRect b="0" l="0" r="0" t="0"/>
          <a:stretch/>
        </p:blipFill>
        <p:spPr>
          <a:xfrm>
            <a:off x="464500" y="261261"/>
            <a:ext cx="17359000" cy="97644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4"/>
          <p:cNvSpPr txBox="1"/>
          <p:nvPr/>
        </p:nvSpPr>
        <p:spPr>
          <a:xfrm>
            <a:off x="3033886" y="4275903"/>
            <a:ext cx="6172200" cy="4821833"/>
          </a:xfrm>
          <a:prstGeom prst="rect">
            <a:avLst/>
          </a:prstGeom>
          <a:noFill/>
          <a:ln>
            <a:noFill/>
          </a:ln>
        </p:spPr>
        <p:txBody>
          <a:bodyPr anchorCtr="0" anchor="t" bIns="0" lIns="0" spcFirstLastPara="1" rIns="0" wrap="square" tIns="17775">
            <a:spAutoFit/>
          </a:bodyPr>
          <a:lstStyle/>
          <a:p>
            <a:pPr indent="0" lvl="0" marL="12700" marR="0" rtl="0" algn="l">
              <a:lnSpc>
                <a:spcPct val="100000"/>
              </a:lnSpc>
              <a:spcBef>
                <a:spcPts val="0"/>
              </a:spcBef>
              <a:spcAft>
                <a:spcPts val="0"/>
              </a:spcAft>
              <a:buClr>
                <a:srgbClr val="000000"/>
              </a:buClr>
              <a:buSzPts val="1850"/>
              <a:buFont typeface="Arial"/>
              <a:buNone/>
            </a:pPr>
            <a:r>
              <a:rPr b="1" i="0" lang="en-US" sz="1850" u="none" cap="none" strike="noStrike">
                <a:solidFill>
                  <a:srgbClr val="292929"/>
                </a:solidFill>
                <a:latin typeface="Arial"/>
                <a:ea typeface="Arial"/>
                <a:cs typeface="Arial"/>
                <a:sym typeface="Arial"/>
              </a:rPr>
              <a:t>¿Qué es la matriz de confusión?</a:t>
            </a:r>
            <a:endParaRPr b="0" i="0" sz="1850" u="none" cap="none" strike="noStrike">
              <a:solidFill>
                <a:srgbClr val="000000"/>
              </a:solidFill>
              <a:latin typeface="Arial"/>
              <a:ea typeface="Arial"/>
              <a:cs typeface="Arial"/>
              <a:sym typeface="Arial"/>
            </a:endParaRPr>
          </a:p>
          <a:p>
            <a:pPr indent="-156210" lvl="0" marL="168275" marR="242570" rtl="0" algn="l">
              <a:lnSpc>
                <a:spcPct val="100000"/>
              </a:lnSpc>
              <a:spcBef>
                <a:spcPts val="1375"/>
              </a:spcBef>
              <a:spcAft>
                <a:spcPts val="0"/>
              </a:spcAft>
              <a:buClr>
                <a:srgbClr val="292929"/>
              </a:buClr>
              <a:buSzPts val="1450"/>
              <a:buFont typeface="Times New Roman"/>
              <a:buChar char="•"/>
            </a:pPr>
            <a:r>
              <a:rPr b="0" i="0" lang="en-US" sz="1450" u="none" cap="none" strike="noStrike">
                <a:solidFill>
                  <a:srgbClr val="292929"/>
                </a:solidFill>
                <a:latin typeface="Arial"/>
                <a:ea typeface="Arial"/>
                <a:cs typeface="Arial"/>
                <a:sym typeface="Arial"/>
              </a:rPr>
              <a:t>Herramienta clave para evaluar </a:t>
            </a:r>
            <a:r>
              <a:rPr b="1" i="0" lang="en-US" sz="1450" u="none" cap="none" strike="noStrike">
                <a:solidFill>
                  <a:srgbClr val="F2620F"/>
                </a:solidFill>
                <a:latin typeface="Arial"/>
                <a:ea typeface="Arial"/>
                <a:cs typeface="Arial"/>
                <a:sym typeface="Arial"/>
              </a:rPr>
              <a:t>aciertos y errores </a:t>
            </a:r>
            <a:r>
              <a:rPr b="0" i="0" lang="en-US" sz="1450" u="none" cap="none" strike="noStrike">
                <a:solidFill>
                  <a:srgbClr val="292929"/>
                </a:solidFill>
                <a:latin typeface="Arial"/>
                <a:ea typeface="Arial"/>
                <a:cs typeface="Arial"/>
                <a:sym typeface="Arial"/>
              </a:rPr>
              <a:t>de un modelo de 	clasiﬁcación.</a:t>
            </a:r>
            <a:endParaRPr b="0" i="0" sz="1450" u="none" cap="none" strike="noStrike">
              <a:solidFill>
                <a:srgbClr val="000000"/>
              </a:solidFill>
              <a:latin typeface="Arial"/>
              <a:ea typeface="Arial"/>
              <a:cs typeface="Arial"/>
              <a:sym typeface="Arial"/>
            </a:endParaRPr>
          </a:p>
          <a:p>
            <a:pPr indent="0" lvl="0" marL="0" marR="0" rtl="0" algn="l">
              <a:lnSpc>
                <a:spcPct val="100000"/>
              </a:lnSpc>
              <a:spcBef>
                <a:spcPts val="280"/>
              </a:spcBef>
              <a:spcAft>
                <a:spcPts val="0"/>
              </a:spcAft>
              <a:buClr>
                <a:srgbClr val="292929"/>
              </a:buClr>
              <a:buSzPts val="1450"/>
              <a:buFont typeface="Times New Roman"/>
              <a:buNone/>
            </a:pPr>
            <a:r>
              <a:t/>
            </a:r>
            <a:endParaRPr b="0" i="0" sz="14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50"/>
              <a:buFont typeface="Arial"/>
              <a:buNone/>
            </a:pPr>
            <a:r>
              <a:rPr b="1" i="0" lang="en-US" sz="1850" u="none" cap="none" strike="noStrike">
                <a:solidFill>
                  <a:srgbClr val="292929"/>
                </a:solidFill>
                <a:latin typeface="Arial"/>
                <a:ea typeface="Arial"/>
                <a:cs typeface="Arial"/>
                <a:sym typeface="Arial"/>
              </a:rPr>
              <a:t>Interpretación de resultados</a:t>
            </a:r>
            <a:endParaRPr b="0" i="0" sz="1850" u="none" cap="none" strike="noStrike">
              <a:solidFill>
                <a:srgbClr val="000000"/>
              </a:solidFill>
              <a:latin typeface="Arial"/>
              <a:ea typeface="Arial"/>
              <a:cs typeface="Arial"/>
              <a:sym typeface="Arial"/>
            </a:endParaRPr>
          </a:p>
          <a:p>
            <a:pPr indent="-156210" lvl="0" marL="168275" marR="490855" rtl="0" algn="l">
              <a:lnSpc>
                <a:spcPct val="100000"/>
              </a:lnSpc>
              <a:spcBef>
                <a:spcPts val="1380"/>
              </a:spcBef>
              <a:spcAft>
                <a:spcPts val="0"/>
              </a:spcAft>
              <a:buClr>
                <a:srgbClr val="292929"/>
              </a:buClr>
              <a:buSzPts val="1450"/>
              <a:buFont typeface="Times New Roman"/>
              <a:buChar char="•"/>
            </a:pPr>
            <a:r>
              <a:rPr b="0" i="0" lang="en-US" sz="1450" u="none" cap="none" strike="noStrike">
                <a:solidFill>
                  <a:srgbClr val="292929"/>
                </a:solidFill>
                <a:latin typeface="Arial"/>
                <a:ea typeface="Arial"/>
                <a:cs typeface="Arial"/>
                <a:sym typeface="Arial"/>
              </a:rPr>
              <a:t>Permite distinguir entre </a:t>
            </a:r>
            <a:r>
              <a:rPr b="1" i="0" lang="en-US" sz="1450" u="none" cap="none" strike="noStrike">
                <a:solidFill>
                  <a:srgbClr val="F2620F"/>
                </a:solidFill>
                <a:latin typeface="Arial"/>
                <a:ea typeface="Arial"/>
                <a:cs typeface="Arial"/>
                <a:sym typeface="Arial"/>
              </a:rPr>
              <a:t>verdaderos positivos (TP)</a:t>
            </a:r>
            <a:r>
              <a:rPr b="0" i="0" lang="en-US" sz="1450" u="none" cap="none" strike="noStrike">
                <a:solidFill>
                  <a:srgbClr val="292929"/>
                </a:solidFill>
                <a:latin typeface="Arial"/>
                <a:ea typeface="Arial"/>
                <a:cs typeface="Arial"/>
                <a:sym typeface="Arial"/>
              </a:rPr>
              <a:t>, </a:t>
            </a:r>
            <a:r>
              <a:rPr b="1" i="0" lang="en-US" sz="1450" u="none" cap="none" strike="noStrike">
                <a:solidFill>
                  <a:srgbClr val="F2620F"/>
                </a:solidFill>
                <a:latin typeface="Arial"/>
                <a:ea typeface="Arial"/>
                <a:cs typeface="Arial"/>
                <a:sym typeface="Arial"/>
              </a:rPr>
              <a:t>verdaderos                                                                       	negativos (TN)</a:t>
            </a:r>
            <a:r>
              <a:rPr b="0" i="0" lang="en-US" sz="1450" u="none" cap="none" strike="noStrike">
                <a:solidFill>
                  <a:srgbClr val="292929"/>
                </a:solidFill>
                <a:latin typeface="Arial"/>
                <a:ea typeface="Arial"/>
                <a:cs typeface="Arial"/>
                <a:sym typeface="Arial"/>
              </a:rPr>
              <a:t>, </a:t>
            </a:r>
            <a:r>
              <a:rPr b="1" i="0" lang="en-US" sz="1450" u="none" cap="none" strike="noStrike">
                <a:solidFill>
                  <a:srgbClr val="F2620F"/>
                </a:solidFill>
                <a:latin typeface="Arial"/>
                <a:ea typeface="Arial"/>
                <a:cs typeface="Arial"/>
                <a:sym typeface="Arial"/>
              </a:rPr>
              <a:t>falsos positivos (FP) </a:t>
            </a:r>
            <a:r>
              <a:rPr b="0" i="0" lang="en-US" sz="1450" u="none" cap="none" strike="noStrike">
                <a:solidFill>
                  <a:srgbClr val="292929"/>
                </a:solidFill>
                <a:latin typeface="Arial"/>
                <a:ea typeface="Arial"/>
                <a:cs typeface="Arial"/>
                <a:sym typeface="Arial"/>
              </a:rPr>
              <a:t>y </a:t>
            </a:r>
            <a:r>
              <a:rPr b="1" i="0" lang="en-US" sz="1450" u="none" cap="none" strike="noStrike">
                <a:solidFill>
                  <a:srgbClr val="F2620F"/>
                </a:solidFill>
                <a:latin typeface="Arial"/>
                <a:ea typeface="Arial"/>
                <a:cs typeface="Arial"/>
                <a:sym typeface="Arial"/>
              </a:rPr>
              <a:t>falsos negativos (FN)</a:t>
            </a:r>
            <a:r>
              <a:rPr b="0" i="0" lang="en-US" sz="1450" u="none" cap="none" strike="noStrike">
                <a:solidFill>
                  <a:srgbClr val="292929"/>
                </a:solidFill>
                <a:latin typeface="Arial"/>
                <a:ea typeface="Arial"/>
                <a:cs typeface="Arial"/>
                <a:sym typeface="Arial"/>
              </a:rPr>
              <a:t>.</a:t>
            </a:r>
            <a:endParaRPr b="0" i="0" sz="1450" u="none" cap="none" strike="noStrike">
              <a:solidFill>
                <a:srgbClr val="000000"/>
              </a:solidFill>
              <a:latin typeface="Arial"/>
              <a:ea typeface="Arial"/>
              <a:cs typeface="Arial"/>
              <a:sym typeface="Arial"/>
            </a:endParaRPr>
          </a:p>
          <a:p>
            <a:pPr indent="0" lvl="0" marL="0" marR="0" rtl="0" algn="l">
              <a:lnSpc>
                <a:spcPct val="100000"/>
              </a:lnSpc>
              <a:spcBef>
                <a:spcPts val="280"/>
              </a:spcBef>
              <a:spcAft>
                <a:spcPts val="0"/>
              </a:spcAft>
              <a:buClr>
                <a:srgbClr val="292929"/>
              </a:buClr>
              <a:buSzPts val="1450"/>
              <a:buFont typeface="Times New Roman"/>
              <a:buNone/>
            </a:pPr>
            <a:r>
              <a:t/>
            </a:r>
            <a:endParaRPr b="0" i="0" sz="14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50"/>
              <a:buFont typeface="Arial"/>
              <a:buNone/>
            </a:pPr>
            <a:r>
              <a:rPr b="1" i="0" lang="en-US" sz="1850" u="none" cap="none" strike="noStrike">
                <a:solidFill>
                  <a:srgbClr val="292929"/>
                </a:solidFill>
                <a:latin typeface="Arial"/>
                <a:ea typeface="Arial"/>
                <a:cs typeface="Arial"/>
                <a:sym typeface="Arial"/>
              </a:rPr>
              <a:t>Aplicación en viajes de taxi</a:t>
            </a:r>
            <a:endParaRPr b="0" i="0" sz="1850" u="none" cap="none" strike="noStrike">
              <a:solidFill>
                <a:srgbClr val="000000"/>
              </a:solidFill>
              <a:latin typeface="Arial"/>
              <a:ea typeface="Arial"/>
              <a:cs typeface="Arial"/>
              <a:sym typeface="Arial"/>
            </a:endParaRPr>
          </a:p>
          <a:p>
            <a:pPr indent="-156210" lvl="0" marL="168910" marR="0" rtl="0" algn="l">
              <a:lnSpc>
                <a:spcPct val="100000"/>
              </a:lnSpc>
              <a:spcBef>
                <a:spcPts val="1380"/>
              </a:spcBef>
              <a:spcAft>
                <a:spcPts val="0"/>
              </a:spcAft>
              <a:buClr>
                <a:srgbClr val="292929"/>
              </a:buClr>
              <a:buSzPts val="1450"/>
              <a:buFont typeface="Times New Roman"/>
              <a:buChar char="•"/>
            </a:pPr>
            <a:r>
              <a:rPr b="0" i="0" lang="en-US" sz="1450" u="none" cap="none" strike="noStrike">
                <a:solidFill>
                  <a:srgbClr val="292929"/>
                </a:solidFill>
                <a:latin typeface="Arial"/>
                <a:ea typeface="Arial"/>
                <a:cs typeface="Arial"/>
                <a:sym typeface="Arial"/>
              </a:rPr>
              <a:t>TP: Predijo propina alta y realmente fue alta.</a:t>
            </a:r>
            <a:endParaRPr b="0" i="0" sz="1450" u="none" cap="none" strike="noStrike">
              <a:solidFill>
                <a:srgbClr val="000000"/>
              </a:solidFill>
              <a:latin typeface="Arial"/>
              <a:ea typeface="Arial"/>
              <a:cs typeface="Arial"/>
              <a:sym typeface="Arial"/>
            </a:endParaRPr>
          </a:p>
          <a:p>
            <a:pPr indent="-156210" lvl="0" marL="168910" marR="0" rtl="0" algn="l">
              <a:lnSpc>
                <a:spcPct val="100000"/>
              </a:lnSpc>
              <a:spcBef>
                <a:spcPts val="365"/>
              </a:spcBef>
              <a:spcAft>
                <a:spcPts val="0"/>
              </a:spcAft>
              <a:buClr>
                <a:srgbClr val="292929"/>
              </a:buClr>
              <a:buSzPts val="1450"/>
              <a:buFont typeface="Times New Roman"/>
              <a:buChar char="•"/>
            </a:pPr>
            <a:r>
              <a:rPr b="0" i="0" lang="en-US" sz="1450" u="none" cap="none" strike="noStrike">
                <a:solidFill>
                  <a:srgbClr val="292929"/>
                </a:solidFill>
                <a:latin typeface="Arial"/>
                <a:ea typeface="Arial"/>
                <a:cs typeface="Arial"/>
                <a:sym typeface="Arial"/>
              </a:rPr>
              <a:t>TN: Predijo no propina alta y acertó.</a:t>
            </a:r>
            <a:endParaRPr b="0" i="0" sz="1450" u="none" cap="none" strike="noStrike">
              <a:solidFill>
                <a:srgbClr val="000000"/>
              </a:solidFill>
              <a:latin typeface="Arial"/>
              <a:ea typeface="Arial"/>
              <a:cs typeface="Arial"/>
              <a:sym typeface="Arial"/>
            </a:endParaRPr>
          </a:p>
          <a:p>
            <a:pPr indent="-156210" lvl="0" marL="168910" marR="0" rtl="0" algn="l">
              <a:lnSpc>
                <a:spcPct val="100000"/>
              </a:lnSpc>
              <a:spcBef>
                <a:spcPts val="370"/>
              </a:spcBef>
              <a:spcAft>
                <a:spcPts val="0"/>
              </a:spcAft>
              <a:buClr>
                <a:srgbClr val="292929"/>
              </a:buClr>
              <a:buSzPts val="1450"/>
              <a:buFont typeface="Times New Roman"/>
              <a:buChar char="•"/>
            </a:pPr>
            <a:r>
              <a:rPr b="0" i="0" lang="en-US" sz="1450" u="none" cap="none" strike="noStrike">
                <a:solidFill>
                  <a:srgbClr val="292929"/>
                </a:solidFill>
                <a:latin typeface="Arial"/>
                <a:ea typeface="Arial"/>
                <a:cs typeface="Arial"/>
                <a:sym typeface="Arial"/>
              </a:rPr>
              <a:t>FP: Predijo propina alta, pero no lo fue.</a:t>
            </a:r>
            <a:endParaRPr b="0" i="0" sz="1450" u="none" cap="none" strike="noStrike">
              <a:solidFill>
                <a:srgbClr val="000000"/>
              </a:solidFill>
              <a:latin typeface="Arial"/>
              <a:ea typeface="Arial"/>
              <a:cs typeface="Arial"/>
              <a:sym typeface="Arial"/>
            </a:endParaRPr>
          </a:p>
          <a:p>
            <a:pPr indent="-156210" lvl="0" marL="168910" marR="0" rtl="0" algn="l">
              <a:lnSpc>
                <a:spcPct val="100000"/>
              </a:lnSpc>
              <a:spcBef>
                <a:spcPts val="365"/>
              </a:spcBef>
              <a:spcAft>
                <a:spcPts val="0"/>
              </a:spcAft>
              <a:buClr>
                <a:srgbClr val="292929"/>
              </a:buClr>
              <a:buSzPts val="1450"/>
              <a:buFont typeface="Times New Roman"/>
              <a:buChar char="•"/>
            </a:pPr>
            <a:r>
              <a:rPr b="0" i="0" lang="en-US" sz="1450" u="none" cap="none" strike="noStrike">
                <a:solidFill>
                  <a:srgbClr val="292929"/>
                </a:solidFill>
                <a:latin typeface="Arial"/>
                <a:ea typeface="Arial"/>
                <a:cs typeface="Arial"/>
                <a:sym typeface="Arial"/>
              </a:rPr>
              <a:t>FN: No detectó propina alta cuando sí ocurrió.</a:t>
            </a:r>
            <a:endParaRPr b="0" i="0" sz="1450" u="none" cap="none" strike="noStrike">
              <a:solidFill>
                <a:srgbClr val="000000"/>
              </a:solidFill>
              <a:latin typeface="Arial"/>
              <a:ea typeface="Arial"/>
              <a:cs typeface="Arial"/>
              <a:sym typeface="Arial"/>
            </a:endParaRPr>
          </a:p>
          <a:p>
            <a:pPr indent="0" lvl="0" marL="0" marR="0" rtl="0" algn="l">
              <a:lnSpc>
                <a:spcPct val="100000"/>
              </a:lnSpc>
              <a:spcBef>
                <a:spcPts val="275"/>
              </a:spcBef>
              <a:spcAft>
                <a:spcPts val="0"/>
              </a:spcAft>
              <a:buClr>
                <a:srgbClr val="292929"/>
              </a:buClr>
              <a:buSzPts val="1450"/>
              <a:buFont typeface="Times New Roman"/>
              <a:buNone/>
            </a:pPr>
            <a:r>
              <a:t/>
            </a:r>
            <a:endParaRPr b="0" i="0" sz="14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50"/>
              <a:buFont typeface="Arial"/>
              <a:buNone/>
            </a:pPr>
            <a:r>
              <a:rPr b="1" i="0" lang="en-US" sz="1850" u="none" cap="none" strike="noStrike">
                <a:solidFill>
                  <a:srgbClr val="292929"/>
                </a:solidFill>
                <a:latin typeface="Arial"/>
                <a:ea typeface="Arial"/>
                <a:cs typeface="Arial"/>
                <a:sym typeface="Arial"/>
              </a:rPr>
              <a:t>Importancia para el análisis</a:t>
            </a:r>
            <a:endParaRPr b="0" i="0" sz="1850" u="none" cap="none" strike="noStrike">
              <a:solidFill>
                <a:srgbClr val="000000"/>
              </a:solidFill>
              <a:latin typeface="Arial"/>
              <a:ea typeface="Arial"/>
              <a:cs typeface="Arial"/>
              <a:sym typeface="Arial"/>
            </a:endParaRPr>
          </a:p>
          <a:p>
            <a:pPr indent="-156210" lvl="0" marL="168910" marR="0" rtl="0" algn="l">
              <a:lnSpc>
                <a:spcPct val="100000"/>
              </a:lnSpc>
              <a:spcBef>
                <a:spcPts val="1380"/>
              </a:spcBef>
              <a:spcAft>
                <a:spcPts val="0"/>
              </a:spcAft>
              <a:buClr>
                <a:srgbClr val="292929"/>
              </a:buClr>
              <a:buSzPts val="1450"/>
              <a:buFont typeface="Times New Roman"/>
              <a:buChar char="•"/>
            </a:pPr>
            <a:r>
              <a:rPr b="0" i="0" lang="en-US" sz="1450" u="none" cap="none" strike="noStrike">
                <a:solidFill>
                  <a:srgbClr val="292929"/>
                </a:solidFill>
                <a:latin typeface="Arial"/>
                <a:ea typeface="Arial"/>
                <a:cs typeface="Arial"/>
                <a:sym typeface="Arial"/>
              </a:rPr>
              <a:t>Facilita la comprensión de </a:t>
            </a:r>
            <a:r>
              <a:rPr b="1" i="0" lang="en-US" sz="1450" u="none" cap="none" strike="noStrike">
                <a:solidFill>
                  <a:srgbClr val="F2620F"/>
                </a:solidFill>
                <a:latin typeface="Arial"/>
                <a:ea typeface="Arial"/>
                <a:cs typeface="Arial"/>
                <a:sym typeface="Arial"/>
              </a:rPr>
              <a:t>tipo de errores </a:t>
            </a:r>
            <a:r>
              <a:rPr b="0" i="0" lang="en-US" sz="1450" u="none" cap="none" strike="noStrike">
                <a:solidFill>
                  <a:srgbClr val="292929"/>
                </a:solidFill>
                <a:latin typeface="Arial"/>
                <a:ea typeface="Arial"/>
                <a:cs typeface="Arial"/>
                <a:sym typeface="Arial"/>
              </a:rPr>
              <a:t>y su impacto en decisiones.</a:t>
            </a:r>
            <a:endParaRPr b="0" i="0" sz="1450" u="none" cap="none" strike="noStrike">
              <a:solidFill>
                <a:srgbClr val="000000"/>
              </a:solidFill>
              <a:latin typeface="Arial"/>
              <a:ea typeface="Arial"/>
              <a:cs typeface="Arial"/>
              <a:sym typeface="Arial"/>
            </a:endParaRPr>
          </a:p>
        </p:txBody>
      </p:sp>
      <p:sp>
        <p:nvSpPr>
          <p:cNvPr descr="$PPTXTitle" id="409" name="Google Shape;409;p14"/>
          <p:cNvSpPr txBox="1"/>
          <p:nvPr>
            <p:ph type="title"/>
          </p:nvPr>
        </p:nvSpPr>
        <p:spPr>
          <a:xfrm>
            <a:off x="3033923" y="1580069"/>
            <a:ext cx="6288405" cy="1608133"/>
          </a:xfrm>
          <a:prstGeom prst="rect">
            <a:avLst/>
          </a:prstGeom>
          <a:noFill/>
          <a:ln>
            <a:noFill/>
          </a:ln>
        </p:spPr>
        <p:txBody>
          <a:bodyPr anchorCtr="0" anchor="t" bIns="0" lIns="0" spcFirstLastPara="1" rIns="0" wrap="square" tIns="93975">
            <a:spAutoFit/>
          </a:bodyPr>
          <a:lstStyle/>
          <a:p>
            <a:pPr indent="0" lvl="0" marL="12700" marR="5080" rtl="0" algn="l">
              <a:lnSpc>
                <a:spcPct val="110377"/>
              </a:lnSpc>
              <a:spcBef>
                <a:spcPts val="0"/>
              </a:spcBef>
              <a:spcAft>
                <a:spcPts val="0"/>
              </a:spcAft>
              <a:buSzPts val="1400"/>
              <a:buNone/>
            </a:pPr>
            <a:r>
              <a:rPr lang="en-US" sz="5300"/>
              <a:t>Matriz de confusión: visión general</a:t>
            </a:r>
            <a:endParaRPr sz="5300"/>
          </a:p>
        </p:txBody>
      </p:sp>
      <p:pic>
        <p:nvPicPr>
          <p:cNvPr id="410" name="Google Shape;410;p14"/>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411" name="Google Shape;411;p14"/>
          <p:cNvGrpSpPr/>
          <p:nvPr/>
        </p:nvGrpSpPr>
        <p:grpSpPr>
          <a:xfrm>
            <a:off x="989609" y="1689081"/>
            <a:ext cx="845819" cy="846041"/>
            <a:chOff x="989609" y="1689081"/>
            <a:chExt cx="845819" cy="846041"/>
          </a:xfrm>
        </p:grpSpPr>
        <p:sp>
          <p:nvSpPr>
            <p:cNvPr id="412" name="Google Shape;412;p14"/>
            <p:cNvSpPr/>
            <p:nvPr/>
          </p:nvSpPr>
          <p:spPr>
            <a:xfrm>
              <a:off x="989629" y="168908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3" name="Google Shape;413;p14"/>
            <p:cNvSpPr/>
            <p:nvPr/>
          </p:nvSpPr>
          <p:spPr>
            <a:xfrm>
              <a:off x="1287860" y="1689081"/>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4" name="Google Shape;414;p14"/>
            <p:cNvSpPr/>
            <p:nvPr/>
          </p:nvSpPr>
          <p:spPr>
            <a:xfrm>
              <a:off x="989609" y="1839797"/>
              <a:ext cx="845819" cy="695325"/>
            </a:xfrm>
            <a:custGeom>
              <a:rect b="b" l="l" r="r" t="t"/>
              <a:pathLst>
                <a:path extrusionOk="0" h="695325" w="845819">
                  <a:moveTo>
                    <a:pt x="845553" y="518782"/>
                  </a:moveTo>
                  <a:lnTo>
                    <a:pt x="839546" y="473151"/>
                  </a:lnTo>
                  <a:lnTo>
                    <a:pt x="821931" y="430618"/>
                  </a:lnTo>
                  <a:lnTo>
                    <a:pt x="793902" y="394106"/>
                  </a:lnTo>
                  <a:lnTo>
                    <a:pt x="399796" y="0"/>
                  </a:lnTo>
                  <a:lnTo>
                    <a:pt x="150710" y="249085"/>
                  </a:lnTo>
                  <a:lnTo>
                    <a:pt x="173685" y="272072"/>
                  </a:lnTo>
                  <a:lnTo>
                    <a:pt x="51650" y="394106"/>
                  </a:lnTo>
                  <a:lnTo>
                    <a:pt x="23622" y="430618"/>
                  </a:lnTo>
                  <a:lnTo>
                    <a:pt x="6007" y="473151"/>
                  </a:lnTo>
                  <a:lnTo>
                    <a:pt x="0" y="518782"/>
                  </a:lnTo>
                  <a:lnTo>
                    <a:pt x="381" y="530326"/>
                  </a:lnTo>
                  <a:lnTo>
                    <a:pt x="9359" y="575475"/>
                  </a:lnTo>
                  <a:lnTo>
                    <a:pt x="29718" y="616750"/>
                  </a:lnTo>
                  <a:lnTo>
                    <a:pt x="59855" y="651141"/>
                  </a:lnTo>
                  <a:lnTo>
                    <a:pt x="98069" y="676656"/>
                  </a:lnTo>
                  <a:lnTo>
                    <a:pt x="141655" y="691464"/>
                  </a:lnTo>
                  <a:lnTo>
                    <a:pt x="176060" y="694842"/>
                  </a:lnTo>
                  <a:lnTo>
                    <a:pt x="187591" y="694461"/>
                  </a:lnTo>
                  <a:lnTo>
                    <a:pt x="232740" y="685482"/>
                  </a:lnTo>
                  <a:lnTo>
                    <a:pt x="274027" y="665124"/>
                  </a:lnTo>
                  <a:lnTo>
                    <a:pt x="422770" y="521157"/>
                  </a:lnTo>
                  <a:lnTo>
                    <a:pt x="544817" y="643191"/>
                  </a:lnTo>
                  <a:lnTo>
                    <a:pt x="581329" y="671220"/>
                  </a:lnTo>
                  <a:lnTo>
                    <a:pt x="623862" y="688835"/>
                  </a:lnTo>
                  <a:lnTo>
                    <a:pt x="669493" y="694842"/>
                  </a:lnTo>
                  <a:lnTo>
                    <a:pt x="681037" y="694461"/>
                  </a:lnTo>
                  <a:lnTo>
                    <a:pt x="726186" y="685482"/>
                  </a:lnTo>
                  <a:lnTo>
                    <a:pt x="767461" y="665124"/>
                  </a:lnTo>
                  <a:lnTo>
                    <a:pt x="801852" y="634974"/>
                  </a:lnTo>
                  <a:lnTo>
                    <a:pt x="827366" y="596760"/>
                  </a:lnTo>
                  <a:lnTo>
                    <a:pt x="842162" y="553173"/>
                  </a:lnTo>
                  <a:lnTo>
                    <a:pt x="845172" y="530326"/>
                  </a:lnTo>
                  <a:lnTo>
                    <a:pt x="845553"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15" name="Google Shape;415;p14"/>
          <p:cNvGrpSpPr/>
          <p:nvPr/>
        </p:nvGrpSpPr>
        <p:grpSpPr>
          <a:xfrm>
            <a:off x="0" y="1"/>
            <a:ext cx="14536419" cy="948701"/>
            <a:chOff x="0" y="1"/>
            <a:chExt cx="14536419" cy="948701"/>
          </a:xfrm>
        </p:grpSpPr>
        <p:sp>
          <p:nvSpPr>
            <p:cNvPr id="416" name="Google Shape;416;p14"/>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7" name="Google Shape;417;p14"/>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8" name="Google Shape;418;p14"/>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9" name="Google Shape;419;p14"/>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0" name="Google Shape;420;p14"/>
          <p:cNvSpPr txBox="1"/>
          <p:nvPr>
            <p:ph idx="12" type="sldNum"/>
          </p:nvPr>
        </p:nvSpPr>
        <p:spPr>
          <a:xfrm>
            <a:off x="878457" y="9567912"/>
            <a:ext cx="575944" cy="384721"/>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421" name="Google Shape;421;p14"/>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422" name="Google Shape;422;p14"/>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grpSp>
        <p:nvGrpSpPr>
          <p:cNvPr id="427" name="Google Shape;427;g3d8b67da081_0_402"/>
          <p:cNvGrpSpPr/>
          <p:nvPr/>
        </p:nvGrpSpPr>
        <p:grpSpPr>
          <a:xfrm>
            <a:off x="0" y="1"/>
            <a:ext cx="14536419" cy="948701"/>
            <a:chOff x="0" y="1"/>
            <a:chExt cx="14536419" cy="948701"/>
          </a:xfrm>
        </p:grpSpPr>
        <p:sp>
          <p:nvSpPr>
            <p:cNvPr id="428" name="Google Shape;428;g3d8b67da081_0_402"/>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g3d8b67da081_0_402"/>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g3d8b67da081_0_402"/>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31" name="Google Shape;431;g3d8b67da081_0_402"/>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2" name="Google Shape;432;g3d8b67da081_0_402"/>
          <p:cNvSpPr txBox="1"/>
          <p:nvPr>
            <p:ph idx="12" type="sldNum"/>
          </p:nvPr>
        </p:nvSpPr>
        <p:spPr>
          <a:xfrm>
            <a:off x="878457" y="9567912"/>
            <a:ext cx="576000" cy="400200"/>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433" name="Google Shape;433;g3d8b67da081_0_402"/>
          <p:cNvSpPr txBox="1"/>
          <p:nvPr>
            <p:ph idx="10" type="dt"/>
          </p:nvPr>
        </p:nvSpPr>
        <p:spPr>
          <a:xfrm>
            <a:off x="3060581" y="9651677"/>
            <a:ext cx="2143800" cy="6603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434" name="Google Shape;434;g3d8b67da081_0_402"/>
          <p:cNvSpPr txBox="1"/>
          <p:nvPr>
            <p:ph idx="11" type="ftr"/>
          </p:nvPr>
        </p:nvSpPr>
        <p:spPr>
          <a:xfrm>
            <a:off x="16105767" y="9653963"/>
            <a:ext cx="1211100" cy="3078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pic>
        <p:nvPicPr>
          <p:cNvPr id="435" name="Google Shape;435;g3d8b67da081_0_402"/>
          <p:cNvPicPr preferRelativeResize="0"/>
          <p:nvPr/>
        </p:nvPicPr>
        <p:blipFill rotWithShape="1">
          <a:blip r:embed="rId3">
            <a:alphaModFix/>
          </a:blip>
          <a:srcRect b="0" l="0" r="0" t="0"/>
          <a:stretch/>
        </p:blipFill>
        <p:spPr>
          <a:xfrm>
            <a:off x="5206213" y="1931675"/>
            <a:ext cx="7875575" cy="6443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grpSp>
        <p:nvGrpSpPr>
          <p:cNvPr id="440" name="Google Shape;440;g3d8b67da081_0_421"/>
          <p:cNvGrpSpPr/>
          <p:nvPr/>
        </p:nvGrpSpPr>
        <p:grpSpPr>
          <a:xfrm>
            <a:off x="0" y="1"/>
            <a:ext cx="14536419" cy="948701"/>
            <a:chOff x="0" y="1"/>
            <a:chExt cx="14536419" cy="948701"/>
          </a:xfrm>
        </p:grpSpPr>
        <p:sp>
          <p:nvSpPr>
            <p:cNvPr id="441" name="Google Shape;441;g3d8b67da081_0_421"/>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g3d8b67da081_0_421"/>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3" name="Google Shape;443;g3d8b67da081_0_421"/>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44" name="Google Shape;444;g3d8b67da081_0_421"/>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5" name="Google Shape;445;g3d8b67da081_0_421"/>
          <p:cNvSpPr txBox="1"/>
          <p:nvPr>
            <p:ph idx="12" type="sldNum"/>
          </p:nvPr>
        </p:nvSpPr>
        <p:spPr>
          <a:xfrm>
            <a:off x="878457" y="9567912"/>
            <a:ext cx="576000" cy="400200"/>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446" name="Google Shape;446;g3d8b67da081_0_421"/>
          <p:cNvSpPr txBox="1"/>
          <p:nvPr>
            <p:ph idx="10" type="dt"/>
          </p:nvPr>
        </p:nvSpPr>
        <p:spPr>
          <a:xfrm>
            <a:off x="3060581" y="9651677"/>
            <a:ext cx="2143800" cy="6603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447" name="Google Shape;447;g3d8b67da081_0_421"/>
          <p:cNvSpPr txBox="1"/>
          <p:nvPr>
            <p:ph idx="11" type="ftr"/>
          </p:nvPr>
        </p:nvSpPr>
        <p:spPr>
          <a:xfrm>
            <a:off x="16105767" y="9653963"/>
            <a:ext cx="1211100" cy="3078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pic>
        <p:nvPicPr>
          <p:cNvPr id="448" name="Google Shape;448;g3d8b67da081_0_421"/>
          <p:cNvPicPr preferRelativeResize="0"/>
          <p:nvPr/>
        </p:nvPicPr>
        <p:blipFill rotWithShape="1">
          <a:blip r:embed="rId3">
            <a:alphaModFix/>
          </a:blip>
          <a:srcRect b="0" l="0" r="0" t="0"/>
          <a:stretch/>
        </p:blipFill>
        <p:spPr>
          <a:xfrm>
            <a:off x="3853975" y="1780010"/>
            <a:ext cx="10580050" cy="5969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5"/>
          <p:cNvSpPr txBox="1"/>
          <p:nvPr/>
        </p:nvSpPr>
        <p:spPr>
          <a:xfrm>
            <a:off x="3060600" y="9629615"/>
            <a:ext cx="463423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Evaluación del modelo: matriz y métricas</a:t>
            </a:r>
            <a:endParaRPr b="0" i="0" sz="2000" u="none" cap="none" strike="noStrike">
              <a:solidFill>
                <a:srgbClr val="000000"/>
              </a:solidFill>
              <a:latin typeface="Arial"/>
              <a:ea typeface="Arial"/>
              <a:cs typeface="Arial"/>
              <a:sym typeface="Arial"/>
            </a:endParaRPr>
          </a:p>
        </p:txBody>
      </p:sp>
      <p:sp>
        <p:nvSpPr>
          <p:cNvPr id="454" name="Google Shape;454;p15"/>
          <p:cNvSpPr txBox="1"/>
          <p:nvPr/>
        </p:nvSpPr>
        <p:spPr>
          <a:xfrm>
            <a:off x="16105787" y="9631901"/>
            <a:ext cx="1210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sp>
        <p:nvSpPr>
          <p:cNvPr id="455" name="Google Shape;455;p15"/>
          <p:cNvSpPr txBox="1"/>
          <p:nvPr/>
        </p:nvSpPr>
        <p:spPr>
          <a:xfrm>
            <a:off x="903857" y="9549542"/>
            <a:ext cx="550545"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15.</a:t>
            </a:r>
            <a:endParaRPr b="0" i="0" sz="2600" u="none" cap="none" strike="noStrike">
              <a:solidFill>
                <a:srgbClr val="000000"/>
              </a:solidFill>
              <a:latin typeface="Arial"/>
              <a:ea typeface="Arial"/>
              <a:cs typeface="Arial"/>
              <a:sym typeface="Arial"/>
            </a:endParaRPr>
          </a:p>
        </p:txBody>
      </p:sp>
      <p:sp>
        <p:nvSpPr>
          <p:cNvPr id="456" name="Google Shape;456;p15"/>
          <p:cNvSpPr txBox="1"/>
          <p:nvPr/>
        </p:nvSpPr>
        <p:spPr>
          <a:xfrm>
            <a:off x="10674870" y="7198908"/>
            <a:ext cx="6167755" cy="939800"/>
          </a:xfrm>
          <a:prstGeom prst="rect">
            <a:avLst/>
          </a:prstGeom>
          <a:noFill/>
          <a:ln>
            <a:noFill/>
          </a:ln>
        </p:spPr>
        <p:txBody>
          <a:bodyPr anchorCtr="0" anchor="t" bIns="0" lIns="0" spcFirstLastPara="1" rIns="0" wrap="square" tIns="12700">
            <a:spAutoFit/>
          </a:bodyPr>
          <a:lstStyle/>
          <a:p>
            <a:pPr indent="-216535" lvl="0" marL="228600" marR="508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matriz revela aciertos y errores: </a:t>
            </a:r>
            <a:r>
              <a:rPr b="1" i="0" lang="en-US" sz="2000" u="none" cap="none" strike="noStrike">
                <a:solidFill>
                  <a:srgbClr val="F2620F"/>
                </a:solidFill>
                <a:latin typeface="Arial"/>
                <a:ea typeface="Arial"/>
                <a:cs typeface="Arial"/>
                <a:sym typeface="Arial"/>
              </a:rPr>
              <a:t>verdaderos positivos</a:t>
            </a:r>
            <a:r>
              <a:rPr b="0" i="0" lang="en-US" sz="2000" u="none" cap="none" strike="noStrike">
                <a:solidFill>
                  <a:srgbClr val="262626"/>
                </a:solidFill>
                <a:latin typeface="Arial"/>
                <a:ea typeface="Arial"/>
                <a:cs typeface="Arial"/>
                <a:sym typeface="Arial"/>
              </a:rPr>
              <a:t>, </a:t>
            </a:r>
            <a:r>
              <a:rPr b="1" i="0" lang="en-US" sz="2000" u="none" cap="none" strike="noStrike">
                <a:solidFill>
                  <a:srgbClr val="F2620F"/>
                </a:solidFill>
                <a:latin typeface="Arial"/>
                <a:ea typeface="Arial"/>
                <a:cs typeface="Arial"/>
                <a:sym typeface="Arial"/>
              </a:rPr>
              <a:t>falsos positivos</a:t>
            </a:r>
            <a:r>
              <a:rPr b="0" i="0" lang="en-US" sz="2000" u="none" cap="none" strike="noStrike">
                <a:solidFill>
                  <a:srgbClr val="262626"/>
                </a:solidFill>
                <a:latin typeface="Arial"/>
                <a:ea typeface="Arial"/>
                <a:cs typeface="Arial"/>
                <a:sym typeface="Arial"/>
              </a:rPr>
              <a:t>, </a:t>
            </a:r>
            <a:r>
              <a:rPr b="1" i="0" lang="en-US" sz="2000" u="none" cap="none" strike="noStrike">
                <a:solidFill>
                  <a:srgbClr val="F2620F"/>
                </a:solidFill>
                <a:latin typeface="Arial"/>
                <a:ea typeface="Arial"/>
                <a:cs typeface="Arial"/>
                <a:sym typeface="Arial"/>
              </a:rPr>
              <a:t>verdaderos negativos </a:t>
            </a:r>
            <a:r>
              <a:rPr b="0" i="0" lang="en-US" sz="2000" u="none" cap="none" strike="noStrike">
                <a:solidFill>
                  <a:srgbClr val="262626"/>
                </a:solidFill>
                <a:latin typeface="Arial"/>
                <a:ea typeface="Arial"/>
                <a:cs typeface="Arial"/>
                <a:sym typeface="Arial"/>
              </a:rPr>
              <a:t>y </a:t>
            </a:r>
            <a:r>
              <a:rPr b="1" i="0" lang="en-US" sz="2000" u="none" cap="none" strike="noStrike">
                <a:solidFill>
                  <a:srgbClr val="F2620F"/>
                </a:solidFill>
                <a:latin typeface="Arial"/>
                <a:ea typeface="Arial"/>
                <a:cs typeface="Arial"/>
                <a:sym typeface="Arial"/>
              </a:rPr>
              <a:t>falsos negativos</a:t>
            </a:r>
            <a:r>
              <a:rPr b="0" i="0" lang="en-US" sz="2000" u="none" cap="none" strike="noStrike">
                <a:solidFill>
                  <a:srgbClr val="262626"/>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57" name="Google Shape;457;p15"/>
          <p:cNvSpPr txBox="1"/>
          <p:nvPr/>
        </p:nvSpPr>
        <p:spPr>
          <a:xfrm>
            <a:off x="3159199" y="7198908"/>
            <a:ext cx="5966460" cy="635000"/>
          </a:xfrm>
          <a:prstGeom prst="rect">
            <a:avLst/>
          </a:prstGeom>
          <a:noFill/>
          <a:ln>
            <a:noFill/>
          </a:ln>
        </p:spPr>
        <p:txBody>
          <a:bodyPr anchorCtr="0" anchor="t" bIns="0" lIns="0" spcFirstLastPara="1" rIns="0" wrap="square" tIns="12700">
            <a:spAutoFit/>
          </a:bodyPr>
          <a:lstStyle/>
          <a:p>
            <a:pPr indent="-216535" lvl="0" marL="228600" marR="508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El parámetro threshold permite modiﬁcar el punto de corte para convertir probabilidades en clases.</a:t>
            </a:r>
            <a:endParaRPr b="0" i="0" sz="2000" u="none" cap="none" strike="noStrike">
              <a:solidFill>
                <a:srgbClr val="000000"/>
              </a:solidFill>
              <a:latin typeface="Arial"/>
              <a:ea typeface="Arial"/>
              <a:cs typeface="Arial"/>
              <a:sym typeface="Arial"/>
            </a:endParaRPr>
          </a:p>
        </p:txBody>
      </p:sp>
      <p:sp>
        <p:nvSpPr>
          <p:cNvPr id="458" name="Google Shape;458;p15"/>
          <p:cNvSpPr txBox="1"/>
          <p:nvPr/>
        </p:nvSpPr>
        <p:spPr>
          <a:xfrm>
            <a:off x="10674870" y="4836313"/>
            <a:ext cx="5511165" cy="635000"/>
          </a:xfrm>
          <a:prstGeom prst="rect">
            <a:avLst/>
          </a:prstGeom>
          <a:noFill/>
          <a:ln>
            <a:noFill/>
          </a:ln>
        </p:spPr>
        <p:txBody>
          <a:bodyPr anchorCtr="0" anchor="t" bIns="0" lIns="0" spcFirstLastPara="1" rIns="0" wrap="square" tIns="12700">
            <a:spAutoFit/>
          </a:bodyPr>
          <a:lstStyle/>
          <a:p>
            <a:pPr indent="-216535" lvl="0" marL="228600" marR="508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matriz se genera sobre datos reservados para evaluación, garantizando una medición objetiva.</a:t>
            </a:r>
            <a:endParaRPr b="0" i="0" sz="2000" u="none" cap="none" strike="noStrike">
              <a:solidFill>
                <a:srgbClr val="000000"/>
              </a:solidFill>
              <a:latin typeface="Arial"/>
              <a:ea typeface="Arial"/>
              <a:cs typeface="Arial"/>
              <a:sym typeface="Arial"/>
            </a:endParaRPr>
          </a:p>
        </p:txBody>
      </p:sp>
      <p:sp>
        <p:nvSpPr>
          <p:cNvPr id="459" name="Google Shape;459;p15"/>
          <p:cNvSpPr txBox="1"/>
          <p:nvPr/>
        </p:nvSpPr>
        <p:spPr>
          <a:xfrm>
            <a:off x="3159199" y="4836313"/>
            <a:ext cx="5527040" cy="939800"/>
          </a:xfrm>
          <a:prstGeom prst="rect">
            <a:avLst/>
          </a:prstGeom>
          <a:noFill/>
          <a:ln>
            <a:noFill/>
          </a:ln>
        </p:spPr>
        <p:txBody>
          <a:bodyPr anchorCtr="0" anchor="t" bIns="0" lIns="0" spcFirstLastPara="1" rIns="0" wrap="square" tIns="12700">
            <a:spAutoFit/>
          </a:bodyPr>
          <a:lstStyle/>
          <a:p>
            <a:pPr indent="-216535" lvl="0" marL="228600" marR="508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Se utiliza la función ML.CONFUSION_MATRIX en BigQuery ML para analizar el desempeño del clasiﬁcador.</a:t>
            </a:r>
            <a:endParaRPr b="0" i="0" sz="2000" u="none" cap="none" strike="noStrike">
              <a:solidFill>
                <a:srgbClr val="000000"/>
              </a:solidFill>
              <a:latin typeface="Arial"/>
              <a:ea typeface="Arial"/>
              <a:cs typeface="Arial"/>
              <a:sym typeface="Arial"/>
            </a:endParaRPr>
          </a:p>
        </p:txBody>
      </p:sp>
      <p:sp>
        <p:nvSpPr>
          <p:cNvPr descr="$PPTXTitle" id="460" name="Google Shape;460;p15"/>
          <p:cNvSpPr txBox="1"/>
          <p:nvPr>
            <p:ph type="title"/>
          </p:nvPr>
        </p:nvSpPr>
        <p:spPr>
          <a:xfrm>
            <a:off x="3031356" y="1550978"/>
            <a:ext cx="13408025" cy="2036455"/>
          </a:xfrm>
          <a:prstGeom prst="rect">
            <a:avLst/>
          </a:prstGeom>
          <a:noFill/>
          <a:ln>
            <a:noFill/>
          </a:ln>
        </p:spPr>
        <p:txBody>
          <a:bodyPr anchorCtr="0" anchor="t" bIns="0" lIns="0" spcFirstLastPara="1" rIns="0" wrap="square" tIns="111750">
            <a:spAutoFit/>
          </a:bodyPr>
          <a:lstStyle/>
          <a:p>
            <a:pPr indent="0" lvl="0" marL="12700" marR="5080" rtl="0" algn="l">
              <a:lnSpc>
                <a:spcPct val="110000"/>
              </a:lnSpc>
              <a:spcBef>
                <a:spcPts val="0"/>
              </a:spcBef>
              <a:spcAft>
                <a:spcPts val="0"/>
              </a:spcAft>
              <a:buSzPts val="1400"/>
              <a:buNone/>
            </a:pPr>
            <a:r>
              <a:rPr lang="en-US" sz="6800"/>
              <a:t>Obteniendo la matriz en BigQuery          ML</a:t>
            </a:r>
            <a:endParaRPr sz="6800"/>
          </a:p>
        </p:txBody>
      </p:sp>
      <p:grpSp>
        <p:nvGrpSpPr>
          <p:cNvPr id="461" name="Google Shape;461;p15"/>
          <p:cNvGrpSpPr/>
          <p:nvPr/>
        </p:nvGrpSpPr>
        <p:grpSpPr>
          <a:xfrm>
            <a:off x="989545" y="1692474"/>
            <a:ext cx="845819" cy="846001"/>
            <a:chOff x="989545" y="1692474"/>
            <a:chExt cx="845819" cy="846001"/>
          </a:xfrm>
        </p:grpSpPr>
        <p:sp>
          <p:nvSpPr>
            <p:cNvPr id="462" name="Google Shape;462;p15"/>
            <p:cNvSpPr/>
            <p:nvPr/>
          </p:nvSpPr>
          <p:spPr>
            <a:xfrm>
              <a:off x="989605" y="169249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3" name="Google Shape;463;p15"/>
            <p:cNvSpPr/>
            <p:nvPr/>
          </p:nvSpPr>
          <p:spPr>
            <a:xfrm>
              <a:off x="1287851" y="1692474"/>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4" name="Google Shape;464;p15"/>
            <p:cNvSpPr/>
            <p:nvPr/>
          </p:nvSpPr>
          <p:spPr>
            <a:xfrm>
              <a:off x="989545" y="1843150"/>
              <a:ext cx="845819" cy="695325"/>
            </a:xfrm>
            <a:custGeom>
              <a:rect b="b" l="l" r="r" t="t"/>
              <a:pathLst>
                <a:path extrusionOk="0" h="695325" w="845819">
                  <a:moveTo>
                    <a:pt x="845553" y="518782"/>
                  </a:moveTo>
                  <a:lnTo>
                    <a:pt x="839546" y="473151"/>
                  </a:lnTo>
                  <a:lnTo>
                    <a:pt x="821931" y="430618"/>
                  </a:lnTo>
                  <a:lnTo>
                    <a:pt x="793902" y="394106"/>
                  </a:lnTo>
                  <a:lnTo>
                    <a:pt x="399796" y="0"/>
                  </a:lnTo>
                  <a:lnTo>
                    <a:pt x="150710" y="249085"/>
                  </a:lnTo>
                  <a:lnTo>
                    <a:pt x="173697" y="272084"/>
                  </a:lnTo>
                  <a:lnTo>
                    <a:pt x="51650" y="394131"/>
                  </a:lnTo>
                  <a:lnTo>
                    <a:pt x="23622" y="430644"/>
                  </a:lnTo>
                  <a:lnTo>
                    <a:pt x="6007" y="473176"/>
                  </a:lnTo>
                  <a:lnTo>
                    <a:pt x="0" y="518807"/>
                  </a:lnTo>
                  <a:lnTo>
                    <a:pt x="368" y="530352"/>
                  </a:lnTo>
                  <a:lnTo>
                    <a:pt x="9359" y="575500"/>
                  </a:lnTo>
                  <a:lnTo>
                    <a:pt x="29718" y="616775"/>
                  </a:lnTo>
                  <a:lnTo>
                    <a:pt x="59855" y="651167"/>
                  </a:lnTo>
                  <a:lnTo>
                    <a:pt x="98069" y="676681"/>
                  </a:lnTo>
                  <a:lnTo>
                    <a:pt x="141655" y="691476"/>
                  </a:lnTo>
                  <a:lnTo>
                    <a:pt x="176060" y="694867"/>
                  </a:lnTo>
                  <a:lnTo>
                    <a:pt x="187591" y="694486"/>
                  </a:lnTo>
                  <a:lnTo>
                    <a:pt x="232740" y="685507"/>
                  </a:lnTo>
                  <a:lnTo>
                    <a:pt x="274027" y="665149"/>
                  </a:lnTo>
                  <a:lnTo>
                    <a:pt x="422783" y="521169"/>
                  </a:lnTo>
                  <a:lnTo>
                    <a:pt x="544817" y="643191"/>
                  </a:lnTo>
                  <a:lnTo>
                    <a:pt x="581329" y="671220"/>
                  </a:lnTo>
                  <a:lnTo>
                    <a:pt x="623862" y="688835"/>
                  </a:lnTo>
                  <a:lnTo>
                    <a:pt x="669493" y="694842"/>
                  </a:lnTo>
                  <a:lnTo>
                    <a:pt x="681024" y="694461"/>
                  </a:lnTo>
                  <a:lnTo>
                    <a:pt x="726173" y="685482"/>
                  </a:lnTo>
                  <a:lnTo>
                    <a:pt x="767448" y="665124"/>
                  </a:lnTo>
                  <a:lnTo>
                    <a:pt x="801852" y="634987"/>
                  </a:lnTo>
                  <a:lnTo>
                    <a:pt x="827366" y="596773"/>
                  </a:lnTo>
                  <a:lnTo>
                    <a:pt x="842162" y="553186"/>
                  </a:lnTo>
                  <a:lnTo>
                    <a:pt x="845172" y="530326"/>
                  </a:lnTo>
                  <a:lnTo>
                    <a:pt x="845553"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65" name="Google Shape;465;p15"/>
          <p:cNvGrpSpPr/>
          <p:nvPr/>
        </p:nvGrpSpPr>
        <p:grpSpPr>
          <a:xfrm>
            <a:off x="0" y="1"/>
            <a:ext cx="14536419" cy="948701"/>
            <a:chOff x="0" y="1"/>
            <a:chExt cx="14536419" cy="948701"/>
          </a:xfrm>
        </p:grpSpPr>
        <p:sp>
          <p:nvSpPr>
            <p:cNvPr id="466" name="Google Shape;466;p15"/>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15"/>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8" name="Google Shape;468;p15"/>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69" name="Google Shape;469;p15"/>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0" name="Google Shape;470;p15"/>
          <p:cNvSpPr/>
          <p:nvPr/>
        </p:nvSpPr>
        <p:spPr>
          <a:xfrm>
            <a:off x="16817646" y="6414710"/>
            <a:ext cx="541020" cy="591185"/>
          </a:xfrm>
          <a:custGeom>
            <a:rect b="b" l="l" r="r" t="t"/>
            <a:pathLst>
              <a:path extrusionOk="0" h="591184" w="541019">
                <a:moveTo>
                  <a:pt x="270332" y="0"/>
                </a:moveTo>
                <a:lnTo>
                  <a:pt x="226485" y="3865"/>
                </a:lnTo>
                <a:lnTo>
                  <a:pt x="184890" y="15055"/>
                </a:lnTo>
                <a:lnTo>
                  <a:pt x="146104" y="32963"/>
                </a:lnTo>
                <a:lnTo>
                  <a:pt x="110682" y="56980"/>
                </a:lnTo>
                <a:lnTo>
                  <a:pt x="79182" y="86499"/>
                </a:lnTo>
                <a:lnTo>
                  <a:pt x="52161" y="120912"/>
                </a:lnTo>
                <a:lnTo>
                  <a:pt x="30176" y="159609"/>
                </a:lnTo>
                <a:lnTo>
                  <a:pt x="13782" y="201985"/>
                </a:lnTo>
                <a:lnTo>
                  <a:pt x="3538" y="247431"/>
                </a:lnTo>
                <a:lnTo>
                  <a:pt x="0" y="295338"/>
                </a:lnTo>
                <a:lnTo>
                  <a:pt x="3538" y="343245"/>
                </a:lnTo>
                <a:lnTo>
                  <a:pt x="13782" y="388691"/>
                </a:lnTo>
                <a:lnTo>
                  <a:pt x="30176" y="431067"/>
                </a:lnTo>
                <a:lnTo>
                  <a:pt x="52161" y="469764"/>
                </a:lnTo>
                <a:lnTo>
                  <a:pt x="79182" y="504177"/>
                </a:lnTo>
                <a:lnTo>
                  <a:pt x="110682" y="533696"/>
                </a:lnTo>
                <a:lnTo>
                  <a:pt x="146104" y="557713"/>
                </a:lnTo>
                <a:lnTo>
                  <a:pt x="184890" y="575621"/>
                </a:lnTo>
                <a:lnTo>
                  <a:pt x="226485" y="586811"/>
                </a:lnTo>
                <a:lnTo>
                  <a:pt x="270332" y="590676"/>
                </a:lnTo>
                <a:lnTo>
                  <a:pt x="314181" y="586811"/>
                </a:lnTo>
                <a:lnTo>
                  <a:pt x="355778" y="575621"/>
                </a:lnTo>
                <a:lnTo>
                  <a:pt x="394565" y="557713"/>
                </a:lnTo>
                <a:lnTo>
                  <a:pt x="429987" y="533696"/>
                </a:lnTo>
                <a:lnTo>
                  <a:pt x="461486" y="504177"/>
                </a:lnTo>
                <a:lnTo>
                  <a:pt x="488506" y="469764"/>
                </a:lnTo>
                <a:lnTo>
                  <a:pt x="510490" y="431067"/>
                </a:lnTo>
                <a:lnTo>
                  <a:pt x="526882" y="388691"/>
                </a:lnTo>
                <a:lnTo>
                  <a:pt x="537126" y="343245"/>
                </a:lnTo>
                <a:lnTo>
                  <a:pt x="540664" y="295338"/>
                </a:lnTo>
                <a:lnTo>
                  <a:pt x="537126" y="247431"/>
                </a:lnTo>
                <a:lnTo>
                  <a:pt x="526882" y="201985"/>
                </a:lnTo>
                <a:lnTo>
                  <a:pt x="510490" y="159609"/>
                </a:lnTo>
                <a:lnTo>
                  <a:pt x="488506" y="120912"/>
                </a:lnTo>
                <a:lnTo>
                  <a:pt x="461486" y="86499"/>
                </a:lnTo>
                <a:lnTo>
                  <a:pt x="429987" y="56980"/>
                </a:lnTo>
                <a:lnTo>
                  <a:pt x="394565" y="32963"/>
                </a:lnTo>
                <a:lnTo>
                  <a:pt x="355778" y="15055"/>
                </a:lnTo>
                <a:lnTo>
                  <a:pt x="314181" y="3865"/>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1" name="Google Shape;471;p15"/>
          <p:cNvSpPr/>
          <p:nvPr/>
        </p:nvSpPr>
        <p:spPr>
          <a:xfrm>
            <a:off x="9301975" y="6414710"/>
            <a:ext cx="541020" cy="591185"/>
          </a:xfrm>
          <a:custGeom>
            <a:rect b="b" l="l" r="r" t="t"/>
            <a:pathLst>
              <a:path extrusionOk="0" h="591184" w="541020">
                <a:moveTo>
                  <a:pt x="270332" y="0"/>
                </a:moveTo>
                <a:lnTo>
                  <a:pt x="226485" y="3865"/>
                </a:lnTo>
                <a:lnTo>
                  <a:pt x="184890" y="15055"/>
                </a:lnTo>
                <a:lnTo>
                  <a:pt x="146104" y="32963"/>
                </a:lnTo>
                <a:lnTo>
                  <a:pt x="110682" y="56980"/>
                </a:lnTo>
                <a:lnTo>
                  <a:pt x="79182" y="86499"/>
                </a:lnTo>
                <a:lnTo>
                  <a:pt x="52161" y="120912"/>
                </a:lnTo>
                <a:lnTo>
                  <a:pt x="30176" y="159609"/>
                </a:lnTo>
                <a:lnTo>
                  <a:pt x="13782" y="201985"/>
                </a:lnTo>
                <a:lnTo>
                  <a:pt x="3538" y="247431"/>
                </a:lnTo>
                <a:lnTo>
                  <a:pt x="0" y="295338"/>
                </a:lnTo>
                <a:lnTo>
                  <a:pt x="3538" y="343245"/>
                </a:lnTo>
                <a:lnTo>
                  <a:pt x="13782" y="388691"/>
                </a:lnTo>
                <a:lnTo>
                  <a:pt x="30176" y="431067"/>
                </a:lnTo>
                <a:lnTo>
                  <a:pt x="52161" y="469764"/>
                </a:lnTo>
                <a:lnTo>
                  <a:pt x="79182" y="504177"/>
                </a:lnTo>
                <a:lnTo>
                  <a:pt x="110682" y="533696"/>
                </a:lnTo>
                <a:lnTo>
                  <a:pt x="146104" y="557713"/>
                </a:lnTo>
                <a:lnTo>
                  <a:pt x="184890" y="575621"/>
                </a:lnTo>
                <a:lnTo>
                  <a:pt x="226485" y="586811"/>
                </a:lnTo>
                <a:lnTo>
                  <a:pt x="270332" y="590676"/>
                </a:lnTo>
                <a:lnTo>
                  <a:pt x="314181" y="586811"/>
                </a:lnTo>
                <a:lnTo>
                  <a:pt x="355778" y="575621"/>
                </a:lnTo>
                <a:lnTo>
                  <a:pt x="394565" y="557713"/>
                </a:lnTo>
                <a:lnTo>
                  <a:pt x="429987" y="533696"/>
                </a:lnTo>
                <a:lnTo>
                  <a:pt x="461486" y="504177"/>
                </a:lnTo>
                <a:lnTo>
                  <a:pt x="488506" y="469764"/>
                </a:lnTo>
                <a:lnTo>
                  <a:pt x="510490" y="431067"/>
                </a:lnTo>
                <a:lnTo>
                  <a:pt x="526882" y="388691"/>
                </a:lnTo>
                <a:lnTo>
                  <a:pt x="537126" y="343245"/>
                </a:lnTo>
                <a:lnTo>
                  <a:pt x="540664" y="295338"/>
                </a:lnTo>
                <a:lnTo>
                  <a:pt x="537126" y="247431"/>
                </a:lnTo>
                <a:lnTo>
                  <a:pt x="526882" y="201985"/>
                </a:lnTo>
                <a:lnTo>
                  <a:pt x="510490" y="159609"/>
                </a:lnTo>
                <a:lnTo>
                  <a:pt x="488506" y="120912"/>
                </a:lnTo>
                <a:lnTo>
                  <a:pt x="461486" y="86499"/>
                </a:lnTo>
                <a:lnTo>
                  <a:pt x="429987" y="56980"/>
                </a:lnTo>
                <a:lnTo>
                  <a:pt x="394565" y="32963"/>
                </a:lnTo>
                <a:lnTo>
                  <a:pt x="355778" y="15055"/>
                </a:lnTo>
                <a:lnTo>
                  <a:pt x="314181" y="3865"/>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 name="Google Shape;472;p15"/>
          <p:cNvSpPr/>
          <p:nvPr/>
        </p:nvSpPr>
        <p:spPr>
          <a:xfrm>
            <a:off x="16817646" y="4052116"/>
            <a:ext cx="541020" cy="591185"/>
          </a:xfrm>
          <a:custGeom>
            <a:rect b="b" l="l" r="r" t="t"/>
            <a:pathLst>
              <a:path extrusionOk="0" h="591185" w="541019">
                <a:moveTo>
                  <a:pt x="270332" y="0"/>
                </a:moveTo>
                <a:lnTo>
                  <a:pt x="226485" y="3865"/>
                </a:lnTo>
                <a:lnTo>
                  <a:pt x="184890" y="15055"/>
                </a:lnTo>
                <a:lnTo>
                  <a:pt x="146104" y="32963"/>
                </a:lnTo>
                <a:lnTo>
                  <a:pt x="110682" y="56980"/>
                </a:lnTo>
                <a:lnTo>
                  <a:pt x="79182" y="86499"/>
                </a:lnTo>
                <a:lnTo>
                  <a:pt x="52161" y="120912"/>
                </a:lnTo>
                <a:lnTo>
                  <a:pt x="30176" y="159609"/>
                </a:lnTo>
                <a:lnTo>
                  <a:pt x="13782" y="201985"/>
                </a:lnTo>
                <a:lnTo>
                  <a:pt x="3538" y="247431"/>
                </a:lnTo>
                <a:lnTo>
                  <a:pt x="0" y="295338"/>
                </a:lnTo>
                <a:lnTo>
                  <a:pt x="3538" y="343245"/>
                </a:lnTo>
                <a:lnTo>
                  <a:pt x="13782" y="388691"/>
                </a:lnTo>
                <a:lnTo>
                  <a:pt x="30176" y="431067"/>
                </a:lnTo>
                <a:lnTo>
                  <a:pt x="52161" y="469764"/>
                </a:lnTo>
                <a:lnTo>
                  <a:pt x="79182" y="504177"/>
                </a:lnTo>
                <a:lnTo>
                  <a:pt x="110682" y="533696"/>
                </a:lnTo>
                <a:lnTo>
                  <a:pt x="146104" y="557713"/>
                </a:lnTo>
                <a:lnTo>
                  <a:pt x="184890" y="575621"/>
                </a:lnTo>
                <a:lnTo>
                  <a:pt x="226485" y="586811"/>
                </a:lnTo>
                <a:lnTo>
                  <a:pt x="270332" y="590676"/>
                </a:lnTo>
                <a:lnTo>
                  <a:pt x="314181" y="586811"/>
                </a:lnTo>
                <a:lnTo>
                  <a:pt x="355778" y="575621"/>
                </a:lnTo>
                <a:lnTo>
                  <a:pt x="394565" y="557713"/>
                </a:lnTo>
                <a:lnTo>
                  <a:pt x="429987" y="533696"/>
                </a:lnTo>
                <a:lnTo>
                  <a:pt x="461486" y="504177"/>
                </a:lnTo>
                <a:lnTo>
                  <a:pt x="488506" y="469764"/>
                </a:lnTo>
                <a:lnTo>
                  <a:pt x="510490" y="431067"/>
                </a:lnTo>
                <a:lnTo>
                  <a:pt x="526882" y="388691"/>
                </a:lnTo>
                <a:lnTo>
                  <a:pt x="537126" y="343245"/>
                </a:lnTo>
                <a:lnTo>
                  <a:pt x="540664" y="295338"/>
                </a:lnTo>
                <a:lnTo>
                  <a:pt x="537126" y="247431"/>
                </a:lnTo>
                <a:lnTo>
                  <a:pt x="526882" y="201985"/>
                </a:lnTo>
                <a:lnTo>
                  <a:pt x="510490" y="159609"/>
                </a:lnTo>
                <a:lnTo>
                  <a:pt x="488506" y="120912"/>
                </a:lnTo>
                <a:lnTo>
                  <a:pt x="461486" y="86499"/>
                </a:lnTo>
                <a:lnTo>
                  <a:pt x="429987" y="56980"/>
                </a:lnTo>
                <a:lnTo>
                  <a:pt x="394565" y="32963"/>
                </a:lnTo>
                <a:lnTo>
                  <a:pt x="355778" y="15055"/>
                </a:lnTo>
                <a:lnTo>
                  <a:pt x="314181" y="3865"/>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3" name="Google Shape;473;p15"/>
          <p:cNvSpPr/>
          <p:nvPr/>
        </p:nvSpPr>
        <p:spPr>
          <a:xfrm>
            <a:off x="9301975" y="4052116"/>
            <a:ext cx="541020" cy="591185"/>
          </a:xfrm>
          <a:custGeom>
            <a:rect b="b" l="l" r="r" t="t"/>
            <a:pathLst>
              <a:path extrusionOk="0" h="591185" w="541020">
                <a:moveTo>
                  <a:pt x="270332" y="0"/>
                </a:moveTo>
                <a:lnTo>
                  <a:pt x="226485" y="3865"/>
                </a:lnTo>
                <a:lnTo>
                  <a:pt x="184890" y="15055"/>
                </a:lnTo>
                <a:lnTo>
                  <a:pt x="146104" y="32963"/>
                </a:lnTo>
                <a:lnTo>
                  <a:pt x="110682" y="56980"/>
                </a:lnTo>
                <a:lnTo>
                  <a:pt x="79182" y="86499"/>
                </a:lnTo>
                <a:lnTo>
                  <a:pt x="52161" y="120912"/>
                </a:lnTo>
                <a:lnTo>
                  <a:pt x="30176" y="159609"/>
                </a:lnTo>
                <a:lnTo>
                  <a:pt x="13782" y="201985"/>
                </a:lnTo>
                <a:lnTo>
                  <a:pt x="3538" y="247431"/>
                </a:lnTo>
                <a:lnTo>
                  <a:pt x="0" y="295338"/>
                </a:lnTo>
                <a:lnTo>
                  <a:pt x="3538" y="343245"/>
                </a:lnTo>
                <a:lnTo>
                  <a:pt x="13782" y="388691"/>
                </a:lnTo>
                <a:lnTo>
                  <a:pt x="30176" y="431067"/>
                </a:lnTo>
                <a:lnTo>
                  <a:pt x="52161" y="469764"/>
                </a:lnTo>
                <a:lnTo>
                  <a:pt x="79182" y="504177"/>
                </a:lnTo>
                <a:lnTo>
                  <a:pt x="110682" y="533696"/>
                </a:lnTo>
                <a:lnTo>
                  <a:pt x="146104" y="557713"/>
                </a:lnTo>
                <a:lnTo>
                  <a:pt x="184890" y="575621"/>
                </a:lnTo>
                <a:lnTo>
                  <a:pt x="226485" y="586811"/>
                </a:lnTo>
                <a:lnTo>
                  <a:pt x="270332" y="590676"/>
                </a:lnTo>
                <a:lnTo>
                  <a:pt x="314181" y="586811"/>
                </a:lnTo>
                <a:lnTo>
                  <a:pt x="355778" y="575621"/>
                </a:lnTo>
                <a:lnTo>
                  <a:pt x="394565" y="557713"/>
                </a:lnTo>
                <a:lnTo>
                  <a:pt x="429987" y="533696"/>
                </a:lnTo>
                <a:lnTo>
                  <a:pt x="461486" y="504177"/>
                </a:lnTo>
                <a:lnTo>
                  <a:pt x="488506" y="469764"/>
                </a:lnTo>
                <a:lnTo>
                  <a:pt x="510490" y="431067"/>
                </a:lnTo>
                <a:lnTo>
                  <a:pt x="526882" y="388691"/>
                </a:lnTo>
                <a:lnTo>
                  <a:pt x="537126" y="343245"/>
                </a:lnTo>
                <a:lnTo>
                  <a:pt x="540664" y="295338"/>
                </a:lnTo>
                <a:lnTo>
                  <a:pt x="537126" y="247431"/>
                </a:lnTo>
                <a:lnTo>
                  <a:pt x="526882" y="201985"/>
                </a:lnTo>
                <a:lnTo>
                  <a:pt x="510490" y="159609"/>
                </a:lnTo>
                <a:lnTo>
                  <a:pt x="488506" y="120912"/>
                </a:lnTo>
                <a:lnTo>
                  <a:pt x="461486" y="86499"/>
                </a:lnTo>
                <a:lnTo>
                  <a:pt x="429987" y="56980"/>
                </a:lnTo>
                <a:lnTo>
                  <a:pt x="394565" y="32963"/>
                </a:lnTo>
                <a:lnTo>
                  <a:pt x="355778" y="15055"/>
                </a:lnTo>
                <a:lnTo>
                  <a:pt x="314181" y="3865"/>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4" name="Google Shape;474;p15"/>
          <p:cNvSpPr txBox="1"/>
          <p:nvPr/>
        </p:nvSpPr>
        <p:spPr>
          <a:xfrm>
            <a:off x="10559732" y="6414706"/>
            <a:ext cx="6528434" cy="441788"/>
          </a:xfrm>
          <a:prstGeom prst="rect">
            <a:avLst/>
          </a:prstGeom>
          <a:solidFill>
            <a:srgbClr val="F2620F"/>
          </a:solidFill>
          <a:ln>
            <a:noFill/>
          </a:ln>
        </p:spPr>
        <p:txBody>
          <a:bodyPr anchorCtr="0" anchor="t" bIns="0" lIns="0" spcFirstLastPara="1" rIns="0" wrap="square" tIns="41275">
            <a:spAutoFit/>
          </a:bodyPr>
          <a:lstStyle/>
          <a:p>
            <a:pPr indent="0" lvl="0" marL="127635" marR="0"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Interpretación de resultados</a:t>
            </a:r>
            <a:endParaRPr b="0" i="0" sz="2600" u="none" cap="none" strike="noStrike">
              <a:solidFill>
                <a:srgbClr val="000000"/>
              </a:solidFill>
              <a:latin typeface="Arial"/>
              <a:ea typeface="Arial"/>
              <a:cs typeface="Arial"/>
              <a:sym typeface="Arial"/>
            </a:endParaRPr>
          </a:p>
        </p:txBody>
      </p:sp>
      <p:sp>
        <p:nvSpPr>
          <p:cNvPr id="475" name="Google Shape;475;p15"/>
          <p:cNvSpPr txBox="1"/>
          <p:nvPr/>
        </p:nvSpPr>
        <p:spPr>
          <a:xfrm>
            <a:off x="3044050" y="6414706"/>
            <a:ext cx="6528434" cy="441788"/>
          </a:xfrm>
          <a:prstGeom prst="rect">
            <a:avLst/>
          </a:prstGeom>
          <a:solidFill>
            <a:srgbClr val="F2620F"/>
          </a:solidFill>
          <a:ln>
            <a:noFill/>
          </a:ln>
        </p:spPr>
        <p:txBody>
          <a:bodyPr anchorCtr="0" anchor="t" bIns="0" lIns="0" spcFirstLastPara="1" rIns="0" wrap="square" tIns="41275">
            <a:spAutoFit/>
          </a:bodyPr>
          <a:lstStyle/>
          <a:p>
            <a:pPr indent="0" lvl="0" marL="127635" marR="0"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Ajuste del umbral de decisión</a:t>
            </a:r>
            <a:endParaRPr b="0" i="0" sz="2600" u="none" cap="none" strike="noStrike">
              <a:solidFill>
                <a:srgbClr val="000000"/>
              </a:solidFill>
              <a:latin typeface="Arial"/>
              <a:ea typeface="Arial"/>
              <a:cs typeface="Arial"/>
              <a:sym typeface="Arial"/>
            </a:endParaRPr>
          </a:p>
        </p:txBody>
      </p:sp>
      <p:sp>
        <p:nvSpPr>
          <p:cNvPr id="476" name="Google Shape;476;p15"/>
          <p:cNvSpPr txBox="1"/>
          <p:nvPr/>
        </p:nvSpPr>
        <p:spPr>
          <a:xfrm>
            <a:off x="10559732" y="4052112"/>
            <a:ext cx="6528434" cy="441788"/>
          </a:xfrm>
          <a:prstGeom prst="rect">
            <a:avLst/>
          </a:prstGeom>
          <a:solidFill>
            <a:srgbClr val="F2620F"/>
          </a:solidFill>
          <a:ln>
            <a:noFill/>
          </a:ln>
        </p:spPr>
        <p:txBody>
          <a:bodyPr anchorCtr="0" anchor="t" bIns="0" lIns="0" spcFirstLastPara="1" rIns="0" wrap="square" tIns="41275">
            <a:spAutoFit/>
          </a:bodyPr>
          <a:lstStyle/>
          <a:p>
            <a:pPr indent="0" lvl="0" marL="127635" marR="0"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Evaluación en conjunto EVAL</a:t>
            </a:r>
            <a:endParaRPr b="0" i="0" sz="2600" u="none" cap="none" strike="noStrike">
              <a:solidFill>
                <a:srgbClr val="000000"/>
              </a:solidFill>
              <a:latin typeface="Arial"/>
              <a:ea typeface="Arial"/>
              <a:cs typeface="Arial"/>
              <a:sym typeface="Arial"/>
            </a:endParaRPr>
          </a:p>
        </p:txBody>
      </p:sp>
      <p:sp>
        <p:nvSpPr>
          <p:cNvPr id="477" name="Google Shape;477;p15"/>
          <p:cNvSpPr txBox="1"/>
          <p:nvPr/>
        </p:nvSpPr>
        <p:spPr>
          <a:xfrm>
            <a:off x="3044050" y="4052112"/>
            <a:ext cx="6528434" cy="441788"/>
          </a:xfrm>
          <a:prstGeom prst="rect">
            <a:avLst/>
          </a:prstGeom>
          <a:solidFill>
            <a:srgbClr val="F2620F"/>
          </a:solidFill>
          <a:ln>
            <a:noFill/>
          </a:ln>
        </p:spPr>
        <p:txBody>
          <a:bodyPr anchorCtr="0" anchor="t" bIns="0" lIns="0" spcFirstLastPara="1" rIns="0" wrap="square" tIns="41275">
            <a:spAutoFit/>
          </a:bodyPr>
          <a:lstStyle/>
          <a:p>
            <a:pPr indent="0" lvl="0" marL="127635" marR="0"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Obtención de la matriz de confusión</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16"/>
          <p:cNvSpPr txBox="1"/>
          <p:nvPr/>
        </p:nvSpPr>
        <p:spPr>
          <a:xfrm>
            <a:off x="903857" y="9549007"/>
            <a:ext cx="550545"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16.</a:t>
            </a:r>
            <a:endParaRPr b="0" i="0" sz="2600" u="none" cap="none" strike="noStrike">
              <a:solidFill>
                <a:srgbClr val="000000"/>
              </a:solidFill>
              <a:latin typeface="Arial"/>
              <a:ea typeface="Arial"/>
              <a:cs typeface="Arial"/>
              <a:sym typeface="Arial"/>
            </a:endParaRPr>
          </a:p>
        </p:txBody>
      </p:sp>
      <p:sp>
        <p:nvSpPr>
          <p:cNvPr id="483" name="Google Shape;483;p16"/>
          <p:cNvSpPr txBox="1"/>
          <p:nvPr/>
        </p:nvSpPr>
        <p:spPr>
          <a:xfrm>
            <a:off x="3060600" y="9629080"/>
            <a:ext cx="214376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JAVIER ANDRÉS V.</a:t>
            </a:r>
            <a:endParaRPr b="0" i="0" sz="2000" u="none" cap="none" strike="noStrike">
              <a:solidFill>
                <a:srgbClr val="000000"/>
              </a:solidFill>
              <a:latin typeface="Arial"/>
              <a:ea typeface="Arial"/>
              <a:cs typeface="Arial"/>
              <a:sym typeface="Arial"/>
            </a:endParaRPr>
          </a:p>
        </p:txBody>
      </p:sp>
      <p:sp>
        <p:nvSpPr>
          <p:cNvPr id="484" name="Google Shape;484;p16"/>
          <p:cNvSpPr txBox="1"/>
          <p:nvPr/>
        </p:nvSpPr>
        <p:spPr>
          <a:xfrm>
            <a:off x="16105787" y="9631366"/>
            <a:ext cx="1210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sp>
        <p:nvSpPr>
          <p:cNvPr id="485" name="Google Shape;485;p16"/>
          <p:cNvSpPr txBox="1"/>
          <p:nvPr/>
        </p:nvSpPr>
        <p:spPr>
          <a:xfrm>
            <a:off x="3033886" y="3796327"/>
            <a:ext cx="6358890" cy="4753610"/>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¿Qué mide cada métrica?</a:t>
            </a:r>
            <a:endParaRPr b="0" i="0" sz="2300" u="none" cap="none" strike="noStrike">
              <a:solidFill>
                <a:srgbClr val="000000"/>
              </a:solidFill>
              <a:latin typeface="Arial"/>
              <a:ea typeface="Arial"/>
              <a:cs typeface="Arial"/>
              <a:sym typeface="Arial"/>
            </a:endParaRPr>
          </a:p>
          <a:p>
            <a:pPr indent="-192405" lvl="0" marL="204470" marR="263525"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Accuracy: proporción de predicciones correctas sobre el                                                                    	total.</a:t>
            </a:r>
            <a:endParaRPr b="0" i="0" sz="1750" u="none" cap="none" strike="noStrike">
              <a:solidFill>
                <a:srgbClr val="000000"/>
              </a:solidFill>
              <a:latin typeface="Arial"/>
              <a:ea typeface="Arial"/>
              <a:cs typeface="Arial"/>
              <a:sym typeface="Arial"/>
            </a:endParaRPr>
          </a:p>
          <a:p>
            <a:pPr indent="-192405" lvl="0" marL="204470" marR="6350" rtl="0" algn="l">
              <a:lnSpc>
                <a:spcPct val="102200"/>
              </a:lnSpc>
              <a:spcBef>
                <a:spcPts val="44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Precision: de los casos predichos como positivos, ¿cuántos                                                                    	realmente lo son?</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Recall: de los positivos reales, ¿cuántos detecta el modelo?</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F1-score: equilibrio entre </a:t>
            </a:r>
            <a:r>
              <a:rPr b="1" i="0" lang="en-US" sz="1750" u="none" cap="none" strike="noStrike">
                <a:solidFill>
                  <a:srgbClr val="F2620F"/>
                </a:solidFill>
                <a:latin typeface="Arial"/>
                <a:ea typeface="Arial"/>
                <a:cs typeface="Arial"/>
                <a:sym typeface="Arial"/>
              </a:rPr>
              <a:t>precision </a:t>
            </a:r>
            <a:r>
              <a:rPr b="0" i="0" lang="en-US" sz="1750" u="none" cap="none" strike="noStrike">
                <a:solidFill>
                  <a:srgbClr val="292929"/>
                </a:solidFill>
                <a:latin typeface="Arial"/>
                <a:ea typeface="Arial"/>
                <a:cs typeface="Arial"/>
                <a:sym typeface="Arial"/>
              </a:rPr>
              <a:t>y </a:t>
            </a:r>
            <a:r>
              <a:rPr b="1" i="0" lang="en-US" sz="1750" u="none" cap="none" strike="noStrike">
                <a:solidFill>
                  <a:srgbClr val="F2620F"/>
                </a:solidFill>
                <a:latin typeface="Arial"/>
                <a:ea typeface="Arial"/>
                <a:cs typeface="Arial"/>
                <a:sym typeface="Arial"/>
              </a:rPr>
              <a:t>recall</a:t>
            </a:r>
            <a:r>
              <a:rPr b="0" i="0" lang="en-US" sz="1750" u="none" cap="none" strike="noStrike">
                <a:solidFill>
                  <a:srgbClr val="292929"/>
                </a:solidFill>
                <a:latin typeface="Arial"/>
                <a:ea typeface="Arial"/>
                <a:cs typeface="Arial"/>
                <a:sym typeface="Arial"/>
              </a:rPr>
              <a:t>.</a:t>
            </a:r>
            <a:endParaRPr b="0" i="0" sz="1750" u="none" cap="none" strike="noStrike">
              <a:solidFill>
                <a:srgbClr val="000000"/>
              </a:solidFill>
              <a:latin typeface="Arial"/>
              <a:ea typeface="Arial"/>
              <a:cs typeface="Arial"/>
              <a:sym typeface="Arial"/>
            </a:endParaRPr>
          </a:p>
          <a:p>
            <a:pPr indent="-192405" lvl="0" marL="204470" marR="614680" rtl="0" algn="l">
              <a:lnSpc>
                <a:spcPct val="102200"/>
              </a:lnSpc>
              <a:spcBef>
                <a:spcPts val="44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ROC-AUC: capacidad para separar clases en distintos                                                          	umbrales.</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Importancia de múltiples métricas</a:t>
            </a:r>
            <a:endParaRPr b="0" i="0" sz="2300" u="none" cap="none" strike="noStrike">
              <a:solidFill>
                <a:srgbClr val="000000"/>
              </a:solidFill>
              <a:latin typeface="Arial"/>
              <a:ea typeface="Arial"/>
              <a:cs typeface="Arial"/>
              <a:sym typeface="Arial"/>
            </a:endParaRPr>
          </a:p>
          <a:p>
            <a:pPr indent="-192405" lvl="0" marL="205104" marR="0" rtl="0" algn="l">
              <a:lnSpc>
                <a:spcPct val="100000"/>
              </a:lnSpc>
              <a:spcBef>
                <a:spcPts val="173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Cada métrica revela un aspecto diferente del desempeño.</a:t>
            </a:r>
            <a:endParaRPr b="0" i="0" sz="1750" u="none" cap="none" strike="noStrike">
              <a:solidFill>
                <a:srgbClr val="000000"/>
              </a:solidFill>
              <a:latin typeface="Arial"/>
              <a:ea typeface="Arial"/>
              <a:cs typeface="Arial"/>
              <a:sym typeface="Arial"/>
            </a:endParaRPr>
          </a:p>
          <a:p>
            <a:pPr indent="-192405" lvl="0" marL="204470" marR="247015" rtl="0" algn="l">
              <a:lnSpc>
                <a:spcPct val="102200"/>
              </a:lnSpc>
              <a:spcBef>
                <a:spcPts val="44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No basta con reportar solo accuracy, especialmente ante clases desbalanceadas.</a:t>
            </a:r>
            <a:endParaRPr b="0" i="0" sz="1750" u="none" cap="none" strike="noStrike">
              <a:solidFill>
                <a:srgbClr val="000000"/>
              </a:solidFill>
              <a:latin typeface="Arial"/>
              <a:ea typeface="Arial"/>
              <a:cs typeface="Arial"/>
              <a:sym typeface="Arial"/>
            </a:endParaRPr>
          </a:p>
        </p:txBody>
      </p:sp>
      <p:sp>
        <p:nvSpPr>
          <p:cNvPr descr="$PPTXTitle" id="486" name="Google Shape;486;p16"/>
          <p:cNvSpPr txBox="1"/>
          <p:nvPr>
            <p:ph type="title"/>
          </p:nvPr>
        </p:nvSpPr>
        <p:spPr>
          <a:xfrm>
            <a:off x="3033923" y="1565105"/>
            <a:ext cx="6208395" cy="1821653"/>
          </a:xfrm>
          <a:prstGeom prst="rect">
            <a:avLst/>
          </a:prstGeom>
          <a:noFill/>
          <a:ln>
            <a:noFill/>
          </a:ln>
        </p:spPr>
        <p:txBody>
          <a:bodyPr anchorCtr="0" anchor="t" bIns="0" lIns="0" spcFirstLastPara="1" rIns="0" wrap="square" tIns="102225">
            <a:spAutoFit/>
          </a:bodyPr>
          <a:lstStyle/>
          <a:p>
            <a:pPr indent="0" lvl="0" marL="12700" marR="5080" rtl="0" algn="l">
              <a:lnSpc>
                <a:spcPct val="111500"/>
              </a:lnSpc>
              <a:spcBef>
                <a:spcPts val="0"/>
              </a:spcBef>
              <a:spcAft>
                <a:spcPts val="0"/>
              </a:spcAft>
              <a:buSzPts val="1400"/>
              <a:buNone/>
            </a:pPr>
            <a:r>
              <a:rPr lang="en-US"/>
              <a:t>Métricas clave de clasificación</a:t>
            </a:r>
            <a:endParaRPr/>
          </a:p>
        </p:txBody>
      </p:sp>
      <p:pic>
        <p:nvPicPr>
          <p:cNvPr id="487" name="Google Shape;487;p16"/>
          <p:cNvPicPr preferRelativeResize="0"/>
          <p:nvPr/>
        </p:nvPicPr>
        <p:blipFill rotWithShape="1">
          <a:blip r:embed="rId3">
            <a:alphaModFix/>
          </a:blip>
          <a:srcRect b="0" l="0" r="0" t="0"/>
          <a:stretch/>
        </p:blipFill>
        <p:spPr>
          <a:xfrm>
            <a:off x="9958552" y="2433269"/>
            <a:ext cx="7399947" cy="4927600"/>
          </a:xfrm>
          <a:prstGeom prst="rect">
            <a:avLst/>
          </a:prstGeom>
          <a:noFill/>
          <a:ln>
            <a:noFill/>
          </a:ln>
        </p:spPr>
      </p:pic>
      <p:grpSp>
        <p:nvGrpSpPr>
          <p:cNvPr id="488" name="Google Shape;488;p16"/>
          <p:cNvGrpSpPr/>
          <p:nvPr/>
        </p:nvGrpSpPr>
        <p:grpSpPr>
          <a:xfrm>
            <a:off x="989595" y="1689060"/>
            <a:ext cx="845846" cy="846024"/>
            <a:chOff x="989595" y="1689060"/>
            <a:chExt cx="845846" cy="846024"/>
          </a:xfrm>
        </p:grpSpPr>
        <p:sp>
          <p:nvSpPr>
            <p:cNvPr id="489" name="Google Shape;489;p16"/>
            <p:cNvSpPr/>
            <p:nvPr/>
          </p:nvSpPr>
          <p:spPr>
            <a:xfrm>
              <a:off x="989595" y="1689060"/>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0" name="Google Shape;490;p16"/>
            <p:cNvSpPr/>
            <p:nvPr/>
          </p:nvSpPr>
          <p:spPr>
            <a:xfrm>
              <a:off x="1287852" y="1689080"/>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1" name="Google Shape;491;p16"/>
            <p:cNvSpPr/>
            <p:nvPr/>
          </p:nvSpPr>
          <p:spPr>
            <a:xfrm>
              <a:off x="989622" y="1839759"/>
              <a:ext cx="845819" cy="695325"/>
            </a:xfrm>
            <a:custGeom>
              <a:rect b="b" l="l" r="r" t="t"/>
              <a:pathLst>
                <a:path extrusionOk="0" h="695325" w="845819">
                  <a:moveTo>
                    <a:pt x="845502" y="518782"/>
                  </a:moveTo>
                  <a:lnTo>
                    <a:pt x="839495" y="473151"/>
                  </a:lnTo>
                  <a:lnTo>
                    <a:pt x="821880" y="430618"/>
                  </a:lnTo>
                  <a:lnTo>
                    <a:pt x="793851" y="394106"/>
                  </a:lnTo>
                  <a:lnTo>
                    <a:pt x="671842" y="272110"/>
                  </a:lnTo>
                  <a:lnTo>
                    <a:pt x="422757" y="22999"/>
                  </a:lnTo>
                  <a:lnTo>
                    <a:pt x="399745" y="0"/>
                  </a:lnTo>
                  <a:lnTo>
                    <a:pt x="150660" y="249085"/>
                  </a:lnTo>
                  <a:lnTo>
                    <a:pt x="173659" y="272097"/>
                  </a:lnTo>
                  <a:lnTo>
                    <a:pt x="51650" y="394119"/>
                  </a:lnTo>
                  <a:lnTo>
                    <a:pt x="23622" y="430631"/>
                  </a:lnTo>
                  <a:lnTo>
                    <a:pt x="6007" y="473163"/>
                  </a:lnTo>
                  <a:lnTo>
                    <a:pt x="0" y="518795"/>
                  </a:lnTo>
                  <a:lnTo>
                    <a:pt x="381" y="530339"/>
                  </a:lnTo>
                  <a:lnTo>
                    <a:pt x="9359" y="575487"/>
                  </a:lnTo>
                  <a:lnTo>
                    <a:pt x="29718" y="616762"/>
                  </a:lnTo>
                  <a:lnTo>
                    <a:pt x="59855" y="651154"/>
                  </a:lnTo>
                  <a:lnTo>
                    <a:pt x="98082" y="676668"/>
                  </a:lnTo>
                  <a:lnTo>
                    <a:pt x="141668" y="691464"/>
                  </a:lnTo>
                  <a:lnTo>
                    <a:pt x="176060" y="694855"/>
                  </a:lnTo>
                  <a:lnTo>
                    <a:pt x="187604" y="694474"/>
                  </a:lnTo>
                  <a:lnTo>
                    <a:pt x="232740" y="685495"/>
                  </a:lnTo>
                  <a:lnTo>
                    <a:pt x="274027" y="665137"/>
                  </a:lnTo>
                  <a:lnTo>
                    <a:pt x="422757" y="521195"/>
                  </a:lnTo>
                  <a:lnTo>
                    <a:pt x="544766" y="643191"/>
                  </a:lnTo>
                  <a:lnTo>
                    <a:pt x="581279" y="671220"/>
                  </a:lnTo>
                  <a:lnTo>
                    <a:pt x="623811" y="688835"/>
                  </a:lnTo>
                  <a:lnTo>
                    <a:pt x="669442" y="694842"/>
                  </a:lnTo>
                  <a:lnTo>
                    <a:pt x="680986" y="694474"/>
                  </a:lnTo>
                  <a:lnTo>
                    <a:pt x="726135" y="685495"/>
                  </a:lnTo>
                  <a:lnTo>
                    <a:pt x="767410" y="665124"/>
                  </a:lnTo>
                  <a:lnTo>
                    <a:pt x="801801" y="634987"/>
                  </a:lnTo>
                  <a:lnTo>
                    <a:pt x="827316" y="596773"/>
                  </a:lnTo>
                  <a:lnTo>
                    <a:pt x="842124" y="553186"/>
                  </a:lnTo>
                  <a:lnTo>
                    <a:pt x="845121" y="530326"/>
                  </a:lnTo>
                  <a:lnTo>
                    <a:pt x="845502"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92" name="Google Shape;492;p16"/>
          <p:cNvGrpSpPr/>
          <p:nvPr/>
        </p:nvGrpSpPr>
        <p:grpSpPr>
          <a:xfrm>
            <a:off x="0" y="1"/>
            <a:ext cx="14536419" cy="948701"/>
            <a:chOff x="0" y="1"/>
            <a:chExt cx="14536419" cy="948701"/>
          </a:xfrm>
        </p:grpSpPr>
        <p:sp>
          <p:nvSpPr>
            <p:cNvPr id="493" name="Google Shape;493;p16"/>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4" name="Google Shape;494;p16"/>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5" name="Google Shape;495;p16"/>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96" name="Google Shape;496;p16"/>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7"/>
          <p:cNvSpPr/>
          <p:nvPr/>
        </p:nvSpPr>
        <p:spPr>
          <a:xfrm>
            <a:off x="14147452" y="3428634"/>
            <a:ext cx="3211195" cy="4972685"/>
          </a:xfrm>
          <a:custGeom>
            <a:rect b="b" l="l" r="r" t="t"/>
            <a:pathLst>
              <a:path extrusionOk="0" h="4972684" w="3211194">
                <a:moveTo>
                  <a:pt x="2770644" y="0"/>
                </a:moveTo>
                <a:lnTo>
                  <a:pt x="447675" y="0"/>
                </a:lnTo>
                <a:lnTo>
                  <a:pt x="433031" y="177"/>
                </a:lnTo>
                <a:lnTo>
                  <a:pt x="389229" y="3771"/>
                </a:lnTo>
                <a:lnTo>
                  <a:pt x="346011" y="11633"/>
                </a:lnTo>
                <a:lnTo>
                  <a:pt x="303758" y="23698"/>
                </a:lnTo>
                <a:lnTo>
                  <a:pt x="262890" y="39852"/>
                </a:lnTo>
                <a:lnTo>
                  <a:pt x="223812" y="59931"/>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524502"/>
                </a:lnTo>
                <a:lnTo>
                  <a:pt x="3771" y="4582960"/>
                </a:lnTo>
                <a:lnTo>
                  <a:pt x="11633" y="4626178"/>
                </a:lnTo>
                <a:lnTo>
                  <a:pt x="23698" y="4668431"/>
                </a:lnTo>
                <a:lnTo>
                  <a:pt x="39852" y="4709299"/>
                </a:lnTo>
                <a:lnTo>
                  <a:pt x="59931" y="4748377"/>
                </a:lnTo>
                <a:lnTo>
                  <a:pt x="83731" y="4785309"/>
                </a:lnTo>
                <a:lnTo>
                  <a:pt x="111048" y="4819726"/>
                </a:lnTo>
                <a:lnTo>
                  <a:pt x="141604" y="4851298"/>
                </a:lnTo>
                <a:lnTo>
                  <a:pt x="175107" y="4879721"/>
                </a:lnTo>
                <a:lnTo>
                  <a:pt x="211239" y="4904727"/>
                </a:lnTo>
                <a:lnTo>
                  <a:pt x="249643" y="4926076"/>
                </a:lnTo>
                <a:lnTo>
                  <a:pt x="289953" y="4943551"/>
                </a:lnTo>
                <a:lnTo>
                  <a:pt x="331787" y="4956987"/>
                </a:lnTo>
                <a:lnTo>
                  <a:pt x="374738" y="4966258"/>
                </a:lnTo>
                <a:lnTo>
                  <a:pt x="418388" y="4971288"/>
                </a:lnTo>
                <a:lnTo>
                  <a:pt x="440347" y="4972177"/>
                </a:lnTo>
                <a:lnTo>
                  <a:pt x="2763329" y="4972177"/>
                </a:lnTo>
                <a:lnTo>
                  <a:pt x="2821762" y="4968417"/>
                </a:lnTo>
                <a:lnTo>
                  <a:pt x="2864993" y="4960543"/>
                </a:lnTo>
                <a:lnTo>
                  <a:pt x="2907245" y="4948491"/>
                </a:lnTo>
                <a:lnTo>
                  <a:pt x="2948114" y="4932337"/>
                </a:lnTo>
                <a:lnTo>
                  <a:pt x="2987192" y="4912258"/>
                </a:lnTo>
                <a:lnTo>
                  <a:pt x="3024124" y="4888458"/>
                </a:lnTo>
                <a:lnTo>
                  <a:pt x="3058528" y="4861140"/>
                </a:lnTo>
                <a:lnTo>
                  <a:pt x="3090113" y="4830584"/>
                </a:lnTo>
                <a:lnTo>
                  <a:pt x="3118535" y="4797082"/>
                </a:lnTo>
                <a:lnTo>
                  <a:pt x="3143542" y="4760950"/>
                </a:lnTo>
                <a:lnTo>
                  <a:pt x="3164878" y="4722545"/>
                </a:lnTo>
                <a:lnTo>
                  <a:pt x="3182366" y="4682236"/>
                </a:lnTo>
                <a:lnTo>
                  <a:pt x="3195802" y="4640402"/>
                </a:lnTo>
                <a:lnTo>
                  <a:pt x="3205086" y="4597450"/>
                </a:lnTo>
                <a:lnTo>
                  <a:pt x="3210102" y="4553800"/>
                </a:lnTo>
                <a:lnTo>
                  <a:pt x="3211004" y="4531829"/>
                </a:lnTo>
                <a:lnTo>
                  <a:pt x="3211004" y="447675"/>
                </a:lnTo>
                <a:lnTo>
                  <a:pt x="3207219" y="389229"/>
                </a:lnTo>
                <a:lnTo>
                  <a:pt x="3199358" y="346011"/>
                </a:lnTo>
                <a:lnTo>
                  <a:pt x="3187293" y="303758"/>
                </a:lnTo>
                <a:lnTo>
                  <a:pt x="3171151" y="262890"/>
                </a:lnTo>
                <a:lnTo>
                  <a:pt x="3151073" y="223812"/>
                </a:lnTo>
                <a:lnTo>
                  <a:pt x="3127260" y="186880"/>
                </a:lnTo>
                <a:lnTo>
                  <a:pt x="3099943" y="152463"/>
                </a:lnTo>
                <a:lnTo>
                  <a:pt x="3069399" y="120891"/>
                </a:lnTo>
                <a:lnTo>
                  <a:pt x="3035884" y="92468"/>
                </a:lnTo>
                <a:lnTo>
                  <a:pt x="2999752" y="67462"/>
                </a:lnTo>
                <a:lnTo>
                  <a:pt x="2961347" y="46113"/>
                </a:lnTo>
                <a:lnTo>
                  <a:pt x="2921038" y="28638"/>
                </a:lnTo>
                <a:lnTo>
                  <a:pt x="2879204" y="15201"/>
                </a:lnTo>
                <a:lnTo>
                  <a:pt x="2836252" y="5918"/>
                </a:lnTo>
                <a:lnTo>
                  <a:pt x="2792603" y="901"/>
                </a:lnTo>
                <a:lnTo>
                  <a:pt x="2770644"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 name="Google Shape;502;p17"/>
          <p:cNvSpPr/>
          <p:nvPr/>
        </p:nvSpPr>
        <p:spPr>
          <a:xfrm>
            <a:off x="10456068" y="3428634"/>
            <a:ext cx="3211195" cy="4972685"/>
          </a:xfrm>
          <a:custGeom>
            <a:rect b="b" l="l" r="r" t="t"/>
            <a:pathLst>
              <a:path extrusionOk="0" h="4972684" w="3211194">
                <a:moveTo>
                  <a:pt x="2770657" y="0"/>
                </a:moveTo>
                <a:lnTo>
                  <a:pt x="447675" y="0"/>
                </a:lnTo>
                <a:lnTo>
                  <a:pt x="433031" y="177"/>
                </a:lnTo>
                <a:lnTo>
                  <a:pt x="389229" y="3771"/>
                </a:lnTo>
                <a:lnTo>
                  <a:pt x="346011" y="11633"/>
                </a:lnTo>
                <a:lnTo>
                  <a:pt x="303758" y="23698"/>
                </a:lnTo>
                <a:lnTo>
                  <a:pt x="262890" y="39852"/>
                </a:lnTo>
                <a:lnTo>
                  <a:pt x="223812" y="59931"/>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524502"/>
                </a:lnTo>
                <a:lnTo>
                  <a:pt x="3771" y="4582960"/>
                </a:lnTo>
                <a:lnTo>
                  <a:pt x="11633" y="4626178"/>
                </a:lnTo>
                <a:lnTo>
                  <a:pt x="23698" y="4668431"/>
                </a:lnTo>
                <a:lnTo>
                  <a:pt x="39852" y="4709299"/>
                </a:lnTo>
                <a:lnTo>
                  <a:pt x="59931" y="4748377"/>
                </a:lnTo>
                <a:lnTo>
                  <a:pt x="83731" y="4785309"/>
                </a:lnTo>
                <a:lnTo>
                  <a:pt x="111048" y="4819726"/>
                </a:lnTo>
                <a:lnTo>
                  <a:pt x="141604" y="4851298"/>
                </a:lnTo>
                <a:lnTo>
                  <a:pt x="175107" y="4879721"/>
                </a:lnTo>
                <a:lnTo>
                  <a:pt x="211239" y="4904727"/>
                </a:lnTo>
                <a:lnTo>
                  <a:pt x="249643" y="4926076"/>
                </a:lnTo>
                <a:lnTo>
                  <a:pt x="289953" y="4943551"/>
                </a:lnTo>
                <a:lnTo>
                  <a:pt x="331787" y="4956987"/>
                </a:lnTo>
                <a:lnTo>
                  <a:pt x="374738" y="4966258"/>
                </a:lnTo>
                <a:lnTo>
                  <a:pt x="418388" y="4971288"/>
                </a:lnTo>
                <a:lnTo>
                  <a:pt x="440347" y="4972177"/>
                </a:lnTo>
                <a:lnTo>
                  <a:pt x="2763329" y="4972177"/>
                </a:lnTo>
                <a:lnTo>
                  <a:pt x="2821762" y="4968417"/>
                </a:lnTo>
                <a:lnTo>
                  <a:pt x="2864993" y="4960543"/>
                </a:lnTo>
                <a:lnTo>
                  <a:pt x="2907245" y="4948491"/>
                </a:lnTo>
                <a:lnTo>
                  <a:pt x="2948114" y="4932337"/>
                </a:lnTo>
                <a:lnTo>
                  <a:pt x="2987192" y="4912258"/>
                </a:lnTo>
                <a:lnTo>
                  <a:pt x="3024124" y="4888458"/>
                </a:lnTo>
                <a:lnTo>
                  <a:pt x="3058528" y="4861140"/>
                </a:lnTo>
                <a:lnTo>
                  <a:pt x="3090113" y="4830584"/>
                </a:lnTo>
                <a:lnTo>
                  <a:pt x="3118535" y="4797082"/>
                </a:lnTo>
                <a:lnTo>
                  <a:pt x="3143542" y="4760950"/>
                </a:lnTo>
                <a:lnTo>
                  <a:pt x="3164878" y="4722545"/>
                </a:lnTo>
                <a:lnTo>
                  <a:pt x="3182366" y="4682236"/>
                </a:lnTo>
                <a:lnTo>
                  <a:pt x="3195802" y="4640402"/>
                </a:lnTo>
                <a:lnTo>
                  <a:pt x="3205086" y="4597450"/>
                </a:lnTo>
                <a:lnTo>
                  <a:pt x="3210102" y="4553800"/>
                </a:lnTo>
                <a:lnTo>
                  <a:pt x="3211004" y="4531829"/>
                </a:lnTo>
                <a:lnTo>
                  <a:pt x="3211004" y="447675"/>
                </a:lnTo>
                <a:lnTo>
                  <a:pt x="3207219" y="389229"/>
                </a:lnTo>
                <a:lnTo>
                  <a:pt x="3199358" y="346011"/>
                </a:lnTo>
                <a:lnTo>
                  <a:pt x="3187293" y="303758"/>
                </a:lnTo>
                <a:lnTo>
                  <a:pt x="3171151" y="262890"/>
                </a:lnTo>
                <a:lnTo>
                  <a:pt x="3151073" y="223812"/>
                </a:lnTo>
                <a:lnTo>
                  <a:pt x="3127260" y="186880"/>
                </a:lnTo>
                <a:lnTo>
                  <a:pt x="3099943" y="152463"/>
                </a:lnTo>
                <a:lnTo>
                  <a:pt x="3069399" y="120891"/>
                </a:lnTo>
                <a:lnTo>
                  <a:pt x="3035884" y="92468"/>
                </a:lnTo>
                <a:lnTo>
                  <a:pt x="2999765" y="67462"/>
                </a:lnTo>
                <a:lnTo>
                  <a:pt x="2961347" y="46113"/>
                </a:lnTo>
                <a:lnTo>
                  <a:pt x="2921038" y="28638"/>
                </a:lnTo>
                <a:lnTo>
                  <a:pt x="2879204" y="15201"/>
                </a:lnTo>
                <a:lnTo>
                  <a:pt x="2836252" y="5918"/>
                </a:lnTo>
                <a:lnTo>
                  <a:pt x="2792603" y="901"/>
                </a:lnTo>
                <a:lnTo>
                  <a:pt x="277065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p17"/>
          <p:cNvSpPr/>
          <p:nvPr/>
        </p:nvSpPr>
        <p:spPr>
          <a:xfrm>
            <a:off x="6764683" y="3428634"/>
            <a:ext cx="3211195" cy="4972685"/>
          </a:xfrm>
          <a:custGeom>
            <a:rect b="b" l="l" r="r" t="t"/>
            <a:pathLst>
              <a:path extrusionOk="0" h="4972684" w="3211195">
                <a:moveTo>
                  <a:pt x="2770657" y="0"/>
                </a:moveTo>
                <a:lnTo>
                  <a:pt x="447675" y="0"/>
                </a:lnTo>
                <a:lnTo>
                  <a:pt x="433031" y="177"/>
                </a:lnTo>
                <a:lnTo>
                  <a:pt x="389229" y="3771"/>
                </a:lnTo>
                <a:lnTo>
                  <a:pt x="346011" y="11633"/>
                </a:lnTo>
                <a:lnTo>
                  <a:pt x="303758" y="23698"/>
                </a:lnTo>
                <a:lnTo>
                  <a:pt x="262890" y="39852"/>
                </a:lnTo>
                <a:lnTo>
                  <a:pt x="223812" y="59931"/>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524502"/>
                </a:lnTo>
                <a:lnTo>
                  <a:pt x="3771" y="4582960"/>
                </a:lnTo>
                <a:lnTo>
                  <a:pt x="11633" y="4626178"/>
                </a:lnTo>
                <a:lnTo>
                  <a:pt x="23698" y="4668431"/>
                </a:lnTo>
                <a:lnTo>
                  <a:pt x="39852" y="4709299"/>
                </a:lnTo>
                <a:lnTo>
                  <a:pt x="59931" y="4748377"/>
                </a:lnTo>
                <a:lnTo>
                  <a:pt x="83731" y="4785309"/>
                </a:lnTo>
                <a:lnTo>
                  <a:pt x="111048" y="4819726"/>
                </a:lnTo>
                <a:lnTo>
                  <a:pt x="141604" y="4851298"/>
                </a:lnTo>
                <a:lnTo>
                  <a:pt x="175107" y="4879721"/>
                </a:lnTo>
                <a:lnTo>
                  <a:pt x="211239" y="4904727"/>
                </a:lnTo>
                <a:lnTo>
                  <a:pt x="249643" y="4926076"/>
                </a:lnTo>
                <a:lnTo>
                  <a:pt x="289953" y="4943551"/>
                </a:lnTo>
                <a:lnTo>
                  <a:pt x="331787" y="4956987"/>
                </a:lnTo>
                <a:lnTo>
                  <a:pt x="374738" y="4966258"/>
                </a:lnTo>
                <a:lnTo>
                  <a:pt x="418388" y="4971288"/>
                </a:lnTo>
                <a:lnTo>
                  <a:pt x="440347" y="4972177"/>
                </a:lnTo>
                <a:lnTo>
                  <a:pt x="2763329" y="4972177"/>
                </a:lnTo>
                <a:lnTo>
                  <a:pt x="2821762" y="4968417"/>
                </a:lnTo>
                <a:lnTo>
                  <a:pt x="2864993" y="4960543"/>
                </a:lnTo>
                <a:lnTo>
                  <a:pt x="2907245" y="4948491"/>
                </a:lnTo>
                <a:lnTo>
                  <a:pt x="2948114" y="4932337"/>
                </a:lnTo>
                <a:lnTo>
                  <a:pt x="2987192" y="4912258"/>
                </a:lnTo>
                <a:lnTo>
                  <a:pt x="3024124" y="4888458"/>
                </a:lnTo>
                <a:lnTo>
                  <a:pt x="3058528" y="4861140"/>
                </a:lnTo>
                <a:lnTo>
                  <a:pt x="3090113" y="4830584"/>
                </a:lnTo>
                <a:lnTo>
                  <a:pt x="3118535" y="4797082"/>
                </a:lnTo>
                <a:lnTo>
                  <a:pt x="3143542" y="4760950"/>
                </a:lnTo>
                <a:lnTo>
                  <a:pt x="3164878" y="4722545"/>
                </a:lnTo>
                <a:lnTo>
                  <a:pt x="3182366" y="4682236"/>
                </a:lnTo>
                <a:lnTo>
                  <a:pt x="3195802" y="4640402"/>
                </a:lnTo>
                <a:lnTo>
                  <a:pt x="3205086" y="4597450"/>
                </a:lnTo>
                <a:lnTo>
                  <a:pt x="3210102" y="4553800"/>
                </a:lnTo>
                <a:lnTo>
                  <a:pt x="3211004" y="4531829"/>
                </a:lnTo>
                <a:lnTo>
                  <a:pt x="3211004" y="447675"/>
                </a:lnTo>
                <a:lnTo>
                  <a:pt x="3207219" y="389229"/>
                </a:lnTo>
                <a:lnTo>
                  <a:pt x="3199358" y="346011"/>
                </a:lnTo>
                <a:lnTo>
                  <a:pt x="3187293" y="303758"/>
                </a:lnTo>
                <a:lnTo>
                  <a:pt x="3171151" y="262890"/>
                </a:lnTo>
                <a:lnTo>
                  <a:pt x="3151073" y="223812"/>
                </a:lnTo>
                <a:lnTo>
                  <a:pt x="3127260" y="186880"/>
                </a:lnTo>
                <a:lnTo>
                  <a:pt x="3099943" y="152463"/>
                </a:lnTo>
                <a:lnTo>
                  <a:pt x="3069399" y="120891"/>
                </a:lnTo>
                <a:lnTo>
                  <a:pt x="3035884" y="92468"/>
                </a:lnTo>
                <a:lnTo>
                  <a:pt x="2999765" y="67462"/>
                </a:lnTo>
                <a:lnTo>
                  <a:pt x="2961347" y="46113"/>
                </a:lnTo>
                <a:lnTo>
                  <a:pt x="2921038" y="28638"/>
                </a:lnTo>
                <a:lnTo>
                  <a:pt x="2879204" y="15201"/>
                </a:lnTo>
                <a:lnTo>
                  <a:pt x="2836252" y="5918"/>
                </a:lnTo>
                <a:lnTo>
                  <a:pt x="2792603" y="901"/>
                </a:lnTo>
                <a:lnTo>
                  <a:pt x="277065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 name="Google Shape;504;p17"/>
          <p:cNvSpPr/>
          <p:nvPr/>
        </p:nvSpPr>
        <p:spPr>
          <a:xfrm>
            <a:off x="3073300" y="3428634"/>
            <a:ext cx="3211195" cy="4972685"/>
          </a:xfrm>
          <a:custGeom>
            <a:rect b="b" l="l" r="r" t="t"/>
            <a:pathLst>
              <a:path extrusionOk="0" h="4972684" w="3211195">
                <a:moveTo>
                  <a:pt x="2770657" y="0"/>
                </a:moveTo>
                <a:lnTo>
                  <a:pt x="447675" y="0"/>
                </a:lnTo>
                <a:lnTo>
                  <a:pt x="433031" y="177"/>
                </a:lnTo>
                <a:lnTo>
                  <a:pt x="389229" y="3771"/>
                </a:lnTo>
                <a:lnTo>
                  <a:pt x="346011" y="11633"/>
                </a:lnTo>
                <a:lnTo>
                  <a:pt x="303758" y="23698"/>
                </a:lnTo>
                <a:lnTo>
                  <a:pt x="262890" y="39852"/>
                </a:lnTo>
                <a:lnTo>
                  <a:pt x="223812" y="59931"/>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524502"/>
                </a:lnTo>
                <a:lnTo>
                  <a:pt x="3771" y="4582960"/>
                </a:lnTo>
                <a:lnTo>
                  <a:pt x="11633" y="4626178"/>
                </a:lnTo>
                <a:lnTo>
                  <a:pt x="23698" y="4668431"/>
                </a:lnTo>
                <a:lnTo>
                  <a:pt x="39852" y="4709299"/>
                </a:lnTo>
                <a:lnTo>
                  <a:pt x="59918" y="4748377"/>
                </a:lnTo>
                <a:lnTo>
                  <a:pt x="83731" y="4785309"/>
                </a:lnTo>
                <a:lnTo>
                  <a:pt x="111048" y="4819726"/>
                </a:lnTo>
                <a:lnTo>
                  <a:pt x="141604" y="4851298"/>
                </a:lnTo>
                <a:lnTo>
                  <a:pt x="175107" y="4879721"/>
                </a:lnTo>
                <a:lnTo>
                  <a:pt x="211239" y="4904727"/>
                </a:lnTo>
                <a:lnTo>
                  <a:pt x="249643" y="4926076"/>
                </a:lnTo>
                <a:lnTo>
                  <a:pt x="289953" y="4943551"/>
                </a:lnTo>
                <a:lnTo>
                  <a:pt x="331787" y="4956987"/>
                </a:lnTo>
                <a:lnTo>
                  <a:pt x="374738" y="4966258"/>
                </a:lnTo>
                <a:lnTo>
                  <a:pt x="418388" y="4971288"/>
                </a:lnTo>
                <a:lnTo>
                  <a:pt x="440347" y="4972177"/>
                </a:lnTo>
                <a:lnTo>
                  <a:pt x="2763329" y="4972177"/>
                </a:lnTo>
                <a:lnTo>
                  <a:pt x="2821762" y="4968417"/>
                </a:lnTo>
                <a:lnTo>
                  <a:pt x="2864993" y="4960543"/>
                </a:lnTo>
                <a:lnTo>
                  <a:pt x="2907245" y="4948491"/>
                </a:lnTo>
                <a:lnTo>
                  <a:pt x="2948101" y="4932337"/>
                </a:lnTo>
                <a:lnTo>
                  <a:pt x="2987192" y="4912258"/>
                </a:lnTo>
                <a:lnTo>
                  <a:pt x="3024124" y="4888458"/>
                </a:lnTo>
                <a:lnTo>
                  <a:pt x="3058528" y="4861140"/>
                </a:lnTo>
                <a:lnTo>
                  <a:pt x="3090113" y="4830584"/>
                </a:lnTo>
                <a:lnTo>
                  <a:pt x="3118535" y="4797082"/>
                </a:lnTo>
                <a:lnTo>
                  <a:pt x="3143542" y="4760950"/>
                </a:lnTo>
                <a:lnTo>
                  <a:pt x="3164878" y="4722545"/>
                </a:lnTo>
                <a:lnTo>
                  <a:pt x="3182366" y="4682236"/>
                </a:lnTo>
                <a:lnTo>
                  <a:pt x="3195802" y="4640402"/>
                </a:lnTo>
                <a:lnTo>
                  <a:pt x="3205073" y="4597450"/>
                </a:lnTo>
                <a:lnTo>
                  <a:pt x="3210102" y="4553800"/>
                </a:lnTo>
                <a:lnTo>
                  <a:pt x="3211004" y="4531829"/>
                </a:lnTo>
                <a:lnTo>
                  <a:pt x="3211004" y="447675"/>
                </a:lnTo>
                <a:lnTo>
                  <a:pt x="3207232" y="389229"/>
                </a:lnTo>
                <a:lnTo>
                  <a:pt x="3199358" y="346011"/>
                </a:lnTo>
                <a:lnTo>
                  <a:pt x="3187293" y="303758"/>
                </a:lnTo>
                <a:lnTo>
                  <a:pt x="3171151" y="262890"/>
                </a:lnTo>
                <a:lnTo>
                  <a:pt x="3151073" y="223812"/>
                </a:lnTo>
                <a:lnTo>
                  <a:pt x="3127260" y="186880"/>
                </a:lnTo>
                <a:lnTo>
                  <a:pt x="3099943" y="152463"/>
                </a:lnTo>
                <a:lnTo>
                  <a:pt x="3069399" y="120891"/>
                </a:lnTo>
                <a:lnTo>
                  <a:pt x="3035884" y="92468"/>
                </a:lnTo>
                <a:lnTo>
                  <a:pt x="2999765" y="67462"/>
                </a:lnTo>
                <a:lnTo>
                  <a:pt x="2961347" y="46113"/>
                </a:lnTo>
                <a:lnTo>
                  <a:pt x="2921038" y="28638"/>
                </a:lnTo>
                <a:lnTo>
                  <a:pt x="2879204" y="15201"/>
                </a:lnTo>
                <a:lnTo>
                  <a:pt x="2836252" y="5918"/>
                </a:lnTo>
                <a:lnTo>
                  <a:pt x="2792603" y="901"/>
                </a:lnTo>
                <a:lnTo>
                  <a:pt x="277065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5" name="Google Shape;505;p17"/>
          <p:cNvSpPr/>
          <p:nvPr/>
        </p:nvSpPr>
        <p:spPr>
          <a:xfrm>
            <a:off x="14147480" y="3571595"/>
            <a:ext cx="1235710" cy="1040130"/>
          </a:xfrm>
          <a:custGeom>
            <a:rect b="b" l="l" r="r" t="t"/>
            <a:pathLst>
              <a:path extrusionOk="0" h="1040129" w="1235709">
                <a:moveTo>
                  <a:pt x="760387" y="0"/>
                </a:moveTo>
                <a:lnTo>
                  <a:pt x="0" y="0"/>
                </a:lnTo>
                <a:lnTo>
                  <a:pt x="0" y="1039558"/>
                </a:lnTo>
                <a:lnTo>
                  <a:pt x="760387" y="1039558"/>
                </a:lnTo>
                <a:lnTo>
                  <a:pt x="791455" y="1038539"/>
                </a:lnTo>
                <a:lnTo>
                  <a:pt x="852991" y="1030434"/>
                </a:lnTo>
                <a:lnTo>
                  <a:pt x="913000" y="1014352"/>
                </a:lnTo>
                <a:lnTo>
                  <a:pt x="970338" y="990604"/>
                </a:lnTo>
                <a:lnTo>
                  <a:pt x="1024144" y="959538"/>
                </a:lnTo>
                <a:lnTo>
                  <a:pt x="1073386" y="921753"/>
                </a:lnTo>
                <a:lnTo>
                  <a:pt x="1117320" y="877821"/>
                </a:lnTo>
                <a:lnTo>
                  <a:pt x="1155100" y="828588"/>
                </a:lnTo>
                <a:lnTo>
                  <a:pt x="1186161" y="774783"/>
                </a:lnTo>
                <a:lnTo>
                  <a:pt x="1209912" y="717445"/>
                </a:lnTo>
                <a:lnTo>
                  <a:pt x="1225994" y="656727"/>
                </a:lnTo>
                <a:lnTo>
                  <a:pt x="1234095" y="576889"/>
                </a:lnTo>
                <a:lnTo>
                  <a:pt x="1235113" y="519772"/>
                </a:lnTo>
                <a:lnTo>
                  <a:pt x="1234095" y="462656"/>
                </a:lnTo>
                <a:lnTo>
                  <a:pt x="1231052" y="418380"/>
                </a:lnTo>
                <a:lnTo>
                  <a:pt x="1218933" y="351840"/>
                </a:lnTo>
                <a:lnTo>
                  <a:pt x="1198975" y="293042"/>
                </a:lnTo>
                <a:lnTo>
                  <a:pt x="1171511" y="237350"/>
                </a:lnTo>
                <a:lnTo>
                  <a:pt x="1137016" y="185723"/>
                </a:lnTo>
                <a:lnTo>
                  <a:pt x="1096073" y="139039"/>
                </a:lnTo>
                <a:lnTo>
                  <a:pt x="1049383" y="98094"/>
                </a:lnTo>
                <a:lnTo>
                  <a:pt x="997750" y="63588"/>
                </a:lnTo>
                <a:lnTo>
                  <a:pt x="942057" y="36129"/>
                </a:lnTo>
                <a:lnTo>
                  <a:pt x="883259" y="16167"/>
                </a:lnTo>
                <a:lnTo>
                  <a:pt x="822356" y="4059"/>
                </a:lnTo>
                <a:lnTo>
                  <a:pt x="760387"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6" name="Google Shape;506;p17"/>
          <p:cNvSpPr/>
          <p:nvPr/>
        </p:nvSpPr>
        <p:spPr>
          <a:xfrm>
            <a:off x="10456096" y="3571595"/>
            <a:ext cx="1235710" cy="1040130"/>
          </a:xfrm>
          <a:custGeom>
            <a:rect b="b" l="l" r="r" t="t"/>
            <a:pathLst>
              <a:path extrusionOk="0" h="1040129" w="1235709">
                <a:moveTo>
                  <a:pt x="760387" y="0"/>
                </a:moveTo>
                <a:lnTo>
                  <a:pt x="0" y="0"/>
                </a:lnTo>
                <a:lnTo>
                  <a:pt x="0" y="1039558"/>
                </a:lnTo>
                <a:lnTo>
                  <a:pt x="760387" y="1039558"/>
                </a:lnTo>
                <a:lnTo>
                  <a:pt x="791455" y="1038539"/>
                </a:lnTo>
                <a:lnTo>
                  <a:pt x="852991" y="1030434"/>
                </a:lnTo>
                <a:lnTo>
                  <a:pt x="913000" y="1014352"/>
                </a:lnTo>
                <a:lnTo>
                  <a:pt x="970338" y="990604"/>
                </a:lnTo>
                <a:lnTo>
                  <a:pt x="1024144" y="959538"/>
                </a:lnTo>
                <a:lnTo>
                  <a:pt x="1073386" y="921753"/>
                </a:lnTo>
                <a:lnTo>
                  <a:pt x="1117320" y="877821"/>
                </a:lnTo>
                <a:lnTo>
                  <a:pt x="1155100" y="828588"/>
                </a:lnTo>
                <a:lnTo>
                  <a:pt x="1186161" y="774783"/>
                </a:lnTo>
                <a:lnTo>
                  <a:pt x="1209912" y="717445"/>
                </a:lnTo>
                <a:lnTo>
                  <a:pt x="1225994" y="656727"/>
                </a:lnTo>
                <a:lnTo>
                  <a:pt x="1234095" y="576889"/>
                </a:lnTo>
                <a:lnTo>
                  <a:pt x="1235113" y="519772"/>
                </a:lnTo>
                <a:lnTo>
                  <a:pt x="1234095" y="462656"/>
                </a:lnTo>
                <a:lnTo>
                  <a:pt x="1231052" y="418380"/>
                </a:lnTo>
                <a:lnTo>
                  <a:pt x="1218933" y="351840"/>
                </a:lnTo>
                <a:lnTo>
                  <a:pt x="1198975" y="293042"/>
                </a:lnTo>
                <a:lnTo>
                  <a:pt x="1171511" y="237350"/>
                </a:lnTo>
                <a:lnTo>
                  <a:pt x="1137016" y="185723"/>
                </a:lnTo>
                <a:lnTo>
                  <a:pt x="1096073" y="139039"/>
                </a:lnTo>
                <a:lnTo>
                  <a:pt x="1049383" y="98094"/>
                </a:lnTo>
                <a:lnTo>
                  <a:pt x="997750" y="63588"/>
                </a:lnTo>
                <a:lnTo>
                  <a:pt x="942057" y="36129"/>
                </a:lnTo>
                <a:lnTo>
                  <a:pt x="883259" y="16167"/>
                </a:lnTo>
                <a:lnTo>
                  <a:pt x="822356" y="4059"/>
                </a:lnTo>
                <a:lnTo>
                  <a:pt x="760387"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7" name="Google Shape;507;p17"/>
          <p:cNvSpPr/>
          <p:nvPr/>
        </p:nvSpPr>
        <p:spPr>
          <a:xfrm>
            <a:off x="6764713" y="3571595"/>
            <a:ext cx="1235710" cy="1040130"/>
          </a:xfrm>
          <a:custGeom>
            <a:rect b="b" l="l" r="r" t="t"/>
            <a:pathLst>
              <a:path extrusionOk="0" h="1040129" w="1235709">
                <a:moveTo>
                  <a:pt x="760387" y="0"/>
                </a:moveTo>
                <a:lnTo>
                  <a:pt x="0" y="0"/>
                </a:lnTo>
                <a:lnTo>
                  <a:pt x="0" y="1039558"/>
                </a:lnTo>
                <a:lnTo>
                  <a:pt x="760387" y="1039558"/>
                </a:lnTo>
                <a:lnTo>
                  <a:pt x="791455" y="1038539"/>
                </a:lnTo>
                <a:lnTo>
                  <a:pt x="852991" y="1030434"/>
                </a:lnTo>
                <a:lnTo>
                  <a:pt x="913000" y="1014352"/>
                </a:lnTo>
                <a:lnTo>
                  <a:pt x="970338" y="990604"/>
                </a:lnTo>
                <a:lnTo>
                  <a:pt x="1024144" y="959538"/>
                </a:lnTo>
                <a:lnTo>
                  <a:pt x="1073386" y="921753"/>
                </a:lnTo>
                <a:lnTo>
                  <a:pt x="1117320" y="877821"/>
                </a:lnTo>
                <a:lnTo>
                  <a:pt x="1155100" y="828588"/>
                </a:lnTo>
                <a:lnTo>
                  <a:pt x="1186161" y="774783"/>
                </a:lnTo>
                <a:lnTo>
                  <a:pt x="1209912" y="717445"/>
                </a:lnTo>
                <a:lnTo>
                  <a:pt x="1225994" y="656727"/>
                </a:lnTo>
                <a:lnTo>
                  <a:pt x="1234095" y="576889"/>
                </a:lnTo>
                <a:lnTo>
                  <a:pt x="1235113" y="519772"/>
                </a:lnTo>
                <a:lnTo>
                  <a:pt x="1234095" y="462656"/>
                </a:lnTo>
                <a:lnTo>
                  <a:pt x="1231052" y="418380"/>
                </a:lnTo>
                <a:lnTo>
                  <a:pt x="1218933" y="351840"/>
                </a:lnTo>
                <a:lnTo>
                  <a:pt x="1198975" y="293042"/>
                </a:lnTo>
                <a:lnTo>
                  <a:pt x="1171511" y="237350"/>
                </a:lnTo>
                <a:lnTo>
                  <a:pt x="1137016" y="185723"/>
                </a:lnTo>
                <a:lnTo>
                  <a:pt x="1096073" y="139039"/>
                </a:lnTo>
                <a:lnTo>
                  <a:pt x="1049383" y="98094"/>
                </a:lnTo>
                <a:lnTo>
                  <a:pt x="997750" y="63588"/>
                </a:lnTo>
                <a:lnTo>
                  <a:pt x="942057" y="36129"/>
                </a:lnTo>
                <a:lnTo>
                  <a:pt x="883259" y="16167"/>
                </a:lnTo>
                <a:lnTo>
                  <a:pt x="822356" y="4059"/>
                </a:lnTo>
                <a:lnTo>
                  <a:pt x="760387"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8" name="Google Shape;508;p17"/>
          <p:cNvSpPr/>
          <p:nvPr/>
        </p:nvSpPr>
        <p:spPr>
          <a:xfrm>
            <a:off x="3073317" y="3571595"/>
            <a:ext cx="1235710" cy="1040130"/>
          </a:xfrm>
          <a:custGeom>
            <a:rect b="b" l="l" r="r" t="t"/>
            <a:pathLst>
              <a:path extrusionOk="0" h="1040129" w="1235710">
                <a:moveTo>
                  <a:pt x="760399" y="0"/>
                </a:moveTo>
                <a:lnTo>
                  <a:pt x="0" y="0"/>
                </a:lnTo>
                <a:lnTo>
                  <a:pt x="0" y="1039558"/>
                </a:lnTo>
                <a:lnTo>
                  <a:pt x="760399" y="1039558"/>
                </a:lnTo>
                <a:lnTo>
                  <a:pt x="791467" y="1038539"/>
                </a:lnTo>
                <a:lnTo>
                  <a:pt x="853004" y="1030434"/>
                </a:lnTo>
                <a:lnTo>
                  <a:pt x="913012" y="1014352"/>
                </a:lnTo>
                <a:lnTo>
                  <a:pt x="970351" y="990604"/>
                </a:lnTo>
                <a:lnTo>
                  <a:pt x="1024157" y="959538"/>
                </a:lnTo>
                <a:lnTo>
                  <a:pt x="1073399" y="921753"/>
                </a:lnTo>
                <a:lnTo>
                  <a:pt x="1117333" y="877821"/>
                </a:lnTo>
                <a:lnTo>
                  <a:pt x="1155113" y="828588"/>
                </a:lnTo>
                <a:lnTo>
                  <a:pt x="1186174" y="774783"/>
                </a:lnTo>
                <a:lnTo>
                  <a:pt x="1209925" y="717445"/>
                </a:lnTo>
                <a:lnTo>
                  <a:pt x="1226006" y="656727"/>
                </a:lnTo>
                <a:lnTo>
                  <a:pt x="1234108" y="576889"/>
                </a:lnTo>
                <a:lnTo>
                  <a:pt x="1235125" y="519772"/>
                </a:lnTo>
                <a:lnTo>
                  <a:pt x="1234108" y="462656"/>
                </a:lnTo>
                <a:lnTo>
                  <a:pt x="1231064" y="418380"/>
                </a:lnTo>
                <a:lnTo>
                  <a:pt x="1218946" y="351840"/>
                </a:lnTo>
                <a:lnTo>
                  <a:pt x="1198987" y="293042"/>
                </a:lnTo>
                <a:lnTo>
                  <a:pt x="1171524" y="237350"/>
                </a:lnTo>
                <a:lnTo>
                  <a:pt x="1137029" y="185723"/>
                </a:lnTo>
                <a:lnTo>
                  <a:pt x="1096086" y="139039"/>
                </a:lnTo>
                <a:lnTo>
                  <a:pt x="1049396" y="98094"/>
                </a:lnTo>
                <a:lnTo>
                  <a:pt x="997762" y="63588"/>
                </a:lnTo>
                <a:lnTo>
                  <a:pt x="942070" y="36129"/>
                </a:lnTo>
                <a:lnTo>
                  <a:pt x="883272" y="16167"/>
                </a:lnTo>
                <a:lnTo>
                  <a:pt x="822369" y="4059"/>
                </a:lnTo>
                <a:lnTo>
                  <a:pt x="760399"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9" name="Google Shape;509;p17"/>
          <p:cNvSpPr txBox="1"/>
          <p:nvPr/>
        </p:nvSpPr>
        <p:spPr>
          <a:xfrm>
            <a:off x="3060600" y="9629773"/>
            <a:ext cx="463423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Evaluación del modelo: matriz y métricas</a:t>
            </a:r>
            <a:endParaRPr b="0" i="0" sz="2000" u="none" cap="none" strike="noStrike">
              <a:solidFill>
                <a:srgbClr val="000000"/>
              </a:solidFill>
              <a:latin typeface="Arial"/>
              <a:ea typeface="Arial"/>
              <a:cs typeface="Arial"/>
              <a:sym typeface="Arial"/>
            </a:endParaRPr>
          </a:p>
        </p:txBody>
      </p:sp>
      <p:sp>
        <p:nvSpPr>
          <p:cNvPr id="510" name="Google Shape;510;p17"/>
          <p:cNvSpPr txBox="1"/>
          <p:nvPr/>
        </p:nvSpPr>
        <p:spPr>
          <a:xfrm>
            <a:off x="16105787" y="9632059"/>
            <a:ext cx="1210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grpSp>
        <p:nvGrpSpPr>
          <p:cNvPr id="511" name="Google Shape;511;p17"/>
          <p:cNvGrpSpPr/>
          <p:nvPr/>
        </p:nvGrpSpPr>
        <p:grpSpPr>
          <a:xfrm>
            <a:off x="0" y="1"/>
            <a:ext cx="14536419" cy="948701"/>
            <a:chOff x="0" y="1"/>
            <a:chExt cx="14536419" cy="948701"/>
          </a:xfrm>
        </p:grpSpPr>
        <p:sp>
          <p:nvSpPr>
            <p:cNvPr id="512" name="Google Shape;512;p17"/>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3" name="Google Shape;513;p17"/>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4" name="Google Shape;514;p17"/>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15" name="Google Shape;515;p17"/>
          <p:cNvSpPr txBox="1"/>
          <p:nvPr/>
        </p:nvSpPr>
        <p:spPr>
          <a:xfrm>
            <a:off x="903857" y="9549700"/>
            <a:ext cx="550545"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17.</a:t>
            </a:r>
            <a:endParaRPr b="0" i="0" sz="2600" u="none" cap="none" strike="noStrike">
              <a:solidFill>
                <a:srgbClr val="000000"/>
              </a:solidFill>
              <a:latin typeface="Arial"/>
              <a:ea typeface="Arial"/>
              <a:cs typeface="Arial"/>
              <a:sym typeface="Arial"/>
            </a:endParaRPr>
          </a:p>
        </p:txBody>
      </p:sp>
      <p:sp>
        <p:nvSpPr>
          <p:cNvPr descr="$PPTXTitle" id="516" name="Google Shape;516;p17"/>
          <p:cNvSpPr txBox="1"/>
          <p:nvPr>
            <p:ph type="title"/>
          </p:nvPr>
        </p:nvSpPr>
        <p:spPr>
          <a:xfrm>
            <a:off x="3031356" y="1550978"/>
            <a:ext cx="14208760" cy="1061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6800"/>
              <a:t>Limitaciones de la accuracy</a:t>
            </a:r>
            <a:endParaRPr sz="6800"/>
          </a:p>
        </p:txBody>
      </p:sp>
      <p:grpSp>
        <p:nvGrpSpPr>
          <p:cNvPr id="517" name="Google Shape;517;p17"/>
          <p:cNvGrpSpPr/>
          <p:nvPr/>
        </p:nvGrpSpPr>
        <p:grpSpPr>
          <a:xfrm>
            <a:off x="989567" y="1692474"/>
            <a:ext cx="845836" cy="846052"/>
            <a:chOff x="989567" y="1692474"/>
            <a:chExt cx="845836" cy="846052"/>
          </a:xfrm>
        </p:grpSpPr>
        <p:sp>
          <p:nvSpPr>
            <p:cNvPr id="518" name="Google Shape;518;p17"/>
            <p:cNvSpPr/>
            <p:nvPr/>
          </p:nvSpPr>
          <p:spPr>
            <a:xfrm>
              <a:off x="989567" y="169249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9" name="Google Shape;519;p17"/>
            <p:cNvSpPr/>
            <p:nvPr/>
          </p:nvSpPr>
          <p:spPr>
            <a:xfrm>
              <a:off x="1287833" y="1692474"/>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0" name="Google Shape;520;p17"/>
            <p:cNvSpPr/>
            <p:nvPr/>
          </p:nvSpPr>
          <p:spPr>
            <a:xfrm>
              <a:off x="989584" y="1843201"/>
              <a:ext cx="845819" cy="695325"/>
            </a:xfrm>
            <a:custGeom>
              <a:rect b="b" l="l" r="r" t="t"/>
              <a:pathLst>
                <a:path extrusionOk="0" h="695325" w="845819">
                  <a:moveTo>
                    <a:pt x="845527" y="518782"/>
                  </a:moveTo>
                  <a:lnTo>
                    <a:pt x="839520" y="473151"/>
                  </a:lnTo>
                  <a:lnTo>
                    <a:pt x="821905" y="430618"/>
                  </a:lnTo>
                  <a:lnTo>
                    <a:pt x="793877" y="394106"/>
                  </a:lnTo>
                  <a:lnTo>
                    <a:pt x="671830" y="272072"/>
                  </a:lnTo>
                  <a:lnTo>
                    <a:pt x="422757" y="22961"/>
                  </a:lnTo>
                  <a:lnTo>
                    <a:pt x="399770" y="0"/>
                  </a:lnTo>
                  <a:lnTo>
                    <a:pt x="150685" y="249085"/>
                  </a:lnTo>
                  <a:lnTo>
                    <a:pt x="173659" y="272072"/>
                  </a:lnTo>
                  <a:lnTo>
                    <a:pt x="51650" y="394081"/>
                  </a:lnTo>
                  <a:lnTo>
                    <a:pt x="23622" y="430593"/>
                  </a:lnTo>
                  <a:lnTo>
                    <a:pt x="6007" y="473125"/>
                  </a:lnTo>
                  <a:lnTo>
                    <a:pt x="0" y="518756"/>
                  </a:lnTo>
                  <a:lnTo>
                    <a:pt x="381" y="530301"/>
                  </a:lnTo>
                  <a:lnTo>
                    <a:pt x="9359" y="575449"/>
                  </a:lnTo>
                  <a:lnTo>
                    <a:pt x="29718" y="616724"/>
                  </a:lnTo>
                  <a:lnTo>
                    <a:pt x="59855" y="651116"/>
                  </a:lnTo>
                  <a:lnTo>
                    <a:pt x="98069" y="676630"/>
                  </a:lnTo>
                  <a:lnTo>
                    <a:pt x="141655" y="691426"/>
                  </a:lnTo>
                  <a:lnTo>
                    <a:pt x="176060" y="694817"/>
                  </a:lnTo>
                  <a:lnTo>
                    <a:pt x="187604" y="694436"/>
                  </a:lnTo>
                  <a:lnTo>
                    <a:pt x="232740" y="685457"/>
                  </a:lnTo>
                  <a:lnTo>
                    <a:pt x="274027" y="665099"/>
                  </a:lnTo>
                  <a:lnTo>
                    <a:pt x="422744" y="521157"/>
                  </a:lnTo>
                  <a:lnTo>
                    <a:pt x="544791" y="643191"/>
                  </a:lnTo>
                  <a:lnTo>
                    <a:pt x="581304" y="671220"/>
                  </a:lnTo>
                  <a:lnTo>
                    <a:pt x="623836" y="688835"/>
                  </a:lnTo>
                  <a:lnTo>
                    <a:pt x="669467" y="694842"/>
                  </a:lnTo>
                  <a:lnTo>
                    <a:pt x="681012" y="694474"/>
                  </a:lnTo>
                  <a:lnTo>
                    <a:pt x="726160" y="685482"/>
                  </a:lnTo>
                  <a:lnTo>
                    <a:pt x="767435" y="665124"/>
                  </a:lnTo>
                  <a:lnTo>
                    <a:pt x="801827" y="634987"/>
                  </a:lnTo>
                  <a:lnTo>
                    <a:pt x="827341" y="596773"/>
                  </a:lnTo>
                  <a:lnTo>
                    <a:pt x="842137"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21" name="Google Shape;521;p17"/>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2" name="Google Shape;522;p17"/>
          <p:cNvSpPr txBox="1"/>
          <p:nvPr/>
        </p:nvSpPr>
        <p:spPr>
          <a:xfrm>
            <a:off x="14309625" y="3711762"/>
            <a:ext cx="2593340" cy="3584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500"/>
              <a:buFont typeface="Arial"/>
              <a:buNone/>
            </a:pPr>
            <a:r>
              <a:rPr b="1" i="0" lang="en-US" sz="4500" u="none" cap="none" strike="noStrike">
                <a:solidFill>
                  <a:srgbClr val="F7F7F7"/>
                </a:solidFill>
                <a:latin typeface="Arial"/>
                <a:ea typeface="Arial"/>
                <a:cs typeface="Arial"/>
                <a:sym typeface="Arial"/>
              </a:rPr>
              <a:t>04</a:t>
            </a:r>
            <a:endParaRPr b="0" i="0" sz="4500" u="none" cap="none" strike="noStrike">
              <a:solidFill>
                <a:srgbClr val="000000"/>
              </a:solidFill>
              <a:latin typeface="Arial"/>
              <a:ea typeface="Arial"/>
              <a:cs typeface="Arial"/>
              <a:sym typeface="Arial"/>
            </a:endParaRPr>
          </a:p>
          <a:p>
            <a:pPr indent="0" lvl="0" marL="12700" marR="0" rtl="0" algn="l">
              <a:lnSpc>
                <a:spcPct val="100000"/>
              </a:lnSpc>
              <a:spcBef>
                <a:spcPts val="322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Recomendación</a:t>
            </a:r>
            <a:endParaRPr b="0" i="0" sz="2600" u="none" cap="none" strike="noStrike">
              <a:solidFill>
                <a:srgbClr val="000000"/>
              </a:solidFill>
              <a:latin typeface="Arial"/>
              <a:ea typeface="Arial"/>
              <a:cs typeface="Arial"/>
              <a:sym typeface="Arial"/>
            </a:endParaRPr>
          </a:p>
          <a:p>
            <a:pPr indent="-216535" lvl="0" marL="228600" marR="15875"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Complementar la accuracy con </a:t>
            </a:r>
            <a:r>
              <a:rPr b="1" i="0" lang="en-US" sz="2000" u="none" cap="none" strike="noStrike">
                <a:solidFill>
                  <a:srgbClr val="F2620F"/>
                </a:solidFill>
                <a:latin typeface="Arial"/>
                <a:ea typeface="Arial"/>
                <a:cs typeface="Arial"/>
                <a:sym typeface="Arial"/>
              </a:rPr>
              <a:t>precision, recall, F1-score </a:t>
            </a:r>
            <a:r>
              <a:rPr b="0" i="0" lang="en-US" sz="2000" u="none" cap="none" strike="noStrike">
                <a:solidFill>
                  <a:srgbClr val="262626"/>
                </a:solidFill>
                <a:latin typeface="Arial"/>
                <a:ea typeface="Arial"/>
                <a:cs typeface="Arial"/>
                <a:sym typeface="Arial"/>
              </a:rPr>
              <a:t>y matriz de confusión para una evaluación completa.</a:t>
            </a:r>
            <a:endParaRPr b="0" i="0" sz="2000" u="none" cap="none" strike="noStrike">
              <a:solidFill>
                <a:srgbClr val="000000"/>
              </a:solidFill>
              <a:latin typeface="Arial"/>
              <a:ea typeface="Arial"/>
              <a:cs typeface="Arial"/>
              <a:sym typeface="Arial"/>
            </a:endParaRPr>
          </a:p>
        </p:txBody>
      </p:sp>
      <p:sp>
        <p:nvSpPr>
          <p:cNvPr id="523" name="Google Shape;523;p17"/>
          <p:cNvSpPr txBox="1"/>
          <p:nvPr/>
        </p:nvSpPr>
        <p:spPr>
          <a:xfrm>
            <a:off x="10618241" y="3711762"/>
            <a:ext cx="2740660" cy="41941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500"/>
              <a:buFont typeface="Arial"/>
              <a:buNone/>
            </a:pPr>
            <a:r>
              <a:rPr b="1" i="0" lang="en-US" sz="4500" u="none" cap="none" strike="noStrike">
                <a:solidFill>
                  <a:srgbClr val="F7F7F7"/>
                </a:solidFill>
                <a:latin typeface="Arial"/>
                <a:ea typeface="Arial"/>
                <a:cs typeface="Arial"/>
                <a:sym typeface="Arial"/>
              </a:rPr>
              <a:t>03</a:t>
            </a:r>
            <a:endParaRPr b="0" i="0" sz="4500" u="none" cap="none" strike="noStrike">
              <a:solidFill>
                <a:srgbClr val="000000"/>
              </a:solidFill>
              <a:latin typeface="Arial"/>
              <a:ea typeface="Arial"/>
              <a:cs typeface="Arial"/>
              <a:sym typeface="Arial"/>
            </a:endParaRPr>
          </a:p>
          <a:p>
            <a:pPr indent="0" lvl="0" marL="12700" marR="0" rtl="0" algn="l">
              <a:lnSpc>
                <a:spcPct val="100000"/>
              </a:lnSpc>
              <a:spcBef>
                <a:spcPts val="322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Ejemplo práctico</a:t>
            </a:r>
            <a:endParaRPr b="0" i="0" sz="2600" u="none" cap="none" strike="noStrike">
              <a:solidFill>
                <a:srgbClr val="000000"/>
              </a:solidFill>
              <a:latin typeface="Arial"/>
              <a:ea typeface="Arial"/>
              <a:cs typeface="Arial"/>
              <a:sym typeface="Arial"/>
            </a:endParaRPr>
          </a:p>
          <a:p>
            <a:pPr indent="-216535" lvl="0" marL="228600" marR="508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Si solo el </a:t>
            </a:r>
            <a:r>
              <a:rPr b="1" i="0" lang="en-US" sz="2000" u="none" cap="none" strike="noStrike">
                <a:solidFill>
                  <a:srgbClr val="F2620F"/>
                </a:solidFill>
                <a:latin typeface="Arial"/>
                <a:ea typeface="Arial"/>
                <a:cs typeface="Arial"/>
                <a:sym typeface="Arial"/>
              </a:rPr>
              <a:t>5% </a:t>
            </a:r>
            <a:r>
              <a:rPr b="0" i="0" lang="en-US" sz="2000" u="none" cap="none" strike="noStrike">
                <a:solidFill>
                  <a:srgbClr val="262626"/>
                </a:solidFill>
                <a:latin typeface="Arial"/>
                <a:ea typeface="Arial"/>
                <a:cs typeface="Arial"/>
                <a:sym typeface="Arial"/>
              </a:rPr>
              <a:t>de los viajes tienen propina alta, un modelo que siempre predice 'no propina alta' logra </a:t>
            </a:r>
            <a:r>
              <a:rPr b="1" i="0" lang="en-US" sz="2000" u="none" cap="none" strike="noStrike">
                <a:solidFill>
                  <a:srgbClr val="F2620F"/>
                </a:solidFill>
                <a:latin typeface="Arial"/>
                <a:ea typeface="Arial"/>
                <a:cs typeface="Arial"/>
                <a:sym typeface="Arial"/>
              </a:rPr>
              <a:t>95% de accuracy </a:t>
            </a:r>
            <a:r>
              <a:rPr b="0" i="0" lang="en-US" sz="2000" u="none" cap="none" strike="noStrike">
                <a:solidFill>
                  <a:srgbClr val="262626"/>
                </a:solidFill>
                <a:latin typeface="Arial"/>
                <a:ea typeface="Arial"/>
                <a:cs typeface="Arial"/>
                <a:sym typeface="Arial"/>
              </a:rPr>
              <a:t>pero no detecta la clase positiva.</a:t>
            </a:r>
            <a:endParaRPr b="0" i="0" sz="2000" u="none" cap="none" strike="noStrike">
              <a:solidFill>
                <a:srgbClr val="000000"/>
              </a:solidFill>
              <a:latin typeface="Arial"/>
              <a:ea typeface="Arial"/>
              <a:cs typeface="Arial"/>
              <a:sym typeface="Arial"/>
            </a:endParaRPr>
          </a:p>
        </p:txBody>
      </p:sp>
      <p:sp>
        <p:nvSpPr>
          <p:cNvPr id="524" name="Google Shape;524;p17"/>
          <p:cNvSpPr txBox="1"/>
          <p:nvPr/>
        </p:nvSpPr>
        <p:spPr>
          <a:xfrm>
            <a:off x="6926857" y="3711762"/>
            <a:ext cx="2736215" cy="39808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500"/>
              <a:buFont typeface="Arial"/>
              <a:buNone/>
            </a:pPr>
            <a:r>
              <a:rPr b="1" i="0" lang="en-US" sz="4500" u="none" cap="none" strike="noStrike">
                <a:solidFill>
                  <a:srgbClr val="F7F7F7"/>
                </a:solidFill>
                <a:latin typeface="Arial"/>
                <a:ea typeface="Arial"/>
                <a:cs typeface="Arial"/>
                <a:sym typeface="Arial"/>
              </a:rPr>
              <a:t>02</a:t>
            </a:r>
            <a:endParaRPr b="0" i="0" sz="4500" u="none" cap="none" strike="noStrike">
              <a:solidFill>
                <a:srgbClr val="000000"/>
              </a:solidFill>
              <a:latin typeface="Arial"/>
              <a:ea typeface="Arial"/>
              <a:cs typeface="Arial"/>
              <a:sym typeface="Arial"/>
            </a:endParaRPr>
          </a:p>
          <a:p>
            <a:pPr indent="0" lvl="0" marL="12700" marR="389890" rtl="0" algn="l">
              <a:lnSpc>
                <a:spcPct val="100000"/>
              </a:lnSpc>
              <a:spcBef>
                <a:spcPts val="322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Desbalance de clases</a:t>
            </a:r>
            <a:endParaRPr b="0" i="0" sz="2600" u="none" cap="none" strike="noStrike">
              <a:solidFill>
                <a:srgbClr val="000000"/>
              </a:solidFill>
              <a:latin typeface="Arial"/>
              <a:ea typeface="Arial"/>
              <a:cs typeface="Arial"/>
              <a:sym typeface="Arial"/>
            </a:endParaRPr>
          </a:p>
          <a:p>
            <a:pPr indent="-216535" lvl="0" marL="228600" marR="508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Cuando una clase es mucho más frecuente, la accuracy favorece al modelo que siempre predice la clase mayoritaria.</a:t>
            </a:r>
            <a:endParaRPr b="0" i="0" sz="2000" u="none" cap="none" strike="noStrike">
              <a:solidFill>
                <a:srgbClr val="000000"/>
              </a:solidFill>
              <a:latin typeface="Arial"/>
              <a:ea typeface="Arial"/>
              <a:cs typeface="Arial"/>
              <a:sym typeface="Arial"/>
            </a:endParaRPr>
          </a:p>
        </p:txBody>
      </p:sp>
      <p:sp>
        <p:nvSpPr>
          <p:cNvPr id="525" name="Google Shape;525;p17"/>
          <p:cNvSpPr txBox="1"/>
          <p:nvPr/>
        </p:nvSpPr>
        <p:spPr>
          <a:xfrm>
            <a:off x="3235473" y="3711762"/>
            <a:ext cx="2731135" cy="376745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500"/>
              <a:buFont typeface="Arial"/>
              <a:buNone/>
            </a:pPr>
            <a:r>
              <a:rPr b="1" i="0" lang="en-US" sz="4500" u="none" cap="none" strike="noStrike">
                <a:solidFill>
                  <a:srgbClr val="F7F7F7"/>
                </a:solidFill>
                <a:latin typeface="Arial"/>
                <a:ea typeface="Arial"/>
                <a:cs typeface="Arial"/>
                <a:sym typeface="Arial"/>
              </a:rPr>
              <a:t>01</a:t>
            </a:r>
            <a:endParaRPr b="0" i="0" sz="4500" u="none" cap="none" strike="noStrike">
              <a:solidFill>
                <a:srgbClr val="000000"/>
              </a:solidFill>
              <a:latin typeface="Arial"/>
              <a:ea typeface="Arial"/>
              <a:cs typeface="Arial"/>
              <a:sym typeface="Arial"/>
            </a:endParaRPr>
          </a:p>
          <a:p>
            <a:pPr indent="0" lvl="0" marL="12700" marR="492125" rtl="0" algn="l">
              <a:lnSpc>
                <a:spcPct val="100000"/>
              </a:lnSpc>
              <a:spcBef>
                <a:spcPts val="322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Accuracy: una visión incompleta</a:t>
            </a:r>
            <a:endParaRPr b="0" i="0" sz="2600" u="none" cap="none" strike="noStrike">
              <a:solidFill>
                <a:srgbClr val="000000"/>
              </a:solidFill>
              <a:latin typeface="Arial"/>
              <a:ea typeface="Arial"/>
              <a:cs typeface="Arial"/>
              <a:sym typeface="Arial"/>
            </a:endParaRPr>
          </a:p>
          <a:p>
            <a:pPr indent="-216535" lvl="0" marL="228600" marR="508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Un modelo puede mostrar </a:t>
            </a:r>
            <a:r>
              <a:rPr b="1" i="0" lang="en-US" sz="2000" u="none" cap="none" strike="noStrike">
                <a:solidFill>
                  <a:srgbClr val="F2620F"/>
                </a:solidFill>
                <a:latin typeface="Arial"/>
                <a:ea typeface="Arial"/>
                <a:cs typeface="Arial"/>
                <a:sym typeface="Arial"/>
              </a:rPr>
              <a:t>alta accuracy </a:t>
            </a:r>
            <a:r>
              <a:rPr b="0" i="0" lang="en-US" sz="2000" u="none" cap="none" strike="noStrike">
                <a:solidFill>
                  <a:srgbClr val="262626"/>
                </a:solidFill>
                <a:latin typeface="Arial"/>
                <a:ea typeface="Arial"/>
                <a:cs typeface="Arial"/>
                <a:sym typeface="Arial"/>
              </a:rPr>
              <a:t>aunque ignore la clase de interés.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grpSp>
        <p:nvGrpSpPr>
          <p:cNvPr id="530" name="Google Shape;530;p18"/>
          <p:cNvGrpSpPr/>
          <p:nvPr/>
        </p:nvGrpSpPr>
        <p:grpSpPr>
          <a:xfrm>
            <a:off x="1018806" y="4787043"/>
            <a:ext cx="845819" cy="846016"/>
            <a:chOff x="1018806" y="4787043"/>
            <a:chExt cx="845819" cy="846016"/>
          </a:xfrm>
        </p:grpSpPr>
        <p:sp>
          <p:nvSpPr>
            <p:cNvPr id="531" name="Google Shape;531;p18"/>
            <p:cNvSpPr/>
            <p:nvPr/>
          </p:nvSpPr>
          <p:spPr>
            <a:xfrm>
              <a:off x="1018818" y="4787043"/>
              <a:ext cx="547370"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2" name="Google Shape;532;p18"/>
            <p:cNvSpPr/>
            <p:nvPr/>
          </p:nvSpPr>
          <p:spPr>
            <a:xfrm>
              <a:off x="1317047" y="4787046"/>
              <a:ext cx="547370"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3" name="Google Shape;533;p18"/>
            <p:cNvSpPr/>
            <p:nvPr/>
          </p:nvSpPr>
          <p:spPr>
            <a:xfrm>
              <a:off x="1018806" y="4937734"/>
              <a:ext cx="845819" cy="695325"/>
            </a:xfrm>
            <a:custGeom>
              <a:rect b="b" l="l" r="r" t="t"/>
              <a:pathLst>
                <a:path extrusionOk="0" h="695325" w="845819">
                  <a:moveTo>
                    <a:pt x="845553" y="518782"/>
                  </a:moveTo>
                  <a:lnTo>
                    <a:pt x="839546" y="473151"/>
                  </a:lnTo>
                  <a:lnTo>
                    <a:pt x="821931" y="430618"/>
                  </a:lnTo>
                  <a:lnTo>
                    <a:pt x="793902" y="394106"/>
                  </a:lnTo>
                  <a:lnTo>
                    <a:pt x="399796" y="0"/>
                  </a:lnTo>
                  <a:lnTo>
                    <a:pt x="150710" y="249085"/>
                  </a:lnTo>
                  <a:lnTo>
                    <a:pt x="173685" y="272072"/>
                  </a:lnTo>
                  <a:lnTo>
                    <a:pt x="51650" y="394119"/>
                  </a:lnTo>
                  <a:lnTo>
                    <a:pt x="23622" y="430631"/>
                  </a:lnTo>
                  <a:lnTo>
                    <a:pt x="6007" y="473163"/>
                  </a:lnTo>
                  <a:lnTo>
                    <a:pt x="0" y="518795"/>
                  </a:lnTo>
                  <a:lnTo>
                    <a:pt x="381" y="530339"/>
                  </a:lnTo>
                  <a:lnTo>
                    <a:pt x="9359" y="575487"/>
                  </a:lnTo>
                  <a:lnTo>
                    <a:pt x="29718" y="616762"/>
                  </a:lnTo>
                  <a:lnTo>
                    <a:pt x="59855" y="651154"/>
                  </a:lnTo>
                  <a:lnTo>
                    <a:pt x="98082" y="676668"/>
                  </a:lnTo>
                  <a:lnTo>
                    <a:pt x="141668" y="691464"/>
                  </a:lnTo>
                  <a:lnTo>
                    <a:pt x="176060" y="694855"/>
                  </a:lnTo>
                  <a:lnTo>
                    <a:pt x="187604" y="694474"/>
                  </a:lnTo>
                  <a:lnTo>
                    <a:pt x="232740" y="685495"/>
                  </a:lnTo>
                  <a:lnTo>
                    <a:pt x="274027" y="665137"/>
                  </a:lnTo>
                  <a:lnTo>
                    <a:pt x="422783" y="521169"/>
                  </a:lnTo>
                  <a:lnTo>
                    <a:pt x="544817" y="643191"/>
                  </a:lnTo>
                  <a:lnTo>
                    <a:pt x="581329" y="671220"/>
                  </a:lnTo>
                  <a:lnTo>
                    <a:pt x="623862" y="688835"/>
                  </a:lnTo>
                  <a:lnTo>
                    <a:pt x="669493" y="694842"/>
                  </a:lnTo>
                  <a:lnTo>
                    <a:pt x="681037" y="694461"/>
                  </a:lnTo>
                  <a:lnTo>
                    <a:pt x="726186" y="685482"/>
                  </a:lnTo>
                  <a:lnTo>
                    <a:pt x="767461" y="665124"/>
                  </a:lnTo>
                  <a:lnTo>
                    <a:pt x="801852" y="634987"/>
                  </a:lnTo>
                  <a:lnTo>
                    <a:pt x="827366" y="596773"/>
                  </a:lnTo>
                  <a:lnTo>
                    <a:pt x="842162" y="553186"/>
                  </a:lnTo>
                  <a:lnTo>
                    <a:pt x="845172" y="530326"/>
                  </a:lnTo>
                  <a:lnTo>
                    <a:pt x="845553"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534" name="Google Shape;534;p18"/>
          <p:cNvSpPr txBox="1"/>
          <p:nvPr>
            <p:ph type="title"/>
          </p:nvPr>
        </p:nvSpPr>
        <p:spPr>
          <a:xfrm>
            <a:off x="3060581" y="4514594"/>
            <a:ext cx="10591165" cy="2362200"/>
          </a:xfrm>
          <a:prstGeom prst="rect">
            <a:avLst/>
          </a:prstGeom>
          <a:noFill/>
          <a:ln>
            <a:noFill/>
          </a:ln>
        </p:spPr>
        <p:txBody>
          <a:bodyPr anchorCtr="0" anchor="t" bIns="0" lIns="0" spcFirstLastPara="1" rIns="0" wrap="square" tIns="127000">
            <a:spAutoFit/>
          </a:bodyPr>
          <a:lstStyle/>
          <a:p>
            <a:pPr indent="0" lvl="0" marL="12700" marR="5080" rtl="0" algn="l">
              <a:lnSpc>
                <a:spcPct val="110000"/>
              </a:lnSpc>
              <a:spcBef>
                <a:spcPts val="0"/>
              </a:spcBef>
              <a:spcAft>
                <a:spcPts val="0"/>
              </a:spcAft>
              <a:buSzPts val="1400"/>
              <a:buNone/>
            </a:pPr>
            <a:r>
              <a:rPr b="1" lang="en-US" sz="8000">
                <a:latin typeface="Arial"/>
                <a:ea typeface="Arial"/>
                <a:cs typeface="Arial"/>
                <a:sym typeface="Arial"/>
              </a:rPr>
              <a:t>Métricas especíﬁcas y umbrales</a:t>
            </a:r>
            <a:endParaRPr sz="8000">
              <a:latin typeface="Arial"/>
              <a:ea typeface="Arial"/>
              <a:cs typeface="Arial"/>
              <a:sym typeface="Arial"/>
            </a:endParaRPr>
          </a:p>
        </p:txBody>
      </p:sp>
      <p:grpSp>
        <p:nvGrpSpPr>
          <p:cNvPr id="535" name="Google Shape;535;p18"/>
          <p:cNvGrpSpPr/>
          <p:nvPr/>
        </p:nvGrpSpPr>
        <p:grpSpPr>
          <a:xfrm>
            <a:off x="0" y="1"/>
            <a:ext cx="14536419" cy="948701"/>
            <a:chOff x="0" y="1"/>
            <a:chExt cx="14536419" cy="948701"/>
          </a:xfrm>
        </p:grpSpPr>
        <p:sp>
          <p:nvSpPr>
            <p:cNvPr id="536" name="Google Shape;536;p18"/>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7" name="Google Shape;537;p18"/>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8" name="Google Shape;538;p18"/>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39" name="Google Shape;539;p18"/>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0" name="Google Shape;540;p18"/>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2600"/>
              <a:buNone/>
            </a:pPr>
            <a:fld id="{00000000-1234-1234-1234-123412341234}" type="slidenum">
              <a:rPr lang="en-US"/>
              <a:t>‹#›</a:t>
            </a:fld>
            <a:r>
              <a:rPr lang="en-US"/>
              <a:t>.</a:t>
            </a:r>
            <a:endParaRPr/>
          </a:p>
        </p:txBody>
      </p:sp>
      <p:sp>
        <p:nvSpPr>
          <p:cNvPr id="541" name="Google Shape;541;p18"/>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542" name="Google Shape;542;p18"/>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9"/>
          <p:cNvSpPr txBox="1"/>
          <p:nvPr/>
        </p:nvSpPr>
        <p:spPr>
          <a:xfrm>
            <a:off x="3033886" y="3795329"/>
            <a:ext cx="6154420" cy="5021503"/>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¿Qué es la precisión?</a:t>
            </a:r>
            <a:endParaRPr b="0" i="0" sz="2300" u="none" cap="none" strike="noStrike">
              <a:solidFill>
                <a:srgbClr val="000000"/>
              </a:solidFill>
              <a:latin typeface="Arial"/>
              <a:ea typeface="Arial"/>
              <a:cs typeface="Arial"/>
              <a:sym typeface="Arial"/>
            </a:endParaRPr>
          </a:p>
          <a:p>
            <a:pPr indent="-192405" lvl="0" marL="204470" marR="167640"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Mide cuántos de los viajes predichos como propina alta                                                                      	realmente lo fueron.</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Alta precisión signiﬁca pocos </a:t>
            </a:r>
            <a:r>
              <a:rPr b="1" i="0" lang="en-US" sz="1750" u="none" cap="none" strike="noStrike">
                <a:solidFill>
                  <a:srgbClr val="F2620F"/>
                </a:solidFill>
                <a:latin typeface="Arial"/>
                <a:ea typeface="Arial"/>
                <a:cs typeface="Arial"/>
                <a:sym typeface="Arial"/>
              </a:rPr>
              <a:t>falsos positivos</a:t>
            </a:r>
            <a:r>
              <a:rPr b="0" i="0" lang="en-US" sz="1750" u="none" cap="none" strike="noStrike">
                <a:solidFill>
                  <a:srgbClr val="292929"/>
                </a:solidFill>
                <a:latin typeface="Arial"/>
                <a:ea typeface="Arial"/>
                <a:cs typeface="Arial"/>
                <a:sym typeface="Arial"/>
              </a:rPr>
              <a:t>.</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5"/>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¿Qué es el recall?</a:t>
            </a:r>
            <a:endParaRPr b="0" i="0" sz="2300" u="none" cap="none" strike="noStrike">
              <a:solidFill>
                <a:srgbClr val="000000"/>
              </a:solidFill>
              <a:latin typeface="Arial"/>
              <a:ea typeface="Arial"/>
              <a:cs typeface="Arial"/>
              <a:sym typeface="Arial"/>
            </a:endParaRPr>
          </a:p>
          <a:p>
            <a:pPr indent="-192405" lvl="0" marL="204470" marR="5080"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Evalúa cuántos viajes con propina alta fueron detectados                                                                          	por el modelo.</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Alto recall implica pocos </a:t>
            </a:r>
            <a:r>
              <a:rPr b="1" i="0" lang="en-US" sz="1750" u="none" cap="none" strike="noStrike">
                <a:solidFill>
                  <a:srgbClr val="F2620F"/>
                </a:solidFill>
                <a:latin typeface="Arial"/>
                <a:ea typeface="Arial"/>
                <a:cs typeface="Arial"/>
                <a:sym typeface="Arial"/>
              </a:rPr>
              <a:t>falsos negativos</a:t>
            </a:r>
            <a:r>
              <a:rPr b="0" i="0" lang="en-US" sz="1750" u="none" cap="none" strike="noStrike">
                <a:solidFill>
                  <a:srgbClr val="292929"/>
                </a:solidFill>
                <a:latin typeface="Arial"/>
                <a:ea typeface="Arial"/>
                <a:cs typeface="Arial"/>
                <a:sym typeface="Arial"/>
              </a:rPr>
              <a:t>.</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5"/>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Equilibrio entre precisión y recall</a:t>
            </a:r>
            <a:endParaRPr b="0" i="0" sz="2300" u="none" cap="none" strike="noStrike">
              <a:solidFill>
                <a:srgbClr val="000000"/>
              </a:solidFill>
              <a:latin typeface="Arial"/>
              <a:ea typeface="Arial"/>
              <a:cs typeface="Arial"/>
              <a:sym typeface="Arial"/>
            </a:endParaRPr>
          </a:p>
          <a:p>
            <a:pPr indent="-192405" lvl="0" marL="204470" marR="140335" rtl="0" algn="l">
              <a:lnSpc>
                <a:spcPct val="102200"/>
              </a:lnSpc>
              <a:spcBef>
                <a:spcPts val="167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Un modelo puede tener alta precisión pero bajo recall, o viceversa.</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El </a:t>
            </a:r>
            <a:r>
              <a:rPr b="1" i="0" lang="en-US" sz="1750" u="none" cap="none" strike="noStrike">
                <a:solidFill>
                  <a:srgbClr val="F2620F"/>
                </a:solidFill>
                <a:latin typeface="Arial"/>
                <a:ea typeface="Arial"/>
                <a:cs typeface="Arial"/>
                <a:sym typeface="Arial"/>
              </a:rPr>
              <a:t>F1-score </a:t>
            </a:r>
            <a:r>
              <a:rPr b="0" i="0" lang="en-US" sz="1750" u="none" cap="none" strike="noStrike">
                <a:solidFill>
                  <a:srgbClr val="292929"/>
                </a:solidFill>
                <a:latin typeface="Arial"/>
                <a:ea typeface="Arial"/>
                <a:cs typeface="Arial"/>
                <a:sym typeface="Arial"/>
              </a:rPr>
              <a:t>ayuda a balancear ambos aspectos.</a:t>
            </a:r>
            <a:endParaRPr b="0" i="0" sz="1750" u="none" cap="none" strike="noStrike">
              <a:solidFill>
                <a:srgbClr val="000000"/>
              </a:solidFill>
              <a:latin typeface="Arial"/>
              <a:ea typeface="Arial"/>
              <a:cs typeface="Arial"/>
              <a:sym typeface="Arial"/>
            </a:endParaRPr>
          </a:p>
        </p:txBody>
      </p:sp>
      <p:sp>
        <p:nvSpPr>
          <p:cNvPr descr="$PPTXTitle" id="548" name="Google Shape;548;p19"/>
          <p:cNvSpPr txBox="1"/>
          <p:nvPr>
            <p:ph type="title"/>
          </p:nvPr>
        </p:nvSpPr>
        <p:spPr>
          <a:xfrm>
            <a:off x="3033923" y="1565105"/>
            <a:ext cx="5978525" cy="1821653"/>
          </a:xfrm>
          <a:prstGeom prst="rect">
            <a:avLst/>
          </a:prstGeom>
          <a:noFill/>
          <a:ln>
            <a:noFill/>
          </a:ln>
        </p:spPr>
        <p:txBody>
          <a:bodyPr anchorCtr="0" anchor="t" bIns="0" lIns="0" spcFirstLastPara="1" rIns="0" wrap="square" tIns="102225">
            <a:spAutoFit/>
          </a:bodyPr>
          <a:lstStyle/>
          <a:p>
            <a:pPr indent="0" lvl="0" marL="12700" marR="5080" rtl="0" algn="l">
              <a:lnSpc>
                <a:spcPct val="111500"/>
              </a:lnSpc>
              <a:spcBef>
                <a:spcPts val="0"/>
              </a:spcBef>
              <a:spcAft>
                <a:spcPts val="0"/>
              </a:spcAft>
              <a:buSzPts val="1400"/>
              <a:buNone/>
            </a:pPr>
            <a:r>
              <a:rPr lang="en-US"/>
              <a:t>Precision y recall     en acción</a:t>
            </a:r>
            <a:endParaRPr/>
          </a:p>
        </p:txBody>
      </p:sp>
      <p:pic>
        <p:nvPicPr>
          <p:cNvPr id="549" name="Google Shape;549;p19"/>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550" name="Google Shape;550;p19"/>
          <p:cNvGrpSpPr/>
          <p:nvPr/>
        </p:nvGrpSpPr>
        <p:grpSpPr>
          <a:xfrm>
            <a:off x="989618" y="1689079"/>
            <a:ext cx="845823" cy="846018"/>
            <a:chOff x="989618" y="1689079"/>
            <a:chExt cx="845823" cy="846018"/>
          </a:xfrm>
        </p:grpSpPr>
        <p:sp>
          <p:nvSpPr>
            <p:cNvPr id="551" name="Google Shape;551;p19"/>
            <p:cNvSpPr/>
            <p:nvPr/>
          </p:nvSpPr>
          <p:spPr>
            <a:xfrm>
              <a:off x="989618" y="1689079"/>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2" name="Google Shape;552;p19"/>
            <p:cNvSpPr/>
            <p:nvPr/>
          </p:nvSpPr>
          <p:spPr>
            <a:xfrm>
              <a:off x="1287840" y="1689082"/>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3" name="Google Shape;553;p19"/>
            <p:cNvSpPr/>
            <p:nvPr/>
          </p:nvSpPr>
          <p:spPr>
            <a:xfrm>
              <a:off x="989622" y="1839772"/>
              <a:ext cx="845819" cy="695325"/>
            </a:xfrm>
            <a:custGeom>
              <a:rect b="b" l="l" r="r" t="t"/>
              <a:pathLst>
                <a:path extrusionOk="0" h="695325" w="845819">
                  <a:moveTo>
                    <a:pt x="845489" y="518782"/>
                  </a:moveTo>
                  <a:lnTo>
                    <a:pt x="839482" y="473151"/>
                  </a:lnTo>
                  <a:lnTo>
                    <a:pt x="821867" y="430618"/>
                  </a:lnTo>
                  <a:lnTo>
                    <a:pt x="793838" y="394106"/>
                  </a:lnTo>
                  <a:lnTo>
                    <a:pt x="671830" y="272110"/>
                  </a:lnTo>
                  <a:lnTo>
                    <a:pt x="422757" y="22987"/>
                  </a:lnTo>
                  <a:lnTo>
                    <a:pt x="399732" y="0"/>
                  </a:lnTo>
                  <a:lnTo>
                    <a:pt x="150647" y="249085"/>
                  </a:lnTo>
                  <a:lnTo>
                    <a:pt x="173647" y="272097"/>
                  </a:lnTo>
                  <a:lnTo>
                    <a:pt x="51650" y="394106"/>
                  </a:lnTo>
                  <a:lnTo>
                    <a:pt x="23622" y="430618"/>
                  </a:lnTo>
                  <a:lnTo>
                    <a:pt x="6007" y="473151"/>
                  </a:lnTo>
                  <a:lnTo>
                    <a:pt x="0" y="518782"/>
                  </a:lnTo>
                  <a:lnTo>
                    <a:pt x="368" y="530326"/>
                  </a:lnTo>
                  <a:lnTo>
                    <a:pt x="9359" y="575475"/>
                  </a:lnTo>
                  <a:lnTo>
                    <a:pt x="29718" y="616750"/>
                  </a:lnTo>
                  <a:lnTo>
                    <a:pt x="59855" y="651141"/>
                  </a:lnTo>
                  <a:lnTo>
                    <a:pt x="98069" y="676656"/>
                  </a:lnTo>
                  <a:lnTo>
                    <a:pt x="141655" y="691451"/>
                  </a:lnTo>
                  <a:lnTo>
                    <a:pt x="176060" y="694842"/>
                  </a:lnTo>
                  <a:lnTo>
                    <a:pt x="187591" y="694461"/>
                  </a:lnTo>
                  <a:lnTo>
                    <a:pt x="232740" y="685482"/>
                  </a:lnTo>
                  <a:lnTo>
                    <a:pt x="274027" y="665124"/>
                  </a:lnTo>
                  <a:lnTo>
                    <a:pt x="422744" y="521195"/>
                  </a:lnTo>
                  <a:lnTo>
                    <a:pt x="544753" y="643191"/>
                  </a:lnTo>
                  <a:lnTo>
                    <a:pt x="581266" y="671220"/>
                  </a:lnTo>
                  <a:lnTo>
                    <a:pt x="623798" y="688835"/>
                  </a:lnTo>
                  <a:lnTo>
                    <a:pt x="669429" y="694842"/>
                  </a:lnTo>
                  <a:lnTo>
                    <a:pt x="680974" y="694461"/>
                  </a:lnTo>
                  <a:lnTo>
                    <a:pt x="726122" y="685482"/>
                  </a:lnTo>
                  <a:lnTo>
                    <a:pt x="767397" y="665124"/>
                  </a:lnTo>
                  <a:lnTo>
                    <a:pt x="801789" y="634987"/>
                  </a:lnTo>
                  <a:lnTo>
                    <a:pt x="827303" y="596773"/>
                  </a:lnTo>
                  <a:lnTo>
                    <a:pt x="842098" y="553186"/>
                  </a:lnTo>
                  <a:lnTo>
                    <a:pt x="845108" y="530326"/>
                  </a:lnTo>
                  <a:lnTo>
                    <a:pt x="845489"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4" name="Google Shape;554;p19"/>
          <p:cNvGrpSpPr/>
          <p:nvPr/>
        </p:nvGrpSpPr>
        <p:grpSpPr>
          <a:xfrm>
            <a:off x="0" y="1"/>
            <a:ext cx="14536419" cy="948701"/>
            <a:chOff x="0" y="1"/>
            <a:chExt cx="14536419" cy="948701"/>
          </a:xfrm>
        </p:grpSpPr>
        <p:sp>
          <p:nvSpPr>
            <p:cNvPr id="555" name="Google Shape;555;p19"/>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6" name="Google Shape;556;p19"/>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7" name="Google Shape;557;p19"/>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58" name="Google Shape;558;p19"/>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9" name="Google Shape;559;p19"/>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2600"/>
              <a:buNone/>
            </a:pPr>
            <a:fld id="{00000000-1234-1234-1234-123412341234}" type="slidenum">
              <a:rPr lang="en-US"/>
              <a:t>‹#›</a:t>
            </a:fld>
            <a:r>
              <a:rPr lang="en-US"/>
              <a:t>.</a:t>
            </a:r>
            <a:endParaRPr/>
          </a:p>
        </p:txBody>
      </p:sp>
      <p:sp>
        <p:nvSpPr>
          <p:cNvPr id="560" name="Google Shape;560;p19"/>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561" name="Google Shape;561;p19"/>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grpSp>
        <p:nvGrpSpPr>
          <p:cNvPr id="566" name="Google Shape;566;g3d8b67da081_0_382"/>
          <p:cNvGrpSpPr/>
          <p:nvPr/>
        </p:nvGrpSpPr>
        <p:grpSpPr>
          <a:xfrm>
            <a:off x="0" y="1"/>
            <a:ext cx="14536419" cy="948701"/>
            <a:chOff x="0" y="1"/>
            <a:chExt cx="14536419" cy="948701"/>
          </a:xfrm>
        </p:grpSpPr>
        <p:sp>
          <p:nvSpPr>
            <p:cNvPr id="567" name="Google Shape;567;g3d8b67da081_0_382"/>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8" name="Google Shape;568;g3d8b67da081_0_382"/>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 name="Google Shape;569;g3d8b67da081_0_382"/>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0" name="Google Shape;570;g3d8b67da081_0_382"/>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 name="Google Shape;571;g3d8b67da081_0_382"/>
          <p:cNvSpPr txBox="1"/>
          <p:nvPr>
            <p:ph idx="12" type="sldNum"/>
          </p:nvPr>
        </p:nvSpPr>
        <p:spPr>
          <a:xfrm>
            <a:off x="878457" y="9567912"/>
            <a:ext cx="576000" cy="400200"/>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2600"/>
              <a:buNone/>
            </a:pPr>
            <a:fld id="{00000000-1234-1234-1234-123412341234}" type="slidenum">
              <a:rPr lang="en-US"/>
              <a:t>‹#›</a:t>
            </a:fld>
            <a:r>
              <a:rPr lang="en-US"/>
              <a:t>.</a:t>
            </a:r>
            <a:endParaRPr/>
          </a:p>
        </p:txBody>
      </p:sp>
      <p:sp>
        <p:nvSpPr>
          <p:cNvPr id="572" name="Google Shape;572;g3d8b67da081_0_382"/>
          <p:cNvSpPr txBox="1"/>
          <p:nvPr>
            <p:ph idx="10" type="dt"/>
          </p:nvPr>
        </p:nvSpPr>
        <p:spPr>
          <a:xfrm>
            <a:off x="3060581" y="9651677"/>
            <a:ext cx="2143800" cy="6603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573" name="Google Shape;573;g3d8b67da081_0_382"/>
          <p:cNvSpPr txBox="1"/>
          <p:nvPr>
            <p:ph idx="11" type="ftr"/>
          </p:nvPr>
        </p:nvSpPr>
        <p:spPr>
          <a:xfrm>
            <a:off x="16105767" y="9653963"/>
            <a:ext cx="1211100" cy="307800"/>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pic>
        <p:nvPicPr>
          <p:cNvPr id="574" name="Google Shape;574;g3d8b67da081_0_382"/>
          <p:cNvPicPr preferRelativeResize="0"/>
          <p:nvPr/>
        </p:nvPicPr>
        <p:blipFill rotWithShape="1">
          <a:blip r:embed="rId3">
            <a:alphaModFix/>
          </a:blip>
          <a:srcRect b="0" l="0" r="0" t="0"/>
          <a:stretch/>
        </p:blipFill>
        <p:spPr>
          <a:xfrm>
            <a:off x="878450" y="2068827"/>
            <a:ext cx="8553450" cy="2028825"/>
          </a:xfrm>
          <a:prstGeom prst="rect">
            <a:avLst/>
          </a:prstGeom>
          <a:noFill/>
          <a:ln>
            <a:noFill/>
          </a:ln>
        </p:spPr>
      </p:pic>
      <p:pic>
        <p:nvPicPr>
          <p:cNvPr id="575" name="Google Shape;575;g3d8b67da081_0_382"/>
          <p:cNvPicPr preferRelativeResize="0"/>
          <p:nvPr/>
        </p:nvPicPr>
        <p:blipFill rotWithShape="1">
          <a:blip r:embed="rId4">
            <a:alphaModFix/>
          </a:blip>
          <a:srcRect b="0" l="0" r="0" t="0"/>
          <a:stretch/>
        </p:blipFill>
        <p:spPr>
          <a:xfrm>
            <a:off x="878450" y="5432734"/>
            <a:ext cx="8553450" cy="2590473"/>
          </a:xfrm>
          <a:prstGeom prst="rect">
            <a:avLst/>
          </a:prstGeom>
          <a:noFill/>
          <a:ln>
            <a:noFill/>
          </a:ln>
        </p:spPr>
      </p:pic>
      <p:pic>
        <p:nvPicPr>
          <p:cNvPr id="576" name="Google Shape;576;g3d8b67da081_0_382"/>
          <p:cNvPicPr preferRelativeResize="0"/>
          <p:nvPr/>
        </p:nvPicPr>
        <p:blipFill rotWithShape="1">
          <a:blip r:embed="rId5">
            <a:alphaModFix/>
          </a:blip>
          <a:srcRect b="0" l="0" r="0" t="0"/>
          <a:stretch/>
        </p:blipFill>
        <p:spPr>
          <a:xfrm>
            <a:off x="10562600" y="1859277"/>
            <a:ext cx="6419850" cy="2447925"/>
          </a:xfrm>
          <a:prstGeom prst="rect">
            <a:avLst/>
          </a:prstGeom>
          <a:noFill/>
          <a:ln>
            <a:noFill/>
          </a:ln>
        </p:spPr>
      </p:pic>
      <p:pic>
        <p:nvPicPr>
          <p:cNvPr id="577" name="Google Shape;577;g3d8b67da081_0_382"/>
          <p:cNvPicPr preferRelativeResize="0"/>
          <p:nvPr/>
        </p:nvPicPr>
        <p:blipFill rotWithShape="1">
          <a:blip r:embed="rId6">
            <a:alphaModFix/>
          </a:blip>
          <a:srcRect b="0" l="0" r="0" t="0"/>
          <a:stretch/>
        </p:blipFill>
        <p:spPr>
          <a:xfrm>
            <a:off x="10805475" y="5434490"/>
            <a:ext cx="5934075" cy="1733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20"/>
          <p:cNvSpPr txBox="1"/>
          <p:nvPr/>
        </p:nvSpPr>
        <p:spPr>
          <a:xfrm>
            <a:off x="3033886" y="3796758"/>
            <a:ext cx="6254115" cy="508127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50"/>
              <a:buFont typeface="Arial"/>
              <a:buNone/>
            </a:pPr>
            <a:r>
              <a:rPr b="1" i="0" lang="en-US" sz="2250" u="none" cap="none" strike="noStrike">
                <a:solidFill>
                  <a:srgbClr val="292929"/>
                </a:solidFill>
                <a:latin typeface="Arial"/>
                <a:ea typeface="Arial"/>
                <a:cs typeface="Arial"/>
                <a:sym typeface="Arial"/>
              </a:rPr>
              <a:t>¿Qué es el F1-score?</a:t>
            </a:r>
            <a:endParaRPr b="0" i="0" sz="2250" u="none" cap="none" strike="noStrike">
              <a:solidFill>
                <a:srgbClr val="000000"/>
              </a:solidFill>
              <a:latin typeface="Arial"/>
              <a:ea typeface="Arial"/>
              <a:cs typeface="Arial"/>
              <a:sym typeface="Arial"/>
            </a:endParaRPr>
          </a:p>
          <a:p>
            <a:pPr indent="-186690" lvl="0" marL="199390" marR="0" rtl="0" algn="l">
              <a:lnSpc>
                <a:spcPct val="100000"/>
              </a:lnSpc>
              <a:spcBef>
                <a:spcPts val="1664"/>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Métrica que combina </a:t>
            </a:r>
            <a:r>
              <a:rPr b="1" i="0" lang="en-US" sz="1700" u="none" cap="none" strike="noStrike">
                <a:solidFill>
                  <a:srgbClr val="F2620F"/>
                </a:solidFill>
                <a:latin typeface="Arial"/>
                <a:ea typeface="Arial"/>
                <a:cs typeface="Arial"/>
                <a:sym typeface="Arial"/>
              </a:rPr>
              <a:t>precisión </a:t>
            </a:r>
            <a:r>
              <a:rPr b="0" i="0" lang="en-US" sz="1700" u="none" cap="none" strike="noStrike">
                <a:solidFill>
                  <a:srgbClr val="292929"/>
                </a:solidFill>
                <a:latin typeface="Arial"/>
                <a:ea typeface="Arial"/>
                <a:cs typeface="Arial"/>
                <a:sym typeface="Arial"/>
              </a:rPr>
              <a:t>y </a:t>
            </a:r>
            <a:r>
              <a:rPr b="1" i="0" lang="en-US" sz="1700" u="none" cap="none" strike="noStrike">
                <a:solidFill>
                  <a:srgbClr val="F2620F"/>
                </a:solidFill>
                <a:latin typeface="Arial"/>
                <a:ea typeface="Arial"/>
                <a:cs typeface="Arial"/>
                <a:sym typeface="Arial"/>
              </a:rPr>
              <a:t>recall </a:t>
            </a:r>
            <a:r>
              <a:rPr b="0" i="0" lang="en-US" sz="1700" u="none" cap="none" strike="noStrike">
                <a:solidFill>
                  <a:srgbClr val="292929"/>
                </a:solidFill>
                <a:latin typeface="Arial"/>
                <a:ea typeface="Arial"/>
                <a:cs typeface="Arial"/>
                <a:sym typeface="Arial"/>
              </a:rPr>
              <a:t>en un solo valor.</a:t>
            </a:r>
            <a:endParaRPr b="0" i="0" sz="1700" u="none" cap="none" strike="noStrike">
              <a:solidFill>
                <a:srgbClr val="000000"/>
              </a:solidFill>
              <a:latin typeface="Arial"/>
              <a:ea typeface="Arial"/>
              <a:cs typeface="Arial"/>
              <a:sym typeface="Arial"/>
            </a:endParaRPr>
          </a:p>
          <a:p>
            <a:pPr indent="-187325" lvl="0" marL="199390" marR="555625" rtl="0" algn="l">
              <a:lnSpc>
                <a:spcPct val="101899"/>
              </a:lnSpc>
              <a:spcBef>
                <a:spcPts val="434"/>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Ideal para evaluar modelos donde ambas métricas son                                                                      importantes.</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325"/>
              </a:spcBef>
              <a:spcAft>
                <a:spcPts val="0"/>
              </a:spcAft>
              <a:buClr>
                <a:srgbClr val="292929"/>
              </a:buClr>
              <a:buSzPts val="1700"/>
              <a:buFont typeface="Times New Roman"/>
              <a:buNone/>
            </a:pPr>
            <a:r>
              <a:t/>
            </a:r>
            <a:endParaRPr b="0" i="0" sz="17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250"/>
              <a:buFont typeface="Arial"/>
              <a:buNone/>
            </a:pPr>
            <a:r>
              <a:rPr b="1" i="0" lang="en-US" sz="2250" u="none" cap="none" strike="noStrike">
                <a:solidFill>
                  <a:srgbClr val="292929"/>
                </a:solidFill>
                <a:latin typeface="Arial"/>
                <a:ea typeface="Arial"/>
                <a:cs typeface="Arial"/>
                <a:sym typeface="Arial"/>
              </a:rPr>
              <a:t>Equilibrio entre precisión y recall</a:t>
            </a:r>
            <a:endParaRPr b="0" i="0" sz="2250" u="none" cap="none" strike="noStrike">
              <a:solidFill>
                <a:srgbClr val="000000"/>
              </a:solidFill>
              <a:latin typeface="Arial"/>
              <a:ea typeface="Arial"/>
              <a:cs typeface="Arial"/>
              <a:sym typeface="Arial"/>
            </a:endParaRPr>
          </a:p>
          <a:p>
            <a:pPr indent="-187325" lvl="0" marL="199390" marR="5080" rtl="0" algn="l">
              <a:lnSpc>
                <a:spcPct val="101899"/>
              </a:lnSpc>
              <a:spcBef>
                <a:spcPts val="1625"/>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El F1-score penaliza modelos que sacriﬁcan una métrica por                                                                            la otra.</a:t>
            </a:r>
            <a:endParaRPr b="0" i="0" sz="1700" u="none" cap="none" strike="noStrike">
              <a:solidFill>
                <a:srgbClr val="000000"/>
              </a:solidFill>
              <a:latin typeface="Arial"/>
              <a:ea typeface="Arial"/>
              <a:cs typeface="Arial"/>
              <a:sym typeface="Arial"/>
            </a:endParaRPr>
          </a:p>
          <a:p>
            <a:pPr indent="-186690" lvl="0" marL="199390" marR="0" rtl="0" algn="l">
              <a:lnSpc>
                <a:spcPct val="100000"/>
              </a:lnSpc>
              <a:spcBef>
                <a:spcPts val="470"/>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Ayuda a identiﬁcar modelos que logran un balance efectivo.</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325"/>
              </a:spcBef>
              <a:spcAft>
                <a:spcPts val="0"/>
              </a:spcAft>
              <a:buClr>
                <a:srgbClr val="292929"/>
              </a:buClr>
              <a:buSzPts val="1700"/>
              <a:buFont typeface="Times New Roman"/>
              <a:buNone/>
            </a:pPr>
            <a:r>
              <a:t/>
            </a:r>
            <a:endParaRPr b="0" i="0" sz="17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250"/>
              <a:buFont typeface="Arial"/>
              <a:buNone/>
            </a:pPr>
            <a:r>
              <a:rPr b="1" i="0" lang="en-US" sz="2250" u="none" cap="none" strike="noStrike">
                <a:solidFill>
                  <a:srgbClr val="292929"/>
                </a:solidFill>
                <a:latin typeface="Arial"/>
                <a:ea typeface="Arial"/>
                <a:cs typeface="Arial"/>
                <a:sym typeface="Arial"/>
              </a:rPr>
              <a:t>Desbalance de clases</a:t>
            </a:r>
            <a:endParaRPr b="0" i="0" sz="2250" u="none" cap="none" strike="noStrike">
              <a:solidFill>
                <a:srgbClr val="000000"/>
              </a:solidFill>
              <a:latin typeface="Arial"/>
              <a:ea typeface="Arial"/>
              <a:cs typeface="Arial"/>
              <a:sym typeface="Arial"/>
            </a:endParaRPr>
          </a:p>
          <a:p>
            <a:pPr indent="-187325" lvl="0" marL="199390" marR="1028065" rtl="0" algn="l">
              <a:lnSpc>
                <a:spcPct val="101899"/>
              </a:lnSpc>
              <a:spcBef>
                <a:spcPts val="1625"/>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En conjuntos desbalanceados, el F1-score es más                                                         informativo que el accuracy.</a:t>
            </a:r>
            <a:endParaRPr b="0" i="0" sz="1700" u="none" cap="none" strike="noStrike">
              <a:solidFill>
                <a:srgbClr val="000000"/>
              </a:solidFill>
              <a:latin typeface="Arial"/>
              <a:ea typeface="Arial"/>
              <a:cs typeface="Arial"/>
              <a:sym typeface="Arial"/>
            </a:endParaRPr>
          </a:p>
          <a:p>
            <a:pPr indent="-187325" lvl="0" marL="199390" marR="916305" rtl="0" algn="l">
              <a:lnSpc>
                <a:spcPct val="101899"/>
              </a:lnSpc>
              <a:spcBef>
                <a:spcPts val="434"/>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Permite comparar modelos sin sesgo hacia la clase                                                             mayoritaria.</a:t>
            </a:r>
            <a:endParaRPr b="0" i="0" sz="1700" u="none" cap="none" strike="noStrike">
              <a:solidFill>
                <a:srgbClr val="000000"/>
              </a:solidFill>
              <a:latin typeface="Arial"/>
              <a:ea typeface="Arial"/>
              <a:cs typeface="Arial"/>
              <a:sym typeface="Arial"/>
            </a:endParaRPr>
          </a:p>
        </p:txBody>
      </p:sp>
      <p:sp>
        <p:nvSpPr>
          <p:cNvPr descr="$PPTXTitle" id="583" name="Google Shape;583;p20"/>
          <p:cNvSpPr txBox="1"/>
          <p:nvPr>
            <p:ph type="title"/>
          </p:nvPr>
        </p:nvSpPr>
        <p:spPr>
          <a:xfrm>
            <a:off x="3033923" y="1565105"/>
            <a:ext cx="3677920" cy="1821653"/>
          </a:xfrm>
          <a:prstGeom prst="rect">
            <a:avLst/>
          </a:prstGeom>
          <a:noFill/>
          <a:ln>
            <a:noFill/>
          </a:ln>
        </p:spPr>
        <p:txBody>
          <a:bodyPr anchorCtr="0" anchor="t" bIns="0" lIns="0" spcFirstLastPara="1" rIns="0" wrap="square" tIns="102225">
            <a:spAutoFit/>
          </a:bodyPr>
          <a:lstStyle/>
          <a:p>
            <a:pPr indent="0" lvl="0" marL="12700" marR="5080" rtl="0" algn="l">
              <a:lnSpc>
                <a:spcPct val="111500"/>
              </a:lnSpc>
              <a:spcBef>
                <a:spcPts val="0"/>
              </a:spcBef>
              <a:spcAft>
                <a:spcPts val="0"/>
              </a:spcAft>
              <a:buSzPts val="1400"/>
              <a:buNone/>
            </a:pPr>
            <a:r>
              <a:rPr lang="en-US"/>
              <a:t>F1-score y equilibrio</a:t>
            </a:r>
            <a:endParaRPr/>
          </a:p>
        </p:txBody>
      </p:sp>
      <p:pic>
        <p:nvPicPr>
          <p:cNvPr id="584" name="Google Shape;584;p20"/>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585" name="Google Shape;585;p20"/>
          <p:cNvGrpSpPr/>
          <p:nvPr/>
        </p:nvGrpSpPr>
        <p:grpSpPr>
          <a:xfrm>
            <a:off x="989605" y="1689082"/>
            <a:ext cx="845823" cy="846040"/>
            <a:chOff x="989605" y="1689082"/>
            <a:chExt cx="845823" cy="846040"/>
          </a:xfrm>
        </p:grpSpPr>
        <p:sp>
          <p:nvSpPr>
            <p:cNvPr id="586" name="Google Shape;586;p20"/>
            <p:cNvSpPr/>
            <p:nvPr/>
          </p:nvSpPr>
          <p:spPr>
            <a:xfrm>
              <a:off x="989605" y="168908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 name="Google Shape;587;p20"/>
            <p:cNvSpPr/>
            <p:nvPr/>
          </p:nvSpPr>
          <p:spPr>
            <a:xfrm>
              <a:off x="1287834" y="1689082"/>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20"/>
            <p:cNvSpPr/>
            <p:nvPr/>
          </p:nvSpPr>
          <p:spPr>
            <a:xfrm>
              <a:off x="989609" y="1839797"/>
              <a:ext cx="845819" cy="695325"/>
            </a:xfrm>
            <a:custGeom>
              <a:rect b="b" l="l" r="r" t="t"/>
              <a:pathLst>
                <a:path extrusionOk="0" h="695325" w="845819">
                  <a:moveTo>
                    <a:pt x="845527" y="518782"/>
                  </a:moveTo>
                  <a:lnTo>
                    <a:pt x="839520" y="473151"/>
                  </a:lnTo>
                  <a:lnTo>
                    <a:pt x="821905" y="430618"/>
                  </a:lnTo>
                  <a:lnTo>
                    <a:pt x="793877" y="394106"/>
                  </a:lnTo>
                  <a:lnTo>
                    <a:pt x="671830" y="272072"/>
                  </a:lnTo>
                  <a:lnTo>
                    <a:pt x="422757" y="22961"/>
                  </a:lnTo>
                  <a:lnTo>
                    <a:pt x="399770" y="0"/>
                  </a:lnTo>
                  <a:lnTo>
                    <a:pt x="150685" y="249085"/>
                  </a:lnTo>
                  <a:lnTo>
                    <a:pt x="173659" y="272072"/>
                  </a:lnTo>
                  <a:lnTo>
                    <a:pt x="51650" y="394081"/>
                  </a:lnTo>
                  <a:lnTo>
                    <a:pt x="23622" y="430593"/>
                  </a:lnTo>
                  <a:lnTo>
                    <a:pt x="6007" y="473125"/>
                  </a:lnTo>
                  <a:lnTo>
                    <a:pt x="0" y="518756"/>
                  </a:lnTo>
                  <a:lnTo>
                    <a:pt x="381" y="530301"/>
                  </a:lnTo>
                  <a:lnTo>
                    <a:pt x="9359" y="575449"/>
                  </a:lnTo>
                  <a:lnTo>
                    <a:pt x="29718" y="616724"/>
                  </a:lnTo>
                  <a:lnTo>
                    <a:pt x="59855" y="651116"/>
                  </a:lnTo>
                  <a:lnTo>
                    <a:pt x="98069" y="676630"/>
                  </a:lnTo>
                  <a:lnTo>
                    <a:pt x="141655" y="691438"/>
                  </a:lnTo>
                  <a:lnTo>
                    <a:pt x="176060" y="694817"/>
                  </a:lnTo>
                  <a:lnTo>
                    <a:pt x="187591" y="694436"/>
                  </a:lnTo>
                  <a:lnTo>
                    <a:pt x="232740" y="685457"/>
                  </a:lnTo>
                  <a:lnTo>
                    <a:pt x="274027" y="665099"/>
                  </a:lnTo>
                  <a:lnTo>
                    <a:pt x="422744" y="521157"/>
                  </a:lnTo>
                  <a:lnTo>
                    <a:pt x="544791" y="643191"/>
                  </a:lnTo>
                  <a:lnTo>
                    <a:pt x="581304" y="671220"/>
                  </a:lnTo>
                  <a:lnTo>
                    <a:pt x="623836" y="688835"/>
                  </a:lnTo>
                  <a:lnTo>
                    <a:pt x="669467" y="694842"/>
                  </a:lnTo>
                  <a:lnTo>
                    <a:pt x="681012" y="694461"/>
                  </a:lnTo>
                  <a:lnTo>
                    <a:pt x="726160" y="685482"/>
                  </a:lnTo>
                  <a:lnTo>
                    <a:pt x="767435" y="665124"/>
                  </a:lnTo>
                  <a:lnTo>
                    <a:pt x="801827" y="634974"/>
                  </a:lnTo>
                  <a:lnTo>
                    <a:pt x="827341" y="596760"/>
                  </a:lnTo>
                  <a:lnTo>
                    <a:pt x="842137" y="553173"/>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9" name="Google Shape;589;p20"/>
          <p:cNvGrpSpPr/>
          <p:nvPr/>
        </p:nvGrpSpPr>
        <p:grpSpPr>
          <a:xfrm>
            <a:off x="0" y="1"/>
            <a:ext cx="14536419" cy="948701"/>
            <a:chOff x="0" y="1"/>
            <a:chExt cx="14536419" cy="948701"/>
          </a:xfrm>
        </p:grpSpPr>
        <p:sp>
          <p:nvSpPr>
            <p:cNvPr id="590" name="Google Shape;590;p20"/>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20"/>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20"/>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93" name="Google Shape;593;p20"/>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20"/>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2600"/>
              <a:buNone/>
            </a:pPr>
            <a:fld id="{00000000-1234-1234-1234-123412341234}" type="slidenum">
              <a:rPr lang="en-US"/>
              <a:t>‹#›</a:t>
            </a:fld>
            <a:r>
              <a:rPr lang="en-US"/>
              <a:t>.</a:t>
            </a:r>
            <a:endParaRPr/>
          </a:p>
        </p:txBody>
      </p:sp>
      <p:sp>
        <p:nvSpPr>
          <p:cNvPr id="595" name="Google Shape;595;p20"/>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596" name="Google Shape;596;p20"/>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21"/>
          <p:cNvSpPr txBox="1"/>
          <p:nvPr/>
        </p:nvSpPr>
        <p:spPr>
          <a:xfrm>
            <a:off x="3033886" y="4644998"/>
            <a:ext cx="6368415" cy="436689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Impacto del umbral en la clasiﬁcación</a:t>
            </a:r>
            <a:endParaRPr b="0" i="0" sz="2300" u="none" cap="none" strike="noStrike">
              <a:solidFill>
                <a:srgbClr val="000000"/>
              </a:solidFill>
              <a:latin typeface="Arial"/>
              <a:ea typeface="Arial"/>
              <a:cs typeface="Arial"/>
              <a:sym typeface="Arial"/>
            </a:endParaRPr>
          </a:p>
          <a:p>
            <a:pPr indent="-192405" lvl="0" marL="204470" marR="831215"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Modiﬁcar el </a:t>
            </a:r>
            <a:r>
              <a:rPr b="1" i="0" lang="en-US" sz="1750" u="none" cap="none" strike="noStrike">
                <a:solidFill>
                  <a:srgbClr val="F2620F"/>
                </a:solidFill>
                <a:latin typeface="Arial"/>
                <a:ea typeface="Arial"/>
                <a:cs typeface="Arial"/>
                <a:sym typeface="Arial"/>
              </a:rPr>
              <a:t>umbral </a:t>
            </a:r>
            <a:r>
              <a:rPr b="0" i="0" lang="en-US" sz="1750" u="none" cap="none" strike="noStrike">
                <a:solidFill>
                  <a:srgbClr val="292929"/>
                </a:solidFill>
                <a:latin typeface="Arial"/>
                <a:ea typeface="Arial"/>
                <a:cs typeface="Arial"/>
                <a:sym typeface="Arial"/>
              </a:rPr>
              <a:t>cambia la proporción de casos                                                          	clasiﬁcados como positivos o negativos.</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Un umbral bajo aumenta el </a:t>
            </a:r>
            <a:r>
              <a:rPr b="1" i="0" lang="en-US" sz="1750" u="none" cap="none" strike="noStrike">
                <a:solidFill>
                  <a:srgbClr val="F2620F"/>
                </a:solidFill>
                <a:latin typeface="Arial"/>
                <a:ea typeface="Arial"/>
                <a:cs typeface="Arial"/>
                <a:sym typeface="Arial"/>
              </a:rPr>
              <a:t>recall </a:t>
            </a:r>
            <a:r>
              <a:rPr b="0" i="0" lang="en-US" sz="1750" u="none" cap="none" strike="noStrike">
                <a:solidFill>
                  <a:srgbClr val="292929"/>
                </a:solidFill>
                <a:latin typeface="Arial"/>
                <a:ea typeface="Arial"/>
                <a:cs typeface="Arial"/>
                <a:sym typeface="Arial"/>
              </a:rPr>
              <a:t>pero puede reducir la</a:t>
            </a:r>
            <a:endParaRPr b="0" i="0" sz="1750" u="none" cap="none" strike="noStrike">
              <a:solidFill>
                <a:srgbClr val="000000"/>
              </a:solidFill>
              <a:latin typeface="Arial"/>
              <a:ea typeface="Arial"/>
              <a:cs typeface="Arial"/>
              <a:sym typeface="Arial"/>
            </a:endParaRPr>
          </a:p>
          <a:p>
            <a:pPr indent="0" lvl="0" marL="205740" marR="0" rtl="0" algn="l">
              <a:lnSpc>
                <a:spcPct val="100000"/>
              </a:lnSpc>
              <a:spcBef>
                <a:spcPts val="50"/>
              </a:spcBef>
              <a:spcAft>
                <a:spcPts val="0"/>
              </a:spcAft>
              <a:buClr>
                <a:srgbClr val="000000"/>
              </a:buClr>
              <a:buSzPts val="1750"/>
              <a:buFont typeface="Arial"/>
              <a:buNone/>
            </a:pPr>
            <a:r>
              <a:rPr b="1" i="0" lang="en-US" sz="1750" u="none" cap="none" strike="noStrike">
                <a:solidFill>
                  <a:srgbClr val="F2620F"/>
                </a:solidFill>
                <a:latin typeface="Arial"/>
                <a:ea typeface="Arial"/>
                <a:cs typeface="Arial"/>
                <a:sym typeface="Arial"/>
              </a:rPr>
              <a:t>precision</a:t>
            </a:r>
            <a:r>
              <a:rPr b="0" i="0" lang="en-US" sz="1750" u="none" cap="none" strike="noStrike">
                <a:solidFill>
                  <a:srgbClr val="292929"/>
                </a:solidFill>
                <a:latin typeface="Arial"/>
                <a:ea typeface="Arial"/>
                <a:cs typeface="Arial"/>
                <a:sym typeface="Arial"/>
              </a:rPr>
              <a:t>.</a:t>
            </a:r>
            <a:endParaRPr b="0" i="0" sz="1750" u="none" cap="none" strike="noStrike">
              <a:solidFill>
                <a:srgbClr val="000000"/>
              </a:solidFill>
              <a:latin typeface="Arial"/>
              <a:ea typeface="Arial"/>
              <a:cs typeface="Arial"/>
              <a:sym typeface="Arial"/>
            </a:endParaRPr>
          </a:p>
          <a:p>
            <a:pPr indent="-192405" lvl="0" marL="205104" marR="0" rtl="0" algn="l">
              <a:lnSpc>
                <a:spcPct val="100000"/>
              </a:lnSpc>
              <a:spcBef>
                <a:spcPts val="49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Un umbral alto mejora la </a:t>
            </a:r>
            <a:r>
              <a:rPr b="1" i="0" lang="en-US" sz="1750" u="none" cap="none" strike="noStrike">
                <a:solidFill>
                  <a:srgbClr val="F2620F"/>
                </a:solidFill>
                <a:latin typeface="Arial"/>
                <a:ea typeface="Arial"/>
                <a:cs typeface="Arial"/>
                <a:sym typeface="Arial"/>
              </a:rPr>
              <a:t>precision </a:t>
            </a:r>
            <a:r>
              <a:rPr b="0" i="0" lang="en-US" sz="1750" u="none" cap="none" strike="noStrike">
                <a:solidFill>
                  <a:srgbClr val="292929"/>
                </a:solidFill>
                <a:latin typeface="Arial"/>
                <a:ea typeface="Arial"/>
                <a:cs typeface="Arial"/>
                <a:sym typeface="Arial"/>
              </a:rPr>
              <a:t>pero puede disminuir el</a:t>
            </a:r>
            <a:endParaRPr b="0" i="0" sz="1750" u="none" cap="none" strike="noStrike">
              <a:solidFill>
                <a:srgbClr val="000000"/>
              </a:solidFill>
              <a:latin typeface="Arial"/>
              <a:ea typeface="Arial"/>
              <a:cs typeface="Arial"/>
              <a:sym typeface="Arial"/>
            </a:endParaRPr>
          </a:p>
          <a:p>
            <a:pPr indent="0" lvl="0" marL="205740" marR="0" rtl="0" algn="l">
              <a:lnSpc>
                <a:spcPct val="100000"/>
              </a:lnSpc>
              <a:spcBef>
                <a:spcPts val="45"/>
              </a:spcBef>
              <a:spcAft>
                <a:spcPts val="0"/>
              </a:spcAft>
              <a:buClr>
                <a:srgbClr val="000000"/>
              </a:buClr>
              <a:buSzPts val="1750"/>
              <a:buFont typeface="Arial"/>
              <a:buNone/>
            </a:pPr>
            <a:r>
              <a:rPr b="1" i="0" lang="en-US" sz="1750" u="none" cap="none" strike="noStrike">
                <a:solidFill>
                  <a:srgbClr val="F2620F"/>
                </a:solidFill>
                <a:latin typeface="Arial"/>
                <a:ea typeface="Arial"/>
                <a:cs typeface="Arial"/>
                <a:sym typeface="Arial"/>
              </a:rPr>
              <a:t>recall</a:t>
            </a:r>
            <a:r>
              <a:rPr b="0" i="0" lang="en-US" sz="1750" u="none" cap="none" strike="noStrike">
                <a:solidFill>
                  <a:srgbClr val="292929"/>
                </a:solidFill>
                <a:latin typeface="Arial"/>
                <a:ea typeface="Arial"/>
                <a:cs typeface="Arial"/>
                <a:sym typeface="Arial"/>
              </a:rPr>
              <a:t>.</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000000"/>
              </a:buClr>
              <a:buSzPts val="1750"/>
              <a:buFont typeface="Arial"/>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Ejemplo conceptual</a:t>
            </a:r>
            <a:endParaRPr b="0" i="0" sz="2300" u="none" cap="none" strike="noStrike">
              <a:solidFill>
                <a:srgbClr val="000000"/>
              </a:solidFill>
              <a:latin typeface="Arial"/>
              <a:ea typeface="Arial"/>
              <a:cs typeface="Arial"/>
              <a:sym typeface="Arial"/>
            </a:endParaRPr>
          </a:p>
          <a:p>
            <a:pPr indent="-192405" lvl="0" marL="204470" marR="553085"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La misma probabilidad puede ser clasiﬁcada diferente según el umbral elegido (0.50 vs 0.70).</a:t>
            </a:r>
            <a:endParaRPr b="0" i="0" sz="1750" u="none" cap="none" strike="noStrike">
              <a:solidFill>
                <a:srgbClr val="000000"/>
              </a:solidFill>
              <a:latin typeface="Arial"/>
              <a:ea typeface="Arial"/>
              <a:cs typeface="Arial"/>
              <a:sym typeface="Arial"/>
            </a:endParaRPr>
          </a:p>
          <a:p>
            <a:pPr indent="-192405" lvl="0" marL="204470" marR="659130" rtl="0" algn="l">
              <a:lnSpc>
                <a:spcPct val="102200"/>
              </a:lnSpc>
              <a:spcBef>
                <a:spcPts val="445"/>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Es fundamental reportar el umbral usado al presentar                                                                       	resultados.</a:t>
            </a:r>
            <a:endParaRPr b="0" i="0" sz="1750" u="none" cap="none" strike="noStrike">
              <a:solidFill>
                <a:srgbClr val="000000"/>
              </a:solidFill>
              <a:latin typeface="Arial"/>
              <a:ea typeface="Arial"/>
              <a:cs typeface="Arial"/>
              <a:sym typeface="Arial"/>
            </a:endParaRPr>
          </a:p>
        </p:txBody>
      </p:sp>
      <p:sp>
        <p:nvSpPr>
          <p:cNvPr descr="$PPTXTitle" id="602" name="Google Shape;602;p21"/>
          <p:cNvSpPr txBox="1"/>
          <p:nvPr>
            <p:ph type="title"/>
          </p:nvPr>
        </p:nvSpPr>
        <p:spPr>
          <a:xfrm>
            <a:off x="3033923" y="1565105"/>
            <a:ext cx="4156710" cy="2681503"/>
          </a:xfrm>
          <a:prstGeom prst="rect">
            <a:avLst/>
          </a:prstGeom>
          <a:noFill/>
          <a:ln>
            <a:noFill/>
          </a:ln>
        </p:spPr>
        <p:txBody>
          <a:bodyPr anchorCtr="0" anchor="t" bIns="0" lIns="0" spcFirstLastPara="1" rIns="0" wrap="square" tIns="102850">
            <a:spAutoFit/>
          </a:bodyPr>
          <a:lstStyle/>
          <a:p>
            <a:pPr indent="0" lvl="0" marL="12700" marR="5080" rtl="0" algn="l">
              <a:lnSpc>
                <a:spcPct val="111500"/>
              </a:lnSpc>
              <a:spcBef>
                <a:spcPts val="0"/>
              </a:spcBef>
              <a:spcAft>
                <a:spcPts val="0"/>
              </a:spcAft>
              <a:buSzPts val="1400"/>
              <a:buNone/>
            </a:pPr>
            <a:r>
              <a:rPr lang="en-US"/>
              <a:t>El papel del umbral de         decisión</a:t>
            </a:r>
            <a:endParaRPr/>
          </a:p>
        </p:txBody>
      </p:sp>
      <p:pic>
        <p:nvPicPr>
          <p:cNvPr id="603" name="Google Shape;603;p21"/>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604" name="Google Shape;604;p21"/>
          <p:cNvGrpSpPr/>
          <p:nvPr/>
        </p:nvGrpSpPr>
        <p:grpSpPr>
          <a:xfrm>
            <a:off x="989596" y="1689060"/>
            <a:ext cx="845819" cy="846024"/>
            <a:chOff x="989596" y="1689060"/>
            <a:chExt cx="845819" cy="846024"/>
          </a:xfrm>
        </p:grpSpPr>
        <p:sp>
          <p:nvSpPr>
            <p:cNvPr id="605" name="Google Shape;605;p21"/>
            <p:cNvSpPr/>
            <p:nvPr/>
          </p:nvSpPr>
          <p:spPr>
            <a:xfrm>
              <a:off x="989623" y="1689060"/>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6" name="Google Shape;606;p21"/>
            <p:cNvSpPr/>
            <p:nvPr/>
          </p:nvSpPr>
          <p:spPr>
            <a:xfrm>
              <a:off x="1287826" y="1689080"/>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7" name="Google Shape;607;p21"/>
            <p:cNvSpPr/>
            <p:nvPr/>
          </p:nvSpPr>
          <p:spPr>
            <a:xfrm>
              <a:off x="989596" y="1839759"/>
              <a:ext cx="845819" cy="695325"/>
            </a:xfrm>
            <a:custGeom>
              <a:rect b="b" l="l" r="r" t="t"/>
              <a:pathLst>
                <a:path extrusionOk="0" h="695325" w="845819">
                  <a:moveTo>
                    <a:pt x="845553" y="518782"/>
                  </a:moveTo>
                  <a:lnTo>
                    <a:pt x="839546" y="473151"/>
                  </a:lnTo>
                  <a:lnTo>
                    <a:pt x="821931" y="430618"/>
                  </a:lnTo>
                  <a:lnTo>
                    <a:pt x="793902" y="394106"/>
                  </a:lnTo>
                  <a:lnTo>
                    <a:pt x="399796" y="0"/>
                  </a:lnTo>
                  <a:lnTo>
                    <a:pt x="150710" y="249085"/>
                  </a:lnTo>
                  <a:lnTo>
                    <a:pt x="173685" y="272072"/>
                  </a:lnTo>
                  <a:lnTo>
                    <a:pt x="51650" y="394119"/>
                  </a:lnTo>
                  <a:lnTo>
                    <a:pt x="23622" y="430631"/>
                  </a:lnTo>
                  <a:lnTo>
                    <a:pt x="6007" y="473163"/>
                  </a:lnTo>
                  <a:lnTo>
                    <a:pt x="0" y="518795"/>
                  </a:lnTo>
                  <a:lnTo>
                    <a:pt x="381" y="530339"/>
                  </a:lnTo>
                  <a:lnTo>
                    <a:pt x="9359" y="575487"/>
                  </a:lnTo>
                  <a:lnTo>
                    <a:pt x="29718" y="616762"/>
                  </a:lnTo>
                  <a:lnTo>
                    <a:pt x="59855" y="651154"/>
                  </a:lnTo>
                  <a:lnTo>
                    <a:pt x="98082" y="676668"/>
                  </a:lnTo>
                  <a:lnTo>
                    <a:pt x="141668" y="691476"/>
                  </a:lnTo>
                  <a:lnTo>
                    <a:pt x="176060" y="694855"/>
                  </a:lnTo>
                  <a:lnTo>
                    <a:pt x="187604" y="694474"/>
                  </a:lnTo>
                  <a:lnTo>
                    <a:pt x="232740" y="685495"/>
                  </a:lnTo>
                  <a:lnTo>
                    <a:pt x="274027" y="665137"/>
                  </a:lnTo>
                  <a:lnTo>
                    <a:pt x="422783" y="521169"/>
                  </a:lnTo>
                  <a:lnTo>
                    <a:pt x="544817" y="643191"/>
                  </a:lnTo>
                  <a:lnTo>
                    <a:pt x="581329" y="671220"/>
                  </a:lnTo>
                  <a:lnTo>
                    <a:pt x="623862" y="688835"/>
                  </a:lnTo>
                  <a:lnTo>
                    <a:pt x="669493" y="694842"/>
                  </a:lnTo>
                  <a:lnTo>
                    <a:pt x="681037" y="694474"/>
                  </a:lnTo>
                  <a:lnTo>
                    <a:pt x="726186" y="685495"/>
                  </a:lnTo>
                  <a:lnTo>
                    <a:pt x="767461" y="665124"/>
                  </a:lnTo>
                  <a:lnTo>
                    <a:pt x="801852" y="634987"/>
                  </a:lnTo>
                  <a:lnTo>
                    <a:pt x="827379" y="596773"/>
                  </a:lnTo>
                  <a:lnTo>
                    <a:pt x="842175" y="553186"/>
                  </a:lnTo>
                  <a:lnTo>
                    <a:pt x="845185" y="530326"/>
                  </a:lnTo>
                  <a:lnTo>
                    <a:pt x="845553"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08" name="Google Shape;608;p21"/>
          <p:cNvGrpSpPr/>
          <p:nvPr/>
        </p:nvGrpSpPr>
        <p:grpSpPr>
          <a:xfrm>
            <a:off x="0" y="1"/>
            <a:ext cx="14536419" cy="948701"/>
            <a:chOff x="0" y="1"/>
            <a:chExt cx="14536419" cy="948701"/>
          </a:xfrm>
        </p:grpSpPr>
        <p:sp>
          <p:nvSpPr>
            <p:cNvPr id="609" name="Google Shape;609;p21"/>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0" name="Google Shape;610;p21"/>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1" name="Google Shape;611;p21"/>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12" name="Google Shape;612;p21"/>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3" name="Google Shape;613;p21"/>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p>
            <a:pPr indent="0" lvl="0" marL="38100" rtl="0" algn="l">
              <a:lnSpc>
                <a:spcPct val="118076"/>
              </a:lnSpc>
              <a:spcBef>
                <a:spcPts val="0"/>
              </a:spcBef>
              <a:spcAft>
                <a:spcPts val="0"/>
              </a:spcAft>
              <a:buSzPts val="2600"/>
              <a:buNone/>
            </a:pPr>
            <a:fld id="{00000000-1234-1234-1234-123412341234}" type="slidenum">
              <a:rPr lang="en-US"/>
              <a:t>‹#›</a:t>
            </a:fld>
            <a:r>
              <a:rPr lang="en-US"/>
              <a:t>.</a:t>
            </a:r>
            <a:endParaRPr/>
          </a:p>
        </p:txBody>
      </p:sp>
      <p:sp>
        <p:nvSpPr>
          <p:cNvPr id="614" name="Google Shape;614;p21"/>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615" name="Google Shape;615;p21"/>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22"/>
          <p:cNvSpPr txBox="1"/>
          <p:nvPr/>
        </p:nvSpPr>
        <p:spPr>
          <a:xfrm>
            <a:off x="3060600" y="9629615"/>
            <a:ext cx="361378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Métricas específicas y umbrales</a:t>
            </a:r>
            <a:endParaRPr b="0" i="0" sz="2000" u="none" cap="none" strike="noStrike">
              <a:solidFill>
                <a:srgbClr val="000000"/>
              </a:solidFill>
              <a:latin typeface="Arial"/>
              <a:ea typeface="Arial"/>
              <a:cs typeface="Arial"/>
              <a:sym typeface="Arial"/>
            </a:endParaRPr>
          </a:p>
        </p:txBody>
      </p:sp>
      <p:sp>
        <p:nvSpPr>
          <p:cNvPr id="621" name="Google Shape;621;p22"/>
          <p:cNvSpPr txBox="1"/>
          <p:nvPr/>
        </p:nvSpPr>
        <p:spPr>
          <a:xfrm>
            <a:off x="16105787" y="9631901"/>
            <a:ext cx="1210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sp>
        <p:nvSpPr>
          <p:cNvPr id="622" name="Google Shape;622;p22"/>
          <p:cNvSpPr txBox="1"/>
          <p:nvPr/>
        </p:nvSpPr>
        <p:spPr>
          <a:xfrm>
            <a:off x="903857" y="9549542"/>
            <a:ext cx="550545"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22.</a:t>
            </a:r>
            <a:endParaRPr b="0" i="0" sz="2600" u="none" cap="none" strike="noStrike">
              <a:solidFill>
                <a:srgbClr val="000000"/>
              </a:solidFill>
              <a:latin typeface="Arial"/>
              <a:ea typeface="Arial"/>
              <a:cs typeface="Arial"/>
              <a:sym typeface="Arial"/>
            </a:endParaRPr>
          </a:p>
        </p:txBody>
      </p:sp>
      <p:sp>
        <p:nvSpPr>
          <p:cNvPr id="623" name="Google Shape;623;p22"/>
          <p:cNvSpPr txBox="1"/>
          <p:nvPr/>
        </p:nvSpPr>
        <p:spPr>
          <a:xfrm>
            <a:off x="9607959" y="7366713"/>
            <a:ext cx="4702175" cy="635000"/>
          </a:xfrm>
          <a:prstGeom prst="rect">
            <a:avLst/>
          </a:prstGeom>
          <a:noFill/>
          <a:ln>
            <a:noFill/>
          </a:ln>
        </p:spPr>
        <p:txBody>
          <a:bodyPr anchorCtr="0" anchor="t" bIns="0" lIns="0" spcFirstLastPara="1" rIns="0" wrap="square" tIns="12700">
            <a:spAutoFit/>
          </a:bodyPr>
          <a:lstStyle/>
          <a:p>
            <a:pPr indent="-216535" lvl="0" marL="228600" marR="508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Es fundamental explicar por qué se eligió un umbral especíﬁco en el reporte ﬁnal</a:t>
            </a:r>
            <a:endParaRPr b="0" i="0" sz="2000" u="none" cap="none" strike="noStrike">
              <a:solidFill>
                <a:srgbClr val="000000"/>
              </a:solidFill>
              <a:latin typeface="Arial"/>
              <a:ea typeface="Arial"/>
              <a:cs typeface="Arial"/>
              <a:sym typeface="Arial"/>
            </a:endParaRPr>
          </a:p>
        </p:txBody>
      </p:sp>
      <p:sp>
        <p:nvSpPr>
          <p:cNvPr id="624" name="Google Shape;624;p22"/>
          <p:cNvSpPr txBox="1"/>
          <p:nvPr/>
        </p:nvSpPr>
        <p:spPr>
          <a:xfrm>
            <a:off x="3159199" y="6970475"/>
            <a:ext cx="4466590" cy="635000"/>
          </a:xfrm>
          <a:prstGeom prst="rect">
            <a:avLst/>
          </a:prstGeom>
          <a:noFill/>
          <a:ln>
            <a:noFill/>
          </a:ln>
        </p:spPr>
        <p:txBody>
          <a:bodyPr anchorCtr="0" anchor="t" bIns="0" lIns="0" spcFirstLastPara="1" rIns="0" wrap="square" tIns="12700">
            <a:spAutoFit/>
          </a:bodyPr>
          <a:lstStyle/>
          <a:p>
            <a:pPr indent="-215900" lvl="0" marL="228600" marR="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Modiﬁcar el umbral puede aumentar</a:t>
            </a:r>
            <a:endParaRPr b="0" i="0" sz="2000" u="none" cap="none" strike="noStrike">
              <a:solidFill>
                <a:srgbClr val="000000"/>
              </a:solidFill>
              <a:latin typeface="Arial"/>
              <a:ea typeface="Arial"/>
              <a:cs typeface="Arial"/>
              <a:sym typeface="Arial"/>
            </a:endParaRPr>
          </a:p>
          <a:p>
            <a:pPr indent="0" lvl="0" marL="228600" marR="0" rtl="0" algn="l">
              <a:lnSpc>
                <a:spcPct val="100000"/>
              </a:lnSpc>
              <a:spcBef>
                <a:spcPts val="0"/>
              </a:spcBef>
              <a:spcAft>
                <a:spcPts val="0"/>
              </a:spcAft>
              <a:buClr>
                <a:srgbClr val="000000"/>
              </a:buClr>
              <a:buSzPts val="2000"/>
              <a:buFont typeface="Arial"/>
              <a:buNone/>
            </a:pPr>
            <a:r>
              <a:rPr b="1" i="0" lang="en-US" sz="2000" u="none" cap="none" strike="noStrike">
                <a:solidFill>
                  <a:srgbClr val="F2620F"/>
                </a:solidFill>
                <a:latin typeface="Arial"/>
                <a:ea typeface="Arial"/>
                <a:cs typeface="Arial"/>
                <a:sym typeface="Arial"/>
              </a:rPr>
              <a:t>precision </a:t>
            </a:r>
            <a:r>
              <a:rPr b="0" i="0" lang="en-US" sz="2000" u="none" cap="none" strike="noStrike">
                <a:solidFill>
                  <a:srgbClr val="262626"/>
                </a:solidFill>
                <a:latin typeface="Arial"/>
                <a:ea typeface="Arial"/>
                <a:cs typeface="Arial"/>
                <a:sym typeface="Arial"/>
              </a:rPr>
              <a:t>o </a:t>
            </a:r>
            <a:r>
              <a:rPr b="1" i="0" lang="en-US" sz="2000" u="none" cap="none" strike="noStrike">
                <a:solidFill>
                  <a:srgbClr val="F2620F"/>
                </a:solidFill>
                <a:latin typeface="Arial"/>
                <a:ea typeface="Arial"/>
                <a:cs typeface="Arial"/>
                <a:sym typeface="Arial"/>
              </a:rPr>
              <a:t>recall </a:t>
            </a:r>
            <a:r>
              <a:rPr b="0" i="0" lang="en-US" sz="2000" u="none" cap="none" strike="noStrike">
                <a:solidFill>
                  <a:srgbClr val="262626"/>
                </a:solidFill>
                <a:latin typeface="Arial"/>
                <a:ea typeface="Arial"/>
                <a:cs typeface="Arial"/>
                <a:sym typeface="Arial"/>
              </a:rPr>
              <a:t>según la necesidad</a:t>
            </a:r>
            <a:endParaRPr b="0" i="0" sz="2000" u="none" cap="none" strike="noStrike">
              <a:solidFill>
                <a:srgbClr val="000000"/>
              </a:solidFill>
              <a:latin typeface="Arial"/>
              <a:ea typeface="Arial"/>
              <a:cs typeface="Arial"/>
              <a:sym typeface="Arial"/>
            </a:endParaRPr>
          </a:p>
        </p:txBody>
      </p:sp>
      <p:sp>
        <p:nvSpPr>
          <p:cNvPr id="625" name="Google Shape;625;p22"/>
          <p:cNvSpPr txBox="1"/>
          <p:nvPr/>
        </p:nvSpPr>
        <p:spPr>
          <a:xfrm>
            <a:off x="9607959" y="4962706"/>
            <a:ext cx="4525645" cy="635000"/>
          </a:xfrm>
          <a:prstGeom prst="rect">
            <a:avLst/>
          </a:prstGeom>
          <a:noFill/>
          <a:ln>
            <a:noFill/>
          </a:ln>
        </p:spPr>
        <p:txBody>
          <a:bodyPr anchorCtr="0" anchor="t" bIns="0" lIns="0" spcFirstLastPara="1" rIns="0" wrap="square" tIns="12700">
            <a:spAutoFit/>
          </a:bodyPr>
          <a:lstStyle/>
          <a:p>
            <a:pPr indent="-216535" lvl="0" marL="228600" marR="508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selección depende del objetivo del análisis y los costos asociados a errores</a:t>
            </a:r>
            <a:endParaRPr b="0" i="0" sz="2000" u="none" cap="none" strike="noStrike">
              <a:solidFill>
                <a:srgbClr val="000000"/>
              </a:solidFill>
              <a:latin typeface="Arial"/>
              <a:ea typeface="Arial"/>
              <a:cs typeface="Arial"/>
              <a:sym typeface="Arial"/>
            </a:endParaRPr>
          </a:p>
        </p:txBody>
      </p:sp>
      <p:sp>
        <p:nvSpPr>
          <p:cNvPr id="626" name="Google Shape;626;p22"/>
          <p:cNvSpPr txBox="1"/>
          <p:nvPr/>
        </p:nvSpPr>
        <p:spPr>
          <a:xfrm>
            <a:off x="3159199" y="4962706"/>
            <a:ext cx="4723765" cy="635000"/>
          </a:xfrm>
          <a:prstGeom prst="rect">
            <a:avLst/>
          </a:prstGeom>
          <a:noFill/>
          <a:ln>
            <a:noFill/>
          </a:ln>
        </p:spPr>
        <p:txBody>
          <a:bodyPr anchorCtr="0" anchor="t" bIns="0" lIns="0" spcFirstLastPara="1" rIns="0" wrap="square" tIns="12700">
            <a:spAutoFit/>
          </a:bodyPr>
          <a:lstStyle/>
          <a:p>
            <a:pPr indent="-216535" lvl="0" marL="228600" marR="5080" rtl="0" algn="l">
              <a:lnSpc>
                <a:spcPct val="100000"/>
              </a:lnSpc>
              <a:spcBef>
                <a:spcPts val="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probabilidad estimada se convierte en clase según el umbral elegido</a:t>
            </a:r>
            <a:endParaRPr b="0" i="0" sz="2000" u="none" cap="none" strike="noStrike">
              <a:solidFill>
                <a:srgbClr val="000000"/>
              </a:solidFill>
              <a:latin typeface="Arial"/>
              <a:ea typeface="Arial"/>
              <a:cs typeface="Arial"/>
              <a:sym typeface="Arial"/>
            </a:endParaRPr>
          </a:p>
        </p:txBody>
      </p:sp>
      <p:sp>
        <p:nvSpPr>
          <p:cNvPr descr="$PPTXTitle" id="627" name="Google Shape;627;p22"/>
          <p:cNvSpPr txBox="1"/>
          <p:nvPr>
            <p:ph type="title"/>
          </p:nvPr>
        </p:nvSpPr>
        <p:spPr>
          <a:xfrm>
            <a:off x="3031356" y="1550978"/>
            <a:ext cx="14208760" cy="1061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6800"/>
              <a:t>Seleccionando el umbral adecuado</a:t>
            </a:r>
            <a:endParaRPr sz="6800"/>
          </a:p>
        </p:txBody>
      </p:sp>
      <p:grpSp>
        <p:nvGrpSpPr>
          <p:cNvPr id="628" name="Google Shape;628;p22"/>
          <p:cNvGrpSpPr/>
          <p:nvPr/>
        </p:nvGrpSpPr>
        <p:grpSpPr>
          <a:xfrm>
            <a:off x="989533" y="1692474"/>
            <a:ext cx="845819" cy="846052"/>
            <a:chOff x="989533" y="1692474"/>
            <a:chExt cx="845819" cy="846052"/>
          </a:xfrm>
        </p:grpSpPr>
        <p:sp>
          <p:nvSpPr>
            <p:cNvPr id="629" name="Google Shape;629;p22"/>
            <p:cNvSpPr/>
            <p:nvPr/>
          </p:nvSpPr>
          <p:spPr>
            <a:xfrm>
              <a:off x="989600" y="169249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0" name="Google Shape;630;p22"/>
            <p:cNvSpPr/>
            <p:nvPr/>
          </p:nvSpPr>
          <p:spPr>
            <a:xfrm>
              <a:off x="1287846" y="1692474"/>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1" name="Google Shape;631;p22"/>
            <p:cNvSpPr/>
            <p:nvPr/>
          </p:nvSpPr>
          <p:spPr>
            <a:xfrm>
              <a:off x="989533" y="1843201"/>
              <a:ext cx="845819" cy="695325"/>
            </a:xfrm>
            <a:custGeom>
              <a:rect b="b" l="l" r="r" t="t"/>
              <a:pathLst>
                <a:path extrusionOk="0" h="695325" w="845819">
                  <a:moveTo>
                    <a:pt x="845604" y="518782"/>
                  </a:moveTo>
                  <a:lnTo>
                    <a:pt x="839597" y="473151"/>
                  </a:lnTo>
                  <a:lnTo>
                    <a:pt x="821982" y="430618"/>
                  </a:lnTo>
                  <a:lnTo>
                    <a:pt x="793953" y="394106"/>
                  </a:lnTo>
                  <a:lnTo>
                    <a:pt x="399846" y="0"/>
                  </a:lnTo>
                  <a:lnTo>
                    <a:pt x="150761" y="249085"/>
                  </a:lnTo>
                  <a:lnTo>
                    <a:pt x="173697" y="272034"/>
                  </a:lnTo>
                  <a:lnTo>
                    <a:pt x="51650" y="394081"/>
                  </a:lnTo>
                  <a:lnTo>
                    <a:pt x="23622" y="430593"/>
                  </a:lnTo>
                  <a:lnTo>
                    <a:pt x="6007" y="473125"/>
                  </a:lnTo>
                  <a:lnTo>
                    <a:pt x="0" y="518756"/>
                  </a:lnTo>
                  <a:lnTo>
                    <a:pt x="381" y="530301"/>
                  </a:lnTo>
                  <a:lnTo>
                    <a:pt x="9359" y="575449"/>
                  </a:lnTo>
                  <a:lnTo>
                    <a:pt x="29718" y="616724"/>
                  </a:lnTo>
                  <a:lnTo>
                    <a:pt x="59855" y="651116"/>
                  </a:lnTo>
                  <a:lnTo>
                    <a:pt x="98069" y="676630"/>
                  </a:lnTo>
                  <a:lnTo>
                    <a:pt x="141655" y="691426"/>
                  </a:lnTo>
                  <a:lnTo>
                    <a:pt x="176060" y="694817"/>
                  </a:lnTo>
                  <a:lnTo>
                    <a:pt x="187604" y="694436"/>
                  </a:lnTo>
                  <a:lnTo>
                    <a:pt x="232740" y="685457"/>
                  </a:lnTo>
                  <a:lnTo>
                    <a:pt x="274027" y="665099"/>
                  </a:lnTo>
                  <a:lnTo>
                    <a:pt x="422783" y="521119"/>
                  </a:lnTo>
                  <a:lnTo>
                    <a:pt x="544868" y="643191"/>
                  </a:lnTo>
                  <a:lnTo>
                    <a:pt x="581380" y="671220"/>
                  </a:lnTo>
                  <a:lnTo>
                    <a:pt x="623912" y="688835"/>
                  </a:lnTo>
                  <a:lnTo>
                    <a:pt x="669544" y="694842"/>
                  </a:lnTo>
                  <a:lnTo>
                    <a:pt x="681088" y="694474"/>
                  </a:lnTo>
                  <a:lnTo>
                    <a:pt x="726236" y="685482"/>
                  </a:lnTo>
                  <a:lnTo>
                    <a:pt x="767511" y="665124"/>
                  </a:lnTo>
                  <a:lnTo>
                    <a:pt x="801903" y="634987"/>
                  </a:lnTo>
                  <a:lnTo>
                    <a:pt x="827417" y="596773"/>
                  </a:lnTo>
                  <a:lnTo>
                    <a:pt x="842225" y="553186"/>
                  </a:lnTo>
                  <a:lnTo>
                    <a:pt x="845223" y="530326"/>
                  </a:lnTo>
                  <a:lnTo>
                    <a:pt x="845604"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32" name="Google Shape;632;p22"/>
          <p:cNvGrpSpPr/>
          <p:nvPr/>
        </p:nvGrpSpPr>
        <p:grpSpPr>
          <a:xfrm>
            <a:off x="0" y="1"/>
            <a:ext cx="14536419" cy="948701"/>
            <a:chOff x="0" y="1"/>
            <a:chExt cx="14536419" cy="948701"/>
          </a:xfrm>
        </p:grpSpPr>
        <p:sp>
          <p:nvSpPr>
            <p:cNvPr id="633" name="Google Shape;633;p22"/>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22"/>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22"/>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36" name="Google Shape;636;p22"/>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7" name="Google Shape;637;p22"/>
          <p:cNvSpPr/>
          <p:nvPr/>
        </p:nvSpPr>
        <p:spPr>
          <a:xfrm>
            <a:off x="13995344" y="6236298"/>
            <a:ext cx="541020" cy="937260"/>
          </a:xfrm>
          <a:custGeom>
            <a:rect b="b" l="l" r="r" t="t"/>
            <a:pathLst>
              <a:path extrusionOk="0" h="937259" w="541019">
                <a:moveTo>
                  <a:pt x="270332" y="0"/>
                </a:moveTo>
                <a:lnTo>
                  <a:pt x="203773" y="14307"/>
                </a:lnTo>
                <a:lnTo>
                  <a:pt x="143252" y="54887"/>
                </a:lnTo>
                <a:lnTo>
                  <a:pt x="115890" y="83933"/>
                </a:lnTo>
                <a:lnTo>
                  <a:pt x="90798" y="118229"/>
                </a:lnTo>
                <a:lnTo>
                  <a:pt x="68229" y="157337"/>
                </a:lnTo>
                <a:lnTo>
                  <a:pt x="48437" y="200818"/>
                </a:lnTo>
                <a:lnTo>
                  <a:pt x="31675" y="248233"/>
                </a:lnTo>
                <a:lnTo>
                  <a:pt x="18197" y="299143"/>
                </a:lnTo>
                <a:lnTo>
                  <a:pt x="8256" y="353109"/>
                </a:lnTo>
                <a:lnTo>
                  <a:pt x="2106" y="409691"/>
                </a:lnTo>
                <a:lnTo>
                  <a:pt x="0" y="468452"/>
                </a:lnTo>
                <a:lnTo>
                  <a:pt x="2106" y="527214"/>
                </a:lnTo>
                <a:lnTo>
                  <a:pt x="8256" y="583799"/>
                </a:lnTo>
                <a:lnTo>
                  <a:pt x="18197" y="637765"/>
                </a:lnTo>
                <a:lnTo>
                  <a:pt x="31675" y="688676"/>
                </a:lnTo>
                <a:lnTo>
                  <a:pt x="48437" y="736091"/>
                </a:lnTo>
                <a:lnTo>
                  <a:pt x="68229" y="779572"/>
                </a:lnTo>
                <a:lnTo>
                  <a:pt x="90798" y="818679"/>
                </a:lnTo>
                <a:lnTo>
                  <a:pt x="115890" y="852974"/>
                </a:lnTo>
                <a:lnTo>
                  <a:pt x="143252" y="882018"/>
                </a:lnTo>
                <a:lnTo>
                  <a:pt x="203773" y="922597"/>
                </a:lnTo>
                <a:lnTo>
                  <a:pt x="270332" y="936904"/>
                </a:lnTo>
                <a:lnTo>
                  <a:pt x="304242" y="933254"/>
                </a:lnTo>
                <a:lnTo>
                  <a:pt x="368038" y="905372"/>
                </a:lnTo>
                <a:lnTo>
                  <a:pt x="424779" y="852974"/>
                </a:lnTo>
                <a:lnTo>
                  <a:pt x="449870" y="818679"/>
                </a:lnTo>
                <a:lnTo>
                  <a:pt x="472439" y="779572"/>
                </a:lnTo>
                <a:lnTo>
                  <a:pt x="492230" y="736091"/>
                </a:lnTo>
                <a:lnTo>
                  <a:pt x="508990" y="688676"/>
                </a:lnTo>
                <a:lnTo>
                  <a:pt x="522468" y="637765"/>
                </a:lnTo>
                <a:lnTo>
                  <a:pt x="532408" y="583799"/>
                </a:lnTo>
                <a:lnTo>
                  <a:pt x="538558" y="527214"/>
                </a:lnTo>
                <a:lnTo>
                  <a:pt x="540664" y="468452"/>
                </a:lnTo>
                <a:lnTo>
                  <a:pt x="538558" y="409691"/>
                </a:lnTo>
                <a:lnTo>
                  <a:pt x="532408" y="353109"/>
                </a:lnTo>
                <a:lnTo>
                  <a:pt x="522468" y="299143"/>
                </a:lnTo>
                <a:lnTo>
                  <a:pt x="508990" y="248233"/>
                </a:lnTo>
                <a:lnTo>
                  <a:pt x="492230" y="200818"/>
                </a:lnTo>
                <a:lnTo>
                  <a:pt x="472439" y="157337"/>
                </a:lnTo>
                <a:lnTo>
                  <a:pt x="449870" y="118229"/>
                </a:lnTo>
                <a:lnTo>
                  <a:pt x="424779" y="83933"/>
                </a:lnTo>
                <a:lnTo>
                  <a:pt x="397417" y="54887"/>
                </a:lnTo>
                <a:lnTo>
                  <a:pt x="336895" y="14307"/>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8" name="Google Shape;638;p22"/>
          <p:cNvSpPr/>
          <p:nvPr/>
        </p:nvSpPr>
        <p:spPr>
          <a:xfrm>
            <a:off x="7546585" y="6236298"/>
            <a:ext cx="541020" cy="541020"/>
          </a:xfrm>
          <a:custGeom>
            <a:rect b="b" l="l" r="r" t="t"/>
            <a:pathLst>
              <a:path extrusionOk="0" h="541020" w="541020">
                <a:moveTo>
                  <a:pt x="270332" y="0"/>
                </a:moveTo>
                <a:lnTo>
                  <a:pt x="221742" y="4355"/>
                </a:lnTo>
                <a:lnTo>
                  <a:pt x="176009" y="16914"/>
                </a:lnTo>
                <a:lnTo>
                  <a:pt x="133895" y="36910"/>
                </a:lnTo>
                <a:lnTo>
                  <a:pt x="96165" y="63582"/>
                </a:lnTo>
                <a:lnTo>
                  <a:pt x="63582" y="96165"/>
                </a:lnTo>
                <a:lnTo>
                  <a:pt x="36910" y="133895"/>
                </a:lnTo>
                <a:lnTo>
                  <a:pt x="16914" y="176009"/>
                </a:lnTo>
                <a:lnTo>
                  <a:pt x="4355" y="221742"/>
                </a:lnTo>
                <a:lnTo>
                  <a:pt x="0" y="270332"/>
                </a:lnTo>
                <a:lnTo>
                  <a:pt x="4355" y="318924"/>
                </a:lnTo>
                <a:lnTo>
                  <a:pt x="16914" y="364660"/>
                </a:lnTo>
                <a:lnTo>
                  <a:pt x="36910" y="406774"/>
                </a:lnTo>
                <a:lnTo>
                  <a:pt x="63582" y="444504"/>
                </a:lnTo>
                <a:lnTo>
                  <a:pt x="96165" y="477085"/>
                </a:lnTo>
                <a:lnTo>
                  <a:pt x="133895" y="503756"/>
                </a:lnTo>
                <a:lnTo>
                  <a:pt x="176009" y="523751"/>
                </a:lnTo>
                <a:lnTo>
                  <a:pt x="221742" y="536309"/>
                </a:lnTo>
                <a:lnTo>
                  <a:pt x="270332" y="540664"/>
                </a:lnTo>
                <a:lnTo>
                  <a:pt x="318924" y="536309"/>
                </a:lnTo>
                <a:lnTo>
                  <a:pt x="364660" y="523751"/>
                </a:lnTo>
                <a:lnTo>
                  <a:pt x="406774" y="503756"/>
                </a:lnTo>
                <a:lnTo>
                  <a:pt x="444504" y="477085"/>
                </a:lnTo>
                <a:lnTo>
                  <a:pt x="477085" y="444504"/>
                </a:lnTo>
                <a:lnTo>
                  <a:pt x="503756" y="406774"/>
                </a:lnTo>
                <a:lnTo>
                  <a:pt x="523751" y="364660"/>
                </a:lnTo>
                <a:lnTo>
                  <a:pt x="536309" y="318924"/>
                </a:lnTo>
                <a:lnTo>
                  <a:pt x="540664" y="270332"/>
                </a:lnTo>
                <a:lnTo>
                  <a:pt x="536309" y="221742"/>
                </a:lnTo>
                <a:lnTo>
                  <a:pt x="523751" y="176009"/>
                </a:lnTo>
                <a:lnTo>
                  <a:pt x="503756" y="133895"/>
                </a:lnTo>
                <a:lnTo>
                  <a:pt x="477085" y="96165"/>
                </a:lnTo>
                <a:lnTo>
                  <a:pt x="444504" y="63582"/>
                </a:lnTo>
                <a:lnTo>
                  <a:pt x="406774" y="36910"/>
                </a:lnTo>
                <a:lnTo>
                  <a:pt x="364660" y="16914"/>
                </a:lnTo>
                <a:lnTo>
                  <a:pt x="318924" y="4355"/>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9" name="Google Shape;639;p22"/>
          <p:cNvSpPr/>
          <p:nvPr/>
        </p:nvSpPr>
        <p:spPr>
          <a:xfrm>
            <a:off x="13995344" y="3832290"/>
            <a:ext cx="541020" cy="937260"/>
          </a:xfrm>
          <a:custGeom>
            <a:rect b="b" l="l" r="r" t="t"/>
            <a:pathLst>
              <a:path extrusionOk="0" h="937260" w="541019">
                <a:moveTo>
                  <a:pt x="270332" y="0"/>
                </a:moveTo>
                <a:lnTo>
                  <a:pt x="203773" y="14307"/>
                </a:lnTo>
                <a:lnTo>
                  <a:pt x="143252" y="54887"/>
                </a:lnTo>
                <a:lnTo>
                  <a:pt x="115890" y="83933"/>
                </a:lnTo>
                <a:lnTo>
                  <a:pt x="90798" y="118229"/>
                </a:lnTo>
                <a:lnTo>
                  <a:pt x="68229" y="157337"/>
                </a:lnTo>
                <a:lnTo>
                  <a:pt x="48437" y="200818"/>
                </a:lnTo>
                <a:lnTo>
                  <a:pt x="31675" y="248233"/>
                </a:lnTo>
                <a:lnTo>
                  <a:pt x="18197" y="299143"/>
                </a:lnTo>
                <a:lnTo>
                  <a:pt x="8256" y="353109"/>
                </a:lnTo>
                <a:lnTo>
                  <a:pt x="2106" y="409691"/>
                </a:lnTo>
                <a:lnTo>
                  <a:pt x="0" y="468452"/>
                </a:lnTo>
                <a:lnTo>
                  <a:pt x="2106" y="527214"/>
                </a:lnTo>
                <a:lnTo>
                  <a:pt x="8256" y="583799"/>
                </a:lnTo>
                <a:lnTo>
                  <a:pt x="18197" y="637765"/>
                </a:lnTo>
                <a:lnTo>
                  <a:pt x="31675" y="688676"/>
                </a:lnTo>
                <a:lnTo>
                  <a:pt x="48437" y="736091"/>
                </a:lnTo>
                <a:lnTo>
                  <a:pt x="68229" y="779572"/>
                </a:lnTo>
                <a:lnTo>
                  <a:pt x="90798" y="818679"/>
                </a:lnTo>
                <a:lnTo>
                  <a:pt x="115890" y="852974"/>
                </a:lnTo>
                <a:lnTo>
                  <a:pt x="143252" y="882018"/>
                </a:lnTo>
                <a:lnTo>
                  <a:pt x="203773" y="922597"/>
                </a:lnTo>
                <a:lnTo>
                  <a:pt x="270332" y="936904"/>
                </a:lnTo>
                <a:lnTo>
                  <a:pt x="304242" y="933254"/>
                </a:lnTo>
                <a:lnTo>
                  <a:pt x="368038" y="905372"/>
                </a:lnTo>
                <a:lnTo>
                  <a:pt x="424779" y="852974"/>
                </a:lnTo>
                <a:lnTo>
                  <a:pt x="449870" y="818679"/>
                </a:lnTo>
                <a:lnTo>
                  <a:pt x="472439" y="779572"/>
                </a:lnTo>
                <a:lnTo>
                  <a:pt x="492230" y="736091"/>
                </a:lnTo>
                <a:lnTo>
                  <a:pt x="508990" y="688676"/>
                </a:lnTo>
                <a:lnTo>
                  <a:pt x="522468" y="637765"/>
                </a:lnTo>
                <a:lnTo>
                  <a:pt x="532408" y="583799"/>
                </a:lnTo>
                <a:lnTo>
                  <a:pt x="538558" y="527214"/>
                </a:lnTo>
                <a:lnTo>
                  <a:pt x="540664" y="468452"/>
                </a:lnTo>
                <a:lnTo>
                  <a:pt x="538558" y="409691"/>
                </a:lnTo>
                <a:lnTo>
                  <a:pt x="532408" y="353109"/>
                </a:lnTo>
                <a:lnTo>
                  <a:pt x="522468" y="299143"/>
                </a:lnTo>
                <a:lnTo>
                  <a:pt x="508990" y="248233"/>
                </a:lnTo>
                <a:lnTo>
                  <a:pt x="492230" y="200818"/>
                </a:lnTo>
                <a:lnTo>
                  <a:pt x="472439" y="157337"/>
                </a:lnTo>
                <a:lnTo>
                  <a:pt x="449870" y="118229"/>
                </a:lnTo>
                <a:lnTo>
                  <a:pt x="424779" y="83933"/>
                </a:lnTo>
                <a:lnTo>
                  <a:pt x="397417" y="54887"/>
                </a:lnTo>
                <a:lnTo>
                  <a:pt x="336895" y="14307"/>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22"/>
          <p:cNvSpPr/>
          <p:nvPr/>
        </p:nvSpPr>
        <p:spPr>
          <a:xfrm>
            <a:off x="7546585" y="3832290"/>
            <a:ext cx="541020" cy="937260"/>
          </a:xfrm>
          <a:custGeom>
            <a:rect b="b" l="l" r="r" t="t"/>
            <a:pathLst>
              <a:path extrusionOk="0" h="937260" w="541020">
                <a:moveTo>
                  <a:pt x="270332" y="0"/>
                </a:moveTo>
                <a:lnTo>
                  <a:pt x="203773" y="14307"/>
                </a:lnTo>
                <a:lnTo>
                  <a:pt x="143252" y="54887"/>
                </a:lnTo>
                <a:lnTo>
                  <a:pt x="115890" y="83933"/>
                </a:lnTo>
                <a:lnTo>
                  <a:pt x="90798" y="118229"/>
                </a:lnTo>
                <a:lnTo>
                  <a:pt x="68229" y="157337"/>
                </a:lnTo>
                <a:lnTo>
                  <a:pt x="48437" y="200818"/>
                </a:lnTo>
                <a:lnTo>
                  <a:pt x="31675" y="248233"/>
                </a:lnTo>
                <a:lnTo>
                  <a:pt x="18197" y="299143"/>
                </a:lnTo>
                <a:lnTo>
                  <a:pt x="8256" y="353109"/>
                </a:lnTo>
                <a:lnTo>
                  <a:pt x="2106" y="409691"/>
                </a:lnTo>
                <a:lnTo>
                  <a:pt x="0" y="468452"/>
                </a:lnTo>
                <a:lnTo>
                  <a:pt x="2106" y="527214"/>
                </a:lnTo>
                <a:lnTo>
                  <a:pt x="8256" y="583799"/>
                </a:lnTo>
                <a:lnTo>
                  <a:pt x="18197" y="637765"/>
                </a:lnTo>
                <a:lnTo>
                  <a:pt x="31675" y="688676"/>
                </a:lnTo>
                <a:lnTo>
                  <a:pt x="48437" y="736091"/>
                </a:lnTo>
                <a:lnTo>
                  <a:pt x="68229" y="779572"/>
                </a:lnTo>
                <a:lnTo>
                  <a:pt x="90798" y="818679"/>
                </a:lnTo>
                <a:lnTo>
                  <a:pt x="115890" y="852974"/>
                </a:lnTo>
                <a:lnTo>
                  <a:pt x="143252" y="882018"/>
                </a:lnTo>
                <a:lnTo>
                  <a:pt x="203773" y="922597"/>
                </a:lnTo>
                <a:lnTo>
                  <a:pt x="270332" y="936904"/>
                </a:lnTo>
                <a:lnTo>
                  <a:pt x="304242" y="933254"/>
                </a:lnTo>
                <a:lnTo>
                  <a:pt x="368038" y="905372"/>
                </a:lnTo>
                <a:lnTo>
                  <a:pt x="424779" y="852974"/>
                </a:lnTo>
                <a:lnTo>
                  <a:pt x="449870" y="818679"/>
                </a:lnTo>
                <a:lnTo>
                  <a:pt x="472439" y="779572"/>
                </a:lnTo>
                <a:lnTo>
                  <a:pt x="492230" y="736091"/>
                </a:lnTo>
                <a:lnTo>
                  <a:pt x="508990" y="688676"/>
                </a:lnTo>
                <a:lnTo>
                  <a:pt x="522468" y="637765"/>
                </a:lnTo>
                <a:lnTo>
                  <a:pt x="532408" y="583799"/>
                </a:lnTo>
                <a:lnTo>
                  <a:pt x="538558" y="527214"/>
                </a:lnTo>
                <a:lnTo>
                  <a:pt x="540664" y="468452"/>
                </a:lnTo>
                <a:lnTo>
                  <a:pt x="538558" y="409691"/>
                </a:lnTo>
                <a:lnTo>
                  <a:pt x="532408" y="353109"/>
                </a:lnTo>
                <a:lnTo>
                  <a:pt x="522468" y="299143"/>
                </a:lnTo>
                <a:lnTo>
                  <a:pt x="508990" y="248233"/>
                </a:lnTo>
                <a:lnTo>
                  <a:pt x="492230" y="200818"/>
                </a:lnTo>
                <a:lnTo>
                  <a:pt x="472439" y="157337"/>
                </a:lnTo>
                <a:lnTo>
                  <a:pt x="449870" y="118229"/>
                </a:lnTo>
                <a:lnTo>
                  <a:pt x="424779" y="83933"/>
                </a:lnTo>
                <a:lnTo>
                  <a:pt x="397417" y="54887"/>
                </a:lnTo>
                <a:lnTo>
                  <a:pt x="336895" y="14307"/>
                </a:lnTo>
                <a:lnTo>
                  <a:pt x="270332"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1" name="Google Shape;641;p22"/>
          <p:cNvSpPr txBox="1"/>
          <p:nvPr/>
        </p:nvSpPr>
        <p:spPr>
          <a:xfrm>
            <a:off x="9492818" y="6236309"/>
            <a:ext cx="4773295" cy="841897"/>
          </a:xfrm>
          <a:prstGeom prst="rect">
            <a:avLst/>
          </a:prstGeom>
          <a:solidFill>
            <a:srgbClr val="F2620F"/>
          </a:solidFill>
          <a:ln>
            <a:noFill/>
          </a:ln>
        </p:spPr>
        <p:txBody>
          <a:bodyPr anchorCtr="0" anchor="t" bIns="0" lIns="0" spcFirstLastPara="1" rIns="0" wrap="square" tIns="41275">
            <a:spAutoFit/>
          </a:bodyPr>
          <a:lstStyle/>
          <a:p>
            <a:pPr indent="0" lvl="0" marL="127635" marR="871219"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Justiﬁcación del umbral seleccionado</a:t>
            </a:r>
            <a:endParaRPr b="0" i="0" sz="2600" u="none" cap="none" strike="noStrike">
              <a:solidFill>
                <a:srgbClr val="000000"/>
              </a:solidFill>
              <a:latin typeface="Arial"/>
              <a:ea typeface="Arial"/>
              <a:cs typeface="Arial"/>
              <a:sym typeface="Arial"/>
            </a:endParaRPr>
          </a:p>
        </p:txBody>
      </p:sp>
      <p:sp>
        <p:nvSpPr>
          <p:cNvPr id="642" name="Google Shape;642;p22"/>
          <p:cNvSpPr txBox="1"/>
          <p:nvPr/>
        </p:nvSpPr>
        <p:spPr>
          <a:xfrm>
            <a:off x="3044050" y="6236309"/>
            <a:ext cx="4773295" cy="441788"/>
          </a:xfrm>
          <a:prstGeom prst="rect">
            <a:avLst/>
          </a:prstGeom>
          <a:solidFill>
            <a:srgbClr val="F2620F"/>
          </a:solidFill>
          <a:ln>
            <a:noFill/>
          </a:ln>
        </p:spPr>
        <p:txBody>
          <a:bodyPr anchorCtr="0" anchor="t" bIns="0" lIns="0" spcFirstLastPara="1" rIns="0" wrap="square" tIns="41275">
            <a:spAutoFit/>
          </a:bodyPr>
          <a:lstStyle/>
          <a:p>
            <a:pPr indent="0" lvl="0" marL="127635" marR="0"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Impacto en métricas clave</a:t>
            </a:r>
            <a:endParaRPr b="0" i="0" sz="2600" u="none" cap="none" strike="noStrike">
              <a:solidFill>
                <a:srgbClr val="000000"/>
              </a:solidFill>
              <a:latin typeface="Arial"/>
              <a:ea typeface="Arial"/>
              <a:cs typeface="Arial"/>
              <a:sym typeface="Arial"/>
            </a:endParaRPr>
          </a:p>
        </p:txBody>
      </p:sp>
      <p:sp>
        <p:nvSpPr>
          <p:cNvPr id="643" name="Google Shape;643;p22"/>
          <p:cNvSpPr txBox="1"/>
          <p:nvPr/>
        </p:nvSpPr>
        <p:spPr>
          <a:xfrm>
            <a:off x="9492818" y="3832301"/>
            <a:ext cx="4773300" cy="811800"/>
          </a:xfrm>
          <a:prstGeom prst="rect">
            <a:avLst/>
          </a:prstGeom>
          <a:solidFill>
            <a:srgbClr val="F2620F"/>
          </a:solidFill>
          <a:ln>
            <a:noFill/>
          </a:ln>
        </p:spPr>
        <p:txBody>
          <a:bodyPr anchorCtr="0" anchor="t" bIns="0" lIns="0" spcFirstLastPara="1" rIns="0" wrap="square" tIns="41900">
            <a:spAutoFit/>
          </a:bodyPr>
          <a:lstStyle/>
          <a:p>
            <a:pPr indent="0" lvl="0" marL="127635" marR="596265" rtl="0" algn="l">
              <a:lnSpc>
                <a:spcPct val="100000"/>
              </a:lnSpc>
              <a:spcBef>
                <a:spcPts val="0"/>
              </a:spcBef>
              <a:spcAft>
                <a:spcPts val="0"/>
              </a:spcAft>
              <a:buClr>
                <a:srgbClr val="000000"/>
              </a:buClr>
              <a:buSzPts val="2600"/>
              <a:buFont typeface="Arial"/>
              <a:buNone/>
            </a:pPr>
            <a:r>
              <a:rPr b="1" i="0" lang="en-US" sz="2500" u="none" cap="none" strike="noStrike">
                <a:solidFill>
                  <a:srgbClr val="F7F7F7"/>
                </a:solidFill>
                <a:latin typeface="Arial"/>
                <a:ea typeface="Arial"/>
                <a:cs typeface="Arial"/>
                <a:sym typeface="Arial"/>
              </a:rPr>
              <a:t>No existe un umbral único para todos los casos</a:t>
            </a:r>
            <a:endParaRPr b="0" i="0" sz="2500" u="none" cap="none" strike="noStrike">
              <a:solidFill>
                <a:srgbClr val="000000"/>
              </a:solidFill>
              <a:latin typeface="Arial"/>
              <a:ea typeface="Arial"/>
              <a:cs typeface="Arial"/>
              <a:sym typeface="Arial"/>
            </a:endParaRPr>
          </a:p>
        </p:txBody>
      </p:sp>
      <p:sp>
        <p:nvSpPr>
          <p:cNvPr id="644" name="Google Shape;644;p22"/>
          <p:cNvSpPr txBox="1"/>
          <p:nvPr/>
        </p:nvSpPr>
        <p:spPr>
          <a:xfrm>
            <a:off x="3044050" y="3832301"/>
            <a:ext cx="4773295" cy="842538"/>
          </a:xfrm>
          <a:prstGeom prst="rect">
            <a:avLst/>
          </a:prstGeom>
          <a:solidFill>
            <a:srgbClr val="F2620F"/>
          </a:solidFill>
          <a:ln>
            <a:noFill/>
          </a:ln>
        </p:spPr>
        <p:txBody>
          <a:bodyPr anchorCtr="0" anchor="t" bIns="0" lIns="0" spcFirstLastPara="1" rIns="0" wrap="square" tIns="41900">
            <a:spAutoFit/>
          </a:bodyPr>
          <a:lstStyle/>
          <a:p>
            <a:pPr indent="0" lvl="0" marL="127635" marR="0"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El umbral deﬁne la decisión</a:t>
            </a:r>
            <a:endParaRPr b="0" i="0" sz="2600" u="none" cap="none" strike="noStrike">
              <a:solidFill>
                <a:srgbClr val="000000"/>
              </a:solidFill>
              <a:latin typeface="Arial"/>
              <a:ea typeface="Arial"/>
              <a:cs typeface="Arial"/>
              <a:sym typeface="Arial"/>
            </a:endParaRPr>
          </a:p>
          <a:p>
            <a:pPr indent="0" lvl="0" marL="127635" marR="0" rtl="0" algn="l">
              <a:lnSpc>
                <a:spcPct val="100000"/>
              </a:lnSpc>
              <a:spcBef>
                <a:spcPts val="0"/>
              </a:spcBef>
              <a:spcAft>
                <a:spcPts val="0"/>
              </a:spcAft>
              <a:buClr>
                <a:srgbClr val="000000"/>
              </a:buClr>
              <a:buSzPts val="2600"/>
              <a:buFont typeface="Arial"/>
              <a:buNone/>
            </a:pPr>
            <a:r>
              <a:rPr b="1" i="0" lang="en-US" sz="2600" u="none" cap="none" strike="noStrike">
                <a:solidFill>
                  <a:srgbClr val="F7F7F7"/>
                </a:solidFill>
                <a:latin typeface="Arial"/>
                <a:ea typeface="Arial"/>
                <a:cs typeface="Arial"/>
                <a:sym typeface="Arial"/>
              </a:rPr>
              <a:t>final</a:t>
            </a:r>
            <a:endParaRPr b="0" i="0" sz="26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23"/>
          <p:cNvSpPr txBox="1"/>
          <p:nvPr/>
        </p:nvSpPr>
        <p:spPr>
          <a:xfrm>
            <a:off x="903857" y="9546131"/>
            <a:ext cx="550545"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23.</a:t>
            </a:r>
            <a:endParaRPr b="0" i="0" sz="2600" u="none" cap="none" strike="noStrike">
              <a:solidFill>
                <a:srgbClr val="000000"/>
              </a:solidFill>
              <a:latin typeface="Arial"/>
              <a:ea typeface="Arial"/>
              <a:cs typeface="Arial"/>
              <a:sym typeface="Arial"/>
            </a:endParaRPr>
          </a:p>
        </p:txBody>
      </p:sp>
      <p:sp>
        <p:nvSpPr>
          <p:cNvPr id="650" name="Google Shape;650;p23"/>
          <p:cNvSpPr txBox="1"/>
          <p:nvPr/>
        </p:nvSpPr>
        <p:spPr>
          <a:xfrm>
            <a:off x="3060581" y="9626203"/>
            <a:ext cx="214376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JAVIER ANDRÉS V.</a:t>
            </a:r>
            <a:endParaRPr b="0" i="0" sz="2000" u="none" cap="none" strike="noStrike">
              <a:solidFill>
                <a:srgbClr val="000000"/>
              </a:solidFill>
              <a:latin typeface="Arial"/>
              <a:ea typeface="Arial"/>
              <a:cs typeface="Arial"/>
              <a:sym typeface="Arial"/>
            </a:endParaRPr>
          </a:p>
        </p:txBody>
      </p:sp>
      <p:sp>
        <p:nvSpPr>
          <p:cNvPr id="651" name="Google Shape;651;p23"/>
          <p:cNvSpPr txBox="1"/>
          <p:nvPr/>
        </p:nvSpPr>
        <p:spPr>
          <a:xfrm>
            <a:off x="16105767" y="9628489"/>
            <a:ext cx="1210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grpSp>
        <p:nvGrpSpPr>
          <p:cNvPr id="652" name="Google Shape;652;p23"/>
          <p:cNvGrpSpPr/>
          <p:nvPr/>
        </p:nvGrpSpPr>
        <p:grpSpPr>
          <a:xfrm>
            <a:off x="1018828" y="4081279"/>
            <a:ext cx="845823" cy="846028"/>
            <a:chOff x="1018828" y="4081279"/>
            <a:chExt cx="845823" cy="846028"/>
          </a:xfrm>
        </p:grpSpPr>
        <p:sp>
          <p:nvSpPr>
            <p:cNvPr id="653" name="Google Shape;653;p23"/>
            <p:cNvSpPr/>
            <p:nvPr/>
          </p:nvSpPr>
          <p:spPr>
            <a:xfrm>
              <a:off x="1018828" y="4081282"/>
              <a:ext cx="547370"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4" name="Google Shape;654;p23"/>
            <p:cNvSpPr/>
            <p:nvPr/>
          </p:nvSpPr>
          <p:spPr>
            <a:xfrm>
              <a:off x="1317053" y="4081279"/>
              <a:ext cx="547370"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5" name="Google Shape;655;p23"/>
            <p:cNvSpPr/>
            <p:nvPr/>
          </p:nvSpPr>
          <p:spPr>
            <a:xfrm>
              <a:off x="1018832" y="4231982"/>
              <a:ext cx="845819" cy="695325"/>
            </a:xfrm>
            <a:custGeom>
              <a:rect b="b" l="l" r="r" t="t"/>
              <a:pathLst>
                <a:path extrusionOk="0" h="695325" w="845819">
                  <a:moveTo>
                    <a:pt x="845527" y="518782"/>
                  </a:moveTo>
                  <a:lnTo>
                    <a:pt x="839520" y="473151"/>
                  </a:lnTo>
                  <a:lnTo>
                    <a:pt x="821905" y="430618"/>
                  </a:lnTo>
                  <a:lnTo>
                    <a:pt x="793877" y="394106"/>
                  </a:lnTo>
                  <a:lnTo>
                    <a:pt x="671855" y="272097"/>
                  </a:lnTo>
                  <a:lnTo>
                    <a:pt x="422757" y="22999"/>
                  </a:lnTo>
                  <a:lnTo>
                    <a:pt x="399770" y="0"/>
                  </a:lnTo>
                  <a:lnTo>
                    <a:pt x="150685" y="249085"/>
                  </a:lnTo>
                  <a:lnTo>
                    <a:pt x="173672" y="272084"/>
                  </a:lnTo>
                  <a:lnTo>
                    <a:pt x="51650" y="394119"/>
                  </a:lnTo>
                  <a:lnTo>
                    <a:pt x="23622" y="430631"/>
                  </a:lnTo>
                  <a:lnTo>
                    <a:pt x="6007" y="473163"/>
                  </a:lnTo>
                  <a:lnTo>
                    <a:pt x="0" y="518795"/>
                  </a:lnTo>
                  <a:lnTo>
                    <a:pt x="368" y="530339"/>
                  </a:lnTo>
                  <a:lnTo>
                    <a:pt x="9359" y="575487"/>
                  </a:lnTo>
                  <a:lnTo>
                    <a:pt x="29718" y="616762"/>
                  </a:lnTo>
                  <a:lnTo>
                    <a:pt x="59855" y="651154"/>
                  </a:lnTo>
                  <a:lnTo>
                    <a:pt x="98069" y="676668"/>
                  </a:lnTo>
                  <a:lnTo>
                    <a:pt x="141655" y="691464"/>
                  </a:lnTo>
                  <a:lnTo>
                    <a:pt x="176060" y="694855"/>
                  </a:lnTo>
                  <a:lnTo>
                    <a:pt x="187591" y="694474"/>
                  </a:lnTo>
                  <a:lnTo>
                    <a:pt x="232740" y="685495"/>
                  </a:lnTo>
                  <a:lnTo>
                    <a:pt x="274027" y="665124"/>
                  </a:lnTo>
                  <a:lnTo>
                    <a:pt x="422770" y="521182"/>
                  </a:lnTo>
                  <a:lnTo>
                    <a:pt x="544791" y="643191"/>
                  </a:lnTo>
                  <a:lnTo>
                    <a:pt x="581304" y="671220"/>
                  </a:lnTo>
                  <a:lnTo>
                    <a:pt x="623836" y="688835"/>
                  </a:lnTo>
                  <a:lnTo>
                    <a:pt x="669467" y="694842"/>
                  </a:lnTo>
                  <a:lnTo>
                    <a:pt x="681012" y="694461"/>
                  </a:lnTo>
                  <a:lnTo>
                    <a:pt x="726160" y="685482"/>
                  </a:lnTo>
                  <a:lnTo>
                    <a:pt x="767435" y="665124"/>
                  </a:lnTo>
                  <a:lnTo>
                    <a:pt x="801827" y="634987"/>
                  </a:lnTo>
                  <a:lnTo>
                    <a:pt x="827341" y="596773"/>
                  </a:lnTo>
                  <a:lnTo>
                    <a:pt x="842137"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656" name="Google Shape;656;p23"/>
          <p:cNvSpPr txBox="1"/>
          <p:nvPr>
            <p:ph idx="1" type="body"/>
          </p:nvPr>
        </p:nvSpPr>
        <p:spPr>
          <a:xfrm>
            <a:off x="3060600" y="3808833"/>
            <a:ext cx="11185525" cy="2362200"/>
          </a:xfrm>
          <a:prstGeom prst="rect">
            <a:avLst/>
          </a:prstGeom>
          <a:noFill/>
          <a:ln>
            <a:noFill/>
          </a:ln>
        </p:spPr>
        <p:txBody>
          <a:bodyPr anchorCtr="0" anchor="t" bIns="0" lIns="0" spcFirstLastPara="1" rIns="0" wrap="square" tIns="127000">
            <a:spAutoFit/>
          </a:bodyPr>
          <a:lstStyle/>
          <a:p>
            <a:pPr indent="0" lvl="0" marL="12700" marR="5080" rtl="0" algn="l">
              <a:lnSpc>
                <a:spcPct val="110000"/>
              </a:lnSpc>
              <a:spcBef>
                <a:spcPts val="0"/>
              </a:spcBef>
              <a:spcAft>
                <a:spcPts val="0"/>
              </a:spcAft>
              <a:buSzPts val="1400"/>
              <a:buNone/>
            </a:pPr>
            <a:r>
              <a:rPr lang="en-US"/>
              <a:t>Desbalance de clases y buenas prácticas</a:t>
            </a:r>
            <a:endParaRPr/>
          </a:p>
        </p:txBody>
      </p:sp>
      <p:grpSp>
        <p:nvGrpSpPr>
          <p:cNvPr id="657" name="Google Shape;657;p23"/>
          <p:cNvGrpSpPr/>
          <p:nvPr/>
        </p:nvGrpSpPr>
        <p:grpSpPr>
          <a:xfrm>
            <a:off x="0" y="1"/>
            <a:ext cx="14536419" cy="948701"/>
            <a:chOff x="0" y="1"/>
            <a:chExt cx="14536419" cy="948701"/>
          </a:xfrm>
        </p:grpSpPr>
        <p:sp>
          <p:nvSpPr>
            <p:cNvPr id="658" name="Google Shape;658;p23"/>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9" name="Google Shape;659;p23"/>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0" name="Google Shape;660;p23"/>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61" name="Google Shape;661;p23"/>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5"/>
          <p:cNvSpPr txBox="1"/>
          <p:nvPr/>
        </p:nvSpPr>
        <p:spPr>
          <a:xfrm>
            <a:off x="3033886" y="3673318"/>
            <a:ext cx="6346825" cy="5405755"/>
          </a:xfrm>
          <a:prstGeom prst="rect">
            <a:avLst/>
          </a:prstGeom>
          <a:noFill/>
          <a:ln>
            <a:noFill/>
          </a:ln>
        </p:spPr>
        <p:txBody>
          <a:bodyPr anchorCtr="0" anchor="t" bIns="0" lIns="0" spcFirstLastPara="1" rIns="0" wrap="square" tIns="15875">
            <a:spAutoFit/>
          </a:bodyPr>
          <a:lstStyle/>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Diagnóstico inicial de clases</a:t>
            </a:r>
            <a:endParaRPr b="0" i="0" sz="2300" u="none" cap="none" strike="noStrike">
              <a:solidFill>
                <a:srgbClr val="000000"/>
              </a:solidFill>
              <a:latin typeface="Arial"/>
              <a:ea typeface="Arial"/>
              <a:cs typeface="Arial"/>
              <a:sym typeface="Arial"/>
            </a:endParaRPr>
          </a:p>
          <a:p>
            <a:pPr indent="-192405" lvl="0" marL="204470" marR="48895"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Analizar la frecuencia de cada clase para detectar posibles                                                                        	desbalances.</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Evaluación integral del modelo</a:t>
            </a:r>
            <a:endParaRPr b="0" i="0" sz="2300" u="none" cap="none" strike="noStrike">
              <a:solidFill>
                <a:srgbClr val="000000"/>
              </a:solidFill>
              <a:latin typeface="Arial"/>
              <a:ea typeface="Arial"/>
              <a:cs typeface="Arial"/>
              <a:sym typeface="Arial"/>
            </a:endParaRPr>
          </a:p>
          <a:p>
            <a:pPr indent="-192405" lvl="0" marL="204470" marR="5080"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Reportar </a:t>
            </a:r>
            <a:r>
              <a:rPr b="1" i="0" lang="en-US" sz="1750" u="none" cap="none" strike="noStrike">
                <a:solidFill>
                  <a:srgbClr val="F2620F"/>
                </a:solidFill>
                <a:latin typeface="Arial"/>
                <a:ea typeface="Arial"/>
                <a:cs typeface="Arial"/>
                <a:sym typeface="Arial"/>
              </a:rPr>
              <a:t>precision</a:t>
            </a:r>
            <a:r>
              <a:rPr b="0" i="0" lang="en-US" sz="1750" u="none" cap="none" strike="noStrike">
                <a:solidFill>
                  <a:srgbClr val="292929"/>
                </a:solidFill>
                <a:latin typeface="Arial"/>
                <a:ea typeface="Arial"/>
                <a:cs typeface="Arial"/>
                <a:sym typeface="Arial"/>
              </a:rPr>
              <a:t>, </a:t>
            </a:r>
            <a:r>
              <a:rPr b="1" i="0" lang="en-US" sz="1750" u="none" cap="none" strike="noStrike">
                <a:solidFill>
                  <a:srgbClr val="F2620F"/>
                </a:solidFill>
                <a:latin typeface="Arial"/>
                <a:ea typeface="Arial"/>
                <a:cs typeface="Arial"/>
                <a:sym typeface="Arial"/>
              </a:rPr>
              <a:t>recall</a:t>
            </a:r>
            <a:r>
              <a:rPr b="0" i="0" lang="en-US" sz="1750" u="none" cap="none" strike="noStrike">
                <a:solidFill>
                  <a:srgbClr val="292929"/>
                </a:solidFill>
                <a:latin typeface="Arial"/>
                <a:ea typeface="Arial"/>
                <a:cs typeface="Arial"/>
                <a:sym typeface="Arial"/>
              </a:rPr>
              <a:t>, </a:t>
            </a:r>
            <a:r>
              <a:rPr b="1" i="0" lang="en-US" sz="1750" u="none" cap="none" strike="noStrike">
                <a:solidFill>
                  <a:srgbClr val="F2620F"/>
                </a:solidFill>
                <a:latin typeface="Arial"/>
                <a:ea typeface="Arial"/>
                <a:cs typeface="Arial"/>
                <a:sym typeface="Arial"/>
              </a:rPr>
              <a:t>F1-score </a:t>
            </a:r>
            <a:r>
              <a:rPr b="0" i="0" lang="en-US" sz="1750" u="none" cap="none" strike="noStrike">
                <a:solidFill>
                  <a:srgbClr val="292929"/>
                </a:solidFill>
                <a:latin typeface="Arial"/>
                <a:ea typeface="Arial"/>
                <a:cs typeface="Arial"/>
                <a:sym typeface="Arial"/>
              </a:rPr>
              <a:t>y matriz de confusión                                                                            	para una visión completa.</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Ajuste de umbrales de decisión</a:t>
            </a:r>
            <a:endParaRPr b="0" i="0" sz="2300" u="none" cap="none" strike="noStrike">
              <a:solidFill>
                <a:srgbClr val="000000"/>
              </a:solidFill>
              <a:latin typeface="Arial"/>
              <a:ea typeface="Arial"/>
              <a:cs typeface="Arial"/>
              <a:sym typeface="Arial"/>
            </a:endParaRPr>
          </a:p>
          <a:p>
            <a:pPr indent="-192405" lvl="0" marL="204470" marR="257810"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Probar diferentes umbrales para optimizar el desempeño                                                                             según 	el objetivo del análisis.</a:t>
            </a:r>
            <a:endParaRPr b="0" i="0" sz="1750" u="none" cap="none" strike="noStrike">
              <a:solidFill>
                <a:srgbClr val="000000"/>
              </a:solidFill>
              <a:latin typeface="Arial"/>
              <a:ea typeface="Arial"/>
              <a:cs typeface="Arial"/>
              <a:sym typeface="Arial"/>
            </a:endParaRPr>
          </a:p>
          <a:p>
            <a:pPr indent="0" lvl="0" marL="0" marR="0" rtl="0" algn="l">
              <a:lnSpc>
                <a:spcPct val="100000"/>
              </a:lnSpc>
              <a:spcBef>
                <a:spcPts val="365"/>
              </a:spcBef>
              <a:spcAft>
                <a:spcPts val="0"/>
              </a:spcAft>
              <a:buClr>
                <a:srgbClr val="292929"/>
              </a:buClr>
              <a:buSzPts val="1750"/>
              <a:buFont typeface="Times New Roman"/>
              <a:buNone/>
            </a:pPr>
            <a:r>
              <a:t/>
            </a:r>
            <a:endParaRPr b="0" i="0" sz="17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300"/>
              <a:buFont typeface="Arial"/>
              <a:buNone/>
            </a:pPr>
            <a:r>
              <a:rPr b="1" i="0" lang="en-US" sz="2300" u="none" cap="none" strike="noStrike">
                <a:solidFill>
                  <a:srgbClr val="292929"/>
                </a:solidFill>
                <a:latin typeface="Arial"/>
                <a:ea typeface="Arial"/>
                <a:cs typeface="Arial"/>
                <a:sym typeface="Arial"/>
              </a:rPr>
              <a:t>Justiﬁcación de la etiqueta positiva</a:t>
            </a:r>
            <a:endParaRPr b="0" i="0" sz="2300" u="none" cap="none" strike="noStrike">
              <a:solidFill>
                <a:srgbClr val="000000"/>
              </a:solidFill>
              <a:latin typeface="Arial"/>
              <a:ea typeface="Arial"/>
              <a:cs typeface="Arial"/>
              <a:sym typeface="Arial"/>
            </a:endParaRPr>
          </a:p>
          <a:p>
            <a:pPr indent="-192405" lvl="0" marL="204470" marR="197485" rtl="0" algn="l">
              <a:lnSpc>
                <a:spcPct val="102200"/>
              </a:lnSpc>
              <a:spcBef>
                <a:spcPts val="1680"/>
              </a:spcBef>
              <a:spcAft>
                <a:spcPts val="0"/>
              </a:spcAft>
              <a:buClr>
                <a:srgbClr val="292929"/>
              </a:buClr>
              <a:buSzPts val="1750"/>
              <a:buFont typeface="Times New Roman"/>
              <a:buChar char="•"/>
            </a:pPr>
            <a:r>
              <a:rPr b="0" i="0" lang="en-US" sz="1750" u="none" cap="none" strike="noStrike">
                <a:solidFill>
                  <a:srgbClr val="292929"/>
                </a:solidFill>
                <a:latin typeface="Arial"/>
                <a:ea typeface="Arial"/>
                <a:cs typeface="Arial"/>
                <a:sym typeface="Arial"/>
              </a:rPr>
              <a:t>Explicar el criterio usado para deﬁnir la clase positiva y su                                                                        	impacto en el modelo.</a:t>
            </a:r>
            <a:endParaRPr b="0" i="0" sz="1750" u="none" cap="none" strike="noStrike">
              <a:solidFill>
                <a:srgbClr val="000000"/>
              </a:solidFill>
              <a:latin typeface="Arial"/>
              <a:ea typeface="Arial"/>
              <a:cs typeface="Arial"/>
              <a:sym typeface="Arial"/>
            </a:endParaRPr>
          </a:p>
        </p:txBody>
      </p:sp>
      <p:sp>
        <p:nvSpPr>
          <p:cNvPr descr="$PPTXTitle" id="667" name="Google Shape;667;p25"/>
          <p:cNvSpPr txBox="1"/>
          <p:nvPr>
            <p:ph type="title"/>
          </p:nvPr>
        </p:nvSpPr>
        <p:spPr>
          <a:xfrm>
            <a:off x="3033923" y="1574457"/>
            <a:ext cx="5621655" cy="1687000"/>
          </a:xfrm>
          <a:prstGeom prst="rect">
            <a:avLst/>
          </a:prstGeom>
          <a:noFill/>
          <a:ln>
            <a:noFill/>
          </a:ln>
        </p:spPr>
        <p:txBody>
          <a:bodyPr anchorCtr="0" anchor="t" bIns="0" lIns="0" spcFirstLastPara="1" rIns="0" wrap="square" tIns="95875">
            <a:spAutoFit/>
          </a:bodyPr>
          <a:lstStyle/>
          <a:p>
            <a:pPr indent="0" lvl="0" marL="12700" marR="5080" rtl="0" algn="l">
              <a:lnSpc>
                <a:spcPct val="110178"/>
              </a:lnSpc>
              <a:spcBef>
                <a:spcPts val="0"/>
              </a:spcBef>
              <a:spcAft>
                <a:spcPts val="0"/>
              </a:spcAft>
              <a:buSzPts val="1400"/>
              <a:buNone/>
            </a:pPr>
            <a:r>
              <a:rPr lang="en-US" sz="5600"/>
              <a:t>Buenas prácticas    ante desbalance</a:t>
            </a:r>
            <a:endParaRPr sz="5600"/>
          </a:p>
        </p:txBody>
      </p:sp>
      <p:pic>
        <p:nvPicPr>
          <p:cNvPr id="668" name="Google Shape;668;p25"/>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669" name="Google Shape;669;p25"/>
          <p:cNvGrpSpPr/>
          <p:nvPr/>
        </p:nvGrpSpPr>
        <p:grpSpPr>
          <a:xfrm>
            <a:off x="989589" y="1689081"/>
            <a:ext cx="845864" cy="846003"/>
            <a:chOff x="989589" y="1689081"/>
            <a:chExt cx="845864" cy="846003"/>
          </a:xfrm>
        </p:grpSpPr>
        <p:sp>
          <p:nvSpPr>
            <p:cNvPr id="670" name="Google Shape;670;p25"/>
            <p:cNvSpPr/>
            <p:nvPr/>
          </p:nvSpPr>
          <p:spPr>
            <a:xfrm>
              <a:off x="989589" y="168908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1" name="Google Shape;671;p25"/>
            <p:cNvSpPr/>
            <p:nvPr/>
          </p:nvSpPr>
          <p:spPr>
            <a:xfrm>
              <a:off x="1287871" y="1689081"/>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2" name="Google Shape;672;p25"/>
            <p:cNvSpPr/>
            <p:nvPr/>
          </p:nvSpPr>
          <p:spPr>
            <a:xfrm>
              <a:off x="989634" y="1839759"/>
              <a:ext cx="845819" cy="695325"/>
            </a:xfrm>
            <a:custGeom>
              <a:rect b="b" l="l" r="r" t="t"/>
              <a:pathLst>
                <a:path extrusionOk="0" h="695325" w="845819">
                  <a:moveTo>
                    <a:pt x="845515" y="518782"/>
                  </a:moveTo>
                  <a:lnTo>
                    <a:pt x="839508" y="473151"/>
                  </a:lnTo>
                  <a:lnTo>
                    <a:pt x="821893" y="430618"/>
                  </a:lnTo>
                  <a:lnTo>
                    <a:pt x="793864" y="394106"/>
                  </a:lnTo>
                  <a:lnTo>
                    <a:pt x="671855" y="272110"/>
                  </a:lnTo>
                  <a:lnTo>
                    <a:pt x="422757" y="23012"/>
                  </a:lnTo>
                  <a:lnTo>
                    <a:pt x="399757" y="0"/>
                  </a:lnTo>
                  <a:lnTo>
                    <a:pt x="150672" y="249085"/>
                  </a:lnTo>
                  <a:lnTo>
                    <a:pt x="173672" y="272097"/>
                  </a:lnTo>
                  <a:lnTo>
                    <a:pt x="51650" y="394131"/>
                  </a:lnTo>
                  <a:lnTo>
                    <a:pt x="23622" y="430644"/>
                  </a:lnTo>
                  <a:lnTo>
                    <a:pt x="6007" y="473176"/>
                  </a:lnTo>
                  <a:lnTo>
                    <a:pt x="0" y="518807"/>
                  </a:lnTo>
                  <a:lnTo>
                    <a:pt x="381" y="530352"/>
                  </a:lnTo>
                  <a:lnTo>
                    <a:pt x="9359" y="575500"/>
                  </a:lnTo>
                  <a:lnTo>
                    <a:pt x="29718" y="616775"/>
                  </a:lnTo>
                  <a:lnTo>
                    <a:pt x="59855" y="651167"/>
                  </a:lnTo>
                  <a:lnTo>
                    <a:pt x="98069" y="676681"/>
                  </a:lnTo>
                  <a:lnTo>
                    <a:pt x="141655" y="691489"/>
                  </a:lnTo>
                  <a:lnTo>
                    <a:pt x="176060" y="694867"/>
                  </a:lnTo>
                  <a:lnTo>
                    <a:pt x="187591" y="694486"/>
                  </a:lnTo>
                  <a:lnTo>
                    <a:pt x="232740" y="685507"/>
                  </a:lnTo>
                  <a:lnTo>
                    <a:pt x="274027" y="665149"/>
                  </a:lnTo>
                  <a:lnTo>
                    <a:pt x="422770" y="521195"/>
                  </a:lnTo>
                  <a:lnTo>
                    <a:pt x="544779" y="643191"/>
                  </a:lnTo>
                  <a:lnTo>
                    <a:pt x="581291" y="671220"/>
                  </a:lnTo>
                  <a:lnTo>
                    <a:pt x="623824" y="688835"/>
                  </a:lnTo>
                  <a:lnTo>
                    <a:pt x="669455" y="694842"/>
                  </a:lnTo>
                  <a:lnTo>
                    <a:pt x="680999" y="694474"/>
                  </a:lnTo>
                  <a:lnTo>
                    <a:pt x="726147" y="685495"/>
                  </a:lnTo>
                  <a:lnTo>
                    <a:pt x="767422" y="665124"/>
                  </a:lnTo>
                  <a:lnTo>
                    <a:pt x="801814" y="634987"/>
                  </a:lnTo>
                  <a:lnTo>
                    <a:pt x="827328" y="596773"/>
                  </a:lnTo>
                  <a:lnTo>
                    <a:pt x="842124" y="553186"/>
                  </a:lnTo>
                  <a:lnTo>
                    <a:pt x="845134" y="530326"/>
                  </a:lnTo>
                  <a:lnTo>
                    <a:pt x="845515"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73" name="Google Shape;673;p25"/>
          <p:cNvGrpSpPr/>
          <p:nvPr/>
        </p:nvGrpSpPr>
        <p:grpSpPr>
          <a:xfrm>
            <a:off x="0" y="1"/>
            <a:ext cx="14536419" cy="948701"/>
            <a:chOff x="0" y="1"/>
            <a:chExt cx="14536419" cy="948701"/>
          </a:xfrm>
        </p:grpSpPr>
        <p:sp>
          <p:nvSpPr>
            <p:cNvPr id="674" name="Google Shape;674;p25"/>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5" name="Google Shape;675;p25"/>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6" name="Google Shape;676;p25"/>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77" name="Google Shape;677;p25"/>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8" name="Google Shape;678;p25"/>
          <p:cNvSpPr txBox="1"/>
          <p:nvPr>
            <p:ph idx="12" type="sldNum"/>
          </p:nvPr>
        </p:nvSpPr>
        <p:spPr>
          <a:xfrm>
            <a:off x="878457" y="9567912"/>
            <a:ext cx="575944" cy="384721"/>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679" name="Google Shape;679;p25"/>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680" name="Google Shape;680;p25"/>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grpSp>
        <p:nvGrpSpPr>
          <p:cNvPr id="685" name="Google Shape;685;p26"/>
          <p:cNvGrpSpPr/>
          <p:nvPr/>
        </p:nvGrpSpPr>
        <p:grpSpPr>
          <a:xfrm>
            <a:off x="1018814" y="4787043"/>
            <a:ext cx="845824" cy="846016"/>
            <a:chOff x="1018814" y="4787043"/>
            <a:chExt cx="845824" cy="846016"/>
          </a:xfrm>
        </p:grpSpPr>
        <p:sp>
          <p:nvSpPr>
            <p:cNvPr id="686" name="Google Shape;686;p26"/>
            <p:cNvSpPr/>
            <p:nvPr/>
          </p:nvSpPr>
          <p:spPr>
            <a:xfrm>
              <a:off x="1018814" y="4787043"/>
              <a:ext cx="547370"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7" name="Google Shape;687;p26"/>
            <p:cNvSpPr/>
            <p:nvPr/>
          </p:nvSpPr>
          <p:spPr>
            <a:xfrm>
              <a:off x="1317044" y="4787045"/>
              <a:ext cx="547370"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8" name="Google Shape;688;p26"/>
            <p:cNvSpPr/>
            <p:nvPr/>
          </p:nvSpPr>
          <p:spPr>
            <a:xfrm>
              <a:off x="1018819" y="4937734"/>
              <a:ext cx="845819" cy="695325"/>
            </a:xfrm>
            <a:custGeom>
              <a:rect b="b" l="l" r="r" t="t"/>
              <a:pathLst>
                <a:path extrusionOk="0" h="695325" w="845819">
                  <a:moveTo>
                    <a:pt x="845527" y="518782"/>
                  </a:moveTo>
                  <a:lnTo>
                    <a:pt x="839520" y="473151"/>
                  </a:lnTo>
                  <a:lnTo>
                    <a:pt x="821905" y="430618"/>
                  </a:lnTo>
                  <a:lnTo>
                    <a:pt x="793877" y="394106"/>
                  </a:lnTo>
                  <a:lnTo>
                    <a:pt x="671855" y="272097"/>
                  </a:lnTo>
                  <a:lnTo>
                    <a:pt x="422757" y="22999"/>
                  </a:lnTo>
                  <a:lnTo>
                    <a:pt x="399770" y="0"/>
                  </a:lnTo>
                  <a:lnTo>
                    <a:pt x="150685" y="249085"/>
                  </a:lnTo>
                  <a:lnTo>
                    <a:pt x="173672" y="272084"/>
                  </a:lnTo>
                  <a:lnTo>
                    <a:pt x="51650" y="394119"/>
                  </a:lnTo>
                  <a:lnTo>
                    <a:pt x="23622" y="430631"/>
                  </a:lnTo>
                  <a:lnTo>
                    <a:pt x="6007" y="473163"/>
                  </a:lnTo>
                  <a:lnTo>
                    <a:pt x="0" y="518795"/>
                  </a:lnTo>
                  <a:lnTo>
                    <a:pt x="368" y="530339"/>
                  </a:lnTo>
                  <a:lnTo>
                    <a:pt x="9359" y="575487"/>
                  </a:lnTo>
                  <a:lnTo>
                    <a:pt x="29718" y="616762"/>
                  </a:lnTo>
                  <a:lnTo>
                    <a:pt x="59855" y="651154"/>
                  </a:lnTo>
                  <a:lnTo>
                    <a:pt x="98069" y="676681"/>
                  </a:lnTo>
                  <a:lnTo>
                    <a:pt x="141655" y="691476"/>
                  </a:lnTo>
                  <a:lnTo>
                    <a:pt x="176060" y="694855"/>
                  </a:lnTo>
                  <a:lnTo>
                    <a:pt x="187591" y="694486"/>
                  </a:lnTo>
                  <a:lnTo>
                    <a:pt x="232740" y="685495"/>
                  </a:lnTo>
                  <a:lnTo>
                    <a:pt x="274027" y="665137"/>
                  </a:lnTo>
                  <a:lnTo>
                    <a:pt x="422770" y="521182"/>
                  </a:lnTo>
                  <a:lnTo>
                    <a:pt x="544791" y="643191"/>
                  </a:lnTo>
                  <a:lnTo>
                    <a:pt x="581304" y="671220"/>
                  </a:lnTo>
                  <a:lnTo>
                    <a:pt x="623836" y="688835"/>
                  </a:lnTo>
                  <a:lnTo>
                    <a:pt x="669467" y="694842"/>
                  </a:lnTo>
                  <a:lnTo>
                    <a:pt x="681012" y="694461"/>
                  </a:lnTo>
                  <a:lnTo>
                    <a:pt x="726160" y="685482"/>
                  </a:lnTo>
                  <a:lnTo>
                    <a:pt x="767435" y="665124"/>
                  </a:lnTo>
                  <a:lnTo>
                    <a:pt x="801827" y="634987"/>
                  </a:lnTo>
                  <a:lnTo>
                    <a:pt x="827354" y="596773"/>
                  </a:lnTo>
                  <a:lnTo>
                    <a:pt x="842149" y="553186"/>
                  </a:lnTo>
                  <a:lnTo>
                    <a:pt x="845159"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689" name="Google Shape;689;p26"/>
          <p:cNvSpPr txBox="1"/>
          <p:nvPr>
            <p:ph type="title"/>
          </p:nvPr>
        </p:nvSpPr>
        <p:spPr>
          <a:xfrm>
            <a:off x="3060581" y="4514594"/>
            <a:ext cx="10985500" cy="2362200"/>
          </a:xfrm>
          <a:prstGeom prst="rect">
            <a:avLst/>
          </a:prstGeom>
          <a:noFill/>
          <a:ln>
            <a:noFill/>
          </a:ln>
        </p:spPr>
        <p:txBody>
          <a:bodyPr anchorCtr="0" anchor="t" bIns="0" lIns="0" spcFirstLastPara="1" rIns="0" wrap="square" tIns="127000">
            <a:spAutoFit/>
          </a:bodyPr>
          <a:lstStyle/>
          <a:p>
            <a:pPr indent="0" lvl="0" marL="12700" marR="5080" rtl="0" algn="l">
              <a:lnSpc>
                <a:spcPct val="110000"/>
              </a:lnSpc>
              <a:spcBef>
                <a:spcPts val="0"/>
              </a:spcBef>
              <a:spcAft>
                <a:spcPts val="0"/>
              </a:spcAft>
              <a:buSzPts val="1400"/>
              <a:buNone/>
            </a:pPr>
            <a:r>
              <a:rPr b="1" lang="en-US" sz="8000">
                <a:latin typeface="Arial"/>
                <a:ea typeface="Arial"/>
                <a:cs typeface="Arial"/>
                <a:sym typeface="Arial"/>
              </a:rPr>
              <a:t>Evaluación avanzada y resultados</a:t>
            </a:r>
            <a:endParaRPr sz="8000">
              <a:latin typeface="Arial"/>
              <a:ea typeface="Arial"/>
              <a:cs typeface="Arial"/>
              <a:sym typeface="Arial"/>
            </a:endParaRPr>
          </a:p>
        </p:txBody>
      </p:sp>
      <p:grpSp>
        <p:nvGrpSpPr>
          <p:cNvPr id="690" name="Google Shape;690;p26"/>
          <p:cNvGrpSpPr/>
          <p:nvPr/>
        </p:nvGrpSpPr>
        <p:grpSpPr>
          <a:xfrm>
            <a:off x="0" y="1"/>
            <a:ext cx="14536419" cy="948701"/>
            <a:chOff x="0" y="1"/>
            <a:chExt cx="14536419" cy="948701"/>
          </a:xfrm>
        </p:grpSpPr>
        <p:sp>
          <p:nvSpPr>
            <p:cNvPr id="691" name="Google Shape;691;p26"/>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2" name="Google Shape;692;p26"/>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3" name="Google Shape;693;p26"/>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94" name="Google Shape;694;p26"/>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5" name="Google Shape;695;p26"/>
          <p:cNvSpPr txBox="1"/>
          <p:nvPr>
            <p:ph idx="12" type="sldNum"/>
          </p:nvPr>
        </p:nvSpPr>
        <p:spPr>
          <a:xfrm>
            <a:off x="878457" y="9567912"/>
            <a:ext cx="575944" cy="384721"/>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696" name="Google Shape;696;p26"/>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697" name="Google Shape;697;p26"/>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27"/>
          <p:cNvSpPr txBox="1"/>
          <p:nvPr/>
        </p:nvSpPr>
        <p:spPr>
          <a:xfrm>
            <a:off x="3033886" y="4126478"/>
            <a:ext cx="6390600" cy="36063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292929"/>
                </a:solidFill>
                <a:latin typeface="Arial"/>
                <a:ea typeface="Arial"/>
                <a:cs typeface="Arial"/>
                <a:sym typeface="Arial"/>
              </a:rPr>
              <a:t>Evaluación integral del modelo</a:t>
            </a:r>
            <a:endParaRPr b="0" i="0" sz="2000" u="none" cap="none" strike="noStrike">
              <a:solidFill>
                <a:srgbClr val="000000"/>
              </a:solidFill>
              <a:latin typeface="Arial"/>
              <a:ea typeface="Arial"/>
              <a:cs typeface="Arial"/>
              <a:sym typeface="Arial"/>
            </a:endParaRPr>
          </a:p>
          <a:p>
            <a:pPr indent="-168275" lvl="0" marL="180340" marR="232410" rtl="0" algn="l">
              <a:lnSpc>
                <a:spcPct val="101000"/>
              </a:lnSpc>
              <a:spcBef>
                <a:spcPts val="147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ML.EVALUATE reporta métricas clave como </a:t>
            </a:r>
            <a:r>
              <a:rPr b="1" i="0" lang="en-US" sz="1550" u="none" cap="none" strike="noStrike">
                <a:solidFill>
                  <a:srgbClr val="F2620F"/>
                </a:solidFill>
                <a:latin typeface="Arial"/>
                <a:ea typeface="Arial"/>
                <a:cs typeface="Arial"/>
                <a:sym typeface="Arial"/>
              </a:rPr>
              <a:t>accuracy</a:t>
            </a:r>
            <a:r>
              <a:rPr b="0" i="0" lang="en-US" sz="1550" u="none" cap="none" strike="noStrike">
                <a:solidFill>
                  <a:srgbClr val="292929"/>
                </a:solidFill>
                <a:latin typeface="Arial"/>
                <a:ea typeface="Arial"/>
                <a:cs typeface="Arial"/>
                <a:sym typeface="Arial"/>
              </a:rPr>
              <a:t>, </a:t>
            </a:r>
            <a:r>
              <a:rPr b="1" i="0" lang="en-US" sz="1550" u="none" cap="none" strike="noStrike">
                <a:solidFill>
                  <a:srgbClr val="F2620F"/>
                </a:solidFill>
                <a:latin typeface="Arial"/>
                <a:ea typeface="Arial"/>
                <a:cs typeface="Arial"/>
                <a:sym typeface="Arial"/>
              </a:rPr>
              <a:t>precision</a:t>
            </a:r>
            <a:r>
              <a:rPr b="0" i="0" lang="en-US" sz="1550" u="none" cap="none" strike="noStrike">
                <a:solidFill>
                  <a:srgbClr val="292929"/>
                </a:solidFill>
                <a:latin typeface="Arial"/>
                <a:ea typeface="Arial"/>
                <a:cs typeface="Arial"/>
                <a:sym typeface="Arial"/>
              </a:rPr>
              <a:t>, </a:t>
            </a:r>
            <a:r>
              <a:rPr b="1" i="0" lang="en-US" sz="1550" u="none" cap="none" strike="noStrike">
                <a:solidFill>
                  <a:srgbClr val="F2620F"/>
                </a:solidFill>
                <a:latin typeface="Arial"/>
                <a:ea typeface="Arial"/>
                <a:cs typeface="Arial"/>
                <a:sym typeface="Arial"/>
              </a:rPr>
              <a:t>recall </a:t>
            </a:r>
            <a:r>
              <a:rPr b="0" i="0" lang="en-US" sz="1550" u="none" cap="none" strike="noStrike">
                <a:solidFill>
                  <a:srgbClr val="292929"/>
                </a:solidFill>
                <a:latin typeface="Arial"/>
                <a:ea typeface="Arial"/>
                <a:cs typeface="Arial"/>
                <a:sym typeface="Arial"/>
              </a:rPr>
              <a:t>y </a:t>
            </a:r>
            <a:r>
              <a:rPr b="1" i="0" lang="en-US" sz="1550" u="none" cap="none" strike="noStrike">
                <a:solidFill>
                  <a:srgbClr val="F2620F"/>
                </a:solidFill>
                <a:latin typeface="Arial"/>
                <a:ea typeface="Arial"/>
                <a:cs typeface="Arial"/>
                <a:sym typeface="Arial"/>
              </a:rPr>
              <a:t>F1-score</a:t>
            </a:r>
            <a:r>
              <a:rPr b="0" i="0" lang="en-US" sz="1550" u="none" cap="none" strike="noStrike">
                <a:solidFill>
                  <a:srgbClr val="292929"/>
                </a:solidFill>
                <a:latin typeface="Arial"/>
                <a:ea typeface="Arial"/>
                <a:cs typeface="Arial"/>
                <a:sym typeface="Arial"/>
              </a:rPr>
              <a:t>.</a:t>
            </a:r>
            <a:endParaRPr b="0" i="0" sz="1550" u="none" cap="none" strike="noStrike">
              <a:solidFill>
                <a:srgbClr val="000000"/>
              </a:solidFill>
              <a:latin typeface="Arial"/>
              <a:ea typeface="Arial"/>
              <a:cs typeface="Arial"/>
              <a:sym typeface="Arial"/>
            </a:endParaRPr>
          </a:p>
          <a:p>
            <a:pPr indent="-168275" lvl="0" marL="180340" marR="406400" rtl="0" algn="l">
              <a:lnSpc>
                <a:spcPct val="101000"/>
              </a:lnSpc>
              <a:spcBef>
                <a:spcPts val="390"/>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Permite comparar desempeño en conjuntos de entrenamiento y evaluación.</a:t>
            </a:r>
            <a:endParaRPr b="0" i="0" sz="1550" u="none" cap="none" strike="noStrike">
              <a:solidFill>
                <a:srgbClr val="000000"/>
              </a:solidFill>
              <a:latin typeface="Arial"/>
              <a:ea typeface="Arial"/>
              <a:cs typeface="Arial"/>
              <a:sym typeface="Arial"/>
            </a:endParaRPr>
          </a:p>
          <a:p>
            <a:pPr indent="0" lvl="0" marL="0" marR="0" rtl="0" algn="l">
              <a:lnSpc>
                <a:spcPct val="100000"/>
              </a:lnSpc>
              <a:spcBef>
                <a:spcPts val="409"/>
              </a:spcBef>
              <a:spcAft>
                <a:spcPts val="0"/>
              </a:spcAft>
              <a:buNone/>
            </a:pPr>
            <a:r>
              <a:t/>
            </a:r>
            <a:endParaRPr b="0" i="0" sz="1550" u="none" cap="none" strike="noStrike">
              <a:solidFill>
                <a:srgbClr val="000000"/>
              </a:solidFill>
              <a:latin typeface="Arial"/>
              <a:ea typeface="Arial"/>
              <a:cs typeface="Arial"/>
              <a:sym typeface="Arial"/>
            </a:endParaRPr>
          </a:p>
          <a:p>
            <a:pPr indent="0" lvl="0" marL="0" marR="0" rtl="0" algn="l">
              <a:lnSpc>
                <a:spcPct val="100000"/>
              </a:lnSpc>
              <a:spcBef>
                <a:spcPts val="305"/>
              </a:spcBef>
              <a:spcAft>
                <a:spcPts val="0"/>
              </a:spcAft>
              <a:buClr>
                <a:srgbClr val="292929"/>
              </a:buClr>
              <a:buSzPts val="1550"/>
              <a:buFont typeface="Times New Roman"/>
              <a:buNone/>
            </a:pPr>
            <a:r>
              <a:t/>
            </a:r>
            <a:endParaRPr b="0" i="0" sz="155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292929"/>
                </a:solidFill>
                <a:latin typeface="Arial"/>
                <a:ea typeface="Arial"/>
                <a:cs typeface="Arial"/>
                <a:sym typeface="Arial"/>
              </a:rPr>
              <a:t>Predicción sobre datos reservados</a:t>
            </a:r>
            <a:endParaRPr b="0" i="0" sz="2000" u="none" cap="none" strike="noStrike">
              <a:solidFill>
                <a:srgbClr val="000000"/>
              </a:solidFill>
              <a:latin typeface="Arial"/>
              <a:ea typeface="Arial"/>
              <a:cs typeface="Arial"/>
              <a:sym typeface="Arial"/>
            </a:endParaRPr>
          </a:p>
          <a:p>
            <a:pPr indent="-168275" lvl="0" marL="180340" marR="314960" rtl="0" algn="l">
              <a:lnSpc>
                <a:spcPct val="101000"/>
              </a:lnSpc>
              <a:spcBef>
                <a:spcPts val="147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ML.PREDICT aplica el modelo a datos nuevos (bloque PREDICT), 	generando clases y probabilidades.</a:t>
            </a:r>
            <a:endParaRPr b="0" i="0" sz="1550" u="none" cap="none" strike="noStrike">
              <a:solidFill>
                <a:srgbClr val="000000"/>
              </a:solidFill>
              <a:latin typeface="Arial"/>
              <a:ea typeface="Arial"/>
              <a:cs typeface="Arial"/>
              <a:sym typeface="Arial"/>
            </a:endParaRPr>
          </a:p>
          <a:p>
            <a:pPr indent="-168275" lvl="0" marL="180340" marR="511175" rtl="0" algn="l">
              <a:lnSpc>
                <a:spcPct val="101000"/>
              </a:lnSpc>
              <a:spcBef>
                <a:spcPts val="395"/>
              </a:spcBef>
              <a:spcAft>
                <a:spcPts val="0"/>
              </a:spcAft>
              <a:buClr>
                <a:srgbClr val="292929"/>
              </a:buClr>
              <a:buSzPts val="1550"/>
              <a:buFont typeface="Times New Roman"/>
              <a:buChar char="•"/>
            </a:pPr>
            <a:r>
              <a:rPr b="0" i="0" lang="en-US" sz="1550" u="none" cap="none" strike="noStrike">
                <a:solidFill>
                  <a:srgbClr val="292929"/>
                </a:solidFill>
                <a:latin typeface="Arial"/>
                <a:ea typeface="Arial"/>
                <a:cs typeface="Arial"/>
                <a:sym typeface="Arial"/>
              </a:rPr>
              <a:t>Resultados permiten estimar la probabilidad de propina alta en 	viajes futuros.</a:t>
            </a:r>
            <a:endParaRPr b="0" i="0" sz="1550" u="none" cap="none" strike="noStrike">
              <a:solidFill>
                <a:srgbClr val="000000"/>
              </a:solidFill>
              <a:latin typeface="Arial"/>
              <a:ea typeface="Arial"/>
              <a:cs typeface="Arial"/>
              <a:sym typeface="Arial"/>
            </a:endParaRPr>
          </a:p>
        </p:txBody>
      </p:sp>
      <p:sp>
        <p:nvSpPr>
          <p:cNvPr descr="$PPTXTitle" id="703" name="Google Shape;703;p27"/>
          <p:cNvSpPr txBox="1"/>
          <p:nvPr>
            <p:ph type="title"/>
          </p:nvPr>
        </p:nvSpPr>
        <p:spPr>
          <a:xfrm>
            <a:off x="3033923" y="1591293"/>
            <a:ext cx="3843020" cy="2077720"/>
          </a:xfrm>
          <a:prstGeom prst="rect">
            <a:avLst/>
          </a:prstGeom>
          <a:noFill/>
          <a:ln>
            <a:noFill/>
          </a:ln>
        </p:spPr>
        <p:txBody>
          <a:bodyPr anchorCtr="0" anchor="t" bIns="0" lIns="0" spcFirstLastPara="1" rIns="0" wrap="square" tIns="84450">
            <a:spAutoFit/>
          </a:bodyPr>
          <a:lstStyle/>
          <a:p>
            <a:pPr indent="0" lvl="0" marL="12700" marR="5080" rtl="0" algn="l">
              <a:lnSpc>
                <a:spcPct val="110105"/>
              </a:lnSpc>
              <a:spcBef>
                <a:spcPts val="0"/>
              </a:spcBef>
              <a:spcAft>
                <a:spcPts val="0"/>
              </a:spcAft>
              <a:buSzPts val="1400"/>
              <a:buNone/>
            </a:pPr>
            <a:r>
              <a:rPr lang="en-US" sz="4750"/>
              <a:t>Evaluación y predicción en          BigQuery ML</a:t>
            </a:r>
            <a:endParaRPr sz="4750"/>
          </a:p>
        </p:txBody>
      </p:sp>
      <p:pic>
        <p:nvPicPr>
          <p:cNvPr id="704" name="Google Shape;704;p27"/>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705" name="Google Shape;705;p27"/>
          <p:cNvGrpSpPr/>
          <p:nvPr/>
        </p:nvGrpSpPr>
        <p:grpSpPr>
          <a:xfrm>
            <a:off x="989606" y="1689081"/>
            <a:ext cx="845835" cy="846029"/>
            <a:chOff x="989606" y="1689081"/>
            <a:chExt cx="845835" cy="846029"/>
          </a:xfrm>
        </p:grpSpPr>
        <p:sp>
          <p:nvSpPr>
            <p:cNvPr id="706" name="Google Shape;706;p27"/>
            <p:cNvSpPr/>
            <p:nvPr/>
          </p:nvSpPr>
          <p:spPr>
            <a:xfrm>
              <a:off x="989606" y="1689087"/>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7" name="Google Shape;707;p27"/>
            <p:cNvSpPr/>
            <p:nvPr/>
          </p:nvSpPr>
          <p:spPr>
            <a:xfrm>
              <a:off x="1287837" y="1689081"/>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8" name="Google Shape;708;p27"/>
            <p:cNvSpPr/>
            <p:nvPr/>
          </p:nvSpPr>
          <p:spPr>
            <a:xfrm>
              <a:off x="989622" y="1839785"/>
              <a:ext cx="845819" cy="695325"/>
            </a:xfrm>
            <a:custGeom>
              <a:rect b="b" l="l" r="r" t="t"/>
              <a:pathLst>
                <a:path extrusionOk="0" h="695325" w="845819">
                  <a:moveTo>
                    <a:pt x="845527" y="518782"/>
                  </a:moveTo>
                  <a:lnTo>
                    <a:pt x="839520" y="473151"/>
                  </a:lnTo>
                  <a:lnTo>
                    <a:pt x="821905" y="430618"/>
                  </a:lnTo>
                  <a:lnTo>
                    <a:pt x="793877" y="394106"/>
                  </a:lnTo>
                  <a:lnTo>
                    <a:pt x="671855" y="272084"/>
                  </a:lnTo>
                  <a:lnTo>
                    <a:pt x="422757" y="22987"/>
                  </a:lnTo>
                  <a:lnTo>
                    <a:pt x="399770" y="0"/>
                  </a:lnTo>
                  <a:lnTo>
                    <a:pt x="150685" y="249085"/>
                  </a:lnTo>
                  <a:lnTo>
                    <a:pt x="173672" y="272084"/>
                  </a:lnTo>
                  <a:lnTo>
                    <a:pt x="51650" y="394106"/>
                  </a:lnTo>
                  <a:lnTo>
                    <a:pt x="23622" y="430618"/>
                  </a:lnTo>
                  <a:lnTo>
                    <a:pt x="6007" y="473151"/>
                  </a:lnTo>
                  <a:lnTo>
                    <a:pt x="0" y="518782"/>
                  </a:lnTo>
                  <a:lnTo>
                    <a:pt x="381" y="530326"/>
                  </a:lnTo>
                  <a:lnTo>
                    <a:pt x="9359" y="575475"/>
                  </a:lnTo>
                  <a:lnTo>
                    <a:pt x="29718" y="616750"/>
                  </a:lnTo>
                  <a:lnTo>
                    <a:pt x="59855" y="651141"/>
                  </a:lnTo>
                  <a:lnTo>
                    <a:pt x="98069" y="676656"/>
                  </a:lnTo>
                  <a:lnTo>
                    <a:pt x="141655" y="691464"/>
                  </a:lnTo>
                  <a:lnTo>
                    <a:pt x="176060" y="694842"/>
                  </a:lnTo>
                  <a:lnTo>
                    <a:pt x="187604" y="694461"/>
                  </a:lnTo>
                  <a:lnTo>
                    <a:pt x="232740" y="685482"/>
                  </a:lnTo>
                  <a:lnTo>
                    <a:pt x="274027" y="665124"/>
                  </a:lnTo>
                  <a:lnTo>
                    <a:pt x="422757" y="521169"/>
                  </a:lnTo>
                  <a:lnTo>
                    <a:pt x="544791" y="643191"/>
                  </a:lnTo>
                  <a:lnTo>
                    <a:pt x="581304" y="671220"/>
                  </a:lnTo>
                  <a:lnTo>
                    <a:pt x="623836" y="688835"/>
                  </a:lnTo>
                  <a:lnTo>
                    <a:pt x="669467" y="694842"/>
                  </a:lnTo>
                  <a:lnTo>
                    <a:pt x="681012" y="694461"/>
                  </a:lnTo>
                  <a:lnTo>
                    <a:pt x="726160" y="685482"/>
                  </a:lnTo>
                  <a:lnTo>
                    <a:pt x="767435" y="665124"/>
                  </a:lnTo>
                  <a:lnTo>
                    <a:pt x="801827" y="634974"/>
                  </a:lnTo>
                  <a:lnTo>
                    <a:pt x="827341" y="596760"/>
                  </a:lnTo>
                  <a:lnTo>
                    <a:pt x="842149" y="553173"/>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09" name="Google Shape;709;p27"/>
          <p:cNvGrpSpPr/>
          <p:nvPr/>
        </p:nvGrpSpPr>
        <p:grpSpPr>
          <a:xfrm>
            <a:off x="0" y="1"/>
            <a:ext cx="14536419" cy="948701"/>
            <a:chOff x="0" y="1"/>
            <a:chExt cx="14536419" cy="948701"/>
          </a:xfrm>
        </p:grpSpPr>
        <p:sp>
          <p:nvSpPr>
            <p:cNvPr id="710" name="Google Shape;710;p27"/>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1" name="Google Shape;711;p27"/>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2" name="Google Shape;712;p27"/>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13" name="Google Shape;713;p27"/>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27"/>
          <p:cNvSpPr txBox="1"/>
          <p:nvPr>
            <p:ph idx="12" type="sldNum"/>
          </p:nvPr>
        </p:nvSpPr>
        <p:spPr>
          <a:xfrm>
            <a:off x="878457" y="9567912"/>
            <a:ext cx="575944" cy="384721"/>
          </a:xfrm>
          <a:prstGeom prst="rect">
            <a:avLst/>
          </a:prstGeom>
          <a:noFill/>
          <a:ln>
            <a:noFill/>
          </a:ln>
        </p:spPr>
        <p:txBody>
          <a:bodyPr anchorCtr="0" anchor="t" bIns="0" lIns="0" spcFirstLastPara="1" rIns="0" wrap="square" tIns="0">
            <a:spAutoFit/>
          </a:bodyPr>
          <a:lstStyle/>
          <a:p>
            <a:pPr indent="0" lvl="0" marL="38100" rtl="0" algn="l">
              <a:lnSpc>
                <a:spcPct val="117115"/>
              </a:lnSpc>
              <a:spcBef>
                <a:spcPts val="0"/>
              </a:spcBef>
              <a:spcAft>
                <a:spcPts val="0"/>
              </a:spcAft>
              <a:buSzPts val="2600"/>
              <a:buNone/>
            </a:pPr>
            <a:fld id="{00000000-1234-1234-1234-123412341234}" type="slidenum">
              <a:rPr lang="en-US"/>
              <a:t>‹#›</a:t>
            </a:fld>
            <a:r>
              <a:rPr lang="en-US"/>
              <a:t>.</a:t>
            </a:r>
            <a:endParaRPr/>
          </a:p>
        </p:txBody>
      </p:sp>
      <p:sp>
        <p:nvSpPr>
          <p:cNvPr id="715" name="Google Shape;715;p27"/>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716" name="Google Shape;716;p27"/>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28"/>
          <p:cNvSpPr txBox="1"/>
          <p:nvPr/>
        </p:nvSpPr>
        <p:spPr>
          <a:xfrm>
            <a:off x="3060600" y="9629773"/>
            <a:ext cx="385762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Evaluación avanzada y resultados</a:t>
            </a:r>
            <a:endParaRPr b="0" i="0" sz="2000" u="none" cap="none" strike="noStrike">
              <a:solidFill>
                <a:srgbClr val="000000"/>
              </a:solidFill>
              <a:latin typeface="Arial"/>
              <a:ea typeface="Arial"/>
              <a:cs typeface="Arial"/>
              <a:sym typeface="Arial"/>
            </a:endParaRPr>
          </a:p>
        </p:txBody>
      </p:sp>
      <p:sp>
        <p:nvSpPr>
          <p:cNvPr id="722" name="Google Shape;722;p28"/>
          <p:cNvSpPr txBox="1"/>
          <p:nvPr/>
        </p:nvSpPr>
        <p:spPr>
          <a:xfrm>
            <a:off x="16105787" y="9632059"/>
            <a:ext cx="1210945"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262626"/>
                </a:solidFill>
                <a:latin typeface="Arial"/>
                <a:ea typeface="Arial"/>
                <a:cs typeface="Arial"/>
                <a:sym typeface="Arial"/>
              </a:rPr>
              <a:t>22/4/2026</a:t>
            </a:r>
            <a:endParaRPr b="0" i="0" sz="2000" u="none" cap="none" strike="noStrike">
              <a:solidFill>
                <a:srgbClr val="000000"/>
              </a:solidFill>
              <a:latin typeface="Arial"/>
              <a:ea typeface="Arial"/>
              <a:cs typeface="Arial"/>
              <a:sym typeface="Arial"/>
            </a:endParaRPr>
          </a:p>
        </p:txBody>
      </p:sp>
      <p:grpSp>
        <p:nvGrpSpPr>
          <p:cNvPr id="723" name="Google Shape;723;p28"/>
          <p:cNvGrpSpPr/>
          <p:nvPr/>
        </p:nvGrpSpPr>
        <p:grpSpPr>
          <a:xfrm>
            <a:off x="0" y="1"/>
            <a:ext cx="14536419" cy="948701"/>
            <a:chOff x="0" y="1"/>
            <a:chExt cx="14536419" cy="948701"/>
          </a:xfrm>
        </p:grpSpPr>
        <p:sp>
          <p:nvSpPr>
            <p:cNvPr id="724" name="Google Shape;724;p28"/>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5" name="Google Shape;725;p28"/>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6" name="Google Shape;726;p28"/>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27" name="Google Shape;727;p28"/>
          <p:cNvSpPr txBox="1"/>
          <p:nvPr/>
        </p:nvSpPr>
        <p:spPr>
          <a:xfrm>
            <a:off x="903857" y="9549700"/>
            <a:ext cx="550545"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F2620F"/>
                </a:solidFill>
                <a:latin typeface="Arial"/>
                <a:ea typeface="Arial"/>
                <a:cs typeface="Arial"/>
                <a:sym typeface="Arial"/>
              </a:rPr>
              <a:t>28.</a:t>
            </a:r>
            <a:endParaRPr b="0" i="0" sz="2600" u="none" cap="none" strike="noStrike">
              <a:solidFill>
                <a:srgbClr val="000000"/>
              </a:solidFill>
              <a:latin typeface="Arial"/>
              <a:ea typeface="Arial"/>
              <a:cs typeface="Arial"/>
              <a:sym typeface="Arial"/>
            </a:endParaRPr>
          </a:p>
        </p:txBody>
      </p:sp>
      <p:sp>
        <p:nvSpPr>
          <p:cNvPr descr="$PPTXTitle" id="728" name="Google Shape;728;p28"/>
          <p:cNvSpPr txBox="1"/>
          <p:nvPr>
            <p:ph type="title"/>
          </p:nvPr>
        </p:nvSpPr>
        <p:spPr>
          <a:xfrm>
            <a:off x="3031356" y="1550978"/>
            <a:ext cx="14208760" cy="947695"/>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SzPts val="1400"/>
              <a:buNone/>
            </a:pPr>
            <a:r>
              <a:rPr lang="en-US"/>
              <a:t>Interpretando resultados del modelo</a:t>
            </a:r>
            <a:endParaRPr/>
          </a:p>
        </p:txBody>
      </p:sp>
      <p:grpSp>
        <p:nvGrpSpPr>
          <p:cNvPr id="729" name="Google Shape;729;p28"/>
          <p:cNvGrpSpPr/>
          <p:nvPr/>
        </p:nvGrpSpPr>
        <p:grpSpPr>
          <a:xfrm>
            <a:off x="989571" y="1692459"/>
            <a:ext cx="845819" cy="846054"/>
            <a:chOff x="989571" y="1692459"/>
            <a:chExt cx="845819" cy="846054"/>
          </a:xfrm>
        </p:grpSpPr>
        <p:sp>
          <p:nvSpPr>
            <p:cNvPr id="730" name="Google Shape;730;p28"/>
            <p:cNvSpPr/>
            <p:nvPr/>
          </p:nvSpPr>
          <p:spPr>
            <a:xfrm>
              <a:off x="989613" y="1692459"/>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28"/>
            <p:cNvSpPr/>
            <p:nvPr/>
          </p:nvSpPr>
          <p:spPr>
            <a:xfrm>
              <a:off x="1287740" y="1692506"/>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2" name="Google Shape;732;p28"/>
            <p:cNvSpPr/>
            <p:nvPr/>
          </p:nvSpPr>
          <p:spPr>
            <a:xfrm>
              <a:off x="989571" y="1843188"/>
              <a:ext cx="845819" cy="695325"/>
            </a:xfrm>
            <a:custGeom>
              <a:rect b="b" l="l" r="r" t="t"/>
              <a:pathLst>
                <a:path extrusionOk="0" h="695325" w="845819">
                  <a:moveTo>
                    <a:pt x="845489" y="518782"/>
                  </a:moveTo>
                  <a:lnTo>
                    <a:pt x="839482" y="473151"/>
                  </a:lnTo>
                  <a:lnTo>
                    <a:pt x="821867" y="430618"/>
                  </a:lnTo>
                  <a:lnTo>
                    <a:pt x="793838" y="394106"/>
                  </a:lnTo>
                  <a:lnTo>
                    <a:pt x="671830" y="272110"/>
                  </a:lnTo>
                  <a:lnTo>
                    <a:pt x="422757" y="22999"/>
                  </a:lnTo>
                  <a:lnTo>
                    <a:pt x="399732" y="0"/>
                  </a:lnTo>
                  <a:lnTo>
                    <a:pt x="150647" y="249085"/>
                  </a:lnTo>
                  <a:lnTo>
                    <a:pt x="173659" y="272110"/>
                  </a:lnTo>
                  <a:lnTo>
                    <a:pt x="51650" y="394119"/>
                  </a:lnTo>
                  <a:lnTo>
                    <a:pt x="23622" y="430631"/>
                  </a:lnTo>
                  <a:lnTo>
                    <a:pt x="6007" y="473163"/>
                  </a:lnTo>
                  <a:lnTo>
                    <a:pt x="0" y="518795"/>
                  </a:lnTo>
                  <a:lnTo>
                    <a:pt x="381" y="530339"/>
                  </a:lnTo>
                  <a:lnTo>
                    <a:pt x="9359" y="575487"/>
                  </a:lnTo>
                  <a:lnTo>
                    <a:pt x="29718" y="616762"/>
                  </a:lnTo>
                  <a:lnTo>
                    <a:pt x="59855" y="651154"/>
                  </a:lnTo>
                  <a:lnTo>
                    <a:pt x="98069" y="676668"/>
                  </a:lnTo>
                  <a:lnTo>
                    <a:pt x="141655" y="691464"/>
                  </a:lnTo>
                  <a:lnTo>
                    <a:pt x="176060" y="694855"/>
                  </a:lnTo>
                  <a:lnTo>
                    <a:pt x="187604" y="694474"/>
                  </a:lnTo>
                  <a:lnTo>
                    <a:pt x="232740" y="685495"/>
                  </a:lnTo>
                  <a:lnTo>
                    <a:pt x="274027" y="665124"/>
                  </a:lnTo>
                  <a:lnTo>
                    <a:pt x="422744" y="521195"/>
                  </a:lnTo>
                  <a:lnTo>
                    <a:pt x="544753" y="643191"/>
                  </a:lnTo>
                  <a:lnTo>
                    <a:pt x="581266" y="671220"/>
                  </a:lnTo>
                  <a:lnTo>
                    <a:pt x="623798" y="688835"/>
                  </a:lnTo>
                  <a:lnTo>
                    <a:pt x="669429" y="694842"/>
                  </a:lnTo>
                  <a:lnTo>
                    <a:pt x="680974" y="694461"/>
                  </a:lnTo>
                  <a:lnTo>
                    <a:pt x="726122" y="685482"/>
                  </a:lnTo>
                  <a:lnTo>
                    <a:pt x="767397" y="665124"/>
                  </a:lnTo>
                  <a:lnTo>
                    <a:pt x="801789" y="634987"/>
                  </a:lnTo>
                  <a:lnTo>
                    <a:pt x="827303" y="596773"/>
                  </a:lnTo>
                  <a:lnTo>
                    <a:pt x="842098" y="553186"/>
                  </a:lnTo>
                  <a:lnTo>
                    <a:pt x="845108" y="530326"/>
                  </a:lnTo>
                  <a:lnTo>
                    <a:pt x="845489"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33" name="Google Shape;733;p28"/>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34" name="Google Shape;734;p28"/>
          <p:cNvGrpSpPr/>
          <p:nvPr/>
        </p:nvGrpSpPr>
        <p:grpSpPr>
          <a:xfrm>
            <a:off x="12909053" y="3294014"/>
            <a:ext cx="4449445" cy="5403850"/>
            <a:chOff x="12909053" y="3294014"/>
            <a:chExt cx="4449445" cy="5403850"/>
          </a:xfrm>
        </p:grpSpPr>
        <p:sp>
          <p:nvSpPr>
            <p:cNvPr id="735" name="Google Shape;735;p28"/>
            <p:cNvSpPr/>
            <p:nvPr/>
          </p:nvSpPr>
          <p:spPr>
            <a:xfrm>
              <a:off x="12909053" y="3294014"/>
              <a:ext cx="4449445" cy="5403850"/>
            </a:xfrm>
            <a:custGeom>
              <a:rect b="b" l="l" r="r" t="t"/>
              <a:pathLst>
                <a:path extrusionOk="0" h="5403850" w="4449444">
                  <a:moveTo>
                    <a:pt x="4009047" y="0"/>
                  </a:moveTo>
                  <a:lnTo>
                    <a:pt x="447675" y="0"/>
                  </a:lnTo>
                  <a:lnTo>
                    <a:pt x="433031" y="177"/>
                  </a:lnTo>
                  <a:lnTo>
                    <a:pt x="389229" y="3771"/>
                  </a:lnTo>
                  <a:lnTo>
                    <a:pt x="346011" y="11633"/>
                  </a:lnTo>
                  <a:lnTo>
                    <a:pt x="303758" y="23698"/>
                  </a:lnTo>
                  <a:lnTo>
                    <a:pt x="262890" y="39852"/>
                  </a:lnTo>
                  <a:lnTo>
                    <a:pt x="223812" y="59931"/>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955679"/>
                  </a:lnTo>
                  <a:lnTo>
                    <a:pt x="3771" y="5014112"/>
                  </a:lnTo>
                  <a:lnTo>
                    <a:pt x="11633" y="5057343"/>
                  </a:lnTo>
                  <a:lnTo>
                    <a:pt x="23698" y="5099596"/>
                  </a:lnTo>
                  <a:lnTo>
                    <a:pt x="39852" y="5140452"/>
                  </a:lnTo>
                  <a:lnTo>
                    <a:pt x="59931" y="5179542"/>
                  </a:lnTo>
                  <a:lnTo>
                    <a:pt x="83731" y="5216474"/>
                  </a:lnTo>
                  <a:lnTo>
                    <a:pt x="111048" y="5250891"/>
                  </a:lnTo>
                  <a:lnTo>
                    <a:pt x="141604" y="5282463"/>
                  </a:lnTo>
                  <a:lnTo>
                    <a:pt x="175107" y="5310886"/>
                  </a:lnTo>
                  <a:lnTo>
                    <a:pt x="211239" y="5335892"/>
                  </a:lnTo>
                  <a:lnTo>
                    <a:pt x="249643" y="5357241"/>
                  </a:lnTo>
                  <a:lnTo>
                    <a:pt x="289953" y="5374716"/>
                  </a:lnTo>
                  <a:lnTo>
                    <a:pt x="331787" y="5388152"/>
                  </a:lnTo>
                  <a:lnTo>
                    <a:pt x="374738" y="5397436"/>
                  </a:lnTo>
                  <a:lnTo>
                    <a:pt x="418388" y="5402453"/>
                  </a:lnTo>
                  <a:lnTo>
                    <a:pt x="440347" y="5403354"/>
                  </a:lnTo>
                  <a:lnTo>
                    <a:pt x="4001719" y="5403354"/>
                  </a:lnTo>
                  <a:lnTo>
                    <a:pt x="4060164" y="5399582"/>
                  </a:lnTo>
                  <a:lnTo>
                    <a:pt x="4103395" y="5391721"/>
                  </a:lnTo>
                  <a:lnTo>
                    <a:pt x="4145635" y="5379643"/>
                  </a:lnTo>
                  <a:lnTo>
                    <a:pt x="4186504" y="5363502"/>
                  </a:lnTo>
                  <a:lnTo>
                    <a:pt x="4225582" y="5343423"/>
                  </a:lnTo>
                  <a:lnTo>
                    <a:pt x="4262513" y="5319610"/>
                  </a:lnTo>
                  <a:lnTo>
                    <a:pt x="4296943" y="5292305"/>
                  </a:lnTo>
                  <a:lnTo>
                    <a:pt x="4328502" y="5261737"/>
                  </a:lnTo>
                  <a:lnTo>
                    <a:pt x="4356938" y="5228247"/>
                  </a:lnTo>
                  <a:lnTo>
                    <a:pt x="4381931" y="5192115"/>
                  </a:lnTo>
                  <a:lnTo>
                    <a:pt x="4403280" y="5153710"/>
                  </a:lnTo>
                  <a:lnTo>
                    <a:pt x="4420755" y="5113388"/>
                  </a:lnTo>
                  <a:lnTo>
                    <a:pt x="4434192" y="5071554"/>
                  </a:lnTo>
                  <a:lnTo>
                    <a:pt x="4443476" y="5028615"/>
                  </a:lnTo>
                  <a:lnTo>
                    <a:pt x="4448505" y="4984965"/>
                  </a:lnTo>
                  <a:lnTo>
                    <a:pt x="4449394" y="4963007"/>
                  </a:lnTo>
                  <a:lnTo>
                    <a:pt x="4449394" y="447675"/>
                  </a:lnTo>
                  <a:lnTo>
                    <a:pt x="4445635" y="389229"/>
                  </a:lnTo>
                  <a:lnTo>
                    <a:pt x="4437761" y="346011"/>
                  </a:lnTo>
                  <a:lnTo>
                    <a:pt x="4425696" y="303758"/>
                  </a:lnTo>
                  <a:lnTo>
                    <a:pt x="4409541" y="262890"/>
                  </a:lnTo>
                  <a:lnTo>
                    <a:pt x="4389475" y="223812"/>
                  </a:lnTo>
                  <a:lnTo>
                    <a:pt x="4365663" y="186880"/>
                  </a:lnTo>
                  <a:lnTo>
                    <a:pt x="4338345" y="152463"/>
                  </a:lnTo>
                  <a:lnTo>
                    <a:pt x="4307789" y="120891"/>
                  </a:lnTo>
                  <a:lnTo>
                    <a:pt x="4274286" y="92468"/>
                  </a:lnTo>
                  <a:lnTo>
                    <a:pt x="4238155" y="67462"/>
                  </a:lnTo>
                  <a:lnTo>
                    <a:pt x="4199750" y="46113"/>
                  </a:lnTo>
                  <a:lnTo>
                    <a:pt x="4159440" y="28638"/>
                  </a:lnTo>
                  <a:lnTo>
                    <a:pt x="4117606" y="15201"/>
                  </a:lnTo>
                  <a:lnTo>
                    <a:pt x="4074655" y="5918"/>
                  </a:lnTo>
                  <a:lnTo>
                    <a:pt x="4031005" y="901"/>
                  </a:lnTo>
                  <a:lnTo>
                    <a:pt x="400904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6" name="Google Shape;736;p28"/>
            <p:cNvSpPr/>
            <p:nvPr/>
          </p:nvSpPr>
          <p:spPr>
            <a:xfrm>
              <a:off x="12909082" y="3428550"/>
              <a:ext cx="1235710" cy="1040130"/>
            </a:xfrm>
            <a:custGeom>
              <a:rect b="b" l="l" r="r" t="t"/>
              <a:pathLst>
                <a:path extrusionOk="0" h="1040129" w="1235709">
                  <a:moveTo>
                    <a:pt x="760387" y="0"/>
                  </a:moveTo>
                  <a:lnTo>
                    <a:pt x="0" y="0"/>
                  </a:lnTo>
                  <a:lnTo>
                    <a:pt x="0" y="1039558"/>
                  </a:lnTo>
                  <a:lnTo>
                    <a:pt x="760387" y="1039558"/>
                  </a:lnTo>
                  <a:lnTo>
                    <a:pt x="791455" y="1038539"/>
                  </a:lnTo>
                  <a:lnTo>
                    <a:pt x="852991" y="1030434"/>
                  </a:lnTo>
                  <a:lnTo>
                    <a:pt x="913000" y="1014352"/>
                  </a:lnTo>
                  <a:lnTo>
                    <a:pt x="970338" y="990604"/>
                  </a:lnTo>
                  <a:lnTo>
                    <a:pt x="1024144" y="959538"/>
                  </a:lnTo>
                  <a:lnTo>
                    <a:pt x="1073386" y="921753"/>
                  </a:lnTo>
                  <a:lnTo>
                    <a:pt x="1117320" y="877821"/>
                  </a:lnTo>
                  <a:lnTo>
                    <a:pt x="1155100" y="828588"/>
                  </a:lnTo>
                  <a:lnTo>
                    <a:pt x="1186161" y="774783"/>
                  </a:lnTo>
                  <a:lnTo>
                    <a:pt x="1209912" y="717445"/>
                  </a:lnTo>
                  <a:lnTo>
                    <a:pt x="1225994" y="656727"/>
                  </a:lnTo>
                  <a:lnTo>
                    <a:pt x="1234095" y="576889"/>
                  </a:lnTo>
                  <a:lnTo>
                    <a:pt x="1235113" y="519772"/>
                  </a:lnTo>
                  <a:lnTo>
                    <a:pt x="1234095" y="462656"/>
                  </a:lnTo>
                  <a:lnTo>
                    <a:pt x="1231052" y="418380"/>
                  </a:lnTo>
                  <a:lnTo>
                    <a:pt x="1218933" y="351840"/>
                  </a:lnTo>
                  <a:lnTo>
                    <a:pt x="1198975" y="293042"/>
                  </a:lnTo>
                  <a:lnTo>
                    <a:pt x="1171511" y="237350"/>
                  </a:lnTo>
                  <a:lnTo>
                    <a:pt x="1137016" y="185723"/>
                  </a:lnTo>
                  <a:lnTo>
                    <a:pt x="1096073" y="139039"/>
                  </a:lnTo>
                  <a:lnTo>
                    <a:pt x="1049383" y="98094"/>
                  </a:lnTo>
                  <a:lnTo>
                    <a:pt x="997750" y="63588"/>
                  </a:lnTo>
                  <a:lnTo>
                    <a:pt x="942057" y="36129"/>
                  </a:lnTo>
                  <a:lnTo>
                    <a:pt x="883259" y="16167"/>
                  </a:lnTo>
                  <a:lnTo>
                    <a:pt x="822356" y="4059"/>
                  </a:lnTo>
                  <a:lnTo>
                    <a:pt x="760387"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7" name="Google Shape;737;p28"/>
            <p:cNvSpPr/>
            <p:nvPr/>
          </p:nvSpPr>
          <p:spPr>
            <a:xfrm>
              <a:off x="13120700" y="3676522"/>
              <a:ext cx="679450" cy="615315"/>
            </a:xfrm>
            <a:custGeom>
              <a:rect b="b" l="l" r="r" t="t"/>
              <a:pathLst>
                <a:path extrusionOk="0" h="615314" w="679450">
                  <a:moveTo>
                    <a:pt x="500748" y="156832"/>
                  </a:moveTo>
                  <a:lnTo>
                    <a:pt x="497166" y="152844"/>
                  </a:lnTo>
                  <a:lnTo>
                    <a:pt x="477266" y="132943"/>
                  </a:lnTo>
                  <a:lnTo>
                    <a:pt x="477266" y="160020"/>
                  </a:lnTo>
                  <a:lnTo>
                    <a:pt x="377355" y="259918"/>
                  </a:lnTo>
                  <a:lnTo>
                    <a:pt x="375361" y="261518"/>
                  </a:lnTo>
                  <a:lnTo>
                    <a:pt x="374573" y="263906"/>
                  </a:lnTo>
                  <a:lnTo>
                    <a:pt x="374573" y="268681"/>
                  </a:lnTo>
                  <a:lnTo>
                    <a:pt x="375361" y="271462"/>
                  </a:lnTo>
                  <a:lnTo>
                    <a:pt x="377355" y="273062"/>
                  </a:lnTo>
                  <a:lnTo>
                    <a:pt x="476465" y="372567"/>
                  </a:lnTo>
                  <a:lnTo>
                    <a:pt x="446214" y="402818"/>
                  </a:lnTo>
                  <a:lnTo>
                    <a:pt x="367398" y="324002"/>
                  </a:lnTo>
                  <a:lnTo>
                    <a:pt x="344716" y="301320"/>
                  </a:lnTo>
                  <a:lnTo>
                    <a:pt x="342328" y="300126"/>
                  </a:lnTo>
                  <a:lnTo>
                    <a:pt x="337553" y="300126"/>
                  </a:lnTo>
                  <a:lnTo>
                    <a:pt x="334759" y="301320"/>
                  </a:lnTo>
                  <a:lnTo>
                    <a:pt x="333171" y="303707"/>
                  </a:lnTo>
                  <a:lnTo>
                    <a:pt x="233667" y="402818"/>
                  </a:lnTo>
                  <a:lnTo>
                    <a:pt x="203415" y="372567"/>
                  </a:lnTo>
                  <a:lnTo>
                    <a:pt x="304914" y="271462"/>
                  </a:lnTo>
                  <a:lnTo>
                    <a:pt x="306108" y="269468"/>
                  </a:lnTo>
                  <a:lnTo>
                    <a:pt x="306108" y="264299"/>
                  </a:lnTo>
                  <a:lnTo>
                    <a:pt x="304914" y="261518"/>
                  </a:lnTo>
                  <a:lnTo>
                    <a:pt x="203415" y="160020"/>
                  </a:lnTo>
                  <a:lnTo>
                    <a:pt x="233667" y="129768"/>
                  </a:lnTo>
                  <a:lnTo>
                    <a:pt x="333565" y="228879"/>
                  </a:lnTo>
                  <a:lnTo>
                    <a:pt x="335165" y="230860"/>
                  </a:lnTo>
                  <a:lnTo>
                    <a:pt x="337553" y="231660"/>
                  </a:lnTo>
                  <a:lnTo>
                    <a:pt x="342328" y="231660"/>
                  </a:lnTo>
                  <a:lnTo>
                    <a:pt x="345109" y="230860"/>
                  </a:lnTo>
                  <a:lnTo>
                    <a:pt x="346710" y="228879"/>
                  </a:lnTo>
                  <a:lnTo>
                    <a:pt x="367093" y="208572"/>
                  </a:lnTo>
                  <a:lnTo>
                    <a:pt x="446214" y="129768"/>
                  </a:lnTo>
                  <a:lnTo>
                    <a:pt x="477266" y="160020"/>
                  </a:lnTo>
                  <a:lnTo>
                    <a:pt x="477266" y="132943"/>
                  </a:lnTo>
                  <a:lnTo>
                    <a:pt x="474091" y="129768"/>
                  </a:lnTo>
                  <a:lnTo>
                    <a:pt x="452983" y="108661"/>
                  </a:lnTo>
                  <a:lnTo>
                    <a:pt x="450989" y="107073"/>
                  </a:lnTo>
                  <a:lnTo>
                    <a:pt x="448995" y="105879"/>
                  </a:lnTo>
                  <a:lnTo>
                    <a:pt x="443826" y="105879"/>
                  </a:lnTo>
                  <a:lnTo>
                    <a:pt x="441439" y="107073"/>
                  </a:lnTo>
                  <a:lnTo>
                    <a:pt x="439445" y="108661"/>
                  </a:lnTo>
                  <a:lnTo>
                    <a:pt x="339534" y="208572"/>
                  </a:lnTo>
                  <a:lnTo>
                    <a:pt x="261353" y="129768"/>
                  </a:lnTo>
                  <a:lnTo>
                    <a:pt x="238836" y="107073"/>
                  </a:lnTo>
                  <a:lnTo>
                    <a:pt x="236448" y="105879"/>
                  </a:lnTo>
                  <a:lnTo>
                    <a:pt x="231673" y="105879"/>
                  </a:lnTo>
                  <a:lnTo>
                    <a:pt x="228879" y="107073"/>
                  </a:lnTo>
                  <a:lnTo>
                    <a:pt x="226898" y="108661"/>
                  </a:lnTo>
                  <a:lnTo>
                    <a:pt x="182714" y="152844"/>
                  </a:lnTo>
                  <a:lnTo>
                    <a:pt x="179133" y="156832"/>
                  </a:lnTo>
                  <a:lnTo>
                    <a:pt x="179133" y="162801"/>
                  </a:lnTo>
                  <a:lnTo>
                    <a:pt x="182714" y="166776"/>
                  </a:lnTo>
                  <a:lnTo>
                    <a:pt x="282625" y="266687"/>
                  </a:lnTo>
                  <a:lnTo>
                    <a:pt x="181114" y="367385"/>
                  </a:lnTo>
                  <a:lnTo>
                    <a:pt x="180327" y="370179"/>
                  </a:lnTo>
                  <a:lnTo>
                    <a:pt x="180327" y="374954"/>
                  </a:lnTo>
                  <a:lnTo>
                    <a:pt x="226898" y="423519"/>
                  </a:lnTo>
                  <a:lnTo>
                    <a:pt x="230873" y="426300"/>
                  </a:lnTo>
                  <a:lnTo>
                    <a:pt x="236054" y="426300"/>
                  </a:lnTo>
                  <a:lnTo>
                    <a:pt x="238836" y="425107"/>
                  </a:lnTo>
                  <a:lnTo>
                    <a:pt x="261035" y="402818"/>
                  </a:lnTo>
                  <a:lnTo>
                    <a:pt x="339534" y="324002"/>
                  </a:lnTo>
                  <a:lnTo>
                    <a:pt x="439445" y="423519"/>
                  </a:lnTo>
                  <a:lnTo>
                    <a:pt x="441439" y="425107"/>
                  </a:lnTo>
                  <a:lnTo>
                    <a:pt x="443826" y="426300"/>
                  </a:lnTo>
                  <a:lnTo>
                    <a:pt x="448995" y="426300"/>
                  </a:lnTo>
                  <a:lnTo>
                    <a:pt x="450989" y="425500"/>
                  </a:lnTo>
                  <a:lnTo>
                    <a:pt x="473671" y="402818"/>
                  </a:lnTo>
                  <a:lnTo>
                    <a:pt x="497166" y="379336"/>
                  </a:lnTo>
                  <a:lnTo>
                    <a:pt x="498754" y="377342"/>
                  </a:lnTo>
                  <a:lnTo>
                    <a:pt x="499948" y="374954"/>
                  </a:lnTo>
                  <a:lnTo>
                    <a:pt x="499948" y="370179"/>
                  </a:lnTo>
                  <a:lnTo>
                    <a:pt x="498754" y="367385"/>
                  </a:lnTo>
                  <a:lnTo>
                    <a:pt x="397649" y="266687"/>
                  </a:lnTo>
                  <a:lnTo>
                    <a:pt x="497166" y="166776"/>
                  </a:lnTo>
                  <a:lnTo>
                    <a:pt x="500748" y="162801"/>
                  </a:lnTo>
                  <a:lnTo>
                    <a:pt x="500748" y="156832"/>
                  </a:lnTo>
                  <a:close/>
                </a:path>
                <a:path extrusionOk="0" h="615314" w="679450">
                  <a:moveTo>
                    <a:pt x="679056" y="266687"/>
                  </a:moveTo>
                  <a:lnTo>
                    <a:pt x="674624" y="223520"/>
                  </a:lnTo>
                  <a:lnTo>
                    <a:pt x="661809" y="182549"/>
                  </a:lnTo>
                  <a:lnTo>
                    <a:pt x="659155" y="177507"/>
                  </a:lnTo>
                  <a:lnTo>
                    <a:pt x="659155" y="266687"/>
                  </a:lnTo>
                  <a:lnTo>
                    <a:pt x="654964" y="306679"/>
                  </a:lnTo>
                  <a:lnTo>
                    <a:pt x="642848" y="344665"/>
                  </a:lnTo>
                  <a:lnTo>
                    <a:pt x="623430" y="380111"/>
                  </a:lnTo>
                  <a:lnTo>
                    <a:pt x="597408" y="412496"/>
                  </a:lnTo>
                  <a:lnTo>
                    <a:pt x="565416" y="441325"/>
                  </a:lnTo>
                  <a:lnTo>
                    <a:pt x="528129" y="466064"/>
                  </a:lnTo>
                  <a:lnTo>
                    <a:pt x="486194" y="486206"/>
                  </a:lnTo>
                  <a:lnTo>
                    <a:pt x="440283" y="501230"/>
                  </a:lnTo>
                  <a:lnTo>
                    <a:pt x="391033" y="510616"/>
                  </a:lnTo>
                  <a:lnTo>
                    <a:pt x="339128" y="513867"/>
                  </a:lnTo>
                  <a:lnTo>
                    <a:pt x="331190" y="513867"/>
                  </a:lnTo>
                  <a:lnTo>
                    <a:pt x="317792" y="513422"/>
                  </a:lnTo>
                  <a:lnTo>
                    <a:pt x="307403" y="512686"/>
                  </a:lnTo>
                  <a:lnTo>
                    <a:pt x="297332" y="511479"/>
                  </a:lnTo>
                  <a:lnTo>
                    <a:pt x="295351" y="511479"/>
                  </a:lnTo>
                  <a:lnTo>
                    <a:pt x="293763" y="512279"/>
                  </a:lnTo>
                  <a:lnTo>
                    <a:pt x="292125" y="512686"/>
                  </a:lnTo>
                  <a:lnTo>
                    <a:pt x="133350" y="586308"/>
                  </a:lnTo>
                  <a:lnTo>
                    <a:pt x="177533" y="489991"/>
                  </a:lnTo>
                  <a:lnTo>
                    <a:pt x="179514" y="485216"/>
                  </a:lnTo>
                  <a:lnTo>
                    <a:pt x="177927" y="479640"/>
                  </a:lnTo>
                  <a:lnTo>
                    <a:pt x="173151" y="477253"/>
                  </a:lnTo>
                  <a:lnTo>
                    <a:pt x="128739" y="451916"/>
                  </a:lnTo>
                  <a:lnTo>
                    <a:pt x="91033" y="421513"/>
                  </a:lnTo>
                  <a:lnTo>
                    <a:pt x="60655" y="386892"/>
                  </a:lnTo>
                  <a:lnTo>
                    <a:pt x="38201" y="348957"/>
                  </a:lnTo>
                  <a:lnTo>
                    <a:pt x="24282" y="308597"/>
                  </a:lnTo>
                  <a:lnTo>
                    <a:pt x="19507" y="266687"/>
                  </a:lnTo>
                  <a:lnTo>
                    <a:pt x="23710" y="226580"/>
                  </a:lnTo>
                  <a:lnTo>
                    <a:pt x="35864" y="188506"/>
                  </a:lnTo>
                  <a:lnTo>
                    <a:pt x="55308" y="152996"/>
                  </a:lnTo>
                  <a:lnTo>
                    <a:pt x="81368" y="120561"/>
                  </a:lnTo>
                  <a:lnTo>
                    <a:pt x="113398" y="91694"/>
                  </a:lnTo>
                  <a:lnTo>
                    <a:pt x="150710" y="66941"/>
                  </a:lnTo>
                  <a:lnTo>
                    <a:pt x="192646" y="46786"/>
                  </a:lnTo>
                  <a:lnTo>
                    <a:pt x="238544" y="31750"/>
                  </a:lnTo>
                  <a:lnTo>
                    <a:pt x="287731" y="22352"/>
                  </a:lnTo>
                  <a:lnTo>
                    <a:pt x="339534" y="19113"/>
                  </a:lnTo>
                  <a:lnTo>
                    <a:pt x="391452" y="22352"/>
                  </a:lnTo>
                  <a:lnTo>
                    <a:pt x="440715" y="31750"/>
                  </a:lnTo>
                  <a:lnTo>
                    <a:pt x="486664" y="46786"/>
                  </a:lnTo>
                  <a:lnTo>
                    <a:pt x="528624" y="66941"/>
                  </a:lnTo>
                  <a:lnTo>
                    <a:pt x="565924" y="91694"/>
                  </a:lnTo>
                  <a:lnTo>
                    <a:pt x="597890" y="120561"/>
                  </a:lnTo>
                  <a:lnTo>
                    <a:pt x="623874" y="152996"/>
                  </a:lnTo>
                  <a:lnTo>
                    <a:pt x="643191" y="188506"/>
                  </a:lnTo>
                  <a:lnTo>
                    <a:pt x="655180" y="226580"/>
                  </a:lnTo>
                  <a:lnTo>
                    <a:pt x="659155" y="266687"/>
                  </a:lnTo>
                  <a:lnTo>
                    <a:pt x="659155" y="177507"/>
                  </a:lnTo>
                  <a:lnTo>
                    <a:pt x="641083" y="143954"/>
                  </a:lnTo>
                  <a:lnTo>
                    <a:pt x="613422" y="109016"/>
                  </a:lnTo>
                  <a:lnTo>
                    <a:pt x="579450" y="77965"/>
                  </a:lnTo>
                  <a:lnTo>
                    <a:pt x="539864" y="51333"/>
                  </a:lnTo>
                  <a:lnTo>
                    <a:pt x="495376" y="29692"/>
                  </a:lnTo>
                  <a:lnTo>
                    <a:pt x="463448" y="19113"/>
                  </a:lnTo>
                  <a:lnTo>
                    <a:pt x="446913" y="13627"/>
                  </a:lnTo>
                  <a:lnTo>
                    <a:pt x="447078" y="13627"/>
                  </a:lnTo>
                  <a:lnTo>
                    <a:pt x="394614" y="3492"/>
                  </a:lnTo>
                  <a:lnTo>
                    <a:pt x="394843" y="3492"/>
                  </a:lnTo>
                  <a:lnTo>
                    <a:pt x="339534" y="0"/>
                  </a:lnTo>
                  <a:lnTo>
                    <a:pt x="284568" y="3492"/>
                  </a:lnTo>
                  <a:lnTo>
                    <a:pt x="232384" y="13627"/>
                  </a:lnTo>
                  <a:lnTo>
                    <a:pt x="183692" y="29845"/>
                  </a:lnTo>
                  <a:lnTo>
                    <a:pt x="139204" y="51574"/>
                  </a:lnTo>
                  <a:lnTo>
                    <a:pt x="99618" y="78257"/>
                  </a:lnTo>
                  <a:lnTo>
                    <a:pt x="65633" y="109359"/>
                  </a:lnTo>
                  <a:lnTo>
                    <a:pt x="37985" y="144310"/>
                  </a:lnTo>
                  <a:lnTo>
                    <a:pt x="17360" y="182549"/>
                  </a:lnTo>
                  <a:lnTo>
                    <a:pt x="4521" y="223329"/>
                  </a:lnTo>
                  <a:lnTo>
                    <a:pt x="4457" y="223520"/>
                  </a:lnTo>
                  <a:lnTo>
                    <a:pt x="0" y="266687"/>
                  </a:lnTo>
                  <a:lnTo>
                    <a:pt x="4876" y="311086"/>
                  </a:lnTo>
                  <a:lnTo>
                    <a:pt x="19050" y="353758"/>
                  </a:lnTo>
                  <a:lnTo>
                    <a:pt x="41897" y="393852"/>
                  </a:lnTo>
                  <a:lnTo>
                    <a:pt x="72771" y="430504"/>
                  </a:lnTo>
                  <a:lnTo>
                    <a:pt x="111036" y="462826"/>
                  </a:lnTo>
                  <a:lnTo>
                    <a:pt x="156032" y="489991"/>
                  </a:lnTo>
                  <a:lnTo>
                    <a:pt x="105092" y="601040"/>
                  </a:lnTo>
                  <a:lnTo>
                    <a:pt x="103492" y="605015"/>
                  </a:lnTo>
                  <a:lnTo>
                    <a:pt x="104686" y="609396"/>
                  </a:lnTo>
                  <a:lnTo>
                    <a:pt x="107073" y="612190"/>
                  </a:lnTo>
                  <a:lnTo>
                    <a:pt x="109067" y="613778"/>
                  </a:lnTo>
                  <a:lnTo>
                    <a:pt x="111061" y="614972"/>
                  </a:lnTo>
                  <a:lnTo>
                    <a:pt x="116624" y="614972"/>
                  </a:lnTo>
                  <a:lnTo>
                    <a:pt x="117817" y="613778"/>
                  </a:lnTo>
                  <a:lnTo>
                    <a:pt x="177368" y="586308"/>
                  </a:lnTo>
                  <a:lnTo>
                    <a:pt x="298132" y="530593"/>
                  </a:lnTo>
                  <a:lnTo>
                    <a:pt x="308406" y="531571"/>
                  </a:lnTo>
                  <a:lnTo>
                    <a:pt x="318833" y="532180"/>
                  </a:lnTo>
                  <a:lnTo>
                    <a:pt x="332168" y="532574"/>
                  </a:lnTo>
                  <a:lnTo>
                    <a:pt x="339534" y="532574"/>
                  </a:lnTo>
                  <a:lnTo>
                    <a:pt x="370941" y="530593"/>
                  </a:lnTo>
                  <a:lnTo>
                    <a:pt x="394500" y="529107"/>
                  </a:lnTo>
                  <a:lnTo>
                    <a:pt x="446684" y="519061"/>
                  </a:lnTo>
                  <a:lnTo>
                    <a:pt x="495376" y="502970"/>
                  </a:lnTo>
                  <a:lnTo>
                    <a:pt x="539864" y="481393"/>
                  </a:lnTo>
                  <a:lnTo>
                    <a:pt x="579450" y="454863"/>
                  </a:lnTo>
                  <a:lnTo>
                    <a:pt x="613422" y="423900"/>
                  </a:lnTo>
                  <a:lnTo>
                    <a:pt x="641083" y="389064"/>
                  </a:lnTo>
                  <a:lnTo>
                    <a:pt x="661708" y="350888"/>
                  </a:lnTo>
                  <a:lnTo>
                    <a:pt x="674598" y="309918"/>
                  </a:lnTo>
                  <a:lnTo>
                    <a:pt x="679056" y="266687"/>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38" name="Google Shape;738;p28"/>
          <p:cNvGrpSpPr/>
          <p:nvPr/>
        </p:nvGrpSpPr>
        <p:grpSpPr>
          <a:xfrm>
            <a:off x="7976592" y="3294014"/>
            <a:ext cx="4449445" cy="5403850"/>
            <a:chOff x="7976592" y="3294014"/>
            <a:chExt cx="4449445" cy="5403850"/>
          </a:xfrm>
        </p:grpSpPr>
        <p:sp>
          <p:nvSpPr>
            <p:cNvPr id="739" name="Google Shape;739;p28"/>
            <p:cNvSpPr/>
            <p:nvPr/>
          </p:nvSpPr>
          <p:spPr>
            <a:xfrm>
              <a:off x="7976592" y="3294014"/>
              <a:ext cx="4449445" cy="5403850"/>
            </a:xfrm>
            <a:custGeom>
              <a:rect b="b" l="l" r="r" t="t"/>
              <a:pathLst>
                <a:path extrusionOk="0" h="5403850" w="4449445">
                  <a:moveTo>
                    <a:pt x="4009047" y="0"/>
                  </a:moveTo>
                  <a:lnTo>
                    <a:pt x="447675" y="0"/>
                  </a:lnTo>
                  <a:lnTo>
                    <a:pt x="433031" y="177"/>
                  </a:lnTo>
                  <a:lnTo>
                    <a:pt x="389229" y="3771"/>
                  </a:lnTo>
                  <a:lnTo>
                    <a:pt x="346011" y="11633"/>
                  </a:lnTo>
                  <a:lnTo>
                    <a:pt x="303758" y="23698"/>
                  </a:lnTo>
                  <a:lnTo>
                    <a:pt x="262890" y="39852"/>
                  </a:lnTo>
                  <a:lnTo>
                    <a:pt x="223812" y="59931"/>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955679"/>
                  </a:lnTo>
                  <a:lnTo>
                    <a:pt x="3771" y="5014112"/>
                  </a:lnTo>
                  <a:lnTo>
                    <a:pt x="11633" y="5057343"/>
                  </a:lnTo>
                  <a:lnTo>
                    <a:pt x="23698" y="5099596"/>
                  </a:lnTo>
                  <a:lnTo>
                    <a:pt x="39852" y="5140452"/>
                  </a:lnTo>
                  <a:lnTo>
                    <a:pt x="59931" y="5179542"/>
                  </a:lnTo>
                  <a:lnTo>
                    <a:pt x="83731" y="5216474"/>
                  </a:lnTo>
                  <a:lnTo>
                    <a:pt x="111048" y="5250891"/>
                  </a:lnTo>
                  <a:lnTo>
                    <a:pt x="141604" y="5282463"/>
                  </a:lnTo>
                  <a:lnTo>
                    <a:pt x="175107" y="5310886"/>
                  </a:lnTo>
                  <a:lnTo>
                    <a:pt x="211239" y="5335892"/>
                  </a:lnTo>
                  <a:lnTo>
                    <a:pt x="249643" y="5357241"/>
                  </a:lnTo>
                  <a:lnTo>
                    <a:pt x="289953" y="5374716"/>
                  </a:lnTo>
                  <a:lnTo>
                    <a:pt x="331787" y="5388152"/>
                  </a:lnTo>
                  <a:lnTo>
                    <a:pt x="374738" y="5397436"/>
                  </a:lnTo>
                  <a:lnTo>
                    <a:pt x="418388" y="5402453"/>
                  </a:lnTo>
                  <a:lnTo>
                    <a:pt x="440347" y="5403354"/>
                  </a:lnTo>
                  <a:lnTo>
                    <a:pt x="4001719" y="5403354"/>
                  </a:lnTo>
                  <a:lnTo>
                    <a:pt x="4060164" y="5399582"/>
                  </a:lnTo>
                  <a:lnTo>
                    <a:pt x="4103395" y="5391721"/>
                  </a:lnTo>
                  <a:lnTo>
                    <a:pt x="4145635" y="5379643"/>
                  </a:lnTo>
                  <a:lnTo>
                    <a:pt x="4186504" y="5363502"/>
                  </a:lnTo>
                  <a:lnTo>
                    <a:pt x="4225594" y="5343423"/>
                  </a:lnTo>
                  <a:lnTo>
                    <a:pt x="4262513" y="5319610"/>
                  </a:lnTo>
                  <a:lnTo>
                    <a:pt x="4296930" y="5292305"/>
                  </a:lnTo>
                  <a:lnTo>
                    <a:pt x="4328502" y="5261737"/>
                  </a:lnTo>
                  <a:lnTo>
                    <a:pt x="4356938" y="5228247"/>
                  </a:lnTo>
                  <a:lnTo>
                    <a:pt x="4381931" y="5192115"/>
                  </a:lnTo>
                  <a:lnTo>
                    <a:pt x="4403280" y="5153710"/>
                  </a:lnTo>
                  <a:lnTo>
                    <a:pt x="4420755" y="5113388"/>
                  </a:lnTo>
                  <a:lnTo>
                    <a:pt x="4434192" y="5071554"/>
                  </a:lnTo>
                  <a:lnTo>
                    <a:pt x="4443476" y="5028615"/>
                  </a:lnTo>
                  <a:lnTo>
                    <a:pt x="4448505" y="4984965"/>
                  </a:lnTo>
                  <a:lnTo>
                    <a:pt x="4449394" y="4963007"/>
                  </a:lnTo>
                  <a:lnTo>
                    <a:pt x="4449394" y="447675"/>
                  </a:lnTo>
                  <a:lnTo>
                    <a:pt x="4445622" y="389229"/>
                  </a:lnTo>
                  <a:lnTo>
                    <a:pt x="4437761" y="346011"/>
                  </a:lnTo>
                  <a:lnTo>
                    <a:pt x="4425696" y="303758"/>
                  </a:lnTo>
                  <a:lnTo>
                    <a:pt x="4409541" y="262890"/>
                  </a:lnTo>
                  <a:lnTo>
                    <a:pt x="4389475" y="223812"/>
                  </a:lnTo>
                  <a:lnTo>
                    <a:pt x="4365663" y="186880"/>
                  </a:lnTo>
                  <a:lnTo>
                    <a:pt x="4338345" y="152463"/>
                  </a:lnTo>
                  <a:lnTo>
                    <a:pt x="4307801" y="120891"/>
                  </a:lnTo>
                  <a:lnTo>
                    <a:pt x="4274286" y="92468"/>
                  </a:lnTo>
                  <a:lnTo>
                    <a:pt x="4238155" y="67462"/>
                  </a:lnTo>
                  <a:lnTo>
                    <a:pt x="4199750" y="46113"/>
                  </a:lnTo>
                  <a:lnTo>
                    <a:pt x="4159440" y="28638"/>
                  </a:lnTo>
                  <a:lnTo>
                    <a:pt x="4117606" y="15201"/>
                  </a:lnTo>
                  <a:lnTo>
                    <a:pt x="4074655" y="5918"/>
                  </a:lnTo>
                  <a:lnTo>
                    <a:pt x="4031005" y="901"/>
                  </a:lnTo>
                  <a:lnTo>
                    <a:pt x="400904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0" name="Google Shape;740;p28"/>
            <p:cNvSpPr/>
            <p:nvPr/>
          </p:nvSpPr>
          <p:spPr>
            <a:xfrm>
              <a:off x="7976621" y="3428550"/>
              <a:ext cx="1235710" cy="1040130"/>
            </a:xfrm>
            <a:custGeom>
              <a:rect b="b" l="l" r="r" t="t"/>
              <a:pathLst>
                <a:path extrusionOk="0" h="1040129" w="1235709">
                  <a:moveTo>
                    <a:pt x="760387" y="0"/>
                  </a:moveTo>
                  <a:lnTo>
                    <a:pt x="0" y="0"/>
                  </a:lnTo>
                  <a:lnTo>
                    <a:pt x="0" y="1039558"/>
                  </a:lnTo>
                  <a:lnTo>
                    <a:pt x="760387" y="1039558"/>
                  </a:lnTo>
                  <a:lnTo>
                    <a:pt x="791455" y="1038539"/>
                  </a:lnTo>
                  <a:lnTo>
                    <a:pt x="852991" y="1030434"/>
                  </a:lnTo>
                  <a:lnTo>
                    <a:pt x="913000" y="1014352"/>
                  </a:lnTo>
                  <a:lnTo>
                    <a:pt x="970338" y="990604"/>
                  </a:lnTo>
                  <a:lnTo>
                    <a:pt x="1024144" y="959538"/>
                  </a:lnTo>
                  <a:lnTo>
                    <a:pt x="1073386" y="921753"/>
                  </a:lnTo>
                  <a:lnTo>
                    <a:pt x="1117320" y="877821"/>
                  </a:lnTo>
                  <a:lnTo>
                    <a:pt x="1155100" y="828588"/>
                  </a:lnTo>
                  <a:lnTo>
                    <a:pt x="1186161" y="774783"/>
                  </a:lnTo>
                  <a:lnTo>
                    <a:pt x="1209912" y="717445"/>
                  </a:lnTo>
                  <a:lnTo>
                    <a:pt x="1225994" y="656727"/>
                  </a:lnTo>
                  <a:lnTo>
                    <a:pt x="1234095" y="576889"/>
                  </a:lnTo>
                  <a:lnTo>
                    <a:pt x="1235113" y="519772"/>
                  </a:lnTo>
                  <a:lnTo>
                    <a:pt x="1234095" y="462656"/>
                  </a:lnTo>
                  <a:lnTo>
                    <a:pt x="1231052" y="418380"/>
                  </a:lnTo>
                  <a:lnTo>
                    <a:pt x="1218933" y="351840"/>
                  </a:lnTo>
                  <a:lnTo>
                    <a:pt x="1198975" y="293042"/>
                  </a:lnTo>
                  <a:lnTo>
                    <a:pt x="1171511" y="237350"/>
                  </a:lnTo>
                  <a:lnTo>
                    <a:pt x="1137016" y="185723"/>
                  </a:lnTo>
                  <a:lnTo>
                    <a:pt x="1096073" y="139039"/>
                  </a:lnTo>
                  <a:lnTo>
                    <a:pt x="1049383" y="98094"/>
                  </a:lnTo>
                  <a:lnTo>
                    <a:pt x="997750" y="63588"/>
                  </a:lnTo>
                  <a:lnTo>
                    <a:pt x="942057" y="36129"/>
                  </a:lnTo>
                  <a:lnTo>
                    <a:pt x="883259" y="16167"/>
                  </a:lnTo>
                  <a:lnTo>
                    <a:pt x="822356" y="4059"/>
                  </a:lnTo>
                  <a:lnTo>
                    <a:pt x="760387"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1" name="Google Shape;741;p28"/>
            <p:cNvSpPr/>
            <p:nvPr/>
          </p:nvSpPr>
          <p:spPr>
            <a:xfrm>
              <a:off x="8167115" y="3725511"/>
              <a:ext cx="699135" cy="514350"/>
            </a:xfrm>
            <a:custGeom>
              <a:rect b="b" l="l" r="r" t="t"/>
              <a:pathLst>
                <a:path extrusionOk="0" h="514350" w="699134">
                  <a:moveTo>
                    <a:pt x="264858" y="416560"/>
                  </a:moveTo>
                  <a:lnTo>
                    <a:pt x="240944" y="416560"/>
                  </a:lnTo>
                  <a:lnTo>
                    <a:pt x="252314" y="417830"/>
                  </a:lnTo>
                  <a:lnTo>
                    <a:pt x="259237" y="421640"/>
                  </a:lnTo>
                  <a:lnTo>
                    <a:pt x="262681" y="427990"/>
                  </a:lnTo>
                  <a:lnTo>
                    <a:pt x="263613" y="439420"/>
                  </a:lnTo>
                  <a:lnTo>
                    <a:pt x="263613" y="469900"/>
                  </a:lnTo>
                  <a:lnTo>
                    <a:pt x="173354" y="469900"/>
                  </a:lnTo>
                  <a:lnTo>
                    <a:pt x="170865" y="472440"/>
                  </a:lnTo>
                  <a:lnTo>
                    <a:pt x="153530" y="495300"/>
                  </a:lnTo>
                  <a:lnTo>
                    <a:pt x="149956" y="502920"/>
                  </a:lnTo>
                  <a:lnTo>
                    <a:pt x="150280" y="508000"/>
                  </a:lnTo>
                  <a:lnTo>
                    <a:pt x="150361" y="509270"/>
                  </a:lnTo>
                  <a:lnTo>
                    <a:pt x="154576" y="513080"/>
                  </a:lnTo>
                  <a:lnTo>
                    <a:pt x="162432" y="514350"/>
                  </a:lnTo>
                  <a:lnTo>
                    <a:pt x="439204" y="514350"/>
                  </a:lnTo>
                  <a:lnTo>
                    <a:pt x="447104" y="513080"/>
                  </a:lnTo>
                  <a:lnTo>
                    <a:pt x="450848" y="508000"/>
                  </a:lnTo>
                  <a:lnTo>
                    <a:pt x="155613" y="508000"/>
                  </a:lnTo>
                  <a:lnTo>
                    <a:pt x="155384" y="505460"/>
                  </a:lnTo>
                  <a:lnTo>
                    <a:pt x="175183" y="478790"/>
                  </a:lnTo>
                  <a:lnTo>
                    <a:pt x="175844" y="477520"/>
                  </a:lnTo>
                  <a:lnTo>
                    <a:pt x="270763" y="477520"/>
                  </a:lnTo>
                  <a:lnTo>
                    <a:pt x="270763" y="430530"/>
                  </a:lnTo>
                  <a:lnTo>
                    <a:pt x="269684" y="422910"/>
                  </a:lnTo>
                  <a:lnTo>
                    <a:pt x="264858" y="416560"/>
                  </a:lnTo>
                  <a:close/>
                </a:path>
                <a:path extrusionOk="0" h="514350" w="699134">
                  <a:moveTo>
                    <a:pt x="433967" y="477520"/>
                  </a:moveTo>
                  <a:lnTo>
                    <a:pt x="425310" y="477520"/>
                  </a:lnTo>
                  <a:lnTo>
                    <a:pt x="432295" y="487680"/>
                  </a:lnTo>
                  <a:lnTo>
                    <a:pt x="436918" y="492760"/>
                  </a:lnTo>
                  <a:lnTo>
                    <a:pt x="444792" y="504190"/>
                  </a:lnTo>
                  <a:lnTo>
                    <a:pt x="446341" y="508000"/>
                  </a:lnTo>
                  <a:lnTo>
                    <a:pt x="450848" y="508000"/>
                  </a:lnTo>
                  <a:lnTo>
                    <a:pt x="450732" y="501650"/>
                  </a:lnTo>
                  <a:lnTo>
                    <a:pt x="447052" y="495300"/>
                  </a:lnTo>
                  <a:lnTo>
                    <a:pt x="442671" y="488950"/>
                  </a:lnTo>
                  <a:lnTo>
                    <a:pt x="438111" y="483870"/>
                  </a:lnTo>
                  <a:lnTo>
                    <a:pt x="433967" y="477520"/>
                  </a:lnTo>
                  <a:close/>
                </a:path>
                <a:path extrusionOk="0" h="514350" w="699134">
                  <a:moveTo>
                    <a:pt x="270763" y="477520"/>
                  </a:moveTo>
                  <a:lnTo>
                    <a:pt x="263613" y="477520"/>
                  </a:lnTo>
                  <a:lnTo>
                    <a:pt x="263613" y="491490"/>
                  </a:lnTo>
                  <a:lnTo>
                    <a:pt x="270763" y="491490"/>
                  </a:lnTo>
                  <a:lnTo>
                    <a:pt x="270763" y="477520"/>
                  </a:lnTo>
                  <a:close/>
                </a:path>
                <a:path extrusionOk="0" h="514350" w="699134">
                  <a:moveTo>
                    <a:pt x="522770" y="416560"/>
                  </a:moveTo>
                  <a:lnTo>
                    <a:pt x="336422" y="416560"/>
                  </a:lnTo>
                  <a:lnTo>
                    <a:pt x="330949" y="422910"/>
                  </a:lnTo>
                  <a:lnTo>
                    <a:pt x="330825" y="425450"/>
                  </a:lnTo>
                  <a:lnTo>
                    <a:pt x="330702" y="427990"/>
                  </a:lnTo>
                  <a:lnTo>
                    <a:pt x="330579" y="430530"/>
                  </a:lnTo>
                  <a:lnTo>
                    <a:pt x="330517" y="491490"/>
                  </a:lnTo>
                  <a:lnTo>
                    <a:pt x="337654" y="491490"/>
                  </a:lnTo>
                  <a:lnTo>
                    <a:pt x="337654" y="477520"/>
                  </a:lnTo>
                  <a:lnTo>
                    <a:pt x="433967" y="477520"/>
                  </a:lnTo>
                  <a:lnTo>
                    <a:pt x="428993" y="469900"/>
                  </a:lnTo>
                  <a:lnTo>
                    <a:pt x="337654" y="469900"/>
                  </a:lnTo>
                  <a:lnTo>
                    <a:pt x="337654" y="431800"/>
                  </a:lnTo>
                  <a:lnTo>
                    <a:pt x="338391" y="425450"/>
                  </a:lnTo>
                  <a:lnTo>
                    <a:pt x="344411" y="419100"/>
                  </a:lnTo>
                  <a:lnTo>
                    <a:pt x="350151" y="417830"/>
                  </a:lnTo>
                  <a:lnTo>
                    <a:pt x="522770" y="416560"/>
                  </a:lnTo>
                  <a:close/>
                </a:path>
                <a:path extrusionOk="0" h="514350" w="699134">
                  <a:moveTo>
                    <a:pt x="529920" y="416560"/>
                  </a:moveTo>
                  <a:lnTo>
                    <a:pt x="522770" y="416560"/>
                  </a:lnTo>
                  <a:lnTo>
                    <a:pt x="522770" y="472440"/>
                  </a:lnTo>
                  <a:lnTo>
                    <a:pt x="527850" y="477520"/>
                  </a:lnTo>
                  <a:lnTo>
                    <a:pt x="693889" y="477520"/>
                  </a:lnTo>
                  <a:lnTo>
                    <a:pt x="698957" y="472440"/>
                  </a:lnTo>
                  <a:lnTo>
                    <a:pt x="698957" y="469900"/>
                  </a:lnTo>
                  <a:lnTo>
                    <a:pt x="531799" y="469900"/>
                  </a:lnTo>
                  <a:lnTo>
                    <a:pt x="529920" y="468630"/>
                  </a:lnTo>
                  <a:lnTo>
                    <a:pt x="529920" y="416560"/>
                  </a:lnTo>
                  <a:close/>
                </a:path>
                <a:path extrusionOk="0" h="514350" w="699134">
                  <a:moveTo>
                    <a:pt x="698957" y="123190"/>
                  </a:moveTo>
                  <a:lnTo>
                    <a:pt x="689940" y="123190"/>
                  </a:lnTo>
                  <a:lnTo>
                    <a:pt x="691819" y="125730"/>
                  </a:lnTo>
                  <a:lnTo>
                    <a:pt x="691819" y="468630"/>
                  </a:lnTo>
                  <a:lnTo>
                    <a:pt x="689940" y="469900"/>
                  </a:lnTo>
                  <a:lnTo>
                    <a:pt x="698957" y="469900"/>
                  </a:lnTo>
                  <a:lnTo>
                    <a:pt x="698957" y="123190"/>
                  </a:lnTo>
                  <a:close/>
                </a:path>
                <a:path extrusionOk="0" h="514350" w="699134">
                  <a:moveTo>
                    <a:pt x="476884" y="53340"/>
                  </a:moveTo>
                  <a:lnTo>
                    <a:pt x="19850" y="53340"/>
                  </a:lnTo>
                  <a:lnTo>
                    <a:pt x="12140" y="55880"/>
                  </a:lnTo>
                  <a:lnTo>
                    <a:pt x="5829" y="59690"/>
                  </a:lnTo>
                  <a:lnTo>
                    <a:pt x="1565" y="66040"/>
                  </a:lnTo>
                  <a:lnTo>
                    <a:pt x="0" y="73660"/>
                  </a:lnTo>
                  <a:lnTo>
                    <a:pt x="0" y="397510"/>
                  </a:lnTo>
                  <a:lnTo>
                    <a:pt x="1565" y="405130"/>
                  </a:lnTo>
                  <a:lnTo>
                    <a:pt x="5829" y="411480"/>
                  </a:lnTo>
                  <a:lnTo>
                    <a:pt x="12140" y="415290"/>
                  </a:lnTo>
                  <a:lnTo>
                    <a:pt x="19850" y="416560"/>
                  </a:lnTo>
                  <a:lnTo>
                    <a:pt x="581418" y="416560"/>
                  </a:lnTo>
                  <a:lnTo>
                    <a:pt x="589129" y="415290"/>
                  </a:lnTo>
                  <a:lnTo>
                    <a:pt x="595445" y="411480"/>
                  </a:lnTo>
                  <a:lnTo>
                    <a:pt x="596299" y="410210"/>
                  </a:lnTo>
                  <a:lnTo>
                    <a:pt x="12877" y="410210"/>
                  </a:lnTo>
                  <a:lnTo>
                    <a:pt x="7150" y="403860"/>
                  </a:lnTo>
                  <a:lnTo>
                    <a:pt x="7150" y="66040"/>
                  </a:lnTo>
                  <a:lnTo>
                    <a:pt x="12877" y="60960"/>
                  </a:lnTo>
                  <a:lnTo>
                    <a:pt x="476884" y="60960"/>
                  </a:lnTo>
                  <a:lnTo>
                    <a:pt x="476884" y="53340"/>
                  </a:lnTo>
                  <a:close/>
                </a:path>
                <a:path extrusionOk="0" h="514350" w="699134">
                  <a:moveTo>
                    <a:pt x="667054" y="410210"/>
                  </a:moveTo>
                  <a:lnTo>
                    <a:pt x="639648" y="410210"/>
                  </a:lnTo>
                  <a:lnTo>
                    <a:pt x="639648" y="416560"/>
                  </a:lnTo>
                  <a:lnTo>
                    <a:pt x="667054" y="416560"/>
                  </a:lnTo>
                  <a:lnTo>
                    <a:pt x="667054" y="410210"/>
                  </a:lnTo>
                  <a:close/>
                </a:path>
                <a:path extrusionOk="0" h="514350" w="699134">
                  <a:moveTo>
                    <a:pt x="581418" y="53340"/>
                  </a:moveTo>
                  <a:lnTo>
                    <a:pt x="520839" y="53340"/>
                  </a:lnTo>
                  <a:lnTo>
                    <a:pt x="520839" y="60960"/>
                  </a:lnTo>
                  <a:lnTo>
                    <a:pt x="588416" y="60960"/>
                  </a:lnTo>
                  <a:lnTo>
                    <a:pt x="594131" y="66040"/>
                  </a:lnTo>
                  <a:lnTo>
                    <a:pt x="594131" y="403860"/>
                  </a:lnTo>
                  <a:lnTo>
                    <a:pt x="588416" y="410210"/>
                  </a:lnTo>
                  <a:lnTo>
                    <a:pt x="596299" y="410210"/>
                  </a:lnTo>
                  <a:lnTo>
                    <a:pt x="599713" y="405130"/>
                  </a:lnTo>
                  <a:lnTo>
                    <a:pt x="601281" y="397510"/>
                  </a:lnTo>
                  <a:lnTo>
                    <a:pt x="601281" y="123190"/>
                  </a:lnTo>
                  <a:lnTo>
                    <a:pt x="698957" y="123190"/>
                  </a:lnTo>
                  <a:lnTo>
                    <a:pt x="698957" y="121920"/>
                  </a:lnTo>
                  <a:lnTo>
                    <a:pt x="693889" y="116840"/>
                  </a:lnTo>
                  <a:lnTo>
                    <a:pt x="601281" y="116840"/>
                  </a:lnTo>
                  <a:lnTo>
                    <a:pt x="601281" y="73660"/>
                  </a:lnTo>
                  <a:lnTo>
                    <a:pt x="599713" y="66040"/>
                  </a:lnTo>
                  <a:lnTo>
                    <a:pt x="595445" y="59690"/>
                  </a:lnTo>
                  <a:lnTo>
                    <a:pt x="589129" y="55880"/>
                  </a:lnTo>
                  <a:lnTo>
                    <a:pt x="581418" y="53340"/>
                  </a:lnTo>
                  <a:close/>
                </a:path>
                <a:path extrusionOk="0" h="514350" w="699134">
                  <a:moveTo>
                    <a:pt x="530364" y="388620"/>
                  </a:moveTo>
                  <a:lnTo>
                    <a:pt x="70916" y="388620"/>
                  </a:lnTo>
                  <a:lnTo>
                    <a:pt x="70916" y="392430"/>
                  </a:lnTo>
                  <a:lnTo>
                    <a:pt x="530364" y="392430"/>
                  </a:lnTo>
                  <a:lnTo>
                    <a:pt x="530364" y="388620"/>
                  </a:lnTo>
                  <a:close/>
                </a:path>
                <a:path extrusionOk="0" h="514350" w="699134">
                  <a:moveTo>
                    <a:pt x="667054" y="384810"/>
                  </a:moveTo>
                  <a:lnTo>
                    <a:pt x="639648" y="384810"/>
                  </a:lnTo>
                  <a:lnTo>
                    <a:pt x="639648" y="391160"/>
                  </a:lnTo>
                  <a:lnTo>
                    <a:pt x="667054" y="391160"/>
                  </a:lnTo>
                  <a:lnTo>
                    <a:pt x="667054" y="384810"/>
                  </a:lnTo>
                  <a:close/>
                </a:path>
                <a:path extrusionOk="0" h="514350" w="699134">
                  <a:moveTo>
                    <a:pt x="531533" y="316230"/>
                  </a:moveTo>
                  <a:lnTo>
                    <a:pt x="530174" y="316230"/>
                  </a:lnTo>
                  <a:lnTo>
                    <a:pt x="491362" y="354330"/>
                  </a:lnTo>
                  <a:lnTo>
                    <a:pt x="491362" y="356870"/>
                  </a:lnTo>
                  <a:lnTo>
                    <a:pt x="493039" y="358140"/>
                  </a:lnTo>
                  <a:lnTo>
                    <a:pt x="494385" y="358140"/>
                  </a:lnTo>
                  <a:lnTo>
                    <a:pt x="495223" y="356870"/>
                  </a:lnTo>
                  <a:lnTo>
                    <a:pt x="533209" y="318770"/>
                  </a:lnTo>
                  <a:lnTo>
                    <a:pt x="533209" y="317500"/>
                  </a:lnTo>
                  <a:lnTo>
                    <a:pt x="531533" y="316230"/>
                  </a:lnTo>
                  <a:close/>
                </a:path>
                <a:path extrusionOk="0" h="514350" w="699134">
                  <a:moveTo>
                    <a:pt x="534200" y="342900"/>
                  </a:moveTo>
                  <a:lnTo>
                    <a:pt x="532841" y="342900"/>
                  </a:lnTo>
                  <a:lnTo>
                    <a:pt x="520687" y="355600"/>
                  </a:lnTo>
                  <a:lnTo>
                    <a:pt x="520687" y="356870"/>
                  </a:lnTo>
                  <a:lnTo>
                    <a:pt x="522363" y="358140"/>
                  </a:lnTo>
                  <a:lnTo>
                    <a:pt x="524560" y="358140"/>
                  </a:lnTo>
                  <a:lnTo>
                    <a:pt x="535876" y="346710"/>
                  </a:lnTo>
                  <a:lnTo>
                    <a:pt x="535876" y="345440"/>
                  </a:lnTo>
                  <a:lnTo>
                    <a:pt x="534200" y="342900"/>
                  </a:lnTo>
                  <a:close/>
                </a:path>
                <a:path extrusionOk="0" h="514350" w="699134">
                  <a:moveTo>
                    <a:pt x="661441" y="326390"/>
                  </a:moveTo>
                  <a:lnTo>
                    <a:pt x="645261" y="326390"/>
                  </a:lnTo>
                  <a:lnTo>
                    <a:pt x="638695" y="332740"/>
                  </a:lnTo>
                  <a:lnTo>
                    <a:pt x="638695" y="349250"/>
                  </a:lnTo>
                  <a:lnTo>
                    <a:pt x="645261" y="355600"/>
                  </a:lnTo>
                  <a:lnTo>
                    <a:pt x="661441" y="355600"/>
                  </a:lnTo>
                  <a:lnTo>
                    <a:pt x="668007" y="349250"/>
                  </a:lnTo>
                  <a:lnTo>
                    <a:pt x="649198" y="349250"/>
                  </a:lnTo>
                  <a:lnTo>
                    <a:pt x="645833" y="345440"/>
                  </a:lnTo>
                  <a:lnTo>
                    <a:pt x="645833" y="336550"/>
                  </a:lnTo>
                  <a:lnTo>
                    <a:pt x="649198" y="334010"/>
                  </a:lnTo>
                  <a:lnTo>
                    <a:pt x="668007" y="334010"/>
                  </a:lnTo>
                  <a:lnTo>
                    <a:pt x="668007" y="332740"/>
                  </a:lnTo>
                  <a:lnTo>
                    <a:pt x="661441" y="326390"/>
                  </a:lnTo>
                  <a:close/>
                </a:path>
                <a:path extrusionOk="0" h="514350" w="699134">
                  <a:moveTo>
                    <a:pt x="668007" y="334010"/>
                  </a:moveTo>
                  <a:lnTo>
                    <a:pt x="657504" y="334010"/>
                  </a:lnTo>
                  <a:lnTo>
                    <a:pt x="660869" y="336550"/>
                  </a:lnTo>
                  <a:lnTo>
                    <a:pt x="660869" y="345440"/>
                  </a:lnTo>
                  <a:lnTo>
                    <a:pt x="657504" y="349250"/>
                  </a:lnTo>
                  <a:lnTo>
                    <a:pt x="668007" y="349250"/>
                  </a:lnTo>
                  <a:lnTo>
                    <a:pt x="668007" y="334010"/>
                  </a:lnTo>
                  <a:close/>
                </a:path>
                <a:path extrusionOk="0" h="514350" w="699134">
                  <a:moveTo>
                    <a:pt x="332676" y="297180"/>
                  </a:moveTo>
                  <a:lnTo>
                    <a:pt x="330072" y="297180"/>
                  </a:lnTo>
                  <a:lnTo>
                    <a:pt x="315645" y="307340"/>
                  </a:lnTo>
                  <a:lnTo>
                    <a:pt x="315226" y="309880"/>
                  </a:lnTo>
                  <a:lnTo>
                    <a:pt x="316966" y="313690"/>
                  </a:lnTo>
                  <a:lnTo>
                    <a:pt x="319570" y="313690"/>
                  </a:lnTo>
                  <a:lnTo>
                    <a:pt x="332663" y="303530"/>
                  </a:lnTo>
                  <a:lnTo>
                    <a:pt x="333997" y="302260"/>
                  </a:lnTo>
                  <a:lnTo>
                    <a:pt x="334416" y="300990"/>
                  </a:lnTo>
                  <a:lnTo>
                    <a:pt x="332676" y="297180"/>
                  </a:lnTo>
                  <a:close/>
                </a:path>
                <a:path extrusionOk="0" h="514350" w="699134">
                  <a:moveTo>
                    <a:pt x="198970" y="287020"/>
                  </a:moveTo>
                  <a:lnTo>
                    <a:pt x="197446" y="287020"/>
                  </a:lnTo>
                  <a:lnTo>
                    <a:pt x="186296" y="295910"/>
                  </a:lnTo>
                  <a:lnTo>
                    <a:pt x="185254" y="295910"/>
                  </a:lnTo>
                  <a:lnTo>
                    <a:pt x="184340" y="297180"/>
                  </a:lnTo>
                  <a:lnTo>
                    <a:pt x="183413" y="299720"/>
                  </a:lnTo>
                  <a:lnTo>
                    <a:pt x="183794" y="300990"/>
                  </a:lnTo>
                  <a:lnTo>
                    <a:pt x="187324" y="304800"/>
                  </a:lnTo>
                  <a:lnTo>
                    <a:pt x="200723" y="293370"/>
                  </a:lnTo>
                  <a:lnTo>
                    <a:pt x="202730" y="292100"/>
                  </a:lnTo>
                  <a:lnTo>
                    <a:pt x="202609" y="290830"/>
                  </a:lnTo>
                  <a:lnTo>
                    <a:pt x="202488" y="289560"/>
                  </a:lnTo>
                  <a:lnTo>
                    <a:pt x="198970" y="287020"/>
                  </a:lnTo>
                  <a:close/>
                </a:path>
                <a:path extrusionOk="0" h="514350" w="699134">
                  <a:moveTo>
                    <a:pt x="295300" y="280670"/>
                  </a:moveTo>
                  <a:lnTo>
                    <a:pt x="292366" y="281940"/>
                  </a:lnTo>
                  <a:lnTo>
                    <a:pt x="290537" y="285750"/>
                  </a:lnTo>
                  <a:lnTo>
                    <a:pt x="290779" y="287020"/>
                  </a:lnTo>
                  <a:lnTo>
                    <a:pt x="301675" y="298450"/>
                  </a:lnTo>
                  <a:lnTo>
                    <a:pt x="303377" y="299720"/>
                  </a:lnTo>
                  <a:lnTo>
                    <a:pt x="306323" y="299720"/>
                  </a:lnTo>
                  <a:lnTo>
                    <a:pt x="308140" y="295910"/>
                  </a:lnTo>
                  <a:lnTo>
                    <a:pt x="307898" y="294640"/>
                  </a:lnTo>
                  <a:lnTo>
                    <a:pt x="295300" y="280670"/>
                  </a:lnTo>
                  <a:close/>
                </a:path>
                <a:path extrusionOk="0" h="514350" w="699134">
                  <a:moveTo>
                    <a:pt x="86728" y="276860"/>
                  </a:moveTo>
                  <a:lnTo>
                    <a:pt x="85280" y="276860"/>
                  </a:lnTo>
                  <a:lnTo>
                    <a:pt x="72123" y="285750"/>
                  </a:lnTo>
                  <a:lnTo>
                    <a:pt x="69913" y="287020"/>
                  </a:lnTo>
                  <a:lnTo>
                    <a:pt x="69964" y="289560"/>
                  </a:lnTo>
                  <a:lnTo>
                    <a:pt x="73405" y="292100"/>
                  </a:lnTo>
                  <a:lnTo>
                    <a:pt x="74853" y="292100"/>
                  </a:lnTo>
                  <a:lnTo>
                    <a:pt x="90208" y="281940"/>
                  </a:lnTo>
                  <a:lnTo>
                    <a:pt x="90157" y="279400"/>
                  </a:lnTo>
                  <a:lnTo>
                    <a:pt x="86728" y="276860"/>
                  </a:lnTo>
                  <a:close/>
                </a:path>
                <a:path extrusionOk="0" h="514350" w="699134">
                  <a:moveTo>
                    <a:pt x="358292" y="274320"/>
                  </a:moveTo>
                  <a:lnTo>
                    <a:pt x="343865" y="285750"/>
                  </a:lnTo>
                  <a:lnTo>
                    <a:pt x="343446" y="288290"/>
                  </a:lnTo>
                  <a:lnTo>
                    <a:pt x="345185" y="290830"/>
                  </a:lnTo>
                  <a:lnTo>
                    <a:pt x="347789" y="292100"/>
                  </a:lnTo>
                  <a:lnTo>
                    <a:pt x="360870" y="281940"/>
                  </a:lnTo>
                  <a:lnTo>
                    <a:pt x="362203" y="280670"/>
                  </a:lnTo>
                  <a:lnTo>
                    <a:pt x="362635" y="279400"/>
                  </a:lnTo>
                  <a:lnTo>
                    <a:pt x="360895" y="275590"/>
                  </a:lnTo>
                  <a:lnTo>
                    <a:pt x="358292" y="274320"/>
                  </a:lnTo>
                  <a:close/>
                </a:path>
                <a:path extrusionOk="0" h="514350" w="699134">
                  <a:moveTo>
                    <a:pt x="161010" y="271780"/>
                  </a:moveTo>
                  <a:lnTo>
                    <a:pt x="158064" y="271780"/>
                  </a:lnTo>
                  <a:lnTo>
                    <a:pt x="156679" y="275590"/>
                  </a:lnTo>
                  <a:lnTo>
                    <a:pt x="157060" y="276860"/>
                  </a:lnTo>
                  <a:lnTo>
                    <a:pt x="168859" y="288290"/>
                  </a:lnTo>
                  <a:lnTo>
                    <a:pt x="170751" y="289560"/>
                  </a:lnTo>
                  <a:lnTo>
                    <a:pt x="173710" y="288290"/>
                  </a:lnTo>
                  <a:lnTo>
                    <a:pt x="175094" y="284480"/>
                  </a:lnTo>
                  <a:lnTo>
                    <a:pt x="174701" y="283210"/>
                  </a:lnTo>
                  <a:lnTo>
                    <a:pt x="162915" y="273050"/>
                  </a:lnTo>
                  <a:lnTo>
                    <a:pt x="161010" y="271780"/>
                  </a:lnTo>
                  <a:close/>
                </a:path>
                <a:path extrusionOk="0" h="514350" w="699134">
                  <a:moveTo>
                    <a:pt x="227114" y="265430"/>
                  </a:moveTo>
                  <a:lnTo>
                    <a:pt x="225590" y="265430"/>
                  </a:lnTo>
                  <a:lnTo>
                    <a:pt x="211175" y="276860"/>
                  </a:lnTo>
                  <a:lnTo>
                    <a:pt x="211429" y="279400"/>
                  </a:lnTo>
                  <a:lnTo>
                    <a:pt x="214947" y="281940"/>
                  </a:lnTo>
                  <a:lnTo>
                    <a:pt x="216471" y="281940"/>
                  </a:lnTo>
                  <a:lnTo>
                    <a:pt x="228866" y="271780"/>
                  </a:lnTo>
                  <a:lnTo>
                    <a:pt x="230873" y="270510"/>
                  </a:lnTo>
                  <a:lnTo>
                    <a:pt x="230631" y="266700"/>
                  </a:lnTo>
                  <a:lnTo>
                    <a:pt x="227114" y="265430"/>
                  </a:lnTo>
                  <a:close/>
                </a:path>
                <a:path extrusionOk="0" h="514350" w="699134">
                  <a:moveTo>
                    <a:pt x="270662" y="255270"/>
                  </a:moveTo>
                  <a:lnTo>
                    <a:pt x="267728" y="255270"/>
                  </a:lnTo>
                  <a:lnTo>
                    <a:pt x="265912" y="259080"/>
                  </a:lnTo>
                  <a:lnTo>
                    <a:pt x="266033" y="260350"/>
                  </a:lnTo>
                  <a:lnTo>
                    <a:pt x="266153" y="261620"/>
                  </a:lnTo>
                  <a:lnTo>
                    <a:pt x="277050" y="273050"/>
                  </a:lnTo>
                  <a:lnTo>
                    <a:pt x="278752" y="274320"/>
                  </a:lnTo>
                  <a:lnTo>
                    <a:pt x="281685" y="274320"/>
                  </a:lnTo>
                  <a:lnTo>
                    <a:pt x="283514" y="270510"/>
                  </a:lnTo>
                  <a:lnTo>
                    <a:pt x="283273" y="269240"/>
                  </a:lnTo>
                  <a:lnTo>
                    <a:pt x="272376" y="257810"/>
                  </a:lnTo>
                  <a:lnTo>
                    <a:pt x="270662" y="255270"/>
                  </a:lnTo>
                  <a:close/>
                </a:path>
                <a:path extrusionOk="0" h="514350" w="699134">
                  <a:moveTo>
                    <a:pt x="116687" y="257810"/>
                  </a:moveTo>
                  <a:lnTo>
                    <a:pt x="115239" y="257810"/>
                  </a:lnTo>
                  <a:lnTo>
                    <a:pt x="99885" y="266700"/>
                  </a:lnTo>
                  <a:lnTo>
                    <a:pt x="99936" y="270510"/>
                  </a:lnTo>
                  <a:lnTo>
                    <a:pt x="103365" y="273050"/>
                  </a:lnTo>
                  <a:lnTo>
                    <a:pt x="104813" y="273050"/>
                  </a:lnTo>
                  <a:lnTo>
                    <a:pt x="117970" y="264160"/>
                  </a:lnTo>
                  <a:lnTo>
                    <a:pt x="120180" y="262890"/>
                  </a:lnTo>
                  <a:lnTo>
                    <a:pt x="120129" y="259080"/>
                  </a:lnTo>
                  <a:lnTo>
                    <a:pt x="116687" y="257810"/>
                  </a:lnTo>
                  <a:close/>
                </a:path>
                <a:path extrusionOk="0" h="514350" w="699134">
                  <a:moveTo>
                    <a:pt x="386511" y="252730"/>
                  </a:moveTo>
                  <a:lnTo>
                    <a:pt x="372084" y="264160"/>
                  </a:lnTo>
                  <a:lnTo>
                    <a:pt x="371665" y="265430"/>
                  </a:lnTo>
                  <a:lnTo>
                    <a:pt x="373392" y="269240"/>
                  </a:lnTo>
                  <a:lnTo>
                    <a:pt x="375996" y="270510"/>
                  </a:lnTo>
                  <a:lnTo>
                    <a:pt x="389089" y="260350"/>
                  </a:lnTo>
                  <a:lnTo>
                    <a:pt x="390423" y="259080"/>
                  </a:lnTo>
                  <a:lnTo>
                    <a:pt x="390842" y="256540"/>
                  </a:lnTo>
                  <a:lnTo>
                    <a:pt x="389115" y="254000"/>
                  </a:lnTo>
                  <a:lnTo>
                    <a:pt x="386511" y="252730"/>
                  </a:lnTo>
                  <a:close/>
                </a:path>
                <a:path extrusionOk="0" h="514350" w="699134">
                  <a:moveTo>
                    <a:pt x="134289" y="247650"/>
                  </a:moveTo>
                  <a:lnTo>
                    <a:pt x="131330" y="248920"/>
                  </a:lnTo>
                  <a:lnTo>
                    <a:pt x="129946" y="252730"/>
                  </a:lnTo>
                  <a:lnTo>
                    <a:pt x="130340" y="254000"/>
                  </a:lnTo>
                  <a:lnTo>
                    <a:pt x="131432" y="255270"/>
                  </a:lnTo>
                  <a:lnTo>
                    <a:pt x="142125" y="264160"/>
                  </a:lnTo>
                  <a:lnTo>
                    <a:pt x="144017" y="265430"/>
                  </a:lnTo>
                  <a:lnTo>
                    <a:pt x="146977" y="265430"/>
                  </a:lnTo>
                  <a:lnTo>
                    <a:pt x="148361" y="261620"/>
                  </a:lnTo>
                  <a:lnTo>
                    <a:pt x="147967" y="260350"/>
                  </a:lnTo>
                  <a:lnTo>
                    <a:pt x="134289" y="247650"/>
                  </a:lnTo>
                  <a:close/>
                </a:path>
                <a:path extrusionOk="0" h="514350" w="699134">
                  <a:moveTo>
                    <a:pt x="257733" y="130810"/>
                  </a:moveTo>
                  <a:lnTo>
                    <a:pt x="250253" y="130810"/>
                  </a:lnTo>
                  <a:lnTo>
                    <a:pt x="314909" y="261620"/>
                  </a:lnTo>
                  <a:lnTo>
                    <a:pt x="321500" y="260350"/>
                  </a:lnTo>
                  <a:lnTo>
                    <a:pt x="324840" y="250190"/>
                  </a:lnTo>
                  <a:lnTo>
                    <a:pt x="317423" y="250190"/>
                  </a:lnTo>
                  <a:lnTo>
                    <a:pt x="257733" y="130810"/>
                  </a:lnTo>
                  <a:close/>
                </a:path>
                <a:path extrusionOk="0" h="514350" w="699134">
                  <a:moveTo>
                    <a:pt x="255257" y="242570"/>
                  </a:moveTo>
                  <a:lnTo>
                    <a:pt x="253733" y="243840"/>
                  </a:lnTo>
                  <a:lnTo>
                    <a:pt x="239318" y="254000"/>
                  </a:lnTo>
                  <a:lnTo>
                    <a:pt x="239403" y="255270"/>
                  </a:lnTo>
                  <a:lnTo>
                    <a:pt x="239488" y="256540"/>
                  </a:lnTo>
                  <a:lnTo>
                    <a:pt x="239572" y="257810"/>
                  </a:lnTo>
                  <a:lnTo>
                    <a:pt x="243090" y="259080"/>
                  </a:lnTo>
                  <a:lnTo>
                    <a:pt x="244614" y="259080"/>
                  </a:lnTo>
                  <a:lnTo>
                    <a:pt x="256997" y="250190"/>
                  </a:lnTo>
                  <a:lnTo>
                    <a:pt x="259029" y="247650"/>
                  </a:lnTo>
                  <a:lnTo>
                    <a:pt x="258902" y="246380"/>
                  </a:lnTo>
                  <a:lnTo>
                    <a:pt x="258775" y="245110"/>
                  </a:lnTo>
                  <a:lnTo>
                    <a:pt x="255257" y="242570"/>
                  </a:lnTo>
                  <a:close/>
                </a:path>
                <a:path extrusionOk="0" h="514350" w="699134">
                  <a:moveTo>
                    <a:pt x="436625" y="243840"/>
                  </a:moveTo>
                  <a:lnTo>
                    <a:pt x="434505" y="246380"/>
                  </a:lnTo>
                  <a:lnTo>
                    <a:pt x="435254" y="250190"/>
                  </a:lnTo>
                  <a:lnTo>
                    <a:pt x="436397" y="251460"/>
                  </a:lnTo>
                  <a:lnTo>
                    <a:pt x="451954" y="254000"/>
                  </a:lnTo>
                  <a:lnTo>
                    <a:pt x="454418" y="254000"/>
                  </a:lnTo>
                  <a:lnTo>
                    <a:pt x="456539" y="251460"/>
                  </a:lnTo>
                  <a:lnTo>
                    <a:pt x="455790" y="247650"/>
                  </a:lnTo>
                  <a:lnTo>
                    <a:pt x="454647" y="246380"/>
                  </a:lnTo>
                  <a:lnTo>
                    <a:pt x="436625" y="243840"/>
                  </a:lnTo>
                  <a:close/>
                </a:path>
                <a:path extrusionOk="0" h="514350" w="699134">
                  <a:moveTo>
                    <a:pt x="396024" y="125730"/>
                  </a:moveTo>
                  <a:lnTo>
                    <a:pt x="370636" y="181610"/>
                  </a:lnTo>
                  <a:lnTo>
                    <a:pt x="339712" y="181610"/>
                  </a:lnTo>
                  <a:lnTo>
                    <a:pt x="317423" y="250190"/>
                  </a:lnTo>
                  <a:lnTo>
                    <a:pt x="324840" y="250190"/>
                  </a:lnTo>
                  <a:lnTo>
                    <a:pt x="344881" y="189230"/>
                  </a:lnTo>
                  <a:lnTo>
                    <a:pt x="375234" y="189230"/>
                  </a:lnTo>
                  <a:lnTo>
                    <a:pt x="400380" y="133350"/>
                  </a:lnTo>
                  <a:lnTo>
                    <a:pt x="462165" y="133350"/>
                  </a:lnTo>
                  <a:lnTo>
                    <a:pt x="462843" y="132080"/>
                  </a:lnTo>
                  <a:lnTo>
                    <a:pt x="454812" y="132080"/>
                  </a:lnTo>
                  <a:lnTo>
                    <a:pt x="396024" y="125730"/>
                  </a:lnTo>
                  <a:close/>
                </a:path>
                <a:path extrusionOk="0" h="514350" w="699134">
                  <a:moveTo>
                    <a:pt x="405117" y="238760"/>
                  </a:moveTo>
                  <a:lnTo>
                    <a:pt x="400303" y="242570"/>
                  </a:lnTo>
                  <a:lnTo>
                    <a:pt x="399872" y="243840"/>
                  </a:lnTo>
                  <a:lnTo>
                    <a:pt x="401612" y="247650"/>
                  </a:lnTo>
                  <a:lnTo>
                    <a:pt x="404215" y="247650"/>
                  </a:lnTo>
                  <a:lnTo>
                    <a:pt x="407009" y="246380"/>
                  </a:lnTo>
                  <a:lnTo>
                    <a:pt x="421335" y="246380"/>
                  </a:lnTo>
                  <a:lnTo>
                    <a:pt x="420573" y="241300"/>
                  </a:lnTo>
                  <a:lnTo>
                    <a:pt x="419430" y="241300"/>
                  </a:lnTo>
                  <a:lnTo>
                    <a:pt x="405117" y="238760"/>
                  </a:lnTo>
                  <a:close/>
                </a:path>
                <a:path extrusionOk="0" h="514350" w="699134">
                  <a:moveTo>
                    <a:pt x="421335" y="246380"/>
                  </a:moveTo>
                  <a:lnTo>
                    <a:pt x="407009" y="246380"/>
                  </a:lnTo>
                  <a:lnTo>
                    <a:pt x="416750" y="247650"/>
                  </a:lnTo>
                  <a:lnTo>
                    <a:pt x="419214" y="247650"/>
                  </a:lnTo>
                  <a:lnTo>
                    <a:pt x="421335" y="246380"/>
                  </a:lnTo>
                  <a:close/>
                </a:path>
                <a:path extrusionOk="0" h="514350" w="699134">
                  <a:moveTo>
                    <a:pt x="480352" y="226060"/>
                  </a:moveTo>
                  <a:lnTo>
                    <a:pt x="478840" y="226060"/>
                  </a:lnTo>
                  <a:lnTo>
                    <a:pt x="465239" y="238760"/>
                  </a:lnTo>
                  <a:lnTo>
                    <a:pt x="465696" y="241300"/>
                  </a:lnTo>
                  <a:lnTo>
                    <a:pt x="469328" y="243840"/>
                  </a:lnTo>
                  <a:lnTo>
                    <a:pt x="470852" y="242570"/>
                  </a:lnTo>
                  <a:lnTo>
                    <a:pt x="482549" y="232410"/>
                  </a:lnTo>
                  <a:lnTo>
                    <a:pt x="484441" y="231140"/>
                  </a:lnTo>
                  <a:lnTo>
                    <a:pt x="483984" y="227330"/>
                  </a:lnTo>
                  <a:lnTo>
                    <a:pt x="480352" y="226060"/>
                  </a:lnTo>
                  <a:close/>
                </a:path>
                <a:path extrusionOk="0" h="514350" w="699134">
                  <a:moveTo>
                    <a:pt x="506907" y="201930"/>
                  </a:moveTo>
                  <a:lnTo>
                    <a:pt x="505383" y="201930"/>
                  </a:lnTo>
                  <a:lnTo>
                    <a:pt x="491794" y="214630"/>
                  </a:lnTo>
                  <a:lnTo>
                    <a:pt x="492251" y="217170"/>
                  </a:lnTo>
                  <a:lnTo>
                    <a:pt x="495871" y="219710"/>
                  </a:lnTo>
                  <a:lnTo>
                    <a:pt x="497395" y="219710"/>
                  </a:lnTo>
                  <a:lnTo>
                    <a:pt x="509092" y="208280"/>
                  </a:lnTo>
                  <a:lnTo>
                    <a:pt x="510984" y="207010"/>
                  </a:lnTo>
                  <a:lnTo>
                    <a:pt x="510527" y="203200"/>
                  </a:lnTo>
                  <a:lnTo>
                    <a:pt x="506907" y="201930"/>
                  </a:lnTo>
                  <a:close/>
                </a:path>
                <a:path extrusionOk="0" h="514350" w="699134">
                  <a:moveTo>
                    <a:pt x="122808" y="163830"/>
                  </a:moveTo>
                  <a:lnTo>
                    <a:pt x="70205" y="212090"/>
                  </a:lnTo>
                  <a:lnTo>
                    <a:pt x="70116" y="214630"/>
                  </a:lnTo>
                  <a:lnTo>
                    <a:pt x="72796" y="217170"/>
                  </a:lnTo>
                  <a:lnTo>
                    <a:pt x="75056" y="218440"/>
                  </a:lnTo>
                  <a:lnTo>
                    <a:pt x="76492" y="215900"/>
                  </a:lnTo>
                  <a:lnTo>
                    <a:pt x="124231" y="172720"/>
                  </a:lnTo>
                  <a:lnTo>
                    <a:pt x="143381" y="172720"/>
                  </a:lnTo>
                  <a:lnTo>
                    <a:pt x="122808" y="163830"/>
                  </a:lnTo>
                  <a:close/>
                </a:path>
                <a:path extrusionOk="0" h="514350" w="699134">
                  <a:moveTo>
                    <a:pt x="526872" y="184150"/>
                  </a:moveTo>
                  <a:lnTo>
                    <a:pt x="525360" y="184150"/>
                  </a:lnTo>
                  <a:lnTo>
                    <a:pt x="518337" y="190500"/>
                  </a:lnTo>
                  <a:lnTo>
                    <a:pt x="518794" y="194310"/>
                  </a:lnTo>
                  <a:lnTo>
                    <a:pt x="522427" y="195580"/>
                  </a:lnTo>
                  <a:lnTo>
                    <a:pt x="523938" y="195580"/>
                  </a:lnTo>
                  <a:lnTo>
                    <a:pt x="529056" y="190500"/>
                  </a:lnTo>
                  <a:lnTo>
                    <a:pt x="530961" y="189230"/>
                  </a:lnTo>
                  <a:lnTo>
                    <a:pt x="530504" y="185420"/>
                  </a:lnTo>
                  <a:lnTo>
                    <a:pt x="526872" y="184150"/>
                  </a:lnTo>
                  <a:close/>
                </a:path>
                <a:path extrusionOk="0" h="514350" w="699134">
                  <a:moveTo>
                    <a:pt x="143381" y="172720"/>
                  </a:moveTo>
                  <a:lnTo>
                    <a:pt x="124231" y="172720"/>
                  </a:lnTo>
                  <a:lnTo>
                    <a:pt x="173901" y="194310"/>
                  </a:lnTo>
                  <a:lnTo>
                    <a:pt x="184590" y="185420"/>
                  </a:lnTo>
                  <a:lnTo>
                    <a:pt x="172770" y="185420"/>
                  </a:lnTo>
                  <a:lnTo>
                    <a:pt x="143381" y="172720"/>
                  </a:lnTo>
                  <a:close/>
                </a:path>
                <a:path extrusionOk="0" h="514350" w="699134">
                  <a:moveTo>
                    <a:pt x="252653" y="120650"/>
                  </a:moveTo>
                  <a:lnTo>
                    <a:pt x="172770" y="185420"/>
                  </a:lnTo>
                  <a:lnTo>
                    <a:pt x="184590" y="185420"/>
                  </a:lnTo>
                  <a:lnTo>
                    <a:pt x="250253" y="130810"/>
                  </a:lnTo>
                  <a:lnTo>
                    <a:pt x="257733" y="130810"/>
                  </a:lnTo>
                  <a:lnTo>
                    <a:pt x="252653" y="120650"/>
                  </a:lnTo>
                  <a:close/>
                </a:path>
                <a:path extrusionOk="0" h="514350" w="699134">
                  <a:moveTo>
                    <a:pt x="462165" y="133350"/>
                  </a:moveTo>
                  <a:lnTo>
                    <a:pt x="400380" y="133350"/>
                  </a:lnTo>
                  <a:lnTo>
                    <a:pt x="458774" y="139700"/>
                  </a:lnTo>
                  <a:lnTo>
                    <a:pt x="462165" y="133350"/>
                  </a:lnTo>
                  <a:close/>
                </a:path>
                <a:path extrusionOk="0" h="514350" w="699134">
                  <a:moveTo>
                    <a:pt x="525729" y="0"/>
                  </a:moveTo>
                  <a:lnTo>
                    <a:pt x="454812" y="132080"/>
                  </a:lnTo>
                  <a:lnTo>
                    <a:pt x="462843" y="132080"/>
                  </a:lnTo>
                  <a:lnTo>
                    <a:pt x="532015" y="2540"/>
                  </a:lnTo>
                  <a:lnTo>
                    <a:pt x="525729" y="0"/>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2" name="Google Shape;742;p28"/>
          <p:cNvGrpSpPr/>
          <p:nvPr/>
        </p:nvGrpSpPr>
        <p:grpSpPr>
          <a:xfrm>
            <a:off x="3044130" y="3294014"/>
            <a:ext cx="4449445" cy="5403850"/>
            <a:chOff x="3044130" y="3294014"/>
            <a:chExt cx="4449445" cy="5403850"/>
          </a:xfrm>
        </p:grpSpPr>
        <p:sp>
          <p:nvSpPr>
            <p:cNvPr id="743" name="Google Shape;743;p28"/>
            <p:cNvSpPr/>
            <p:nvPr/>
          </p:nvSpPr>
          <p:spPr>
            <a:xfrm>
              <a:off x="3044130" y="3294014"/>
              <a:ext cx="4449445" cy="5403850"/>
            </a:xfrm>
            <a:custGeom>
              <a:rect b="b" l="l" r="r" t="t"/>
              <a:pathLst>
                <a:path extrusionOk="0" h="5403850" w="4449445">
                  <a:moveTo>
                    <a:pt x="4009047" y="0"/>
                  </a:moveTo>
                  <a:lnTo>
                    <a:pt x="447675" y="0"/>
                  </a:lnTo>
                  <a:lnTo>
                    <a:pt x="433031" y="177"/>
                  </a:lnTo>
                  <a:lnTo>
                    <a:pt x="389229" y="3771"/>
                  </a:lnTo>
                  <a:lnTo>
                    <a:pt x="346011" y="11633"/>
                  </a:lnTo>
                  <a:lnTo>
                    <a:pt x="303758" y="23698"/>
                  </a:lnTo>
                  <a:lnTo>
                    <a:pt x="262890" y="39852"/>
                  </a:lnTo>
                  <a:lnTo>
                    <a:pt x="223812" y="59931"/>
                  </a:lnTo>
                  <a:lnTo>
                    <a:pt x="186880" y="83731"/>
                  </a:lnTo>
                  <a:lnTo>
                    <a:pt x="152463" y="111048"/>
                  </a:lnTo>
                  <a:lnTo>
                    <a:pt x="120891" y="141605"/>
                  </a:lnTo>
                  <a:lnTo>
                    <a:pt x="92468" y="175107"/>
                  </a:lnTo>
                  <a:lnTo>
                    <a:pt x="67462" y="211239"/>
                  </a:lnTo>
                  <a:lnTo>
                    <a:pt x="46113" y="249643"/>
                  </a:lnTo>
                  <a:lnTo>
                    <a:pt x="28638" y="289953"/>
                  </a:lnTo>
                  <a:lnTo>
                    <a:pt x="15201" y="331787"/>
                  </a:lnTo>
                  <a:lnTo>
                    <a:pt x="5918" y="374738"/>
                  </a:lnTo>
                  <a:lnTo>
                    <a:pt x="901" y="418388"/>
                  </a:lnTo>
                  <a:lnTo>
                    <a:pt x="0" y="440347"/>
                  </a:lnTo>
                  <a:lnTo>
                    <a:pt x="0" y="4955679"/>
                  </a:lnTo>
                  <a:lnTo>
                    <a:pt x="3771" y="5014112"/>
                  </a:lnTo>
                  <a:lnTo>
                    <a:pt x="11633" y="5057343"/>
                  </a:lnTo>
                  <a:lnTo>
                    <a:pt x="23698" y="5099596"/>
                  </a:lnTo>
                  <a:lnTo>
                    <a:pt x="39852" y="5140452"/>
                  </a:lnTo>
                  <a:lnTo>
                    <a:pt x="59918" y="5179542"/>
                  </a:lnTo>
                  <a:lnTo>
                    <a:pt x="83731" y="5216474"/>
                  </a:lnTo>
                  <a:lnTo>
                    <a:pt x="111048" y="5250891"/>
                  </a:lnTo>
                  <a:lnTo>
                    <a:pt x="141604" y="5282463"/>
                  </a:lnTo>
                  <a:lnTo>
                    <a:pt x="175107" y="5310886"/>
                  </a:lnTo>
                  <a:lnTo>
                    <a:pt x="211239" y="5335892"/>
                  </a:lnTo>
                  <a:lnTo>
                    <a:pt x="249643" y="5357241"/>
                  </a:lnTo>
                  <a:lnTo>
                    <a:pt x="289953" y="5374716"/>
                  </a:lnTo>
                  <a:lnTo>
                    <a:pt x="331787" y="5388152"/>
                  </a:lnTo>
                  <a:lnTo>
                    <a:pt x="374738" y="5397436"/>
                  </a:lnTo>
                  <a:lnTo>
                    <a:pt x="418388" y="5402453"/>
                  </a:lnTo>
                  <a:lnTo>
                    <a:pt x="440347" y="5403354"/>
                  </a:lnTo>
                  <a:lnTo>
                    <a:pt x="4001719" y="5403354"/>
                  </a:lnTo>
                  <a:lnTo>
                    <a:pt x="4060164" y="5399582"/>
                  </a:lnTo>
                  <a:lnTo>
                    <a:pt x="4103395" y="5391721"/>
                  </a:lnTo>
                  <a:lnTo>
                    <a:pt x="4145635" y="5379643"/>
                  </a:lnTo>
                  <a:lnTo>
                    <a:pt x="4186504" y="5363502"/>
                  </a:lnTo>
                  <a:lnTo>
                    <a:pt x="4225594" y="5343423"/>
                  </a:lnTo>
                  <a:lnTo>
                    <a:pt x="4262513" y="5319610"/>
                  </a:lnTo>
                  <a:lnTo>
                    <a:pt x="4296930" y="5292305"/>
                  </a:lnTo>
                  <a:lnTo>
                    <a:pt x="4328502" y="5261737"/>
                  </a:lnTo>
                  <a:lnTo>
                    <a:pt x="4356938" y="5228247"/>
                  </a:lnTo>
                  <a:lnTo>
                    <a:pt x="4381931" y="5192115"/>
                  </a:lnTo>
                  <a:lnTo>
                    <a:pt x="4403280" y="5153710"/>
                  </a:lnTo>
                  <a:lnTo>
                    <a:pt x="4420755" y="5113388"/>
                  </a:lnTo>
                  <a:lnTo>
                    <a:pt x="4434192" y="5071554"/>
                  </a:lnTo>
                  <a:lnTo>
                    <a:pt x="4443476" y="5028615"/>
                  </a:lnTo>
                  <a:lnTo>
                    <a:pt x="4448505" y="4984965"/>
                  </a:lnTo>
                  <a:lnTo>
                    <a:pt x="4449394" y="4963007"/>
                  </a:lnTo>
                  <a:lnTo>
                    <a:pt x="4449394" y="447675"/>
                  </a:lnTo>
                  <a:lnTo>
                    <a:pt x="4445622" y="389229"/>
                  </a:lnTo>
                  <a:lnTo>
                    <a:pt x="4437761" y="346011"/>
                  </a:lnTo>
                  <a:lnTo>
                    <a:pt x="4425696" y="303758"/>
                  </a:lnTo>
                  <a:lnTo>
                    <a:pt x="4409541" y="262890"/>
                  </a:lnTo>
                  <a:lnTo>
                    <a:pt x="4389475" y="223812"/>
                  </a:lnTo>
                  <a:lnTo>
                    <a:pt x="4365663" y="186880"/>
                  </a:lnTo>
                  <a:lnTo>
                    <a:pt x="4338345" y="152463"/>
                  </a:lnTo>
                  <a:lnTo>
                    <a:pt x="4307801" y="120891"/>
                  </a:lnTo>
                  <a:lnTo>
                    <a:pt x="4274286" y="92468"/>
                  </a:lnTo>
                  <a:lnTo>
                    <a:pt x="4238155" y="67462"/>
                  </a:lnTo>
                  <a:lnTo>
                    <a:pt x="4199750" y="46113"/>
                  </a:lnTo>
                  <a:lnTo>
                    <a:pt x="4159440" y="28638"/>
                  </a:lnTo>
                  <a:lnTo>
                    <a:pt x="4117606" y="15201"/>
                  </a:lnTo>
                  <a:lnTo>
                    <a:pt x="4074655" y="5918"/>
                  </a:lnTo>
                  <a:lnTo>
                    <a:pt x="4031005" y="901"/>
                  </a:lnTo>
                  <a:lnTo>
                    <a:pt x="4009047" y="0"/>
                  </a:lnTo>
                  <a:close/>
                </a:path>
              </a:pathLst>
            </a:custGeom>
            <a:solidFill>
              <a:srgbClr val="EBEBE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 name="Google Shape;744;p28"/>
            <p:cNvSpPr/>
            <p:nvPr/>
          </p:nvSpPr>
          <p:spPr>
            <a:xfrm>
              <a:off x="3044146" y="3428550"/>
              <a:ext cx="1235710" cy="1040130"/>
            </a:xfrm>
            <a:custGeom>
              <a:rect b="b" l="l" r="r" t="t"/>
              <a:pathLst>
                <a:path extrusionOk="0" h="1040129" w="1235710">
                  <a:moveTo>
                    <a:pt x="760399" y="0"/>
                  </a:moveTo>
                  <a:lnTo>
                    <a:pt x="0" y="0"/>
                  </a:lnTo>
                  <a:lnTo>
                    <a:pt x="0" y="1039558"/>
                  </a:lnTo>
                  <a:lnTo>
                    <a:pt x="760399" y="1039558"/>
                  </a:lnTo>
                  <a:lnTo>
                    <a:pt x="791467" y="1038539"/>
                  </a:lnTo>
                  <a:lnTo>
                    <a:pt x="853004" y="1030434"/>
                  </a:lnTo>
                  <a:lnTo>
                    <a:pt x="913012" y="1014352"/>
                  </a:lnTo>
                  <a:lnTo>
                    <a:pt x="970351" y="990604"/>
                  </a:lnTo>
                  <a:lnTo>
                    <a:pt x="1024157" y="959538"/>
                  </a:lnTo>
                  <a:lnTo>
                    <a:pt x="1073399" y="921753"/>
                  </a:lnTo>
                  <a:lnTo>
                    <a:pt x="1117333" y="877821"/>
                  </a:lnTo>
                  <a:lnTo>
                    <a:pt x="1155113" y="828588"/>
                  </a:lnTo>
                  <a:lnTo>
                    <a:pt x="1186174" y="774783"/>
                  </a:lnTo>
                  <a:lnTo>
                    <a:pt x="1209925" y="717445"/>
                  </a:lnTo>
                  <a:lnTo>
                    <a:pt x="1226006" y="656727"/>
                  </a:lnTo>
                  <a:lnTo>
                    <a:pt x="1234108" y="576889"/>
                  </a:lnTo>
                  <a:lnTo>
                    <a:pt x="1235125" y="519772"/>
                  </a:lnTo>
                  <a:lnTo>
                    <a:pt x="1234108" y="462656"/>
                  </a:lnTo>
                  <a:lnTo>
                    <a:pt x="1231064" y="418380"/>
                  </a:lnTo>
                  <a:lnTo>
                    <a:pt x="1218946" y="351840"/>
                  </a:lnTo>
                  <a:lnTo>
                    <a:pt x="1198987" y="293042"/>
                  </a:lnTo>
                  <a:lnTo>
                    <a:pt x="1171524" y="237350"/>
                  </a:lnTo>
                  <a:lnTo>
                    <a:pt x="1137029" y="185723"/>
                  </a:lnTo>
                  <a:lnTo>
                    <a:pt x="1096086" y="139039"/>
                  </a:lnTo>
                  <a:lnTo>
                    <a:pt x="1049396" y="98094"/>
                  </a:lnTo>
                  <a:lnTo>
                    <a:pt x="997762" y="63588"/>
                  </a:lnTo>
                  <a:lnTo>
                    <a:pt x="942070" y="36129"/>
                  </a:lnTo>
                  <a:lnTo>
                    <a:pt x="883272" y="16167"/>
                  </a:lnTo>
                  <a:lnTo>
                    <a:pt x="822369" y="4059"/>
                  </a:lnTo>
                  <a:lnTo>
                    <a:pt x="760399"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 name="Google Shape;745;p28"/>
            <p:cNvSpPr/>
            <p:nvPr/>
          </p:nvSpPr>
          <p:spPr>
            <a:xfrm>
              <a:off x="3349599" y="3676509"/>
              <a:ext cx="585470" cy="615315"/>
            </a:xfrm>
            <a:custGeom>
              <a:rect b="b" l="l" r="r" t="t"/>
              <a:pathLst>
                <a:path extrusionOk="0" h="615314" w="585470">
                  <a:moveTo>
                    <a:pt x="118592" y="186753"/>
                  </a:moveTo>
                  <a:lnTo>
                    <a:pt x="116370" y="175310"/>
                  </a:lnTo>
                  <a:lnTo>
                    <a:pt x="116319" y="175082"/>
                  </a:lnTo>
                  <a:lnTo>
                    <a:pt x="113322" y="170573"/>
                  </a:lnTo>
                  <a:lnTo>
                    <a:pt x="109512" y="164820"/>
                  </a:lnTo>
                  <a:lnTo>
                    <a:pt x="103822" y="161061"/>
                  </a:lnTo>
                  <a:lnTo>
                    <a:pt x="103822" y="182448"/>
                  </a:lnTo>
                  <a:lnTo>
                    <a:pt x="103822" y="191046"/>
                  </a:lnTo>
                  <a:lnTo>
                    <a:pt x="102095" y="195173"/>
                  </a:lnTo>
                  <a:lnTo>
                    <a:pt x="99034" y="198196"/>
                  </a:lnTo>
                  <a:lnTo>
                    <a:pt x="93675" y="201752"/>
                  </a:lnTo>
                  <a:lnTo>
                    <a:pt x="87591" y="202946"/>
                  </a:lnTo>
                  <a:lnTo>
                    <a:pt x="81521" y="201752"/>
                  </a:lnTo>
                  <a:lnTo>
                    <a:pt x="76149" y="198196"/>
                  </a:lnTo>
                  <a:lnTo>
                    <a:pt x="72593" y="192849"/>
                  </a:lnTo>
                  <a:lnTo>
                    <a:pt x="71412" y="186753"/>
                  </a:lnTo>
                  <a:lnTo>
                    <a:pt x="72593" y="180670"/>
                  </a:lnTo>
                  <a:lnTo>
                    <a:pt x="76149" y="175310"/>
                  </a:lnTo>
                  <a:lnTo>
                    <a:pt x="81495" y="171754"/>
                  </a:lnTo>
                  <a:lnTo>
                    <a:pt x="87591" y="170573"/>
                  </a:lnTo>
                  <a:lnTo>
                    <a:pt x="93687" y="171754"/>
                  </a:lnTo>
                  <a:lnTo>
                    <a:pt x="99047" y="175310"/>
                  </a:lnTo>
                  <a:lnTo>
                    <a:pt x="102095" y="178320"/>
                  </a:lnTo>
                  <a:lnTo>
                    <a:pt x="103822" y="182448"/>
                  </a:lnTo>
                  <a:lnTo>
                    <a:pt x="103822" y="161061"/>
                  </a:lnTo>
                  <a:lnTo>
                    <a:pt x="99250" y="158026"/>
                  </a:lnTo>
                  <a:lnTo>
                    <a:pt x="87579" y="155752"/>
                  </a:lnTo>
                  <a:lnTo>
                    <a:pt x="75920" y="158026"/>
                  </a:lnTo>
                  <a:lnTo>
                    <a:pt x="65659" y="164820"/>
                  </a:lnTo>
                  <a:lnTo>
                    <a:pt x="58839" y="175082"/>
                  </a:lnTo>
                  <a:lnTo>
                    <a:pt x="56565" y="186753"/>
                  </a:lnTo>
                  <a:lnTo>
                    <a:pt x="58801" y="198196"/>
                  </a:lnTo>
                  <a:lnTo>
                    <a:pt x="58839" y="198424"/>
                  </a:lnTo>
                  <a:lnTo>
                    <a:pt x="65659" y="208673"/>
                  </a:lnTo>
                  <a:lnTo>
                    <a:pt x="75920" y="215493"/>
                  </a:lnTo>
                  <a:lnTo>
                    <a:pt x="87591" y="217766"/>
                  </a:lnTo>
                  <a:lnTo>
                    <a:pt x="99250" y="215493"/>
                  </a:lnTo>
                  <a:lnTo>
                    <a:pt x="109512" y="208673"/>
                  </a:lnTo>
                  <a:lnTo>
                    <a:pt x="113322" y="202946"/>
                  </a:lnTo>
                  <a:lnTo>
                    <a:pt x="116319" y="198424"/>
                  </a:lnTo>
                  <a:lnTo>
                    <a:pt x="118592" y="186753"/>
                  </a:lnTo>
                  <a:close/>
                </a:path>
                <a:path extrusionOk="0" h="615314" w="585470">
                  <a:moveTo>
                    <a:pt x="168452" y="69951"/>
                  </a:moveTo>
                  <a:lnTo>
                    <a:pt x="168440" y="65290"/>
                  </a:lnTo>
                  <a:lnTo>
                    <a:pt x="162687" y="59537"/>
                  </a:lnTo>
                  <a:lnTo>
                    <a:pt x="158026" y="59524"/>
                  </a:lnTo>
                  <a:lnTo>
                    <a:pt x="85636" y="131864"/>
                  </a:lnTo>
                  <a:lnTo>
                    <a:pt x="85001" y="135051"/>
                  </a:lnTo>
                  <a:lnTo>
                    <a:pt x="87287" y="140589"/>
                  </a:lnTo>
                  <a:lnTo>
                    <a:pt x="89992" y="142392"/>
                  </a:lnTo>
                  <a:lnTo>
                    <a:pt x="92989" y="142392"/>
                  </a:lnTo>
                  <a:lnTo>
                    <a:pt x="94957" y="142392"/>
                  </a:lnTo>
                  <a:lnTo>
                    <a:pt x="96837" y="141617"/>
                  </a:lnTo>
                  <a:lnTo>
                    <a:pt x="168452" y="69951"/>
                  </a:lnTo>
                  <a:close/>
                </a:path>
                <a:path extrusionOk="0" h="615314" w="585470">
                  <a:moveTo>
                    <a:pt x="186016" y="50482"/>
                  </a:moveTo>
                  <a:lnTo>
                    <a:pt x="184645" y="45339"/>
                  </a:lnTo>
                  <a:lnTo>
                    <a:pt x="182638" y="43332"/>
                  </a:lnTo>
                  <a:lnTo>
                    <a:pt x="177495" y="41960"/>
                  </a:lnTo>
                  <a:lnTo>
                    <a:pt x="174752" y="42710"/>
                  </a:lnTo>
                  <a:lnTo>
                    <a:pt x="172885" y="44615"/>
                  </a:lnTo>
                  <a:lnTo>
                    <a:pt x="168973" y="48526"/>
                  </a:lnTo>
                  <a:lnTo>
                    <a:pt x="168338" y="51714"/>
                  </a:lnTo>
                  <a:lnTo>
                    <a:pt x="170624" y="57251"/>
                  </a:lnTo>
                  <a:lnTo>
                    <a:pt x="173329" y="59055"/>
                  </a:lnTo>
                  <a:lnTo>
                    <a:pt x="176326" y="59055"/>
                  </a:lnTo>
                  <a:lnTo>
                    <a:pt x="178295" y="59055"/>
                  </a:lnTo>
                  <a:lnTo>
                    <a:pt x="180174" y="58280"/>
                  </a:lnTo>
                  <a:lnTo>
                    <a:pt x="185254" y="53213"/>
                  </a:lnTo>
                  <a:lnTo>
                    <a:pt x="186016" y="50482"/>
                  </a:lnTo>
                  <a:close/>
                </a:path>
                <a:path extrusionOk="0" h="615314" w="585470">
                  <a:moveTo>
                    <a:pt x="217792" y="186753"/>
                  </a:moveTo>
                  <a:lnTo>
                    <a:pt x="215557" y="175310"/>
                  </a:lnTo>
                  <a:lnTo>
                    <a:pt x="215519" y="175082"/>
                  </a:lnTo>
                  <a:lnTo>
                    <a:pt x="212509" y="170573"/>
                  </a:lnTo>
                  <a:lnTo>
                    <a:pt x="208699" y="164820"/>
                  </a:lnTo>
                  <a:lnTo>
                    <a:pt x="203009" y="161061"/>
                  </a:lnTo>
                  <a:lnTo>
                    <a:pt x="203009" y="182448"/>
                  </a:lnTo>
                  <a:lnTo>
                    <a:pt x="203009" y="191046"/>
                  </a:lnTo>
                  <a:lnTo>
                    <a:pt x="201282" y="195173"/>
                  </a:lnTo>
                  <a:lnTo>
                    <a:pt x="198221" y="198196"/>
                  </a:lnTo>
                  <a:lnTo>
                    <a:pt x="192862" y="201752"/>
                  </a:lnTo>
                  <a:lnTo>
                    <a:pt x="186778" y="202946"/>
                  </a:lnTo>
                  <a:lnTo>
                    <a:pt x="180708" y="201752"/>
                  </a:lnTo>
                  <a:lnTo>
                    <a:pt x="175336" y="198196"/>
                  </a:lnTo>
                  <a:lnTo>
                    <a:pt x="171780" y="192849"/>
                  </a:lnTo>
                  <a:lnTo>
                    <a:pt x="170599" y="186753"/>
                  </a:lnTo>
                  <a:lnTo>
                    <a:pt x="171780" y="180670"/>
                  </a:lnTo>
                  <a:lnTo>
                    <a:pt x="175336" y="175310"/>
                  </a:lnTo>
                  <a:lnTo>
                    <a:pt x="180695" y="171754"/>
                  </a:lnTo>
                  <a:lnTo>
                    <a:pt x="186778" y="170573"/>
                  </a:lnTo>
                  <a:lnTo>
                    <a:pt x="192874" y="171754"/>
                  </a:lnTo>
                  <a:lnTo>
                    <a:pt x="198234" y="175310"/>
                  </a:lnTo>
                  <a:lnTo>
                    <a:pt x="201282" y="178320"/>
                  </a:lnTo>
                  <a:lnTo>
                    <a:pt x="203009" y="182448"/>
                  </a:lnTo>
                  <a:lnTo>
                    <a:pt x="203009" y="161061"/>
                  </a:lnTo>
                  <a:lnTo>
                    <a:pt x="198437" y="158026"/>
                  </a:lnTo>
                  <a:lnTo>
                    <a:pt x="186778" y="155752"/>
                  </a:lnTo>
                  <a:lnTo>
                    <a:pt x="175107" y="158026"/>
                  </a:lnTo>
                  <a:lnTo>
                    <a:pt x="164846" y="164820"/>
                  </a:lnTo>
                  <a:lnTo>
                    <a:pt x="158026" y="175082"/>
                  </a:lnTo>
                  <a:lnTo>
                    <a:pt x="155765" y="186753"/>
                  </a:lnTo>
                  <a:lnTo>
                    <a:pt x="157988" y="198196"/>
                  </a:lnTo>
                  <a:lnTo>
                    <a:pt x="158026" y="198424"/>
                  </a:lnTo>
                  <a:lnTo>
                    <a:pt x="164846" y="208673"/>
                  </a:lnTo>
                  <a:lnTo>
                    <a:pt x="175107" y="215493"/>
                  </a:lnTo>
                  <a:lnTo>
                    <a:pt x="186778" y="217766"/>
                  </a:lnTo>
                  <a:lnTo>
                    <a:pt x="198450" y="215493"/>
                  </a:lnTo>
                  <a:lnTo>
                    <a:pt x="208699" y="208673"/>
                  </a:lnTo>
                  <a:lnTo>
                    <a:pt x="212509" y="202946"/>
                  </a:lnTo>
                  <a:lnTo>
                    <a:pt x="215519" y="198424"/>
                  </a:lnTo>
                  <a:lnTo>
                    <a:pt x="217792" y="186753"/>
                  </a:lnTo>
                  <a:close/>
                </a:path>
                <a:path extrusionOk="0" h="615314" w="585470">
                  <a:moveTo>
                    <a:pt x="316979" y="186753"/>
                  </a:moveTo>
                  <a:lnTo>
                    <a:pt x="314744" y="175310"/>
                  </a:lnTo>
                  <a:lnTo>
                    <a:pt x="314706" y="175082"/>
                  </a:lnTo>
                  <a:lnTo>
                    <a:pt x="311708" y="170573"/>
                  </a:lnTo>
                  <a:lnTo>
                    <a:pt x="307886" y="164820"/>
                  </a:lnTo>
                  <a:lnTo>
                    <a:pt x="302145" y="161023"/>
                  </a:lnTo>
                  <a:lnTo>
                    <a:pt x="302145" y="186753"/>
                  </a:lnTo>
                  <a:lnTo>
                    <a:pt x="300964" y="192849"/>
                  </a:lnTo>
                  <a:lnTo>
                    <a:pt x="297408" y="198196"/>
                  </a:lnTo>
                  <a:lnTo>
                    <a:pt x="292061" y="201752"/>
                  </a:lnTo>
                  <a:lnTo>
                    <a:pt x="285965" y="202946"/>
                  </a:lnTo>
                  <a:lnTo>
                    <a:pt x="279895" y="201752"/>
                  </a:lnTo>
                  <a:lnTo>
                    <a:pt x="274523" y="198196"/>
                  </a:lnTo>
                  <a:lnTo>
                    <a:pt x="270967" y="192849"/>
                  </a:lnTo>
                  <a:lnTo>
                    <a:pt x="269786" y="186753"/>
                  </a:lnTo>
                  <a:lnTo>
                    <a:pt x="270967" y="180670"/>
                  </a:lnTo>
                  <a:lnTo>
                    <a:pt x="274523" y="175310"/>
                  </a:lnTo>
                  <a:lnTo>
                    <a:pt x="279882" y="171754"/>
                  </a:lnTo>
                  <a:lnTo>
                    <a:pt x="285965" y="170573"/>
                  </a:lnTo>
                  <a:lnTo>
                    <a:pt x="292061" y="171754"/>
                  </a:lnTo>
                  <a:lnTo>
                    <a:pt x="297421" y="175310"/>
                  </a:lnTo>
                  <a:lnTo>
                    <a:pt x="300964" y="180670"/>
                  </a:lnTo>
                  <a:lnTo>
                    <a:pt x="302145" y="186753"/>
                  </a:lnTo>
                  <a:lnTo>
                    <a:pt x="302145" y="161023"/>
                  </a:lnTo>
                  <a:lnTo>
                    <a:pt x="297624" y="158026"/>
                  </a:lnTo>
                  <a:lnTo>
                    <a:pt x="285965" y="155752"/>
                  </a:lnTo>
                  <a:lnTo>
                    <a:pt x="274294" y="158026"/>
                  </a:lnTo>
                  <a:lnTo>
                    <a:pt x="264033" y="164820"/>
                  </a:lnTo>
                  <a:lnTo>
                    <a:pt x="257225" y="175082"/>
                  </a:lnTo>
                  <a:lnTo>
                    <a:pt x="254952" y="186753"/>
                  </a:lnTo>
                  <a:lnTo>
                    <a:pt x="257175" y="198196"/>
                  </a:lnTo>
                  <a:lnTo>
                    <a:pt x="257225" y="198424"/>
                  </a:lnTo>
                  <a:lnTo>
                    <a:pt x="264033" y="208673"/>
                  </a:lnTo>
                  <a:lnTo>
                    <a:pt x="274294" y="215493"/>
                  </a:lnTo>
                  <a:lnTo>
                    <a:pt x="285965" y="217766"/>
                  </a:lnTo>
                  <a:lnTo>
                    <a:pt x="297637" y="215493"/>
                  </a:lnTo>
                  <a:lnTo>
                    <a:pt x="307886" y="208673"/>
                  </a:lnTo>
                  <a:lnTo>
                    <a:pt x="311708" y="202946"/>
                  </a:lnTo>
                  <a:lnTo>
                    <a:pt x="314706" y="198424"/>
                  </a:lnTo>
                  <a:lnTo>
                    <a:pt x="316979" y="186753"/>
                  </a:lnTo>
                  <a:close/>
                </a:path>
                <a:path extrusionOk="0" h="615314" w="585470">
                  <a:moveTo>
                    <a:pt x="373545" y="186753"/>
                  </a:moveTo>
                  <a:lnTo>
                    <a:pt x="358724" y="153530"/>
                  </a:lnTo>
                  <a:lnTo>
                    <a:pt x="358724" y="186753"/>
                  </a:lnTo>
                  <a:lnTo>
                    <a:pt x="356565" y="197904"/>
                  </a:lnTo>
                  <a:lnTo>
                    <a:pt x="350050" y="207708"/>
                  </a:lnTo>
                  <a:lnTo>
                    <a:pt x="207721" y="350037"/>
                  </a:lnTo>
                  <a:lnTo>
                    <a:pt x="197916" y="356527"/>
                  </a:lnTo>
                  <a:lnTo>
                    <a:pt x="186766" y="358698"/>
                  </a:lnTo>
                  <a:lnTo>
                    <a:pt x="175628" y="356527"/>
                  </a:lnTo>
                  <a:lnTo>
                    <a:pt x="165823" y="350037"/>
                  </a:lnTo>
                  <a:lnTo>
                    <a:pt x="23495" y="207708"/>
                  </a:lnTo>
                  <a:lnTo>
                    <a:pt x="16992" y="197904"/>
                  </a:lnTo>
                  <a:lnTo>
                    <a:pt x="14820" y="186753"/>
                  </a:lnTo>
                  <a:lnTo>
                    <a:pt x="16992" y="175602"/>
                  </a:lnTo>
                  <a:lnTo>
                    <a:pt x="23495" y="165798"/>
                  </a:lnTo>
                  <a:lnTo>
                    <a:pt x="165823" y="23469"/>
                  </a:lnTo>
                  <a:lnTo>
                    <a:pt x="175628" y="16979"/>
                  </a:lnTo>
                  <a:lnTo>
                    <a:pt x="186778" y="14808"/>
                  </a:lnTo>
                  <a:lnTo>
                    <a:pt x="197916" y="16979"/>
                  </a:lnTo>
                  <a:lnTo>
                    <a:pt x="207721" y="23469"/>
                  </a:lnTo>
                  <a:lnTo>
                    <a:pt x="350050" y="165798"/>
                  </a:lnTo>
                  <a:lnTo>
                    <a:pt x="356565" y="175602"/>
                  </a:lnTo>
                  <a:lnTo>
                    <a:pt x="358724" y="186753"/>
                  </a:lnTo>
                  <a:lnTo>
                    <a:pt x="358724" y="153530"/>
                  </a:lnTo>
                  <a:lnTo>
                    <a:pt x="220002" y="14808"/>
                  </a:lnTo>
                  <a:lnTo>
                    <a:pt x="218198" y="13004"/>
                  </a:lnTo>
                  <a:lnTo>
                    <a:pt x="203492" y="3251"/>
                  </a:lnTo>
                  <a:lnTo>
                    <a:pt x="186766" y="0"/>
                  </a:lnTo>
                  <a:lnTo>
                    <a:pt x="170053" y="3251"/>
                  </a:lnTo>
                  <a:lnTo>
                    <a:pt x="155346" y="13004"/>
                  </a:lnTo>
                  <a:lnTo>
                    <a:pt x="13017" y="155321"/>
                  </a:lnTo>
                  <a:lnTo>
                    <a:pt x="0" y="186753"/>
                  </a:lnTo>
                  <a:lnTo>
                    <a:pt x="863" y="195478"/>
                  </a:lnTo>
                  <a:lnTo>
                    <a:pt x="155346" y="360514"/>
                  </a:lnTo>
                  <a:lnTo>
                    <a:pt x="186766" y="373507"/>
                  </a:lnTo>
                  <a:lnTo>
                    <a:pt x="203492" y="370255"/>
                  </a:lnTo>
                  <a:lnTo>
                    <a:pt x="218198" y="360514"/>
                  </a:lnTo>
                  <a:lnTo>
                    <a:pt x="220014" y="358698"/>
                  </a:lnTo>
                  <a:lnTo>
                    <a:pt x="360527" y="218186"/>
                  </a:lnTo>
                  <a:lnTo>
                    <a:pt x="366090" y="211429"/>
                  </a:lnTo>
                  <a:lnTo>
                    <a:pt x="370179" y="203771"/>
                  </a:lnTo>
                  <a:lnTo>
                    <a:pt x="372706" y="195478"/>
                  </a:lnTo>
                  <a:lnTo>
                    <a:pt x="373545" y="186753"/>
                  </a:lnTo>
                  <a:close/>
                </a:path>
                <a:path extrusionOk="0" h="615314" w="585470">
                  <a:moveTo>
                    <a:pt x="584962" y="369011"/>
                  </a:moveTo>
                  <a:lnTo>
                    <a:pt x="581456" y="351701"/>
                  </a:lnTo>
                  <a:lnTo>
                    <a:pt x="573151" y="339382"/>
                  </a:lnTo>
                  <a:lnTo>
                    <a:pt x="571931" y="337578"/>
                  </a:lnTo>
                  <a:lnTo>
                    <a:pt x="570141" y="336372"/>
                  </a:lnTo>
                  <a:lnTo>
                    <a:pt x="570141" y="369011"/>
                  </a:lnTo>
                  <a:lnTo>
                    <a:pt x="570141" y="570255"/>
                  </a:lnTo>
                  <a:lnTo>
                    <a:pt x="567804" y="581787"/>
                  </a:lnTo>
                  <a:lnTo>
                    <a:pt x="561454" y="591197"/>
                  </a:lnTo>
                  <a:lnTo>
                    <a:pt x="552043" y="597547"/>
                  </a:lnTo>
                  <a:lnTo>
                    <a:pt x="540512" y="599884"/>
                  </a:lnTo>
                  <a:lnTo>
                    <a:pt x="339267" y="599884"/>
                  </a:lnTo>
                  <a:lnTo>
                    <a:pt x="327736" y="597547"/>
                  </a:lnTo>
                  <a:lnTo>
                    <a:pt x="318312" y="591197"/>
                  </a:lnTo>
                  <a:lnTo>
                    <a:pt x="311962" y="581787"/>
                  </a:lnTo>
                  <a:lnTo>
                    <a:pt x="309638" y="570255"/>
                  </a:lnTo>
                  <a:lnTo>
                    <a:pt x="309638" y="369011"/>
                  </a:lnTo>
                  <a:lnTo>
                    <a:pt x="311962" y="357466"/>
                  </a:lnTo>
                  <a:lnTo>
                    <a:pt x="318312" y="348056"/>
                  </a:lnTo>
                  <a:lnTo>
                    <a:pt x="327736" y="341706"/>
                  </a:lnTo>
                  <a:lnTo>
                    <a:pt x="339267" y="339382"/>
                  </a:lnTo>
                  <a:lnTo>
                    <a:pt x="540512" y="339382"/>
                  </a:lnTo>
                  <a:lnTo>
                    <a:pt x="552043" y="341706"/>
                  </a:lnTo>
                  <a:lnTo>
                    <a:pt x="561454" y="348056"/>
                  </a:lnTo>
                  <a:lnTo>
                    <a:pt x="567804" y="357466"/>
                  </a:lnTo>
                  <a:lnTo>
                    <a:pt x="570141" y="369011"/>
                  </a:lnTo>
                  <a:lnTo>
                    <a:pt x="570141" y="336372"/>
                  </a:lnTo>
                  <a:lnTo>
                    <a:pt x="557809" y="328053"/>
                  </a:lnTo>
                  <a:lnTo>
                    <a:pt x="540512" y="324561"/>
                  </a:lnTo>
                  <a:lnTo>
                    <a:pt x="339267" y="324561"/>
                  </a:lnTo>
                  <a:lnTo>
                    <a:pt x="321957" y="328053"/>
                  </a:lnTo>
                  <a:lnTo>
                    <a:pt x="307835" y="337578"/>
                  </a:lnTo>
                  <a:lnTo>
                    <a:pt x="298310" y="351701"/>
                  </a:lnTo>
                  <a:lnTo>
                    <a:pt x="294817" y="369011"/>
                  </a:lnTo>
                  <a:lnTo>
                    <a:pt x="294817" y="570255"/>
                  </a:lnTo>
                  <a:lnTo>
                    <a:pt x="298310" y="587552"/>
                  </a:lnTo>
                  <a:lnTo>
                    <a:pt x="307835" y="601675"/>
                  </a:lnTo>
                  <a:lnTo>
                    <a:pt x="321957" y="611200"/>
                  </a:lnTo>
                  <a:lnTo>
                    <a:pt x="339267" y="614692"/>
                  </a:lnTo>
                  <a:lnTo>
                    <a:pt x="540512" y="614692"/>
                  </a:lnTo>
                  <a:lnTo>
                    <a:pt x="557809" y="611200"/>
                  </a:lnTo>
                  <a:lnTo>
                    <a:pt x="571931" y="601675"/>
                  </a:lnTo>
                  <a:lnTo>
                    <a:pt x="573138" y="599884"/>
                  </a:lnTo>
                  <a:lnTo>
                    <a:pt x="581456" y="587552"/>
                  </a:lnTo>
                  <a:lnTo>
                    <a:pt x="584962" y="570255"/>
                  </a:lnTo>
                  <a:lnTo>
                    <a:pt x="584962" y="369011"/>
                  </a:lnTo>
                  <a:close/>
                </a:path>
              </a:pathLst>
            </a:custGeom>
            <a:solidFill>
              <a:srgbClr val="F7F7F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46" name="Google Shape;746;p28"/>
            <p:cNvPicPr preferRelativeResize="0"/>
            <p:nvPr/>
          </p:nvPicPr>
          <p:blipFill rotWithShape="1">
            <a:blip r:embed="rId3">
              <a:alphaModFix/>
            </a:blip>
            <a:srcRect b="0" l="0" r="0" t="0"/>
            <a:stretch/>
          </p:blipFill>
          <p:spPr>
            <a:xfrm>
              <a:off x="3695208" y="4051971"/>
              <a:ext cx="67406" cy="67411"/>
            </a:xfrm>
            <a:prstGeom prst="rect">
              <a:avLst/>
            </a:prstGeom>
            <a:noFill/>
            <a:ln>
              <a:noFill/>
            </a:ln>
          </p:spPr>
        </p:pic>
        <p:pic>
          <p:nvPicPr>
            <p:cNvPr id="747" name="Google Shape;747;p28"/>
            <p:cNvPicPr preferRelativeResize="0"/>
            <p:nvPr/>
          </p:nvPicPr>
          <p:blipFill rotWithShape="1">
            <a:blip r:embed="rId3">
              <a:alphaModFix/>
            </a:blip>
            <a:srcRect b="0" l="0" r="0" t="0"/>
            <a:stretch/>
          </p:blipFill>
          <p:spPr>
            <a:xfrm>
              <a:off x="3695208" y="4171951"/>
              <a:ext cx="67406" cy="67411"/>
            </a:xfrm>
            <a:prstGeom prst="rect">
              <a:avLst/>
            </a:prstGeom>
            <a:noFill/>
            <a:ln>
              <a:noFill/>
            </a:ln>
          </p:spPr>
        </p:pic>
        <p:pic>
          <p:nvPicPr>
            <p:cNvPr id="748" name="Google Shape;748;p28"/>
            <p:cNvPicPr preferRelativeResize="0"/>
            <p:nvPr/>
          </p:nvPicPr>
          <p:blipFill rotWithShape="1">
            <a:blip r:embed="rId3">
              <a:alphaModFix/>
            </a:blip>
            <a:srcRect b="0" l="0" r="0" t="0"/>
            <a:stretch/>
          </p:blipFill>
          <p:spPr>
            <a:xfrm>
              <a:off x="3815186" y="4051971"/>
              <a:ext cx="67406" cy="67411"/>
            </a:xfrm>
            <a:prstGeom prst="rect">
              <a:avLst/>
            </a:prstGeom>
            <a:noFill/>
            <a:ln>
              <a:noFill/>
            </a:ln>
          </p:spPr>
        </p:pic>
        <p:pic>
          <p:nvPicPr>
            <p:cNvPr id="749" name="Google Shape;749;p28"/>
            <p:cNvPicPr preferRelativeResize="0"/>
            <p:nvPr/>
          </p:nvPicPr>
          <p:blipFill rotWithShape="1">
            <a:blip r:embed="rId3">
              <a:alphaModFix/>
            </a:blip>
            <a:srcRect b="0" l="0" r="0" t="0"/>
            <a:stretch/>
          </p:blipFill>
          <p:spPr>
            <a:xfrm>
              <a:off x="3815186" y="4171951"/>
              <a:ext cx="67406" cy="67411"/>
            </a:xfrm>
            <a:prstGeom prst="rect">
              <a:avLst/>
            </a:prstGeom>
            <a:noFill/>
            <a:ln>
              <a:noFill/>
            </a:ln>
          </p:spPr>
        </p:pic>
      </p:grpSp>
      <p:sp>
        <p:nvSpPr>
          <p:cNvPr id="750" name="Google Shape;750;p28"/>
          <p:cNvSpPr txBox="1"/>
          <p:nvPr/>
        </p:nvSpPr>
        <p:spPr>
          <a:xfrm>
            <a:off x="13141027" y="4700422"/>
            <a:ext cx="3921760" cy="29489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Reconociendo</a:t>
            </a:r>
            <a:endParaRPr b="0" i="0" sz="26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limitaciones</a:t>
            </a:r>
            <a:endParaRPr b="0" i="0" sz="2600" u="none" cap="none" strike="noStrike">
              <a:solidFill>
                <a:srgbClr val="000000"/>
              </a:solidFill>
              <a:latin typeface="Arial"/>
              <a:ea typeface="Arial"/>
              <a:cs typeface="Arial"/>
              <a:sym typeface="Arial"/>
            </a:endParaRPr>
          </a:p>
          <a:p>
            <a:pPr indent="-216535" lvl="0" marL="228600" marR="26797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Explicar posibles </a:t>
            </a:r>
            <a:r>
              <a:rPr b="1" i="0" lang="en-US" sz="2000" u="none" cap="none" strike="noStrike">
                <a:solidFill>
                  <a:srgbClr val="F2620F"/>
                </a:solidFill>
                <a:latin typeface="Arial"/>
                <a:ea typeface="Arial"/>
                <a:cs typeface="Arial"/>
                <a:sym typeface="Arial"/>
              </a:rPr>
              <a:t>desbalances de clases </a:t>
            </a:r>
            <a:r>
              <a:rPr b="0" i="0" lang="en-US" sz="2000" u="none" cap="none" strike="noStrike">
                <a:solidFill>
                  <a:srgbClr val="262626"/>
                </a:solidFill>
                <a:latin typeface="Arial"/>
                <a:ea typeface="Arial"/>
                <a:cs typeface="Arial"/>
                <a:sym typeface="Arial"/>
              </a:rPr>
              <a:t>y cómo afectan los resultados.</a:t>
            </a:r>
            <a:endParaRPr b="0" i="0" sz="2000" u="none" cap="none" strike="noStrike">
              <a:solidFill>
                <a:srgbClr val="000000"/>
              </a:solidFill>
              <a:latin typeface="Arial"/>
              <a:ea typeface="Arial"/>
              <a:cs typeface="Arial"/>
              <a:sym typeface="Arial"/>
            </a:endParaRPr>
          </a:p>
          <a:p>
            <a:pPr indent="-216535" lvl="0" marL="228600" marR="508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Detallar qué tipo de errores comete el modelo (falsos positivos/negativos) y su impacto.</a:t>
            </a:r>
            <a:endParaRPr b="0" i="0" sz="2000" u="none" cap="none" strike="noStrike">
              <a:solidFill>
                <a:srgbClr val="000000"/>
              </a:solidFill>
              <a:latin typeface="Arial"/>
              <a:ea typeface="Arial"/>
              <a:cs typeface="Arial"/>
              <a:sym typeface="Arial"/>
            </a:endParaRPr>
          </a:p>
        </p:txBody>
      </p:sp>
      <p:sp>
        <p:nvSpPr>
          <p:cNvPr id="751" name="Google Shape;751;p28"/>
          <p:cNvSpPr txBox="1"/>
          <p:nvPr/>
        </p:nvSpPr>
        <p:spPr>
          <a:xfrm>
            <a:off x="8208564" y="4700422"/>
            <a:ext cx="3721200" cy="3645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Elementos clave del</a:t>
            </a:r>
            <a:endParaRPr b="0" i="0" sz="26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reporte</a:t>
            </a:r>
            <a:endParaRPr b="0" i="0" sz="2600" u="none" cap="none" strike="noStrike">
              <a:solidFill>
                <a:srgbClr val="000000"/>
              </a:solidFill>
              <a:latin typeface="Arial"/>
              <a:ea typeface="Arial"/>
              <a:cs typeface="Arial"/>
              <a:sym typeface="Arial"/>
            </a:endParaRPr>
          </a:p>
          <a:p>
            <a:pPr indent="-216535" lvl="0" marL="228600" marR="508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Indicar la </a:t>
            </a:r>
            <a:r>
              <a:rPr b="1" i="0" lang="en-US" sz="2000" u="none" cap="none" strike="noStrike">
                <a:solidFill>
                  <a:srgbClr val="F2620F"/>
                </a:solidFill>
                <a:latin typeface="Arial"/>
                <a:ea typeface="Arial"/>
                <a:cs typeface="Arial"/>
                <a:sym typeface="Arial"/>
              </a:rPr>
              <a:t>etiqueta positiva </a:t>
            </a:r>
            <a:r>
              <a:rPr b="0" i="0" lang="en-US" sz="2000" u="none" cap="none" strike="noStrike">
                <a:solidFill>
                  <a:srgbClr val="262626"/>
                </a:solidFill>
                <a:latin typeface="Arial"/>
                <a:ea typeface="Arial"/>
                <a:cs typeface="Arial"/>
                <a:sym typeface="Arial"/>
              </a:rPr>
              <a:t>y el umbral utilizado.</a:t>
            </a:r>
            <a:endParaRPr b="0" i="0" sz="2000" u="none" cap="none" strike="noStrike">
              <a:solidFill>
                <a:srgbClr val="000000"/>
              </a:solidFill>
              <a:latin typeface="Arial"/>
              <a:ea typeface="Arial"/>
              <a:cs typeface="Arial"/>
              <a:sym typeface="Arial"/>
            </a:endParaRPr>
          </a:p>
          <a:p>
            <a:pPr indent="-216535" lvl="0" marL="228600" marR="76835"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Describir variables de entrada y periodos de entrenamiento/evaluación.</a:t>
            </a:r>
            <a:endParaRPr b="0" i="0" sz="2000" u="none" cap="none" strike="noStrike">
              <a:solidFill>
                <a:srgbClr val="000000"/>
              </a:solidFill>
              <a:latin typeface="Arial"/>
              <a:ea typeface="Arial"/>
              <a:cs typeface="Arial"/>
              <a:sym typeface="Arial"/>
            </a:endParaRPr>
          </a:p>
          <a:p>
            <a:pPr indent="-216535" lvl="0" marL="228600" marR="631190"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Presentar métricas como accuracy, precision, recall, F1-score</a:t>
            </a:r>
            <a:endParaRPr b="0" i="0" sz="2000" u="none" cap="none" strike="noStrike">
              <a:solidFill>
                <a:srgbClr val="000000"/>
              </a:solidFill>
              <a:latin typeface="Arial"/>
              <a:ea typeface="Arial"/>
              <a:cs typeface="Arial"/>
              <a:sym typeface="Arial"/>
            </a:endParaRPr>
          </a:p>
        </p:txBody>
      </p:sp>
      <p:sp>
        <p:nvSpPr>
          <p:cNvPr id="752" name="Google Shape;752;p28"/>
          <p:cNvSpPr txBox="1"/>
          <p:nvPr/>
        </p:nvSpPr>
        <p:spPr>
          <a:xfrm>
            <a:off x="3276103" y="4700422"/>
            <a:ext cx="3814445" cy="29489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Interpretando la</a:t>
            </a:r>
            <a:endParaRPr b="0" i="0" sz="26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600"/>
              <a:buFont typeface="Arial"/>
              <a:buNone/>
            </a:pPr>
            <a:r>
              <a:rPr b="1" i="0" lang="en-US" sz="2600" u="none" cap="none" strike="noStrike">
                <a:solidFill>
                  <a:srgbClr val="262626"/>
                </a:solidFill>
                <a:latin typeface="Arial"/>
                <a:ea typeface="Arial"/>
                <a:cs typeface="Arial"/>
                <a:sym typeface="Arial"/>
              </a:rPr>
              <a:t>predicción</a:t>
            </a:r>
            <a:endParaRPr b="0" i="0" sz="2600" u="none" cap="none" strike="noStrike">
              <a:solidFill>
                <a:srgbClr val="000000"/>
              </a:solidFill>
              <a:latin typeface="Arial"/>
              <a:ea typeface="Arial"/>
              <a:cs typeface="Arial"/>
              <a:sym typeface="Arial"/>
            </a:endParaRPr>
          </a:p>
          <a:p>
            <a:pPr indent="-216535" lvl="0" marL="228600" marR="5080" rtl="0" algn="l">
              <a:lnSpc>
                <a:spcPct val="100000"/>
              </a:lnSpc>
              <a:spcBef>
                <a:spcPts val="188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El modelo ofrece una </a:t>
            </a:r>
            <a:r>
              <a:rPr b="1" i="0" lang="en-US" sz="2000" u="none" cap="none" strike="noStrike">
                <a:solidFill>
                  <a:srgbClr val="F2620F"/>
                </a:solidFill>
                <a:latin typeface="Arial"/>
                <a:ea typeface="Arial"/>
                <a:cs typeface="Arial"/>
                <a:sym typeface="Arial"/>
              </a:rPr>
              <a:t>probabilidad </a:t>
            </a:r>
            <a:r>
              <a:rPr b="0" i="0" lang="en-US" sz="2000" u="none" cap="none" strike="noStrike">
                <a:solidFill>
                  <a:srgbClr val="262626"/>
                </a:solidFill>
                <a:latin typeface="Arial"/>
                <a:ea typeface="Arial"/>
                <a:cs typeface="Arial"/>
                <a:sym typeface="Arial"/>
              </a:rPr>
              <a:t>de pertenecer a la clase positiva, no una certeza.</a:t>
            </a:r>
            <a:endParaRPr b="0" i="0" sz="2000" u="none" cap="none" strike="noStrike">
              <a:solidFill>
                <a:srgbClr val="000000"/>
              </a:solidFill>
              <a:latin typeface="Arial"/>
              <a:ea typeface="Arial"/>
              <a:cs typeface="Arial"/>
              <a:sym typeface="Arial"/>
            </a:endParaRPr>
          </a:p>
          <a:p>
            <a:pPr indent="-216535" lvl="0" marL="228600" marR="278765" rtl="0" algn="l">
              <a:lnSpc>
                <a:spcPct val="100000"/>
              </a:lnSpc>
              <a:spcBef>
                <a:spcPts val="500"/>
              </a:spcBef>
              <a:spcAft>
                <a:spcPts val="0"/>
              </a:spcAft>
              <a:buClr>
                <a:srgbClr val="262626"/>
              </a:buClr>
              <a:buSzPts val="2000"/>
              <a:buFont typeface="Times New Roman"/>
              <a:buChar char="•"/>
            </a:pPr>
            <a:r>
              <a:rPr b="0" i="0" lang="en-US" sz="2000" u="none" cap="none" strike="noStrike">
                <a:solidFill>
                  <a:srgbClr val="262626"/>
                </a:solidFill>
                <a:latin typeface="Arial"/>
                <a:ea typeface="Arial"/>
                <a:cs typeface="Arial"/>
                <a:sym typeface="Arial"/>
              </a:rPr>
              <a:t>La decisión ﬁnal depende del </a:t>
            </a:r>
            <a:r>
              <a:rPr b="1" i="0" lang="en-US" sz="2000" u="none" cap="none" strike="noStrike">
                <a:solidFill>
                  <a:srgbClr val="F2620F"/>
                </a:solidFill>
                <a:latin typeface="Arial"/>
                <a:ea typeface="Arial"/>
                <a:cs typeface="Arial"/>
                <a:sym typeface="Arial"/>
              </a:rPr>
              <a:t>umbral </a:t>
            </a:r>
            <a:r>
              <a:rPr b="0" i="0" lang="en-US" sz="2000" u="none" cap="none" strike="noStrike">
                <a:solidFill>
                  <a:srgbClr val="262626"/>
                </a:solidFill>
                <a:latin typeface="Arial"/>
                <a:ea typeface="Arial"/>
                <a:cs typeface="Arial"/>
                <a:sym typeface="Arial"/>
              </a:rPr>
              <a:t>elegido para convertir probabilidades en clases.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grpSp>
        <p:nvGrpSpPr>
          <p:cNvPr id="757" name="Google Shape;757;p29"/>
          <p:cNvGrpSpPr/>
          <p:nvPr/>
        </p:nvGrpSpPr>
        <p:grpSpPr>
          <a:xfrm>
            <a:off x="1018825" y="4081279"/>
            <a:ext cx="845826" cy="846028"/>
            <a:chOff x="1018825" y="4081279"/>
            <a:chExt cx="845826" cy="846028"/>
          </a:xfrm>
        </p:grpSpPr>
        <p:sp>
          <p:nvSpPr>
            <p:cNvPr id="758" name="Google Shape;758;p29"/>
            <p:cNvSpPr/>
            <p:nvPr/>
          </p:nvSpPr>
          <p:spPr>
            <a:xfrm>
              <a:off x="1018825" y="4081282"/>
              <a:ext cx="547370" cy="547370"/>
            </a:xfrm>
            <a:custGeom>
              <a:rect b="b" l="l" r="r" t="t"/>
              <a:pathLst>
                <a:path extrusionOk="0" h="547370" w="547369">
                  <a:moveTo>
                    <a:pt x="176060" y="0"/>
                  </a:moveTo>
                  <a:lnTo>
                    <a:pt x="130416" y="6007"/>
                  </a:lnTo>
                  <a:lnTo>
                    <a:pt x="87896" y="23621"/>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1"/>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 name="Google Shape;759;p29"/>
            <p:cNvSpPr/>
            <p:nvPr/>
          </p:nvSpPr>
          <p:spPr>
            <a:xfrm>
              <a:off x="1317063" y="4081279"/>
              <a:ext cx="547370" cy="547370"/>
            </a:xfrm>
            <a:custGeom>
              <a:rect b="b" l="l" r="r" t="t"/>
              <a:pathLst>
                <a:path extrusionOk="0" h="547370" w="547369">
                  <a:moveTo>
                    <a:pt x="371246" y="0"/>
                  </a:moveTo>
                  <a:lnTo>
                    <a:pt x="325615" y="6007"/>
                  </a:lnTo>
                  <a:lnTo>
                    <a:pt x="283083" y="23621"/>
                  </a:lnTo>
                  <a:lnTo>
                    <a:pt x="246570" y="51650"/>
                  </a:lnTo>
                  <a:lnTo>
                    <a:pt x="0" y="298208"/>
                  </a:lnTo>
                  <a:lnTo>
                    <a:pt x="249097" y="547306"/>
                  </a:lnTo>
                  <a:lnTo>
                    <a:pt x="495655" y="300735"/>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0" name="Google Shape;760;p29"/>
            <p:cNvSpPr/>
            <p:nvPr/>
          </p:nvSpPr>
          <p:spPr>
            <a:xfrm>
              <a:off x="1018832" y="4231982"/>
              <a:ext cx="845819" cy="695325"/>
            </a:xfrm>
            <a:custGeom>
              <a:rect b="b" l="l" r="r" t="t"/>
              <a:pathLst>
                <a:path extrusionOk="0" h="695325" w="845819">
                  <a:moveTo>
                    <a:pt x="845527" y="518782"/>
                  </a:moveTo>
                  <a:lnTo>
                    <a:pt x="839520" y="473151"/>
                  </a:lnTo>
                  <a:lnTo>
                    <a:pt x="821905" y="430618"/>
                  </a:lnTo>
                  <a:lnTo>
                    <a:pt x="793877" y="394106"/>
                  </a:lnTo>
                  <a:lnTo>
                    <a:pt x="671855" y="272097"/>
                  </a:lnTo>
                  <a:lnTo>
                    <a:pt x="422757" y="22999"/>
                  </a:lnTo>
                  <a:lnTo>
                    <a:pt x="399770" y="0"/>
                  </a:lnTo>
                  <a:lnTo>
                    <a:pt x="150685" y="249085"/>
                  </a:lnTo>
                  <a:lnTo>
                    <a:pt x="173672" y="272084"/>
                  </a:lnTo>
                  <a:lnTo>
                    <a:pt x="51650" y="394119"/>
                  </a:lnTo>
                  <a:lnTo>
                    <a:pt x="23622" y="430631"/>
                  </a:lnTo>
                  <a:lnTo>
                    <a:pt x="6007" y="473163"/>
                  </a:lnTo>
                  <a:lnTo>
                    <a:pt x="0" y="518795"/>
                  </a:lnTo>
                  <a:lnTo>
                    <a:pt x="368" y="530339"/>
                  </a:lnTo>
                  <a:lnTo>
                    <a:pt x="9347" y="575487"/>
                  </a:lnTo>
                  <a:lnTo>
                    <a:pt x="29718" y="616762"/>
                  </a:lnTo>
                  <a:lnTo>
                    <a:pt x="59855" y="651154"/>
                  </a:lnTo>
                  <a:lnTo>
                    <a:pt x="98069" y="676668"/>
                  </a:lnTo>
                  <a:lnTo>
                    <a:pt x="141655" y="691464"/>
                  </a:lnTo>
                  <a:lnTo>
                    <a:pt x="176060" y="694855"/>
                  </a:lnTo>
                  <a:lnTo>
                    <a:pt x="187591" y="694474"/>
                  </a:lnTo>
                  <a:lnTo>
                    <a:pt x="232727" y="685495"/>
                  </a:lnTo>
                  <a:lnTo>
                    <a:pt x="274015" y="665124"/>
                  </a:lnTo>
                  <a:lnTo>
                    <a:pt x="422770" y="521182"/>
                  </a:lnTo>
                  <a:lnTo>
                    <a:pt x="544791" y="643191"/>
                  </a:lnTo>
                  <a:lnTo>
                    <a:pt x="581304" y="671220"/>
                  </a:lnTo>
                  <a:lnTo>
                    <a:pt x="623836" y="688835"/>
                  </a:lnTo>
                  <a:lnTo>
                    <a:pt x="669467" y="694842"/>
                  </a:lnTo>
                  <a:lnTo>
                    <a:pt x="681012" y="694474"/>
                  </a:lnTo>
                  <a:lnTo>
                    <a:pt x="726160" y="685482"/>
                  </a:lnTo>
                  <a:lnTo>
                    <a:pt x="767435" y="665124"/>
                  </a:lnTo>
                  <a:lnTo>
                    <a:pt x="801827" y="634987"/>
                  </a:lnTo>
                  <a:lnTo>
                    <a:pt x="827341" y="596773"/>
                  </a:lnTo>
                  <a:lnTo>
                    <a:pt x="842149" y="553186"/>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761" name="Google Shape;761;p29"/>
          <p:cNvSpPr txBox="1"/>
          <p:nvPr>
            <p:ph type="title"/>
          </p:nvPr>
        </p:nvSpPr>
        <p:spPr>
          <a:xfrm>
            <a:off x="3060600" y="3808833"/>
            <a:ext cx="8943340" cy="2362200"/>
          </a:xfrm>
          <a:prstGeom prst="rect">
            <a:avLst/>
          </a:prstGeom>
          <a:noFill/>
          <a:ln>
            <a:noFill/>
          </a:ln>
        </p:spPr>
        <p:txBody>
          <a:bodyPr anchorCtr="0" anchor="t" bIns="0" lIns="0" spcFirstLastPara="1" rIns="0" wrap="square" tIns="127000">
            <a:spAutoFit/>
          </a:bodyPr>
          <a:lstStyle/>
          <a:p>
            <a:pPr indent="0" lvl="0" marL="12700" marR="5080" rtl="0" algn="l">
              <a:lnSpc>
                <a:spcPct val="110000"/>
              </a:lnSpc>
              <a:spcBef>
                <a:spcPts val="0"/>
              </a:spcBef>
              <a:spcAft>
                <a:spcPts val="0"/>
              </a:spcAft>
              <a:buSzPts val="1400"/>
              <a:buNone/>
            </a:pPr>
            <a:r>
              <a:rPr b="1" lang="en-US" sz="8000">
                <a:latin typeface="Arial"/>
                <a:ea typeface="Arial"/>
                <a:cs typeface="Arial"/>
                <a:sym typeface="Arial"/>
              </a:rPr>
              <a:t>Errores comunes y conclusiones</a:t>
            </a:r>
            <a:endParaRPr sz="8000">
              <a:latin typeface="Arial"/>
              <a:ea typeface="Arial"/>
              <a:cs typeface="Arial"/>
              <a:sym typeface="Arial"/>
            </a:endParaRPr>
          </a:p>
        </p:txBody>
      </p:sp>
      <p:grpSp>
        <p:nvGrpSpPr>
          <p:cNvPr id="762" name="Google Shape;762;p29"/>
          <p:cNvGrpSpPr/>
          <p:nvPr/>
        </p:nvGrpSpPr>
        <p:grpSpPr>
          <a:xfrm>
            <a:off x="0" y="1"/>
            <a:ext cx="14536419" cy="948701"/>
            <a:chOff x="0" y="1"/>
            <a:chExt cx="14536419" cy="948701"/>
          </a:xfrm>
        </p:grpSpPr>
        <p:sp>
          <p:nvSpPr>
            <p:cNvPr id="763" name="Google Shape;763;p29"/>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4" name="Google Shape;764;p29"/>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5" name="Google Shape;765;p29"/>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66" name="Google Shape;766;p29"/>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7" name="Google Shape;767;p29"/>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p>
            <a:pPr indent="0" lvl="0" marL="38100" rtl="0" algn="l">
              <a:lnSpc>
                <a:spcPct val="117884"/>
              </a:lnSpc>
              <a:spcBef>
                <a:spcPts val="0"/>
              </a:spcBef>
              <a:spcAft>
                <a:spcPts val="0"/>
              </a:spcAft>
              <a:buSzPts val="2600"/>
              <a:buNone/>
            </a:pPr>
            <a:fld id="{00000000-1234-1234-1234-123412341234}" type="slidenum">
              <a:rPr lang="en-US"/>
              <a:t>‹#›</a:t>
            </a:fld>
            <a:r>
              <a:rPr lang="en-US"/>
              <a:t>.</a:t>
            </a:r>
            <a:endParaRPr/>
          </a:p>
        </p:txBody>
      </p:sp>
      <p:sp>
        <p:nvSpPr>
          <p:cNvPr id="768" name="Google Shape;768;p29"/>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769" name="Google Shape;769;p29"/>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30"/>
          <p:cNvSpPr txBox="1"/>
          <p:nvPr/>
        </p:nvSpPr>
        <p:spPr>
          <a:xfrm>
            <a:off x="3033886" y="4526100"/>
            <a:ext cx="6272530" cy="4528820"/>
          </a:xfrm>
          <a:prstGeom prst="rect">
            <a:avLst/>
          </a:prstGeom>
          <a:noFill/>
          <a:ln>
            <a:noFill/>
          </a:ln>
        </p:spPr>
        <p:txBody>
          <a:bodyPr anchorCtr="0" anchor="t" bIns="0" lIns="0" spcFirstLastPara="1" rIns="0" wrap="square" tIns="14600">
            <a:spAutoFit/>
          </a:bodyPr>
          <a:lstStyle/>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292929"/>
                </a:solidFill>
                <a:latin typeface="Arial"/>
                <a:ea typeface="Arial"/>
                <a:cs typeface="Arial"/>
                <a:sym typeface="Arial"/>
              </a:rPr>
              <a:t>Deﬁnición precisa de la clase positiva</a:t>
            </a:r>
            <a:endParaRPr b="0" i="0" sz="1800" u="none" cap="none" strike="noStrike">
              <a:solidFill>
                <a:srgbClr val="000000"/>
              </a:solidFill>
              <a:latin typeface="Arial"/>
              <a:ea typeface="Arial"/>
              <a:cs typeface="Arial"/>
              <a:sym typeface="Arial"/>
            </a:endParaRPr>
          </a:p>
          <a:p>
            <a:pPr indent="-149860" lvl="0" marL="161925" marR="450215" rtl="0" algn="l">
              <a:lnSpc>
                <a:spcPct val="100000"/>
              </a:lnSpc>
              <a:spcBef>
                <a:spcPts val="1315"/>
              </a:spcBef>
              <a:spcAft>
                <a:spcPts val="0"/>
              </a:spcAft>
              <a:buClr>
                <a:srgbClr val="292929"/>
              </a:buClr>
              <a:buSzPts val="1400"/>
              <a:buFont typeface="Times New Roman"/>
              <a:buChar char="•"/>
            </a:pPr>
            <a:r>
              <a:rPr b="0" i="0" lang="en-US" sz="1400" u="none" cap="none" strike="noStrike">
                <a:solidFill>
                  <a:srgbClr val="292929"/>
                </a:solidFill>
                <a:latin typeface="Arial"/>
                <a:ea typeface="Arial"/>
                <a:cs typeface="Arial"/>
                <a:sym typeface="Arial"/>
              </a:rPr>
              <a:t>Evitar ambigüedad en la etiqueta objetivo; la clase positiva debe estar                                                                       	claramente especiﬁcada.</a:t>
            </a:r>
            <a:endParaRPr b="0" i="0" sz="1400" u="none" cap="none" strike="noStrike">
              <a:solidFill>
                <a:srgbClr val="000000"/>
              </a:solidFill>
              <a:latin typeface="Arial"/>
              <a:ea typeface="Arial"/>
              <a:cs typeface="Arial"/>
              <a:sym typeface="Arial"/>
            </a:endParaRPr>
          </a:p>
          <a:p>
            <a:pPr indent="-149860" lvl="0" marL="161925" marR="292735" rtl="0" algn="l">
              <a:lnSpc>
                <a:spcPct val="100000"/>
              </a:lnSpc>
              <a:spcBef>
                <a:spcPts val="345"/>
              </a:spcBef>
              <a:spcAft>
                <a:spcPts val="0"/>
              </a:spcAft>
              <a:buClr>
                <a:srgbClr val="292929"/>
              </a:buClr>
              <a:buSzPts val="1400"/>
              <a:buFont typeface="Times New Roman"/>
              <a:buChar char="•"/>
            </a:pPr>
            <a:r>
              <a:rPr b="0" i="0" lang="en-US" sz="1400" u="none" cap="none" strike="noStrike">
                <a:solidFill>
                  <a:srgbClr val="292929"/>
                </a:solidFill>
                <a:latin typeface="Arial"/>
                <a:ea typeface="Arial"/>
                <a:cs typeface="Arial"/>
                <a:sym typeface="Arial"/>
              </a:rPr>
              <a:t>La interpretación de métricas como </a:t>
            </a:r>
            <a:r>
              <a:rPr b="1" i="0" lang="en-US" sz="1400" u="none" cap="none" strike="noStrike">
                <a:solidFill>
                  <a:srgbClr val="F2620F"/>
                </a:solidFill>
                <a:latin typeface="Arial"/>
                <a:ea typeface="Arial"/>
                <a:cs typeface="Arial"/>
                <a:sym typeface="Arial"/>
              </a:rPr>
              <a:t>precision </a:t>
            </a:r>
            <a:r>
              <a:rPr b="0" i="0" lang="en-US" sz="1400" u="none" cap="none" strike="noStrike">
                <a:solidFill>
                  <a:srgbClr val="292929"/>
                </a:solidFill>
                <a:latin typeface="Arial"/>
                <a:ea typeface="Arial"/>
                <a:cs typeface="Arial"/>
                <a:sym typeface="Arial"/>
              </a:rPr>
              <a:t>y </a:t>
            </a:r>
            <a:r>
              <a:rPr b="1" i="0" lang="en-US" sz="1400" u="none" cap="none" strike="noStrike">
                <a:solidFill>
                  <a:srgbClr val="F2620F"/>
                </a:solidFill>
                <a:latin typeface="Arial"/>
                <a:ea typeface="Arial"/>
                <a:cs typeface="Arial"/>
                <a:sym typeface="Arial"/>
              </a:rPr>
              <a:t>recall </a:t>
            </a:r>
            <a:r>
              <a:rPr b="0" i="0" lang="en-US" sz="1400" u="none" cap="none" strike="noStrike">
                <a:solidFill>
                  <a:srgbClr val="292929"/>
                </a:solidFill>
                <a:latin typeface="Arial"/>
                <a:ea typeface="Arial"/>
                <a:cs typeface="Arial"/>
                <a:sym typeface="Arial"/>
              </a:rPr>
              <a:t>depende de una 	deﬁnición correcta de la clase positiva.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29"/>
              </a:spcBef>
              <a:spcAft>
                <a:spcPts val="0"/>
              </a:spcAft>
              <a:buClr>
                <a:srgbClr val="292929"/>
              </a:buClr>
              <a:buSzPts val="1400"/>
              <a:buFont typeface="Times New Roman"/>
              <a:buNone/>
            </a:pPr>
            <a:r>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292929"/>
                </a:solidFill>
                <a:latin typeface="Arial"/>
                <a:ea typeface="Arial"/>
                <a:cs typeface="Arial"/>
                <a:sym typeface="Arial"/>
              </a:rPr>
              <a:t>Limitaciones del accuracy</a:t>
            </a:r>
            <a:endParaRPr b="0" i="0" sz="1800" u="none" cap="none" strike="noStrike">
              <a:solidFill>
                <a:srgbClr val="000000"/>
              </a:solidFill>
              <a:latin typeface="Arial"/>
              <a:ea typeface="Arial"/>
              <a:cs typeface="Arial"/>
              <a:sym typeface="Arial"/>
            </a:endParaRPr>
          </a:p>
          <a:p>
            <a:pPr indent="-149860" lvl="0" marL="161925" marR="31115" rtl="0" algn="l">
              <a:lnSpc>
                <a:spcPct val="100000"/>
              </a:lnSpc>
              <a:spcBef>
                <a:spcPts val="1315"/>
              </a:spcBef>
              <a:spcAft>
                <a:spcPts val="0"/>
              </a:spcAft>
              <a:buClr>
                <a:srgbClr val="292929"/>
              </a:buClr>
              <a:buSzPts val="1400"/>
              <a:buFont typeface="Times New Roman"/>
              <a:buChar char="•"/>
            </a:pPr>
            <a:r>
              <a:rPr b="0" i="0" lang="en-US" sz="1400" u="none" cap="none" strike="noStrike">
                <a:solidFill>
                  <a:srgbClr val="292929"/>
                </a:solidFill>
                <a:latin typeface="Arial"/>
                <a:ea typeface="Arial"/>
                <a:cs typeface="Arial"/>
                <a:sym typeface="Arial"/>
              </a:rPr>
              <a:t>No conﬁar solo en accuracy, especialmente en conjuntos desbalanceados;                                                                            	puede ocultar problemas en la detección de la clase relevante.</a:t>
            </a:r>
            <a:endParaRPr b="0" i="0" sz="1400" u="none" cap="none" strike="noStrike">
              <a:solidFill>
                <a:srgbClr val="000000"/>
              </a:solidFill>
              <a:latin typeface="Arial"/>
              <a:ea typeface="Arial"/>
              <a:cs typeface="Arial"/>
              <a:sym typeface="Arial"/>
            </a:endParaRPr>
          </a:p>
          <a:p>
            <a:pPr indent="-149860" lvl="0" marL="161925" marR="5080" rtl="0" algn="l">
              <a:lnSpc>
                <a:spcPct val="100000"/>
              </a:lnSpc>
              <a:spcBef>
                <a:spcPts val="345"/>
              </a:spcBef>
              <a:spcAft>
                <a:spcPts val="0"/>
              </a:spcAft>
              <a:buClr>
                <a:srgbClr val="292929"/>
              </a:buClr>
              <a:buSzPts val="1400"/>
              <a:buFont typeface="Times New Roman"/>
              <a:buChar char="•"/>
            </a:pPr>
            <a:r>
              <a:rPr b="0" i="0" lang="en-US" sz="1400" u="none" cap="none" strike="noStrike">
                <a:solidFill>
                  <a:srgbClr val="292929"/>
                </a:solidFill>
                <a:latin typeface="Arial"/>
                <a:ea typeface="Arial"/>
                <a:cs typeface="Arial"/>
                <a:sym typeface="Arial"/>
              </a:rPr>
              <a:t>Complementar con métricas como </a:t>
            </a:r>
            <a:r>
              <a:rPr b="1" i="0" lang="en-US" sz="1400" u="none" cap="none" strike="noStrike">
                <a:solidFill>
                  <a:srgbClr val="F2620F"/>
                </a:solidFill>
                <a:latin typeface="Arial"/>
                <a:ea typeface="Arial"/>
                <a:cs typeface="Arial"/>
                <a:sym typeface="Arial"/>
              </a:rPr>
              <a:t>matriz de confusión</a:t>
            </a:r>
            <a:r>
              <a:rPr b="0" i="0" lang="en-US" sz="1400" u="none" cap="none" strike="noStrike">
                <a:solidFill>
                  <a:srgbClr val="292929"/>
                </a:solidFill>
                <a:latin typeface="Arial"/>
                <a:ea typeface="Arial"/>
                <a:cs typeface="Arial"/>
                <a:sym typeface="Arial"/>
              </a:rPr>
              <a:t>, precision, recall y F1-score para una evaluación completa.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35"/>
              </a:spcBef>
              <a:spcAft>
                <a:spcPts val="0"/>
              </a:spcAft>
              <a:buClr>
                <a:srgbClr val="292929"/>
              </a:buClr>
              <a:buSzPts val="1400"/>
              <a:buFont typeface="Times New Roman"/>
              <a:buNone/>
            </a:pPr>
            <a:r>
              <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1800"/>
              <a:buFont typeface="Arial"/>
              <a:buNone/>
            </a:pPr>
            <a:r>
              <a:rPr b="1" i="0" lang="en-US" sz="1800" u="none" cap="none" strike="noStrike">
                <a:solidFill>
                  <a:srgbClr val="292929"/>
                </a:solidFill>
                <a:latin typeface="Arial"/>
                <a:ea typeface="Arial"/>
                <a:cs typeface="Arial"/>
                <a:sym typeface="Arial"/>
              </a:rPr>
              <a:t>Evitar variables contaminadas</a:t>
            </a:r>
            <a:endParaRPr b="0" i="0" sz="1800" u="none" cap="none" strike="noStrike">
              <a:solidFill>
                <a:srgbClr val="000000"/>
              </a:solidFill>
              <a:latin typeface="Arial"/>
              <a:ea typeface="Arial"/>
              <a:cs typeface="Arial"/>
              <a:sym typeface="Arial"/>
            </a:endParaRPr>
          </a:p>
          <a:p>
            <a:pPr indent="-149860" lvl="0" marL="161925" marR="23495" rtl="0" algn="l">
              <a:lnSpc>
                <a:spcPct val="100000"/>
              </a:lnSpc>
              <a:spcBef>
                <a:spcPts val="1315"/>
              </a:spcBef>
              <a:spcAft>
                <a:spcPts val="0"/>
              </a:spcAft>
              <a:buClr>
                <a:srgbClr val="292929"/>
              </a:buClr>
              <a:buSzPts val="1400"/>
              <a:buFont typeface="Times New Roman"/>
              <a:buChar char="•"/>
            </a:pPr>
            <a:r>
              <a:rPr b="0" i="0" lang="en-US" sz="1400" u="none" cap="none" strike="noStrike">
                <a:solidFill>
                  <a:srgbClr val="292929"/>
                </a:solidFill>
                <a:latin typeface="Arial"/>
                <a:ea typeface="Arial"/>
                <a:cs typeface="Arial"/>
                <a:sym typeface="Arial"/>
              </a:rPr>
              <a:t>No incluir variables que revelen directamente la respuesta o que solo estén                                                                            	disponibles después del evento.</a:t>
            </a:r>
            <a:endParaRPr b="0" i="0" sz="1400" u="none" cap="none" strike="noStrike">
              <a:solidFill>
                <a:srgbClr val="000000"/>
              </a:solidFill>
              <a:latin typeface="Arial"/>
              <a:ea typeface="Arial"/>
              <a:cs typeface="Arial"/>
              <a:sym typeface="Arial"/>
            </a:endParaRPr>
          </a:p>
          <a:p>
            <a:pPr indent="-149860" lvl="0" marL="161925" marR="320675" rtl="0" algn="l">
              <a:lnSpc>
                <a:spcPct val="100000"/>
              </a:lnSpc>
              <a:spcBef>
                <a:spcPts val="345"/>
              </a:spcBef>
              <a:spcAft>
                <a:spcPts val="0"/>
              </a:spcAft>
              <a:buClr>
                <a:srgbClr val="292929"/>
              </a:buClr>
              <a:buSzPts val="1400"/>
              <a:buFont typeface="Times New Roman"/>
              <a:buChar char="•"/>
            </a:pPr>
            <a:r>
              <a:rPr b="0" i="0" lang="en-US" sz="1400" u="none" cap="none" strike="noStrike">
                <a:solidFill>
                  <a:srgbClr val="292929"/>
                </a:solidFill>
                <a:latin typeface="Arial"/>
                <a:ea typeface="Arial"/>
                <a:cs typeface="Arial"/>
                <a:sym typeface="Arial"/>
              </a:rPr>
              <a:t>La inclusión de variables contaminadas genera </a:t>
            </a:r>
            <a:r>
              <a:rPr b="1" i="0" lang="en-US" sz="1400" u="none" cap="none" strike="noStrike">
                <a:solidFill>
                  <a:srgbClr val="F2620F"/>
                </a:solidFill>
                <a:latin typeface="Arial"/>
                <a:ea typeface="Arial"/>
                <a:cs typeface="Arial"/>
                <a:sym typeface="Arial"/>
              </a:rPr>
              <a:t>fuga de información </a:t>
            </a:r>
            <a:r>
              <a:rPr b="0" i="0" lang="en-US" sz="1400" u="none" cap="none" strike="noStrike">
                <a:solidFill>
                  <a:srgbClr val="292929"/>
                </a:solidFill>
                <a:latin typeface="Arial"/>
                <a:ea typeface="Arial"/>
                <a:cs typeface="Arial"/>
                <a:sym typeface="Arial"/>
              </a:rPr>
              <a:t>y resultados artiﬁcialmente inflados.</a:t>
            </a:r>
            <a:endParaRPr b="0" i="0" sz="1400" u="none" cap="none" strike="noStrike">
              <a:solidFill>
                <a:srgbClr val="000000"/>
              </a:solidFill>
              <a:latin typeface="Arial"/>
              <a:ea typeface="Arial"/>
              <a:cs typeface="Arial"/>
              <a:sym typeface="Arial"/>
            </a:endParaRPr>
          </a:p>
        </p:txBody>
      </p:sp>
      <p:sp>
        <p:nvSpPr>
          <p:cNvPr descr="$PPTXTitle" id="775" name="Google Shape;775;p30"/>
          <p:cNvSpPr txBox="1"/>
          <p:nvPr>
            <p:ph type="title"/>
          </p:nvPr>
        </p:nvSpPr>
        <p:spPr>
          <a:xfrm>
            <a:off x="3033923" y="1568844"/>
            <a:ext cx="6292850" cy="1768433"/>
          </a:xfrm>
          <a:prstGeom prst="rect">
            <a:avLst/>
          </a:prstGeom>
          <a:noFill/>
          <a:ln>
            <a:noFill/>
          </a:ln>
        </p:spPr>
        <p:txBody>
          <a:bodyPr anchorCtr="0" anchor="t" bIns="0" lIns="0" spcFirstLastPara="1" rIns="0" wrap="square" tIns="100325">
            <a:spAutoFit/>
          </a:bodyPr>
          <a:lstStyle/>
          <a:p>
            <a:pPr indent="0" lvl="0" marL="12700" marR="5080" rtl="0" algn="l">
              <a:lnSpc>
                <a:spcPct val="109830"/>
              </a:lnSpc>
              <a:spcBef>
                <a:spcPts val="0"/>
              </a:spcBef>
              <a:spcAft>
                <a:spcPts val="0"/>
              </a:spcAft>
              <a:buSzPts val="1400"/>
              <a:buNone/>
            </a:pPr>
            <a:r>
              <a:rPr lang="en-US" sz="5900"/>
              <a:t>Errores frecuentes      y cómo evitarlos</a:t>
            </a:r>
            <a:endParaRPr sz="5900"/>
          </a:p>
        </p:txBody>
      </p:sp>
      <p:pic>
        <p:nvPicPr>
          <p:cNvPr id="776" name="Google Shape;776;p30"/>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777" name="Google Shape;777;p30"/>
          <p:cNvGrpSpPr/>
          <p:nvPr/>
        </p:nvGrpSpPr>
        <p:grpSpPr>
          <a:xfrm>
            <a:off x="989622" y="1689068"/>
            <a:ext cx="845819" cy="846042"/>
            <a:chOff x="989622" y="1689068"/>
            <a:chExt cx="845819" cy="846042"/>
          </a:xfrm>
        </p:grpSpPr>
        <p:sp>
          <p:nvSpPr>
            <p:cNvPr id="778" name="Google Shape;778;p30"/>
            <p:cNvSpPr/>
            <p:nvPr/>
          </p:nvSpPr>
          <p:spPr>
            <a:xfrm>
              <a:off x="989624" y="1689088"/>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9" name="Google Shape;779;p30"/>
            <p:cNvSpPr/>
            <p:nvPr/>
          </p:nvSpPr>
          <p:spPr>
            <a:xfrm>
              <a:off x="1287840" y="1689068"/>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0" name="Google Shape;780;p30"/>
            <p:cNvSpPr/>
            <p:nvPr/>
          </p:nvSpPr>
          <p:spPr>
            <a:xfrm>
              <a:off x="989622" y="1839785"/>
              <a:ext cx="845819" cy="695325"/>
            </a:xfrm>
            <a:custGeom>
              <a:rect b="b" l="l" r="r" t="t"/>
              <a:pathLst>
                <a:path extrusionOk="0" h="695325" w="845819">
                  <a:moveTo>
                    <a:pt x="845527" y="518782"/>
                  </a:moveTo>
                  <a:lnTo>
                    <a:pt x="839520" y="473151"/>
                  </a:lnTo>
                  <a:lnTo>
                    <a:pt x="821905" y="430618"/>
                  </a:lnTo>
                  <a:lnTo>
                    <a:pt x="793877" y="394106"/>
                  </a:lnTo>
                  <a:lnTo>
                    <a:pt x="671855" y="272084"/>
                  </a:lnTo>
                  <a:lnTo>
                    <a:pt x="422757" y="22987"/>
                  </a:lnTo>
                  <a:lnTo>
                    <a:pt x="399770" y="0"/>
                  </a:lnTo>
                  <a:lnTo>
                    <a:pt x="150685" y="249085"/>
                  </a:lnTo>
                  <a:lnTo>
                    <a:pt x="173672" y="272084"/>
                  </a:lnTo>
                  <a:lnTo>
                    <a:pt x="51650" y="394106"/>
                  </a:lnTo>
                  <a:lnTo>
                    <a:pt x="23622" y="430618"/>
                  </a:lnTo>
                  <a:lnTo>
                    <a:pt x="6007" y="473151"/>
                  </a:lnTo>
                  <a:lnTo>
                    <a:pt x="0" y="518782"/>
                  </a:lnTo>
                  <a:lnTo>
                    <a:pt x="368" y="530326"/>
                  </a:lnTo>
                  <a:lnTo>
                    <a:pt x="9347" y="575475"/>
                  </a:lnTo>
                  <a:lnTo>
                    <a:pt x="29718" y="616750"/>
                  </a:lnTo>
                  <a:lnTo>
                    <a:pt x="59855" y="651141"/>
                  </a:lnTo>
                  <a:lnTo>
                    <a:pt x="98069" y="676656"/>
                  </a:lnTo>
                  <a:lnTo>
                    <a:pt x="141655" y="691464"/>
                  </a:lnTo>
                  <a:lnTo>
                    <a:pt x="176060" y="694842"/>
                  </a:lnTo>
                  <a:lnTo>
                    <a:pt x="187591" y="694461"/>
                  </a:lnTo>
                  <a:lnTo>
                    <a:pt x="232727" y="685482"/>
                  </a:lnTo>
                  <a:lnTo>
                    <a:pt x="274015" y="665124"/>
                  </a:lnTo>
                  <a:lnTo>
                    <a:pt x="422757" y="521169"/>
                  </a:lnTo>
                  <a:lnTo>
                    <a:pt x="544791" y="643191"/>
                  </a:lnTo>
                  <a:lnTo>
                    <a:pt x="581304" y="671220"/>
                  </a:lnTo>
                  <a:lnTo>
                    <a:pt x="623836" y="688835"/>
                  </a:lnTo>
                  <a:lnTo>
                    <a:pt x="669467" y="694842"/>
                  </a:lnTo>
                  <a:lnTo>
                    <a:pt x="680999" y="694461"/>
                  </a:lnTo>
                  <a:lnTo>
                    <a:pt x="726147" y="685482"/>
                  </a:lnTo>
                  <a:lnTo>
                    <a:pt x="767422" y="665124"/>
                  </a:lnTo>
                  <a:lnTo>
                    <a:pt x="801827" y="634974"/>
                  </a:lnTo>
                  <a:lnTo>
                    <a:pt x="827341" y="596760"/>
                  </a:lnTo>
                  <a:lnTo>
                    <a:pt x="842137" y="553173"/>
                  </a:lnTo>
                  <a:lnTo>
                    <a:pt x="845146" y="530326"/>
                  </a:lnTo>
                  <a:lnTo>
                    <a:pt x="845527"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81" name="Google Shape;781;p30"/>
          <p:cNvGrpSpPr/>
          <p:nvPr/>
        </p:nvGrpSpPr>
        <p:grpSpPr>
          <a:xfrm>
            <a:off x="0" y="1"/>
            <a:ext cx="14536419" cy="948701"/>
            <a:chOff x="0" y="1"/>
            <a:chExt cx="14536419" cy="948701"/>
          </a:xfrm>
        </p:grpSpPr>
        <p:sp>
          <p:nvSpPr>
            <p:cNvPr id="782" name="Google Shape;782;p30"/>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3" name="Google Shape;783;p30"/>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4" name="Google Shape;784;p30"/>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85" name="Google Shape;785;p30"/>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6" name="Google Shape;786;p30"/>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p>
            <a:pPr indent="0" lvl="0" marL="38100" rtl="0" algn="l">
              <a:lnSpc>
                <a:spcPct val="117884"/>
              </a:lnSpc>
              <a:spcBef>
                <a:spcPts val="0"/>
              </a:spcBef>
              <a:spcAft>
                <a:spcPts val="0"/>
              </a:spcAft>
              <a:buSzPts val="2600"/>
              <a:buNone/>
            </a:pPr>
            <a:fld id="{00000000-1234-1234-1234-123412341234}" type="slidenum">
              <a:rPr lang="en-US"/>
              <a:t>‹#›</a:t>
            </a:fld>
            <a:r>
              <a:rPr lang="en-US"/>
              <a:t>.</a:t>
            </a:r>
            <a:endParaRPr/>
          </a:p>
        </p:txBody>
      </p:sp>
      <p:sp>
        <p:nvSpPr>
          <p:cNvPr id="787" name="Google Shape;787;p30"/>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788" name="Google Shape;788;p30"/>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31"/>
          <p:cNvSpPr txBox="1"/>
          <p:nvPr/>
        </p:nvSpPr>
        <p:spPr>
          <a:xfrm>
            <a:off x="3033886" y="4014003"/>
            <a:ext cx="6206490" cy="502602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50"/>
              <a:buFont typeface="Arial"/>
              <a:buNone/>
            </a:pPr>
            <a:r>
              <a:rPr b="1" i="0" lang="en-US" sz="2250" u="none" cap="none" strike="noStrike">
                <a:solidFill>
                  <a:srgbClr val="292929"/>
                </a:solidFill>
                <a:latin typeface="Arial"/>
                <a:ea typeface="Arial"/>
                <a:cs typeface="Arial"/>
                <a:sym typeface="Arial"/>
              </a:rPr>
              <a:t>Estructura clara para la entrega</a:t>
            </a:r>
            <a:endParaRPr b="0" i="0" sz="2250" u="none" cap="none" strike="noStrike">
              <a:solidFill>
                <a:srgbClr val="000000"/>
              </a:solidFill>
              <a:latin typeface="Arial"/>
              <a:ea typeface="Arial"/>
              <a:cs typeface="Arial"/>
              <a:sym typeface="Arial"/>
            </a:endParaRPr>
          </a:p>
          <a:p>
            <a:pPr indent="-186690" lvl="0" marL="199390" marR="0" rtl="0" algn="l">
              <a:lnSpc>
                <a:spcPct val="100000"/>
              </a:lnSpc>
              <a:spcBef>
                <a:spcPts val="1664"/>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Presenta el modelo como una solución a un problema de</a:t>
            </a:r>
            <a:endParaRPr b="0" i="0" sz="1700" u="none" cap="none" strike="noStrike">
              <a:solidFill>
                <a:srgbClr val="000000"/>
              </a:solidFill>
              <a:latin typeface="Arial"/>
              <a:ea typeface="Arial"/>
              <a:cs typeface="Arial"/>
              <a:sym typeface="Arial"/>
            </a:endParaRPr>
          </a:p>
          <a:p>
            <a:pPr indent="0" lvl="0" marL="199390" marR="0" rtl="0" algn="l">
              <a:lnSpc>
                <a:spcPct val="100000"/>
              </a:lnSpc>
              <a:spcBef>
                <a:spcPts val="40"/>
              </a:spcBef>
              <a:spcAft>
                <a:spcPts val="0"/>
              </a:spcAft>
              <a:buClr>
                <a:srgbClr val="000000"/>
              </a:buClr>
              <a:buSzPts val="1700"/>
              <a:buFont typeface="Arial"/>
              <a:buNone/>
            </a:pPr>
            <a:r>
              <a:rPr b="1" i="0" lang="en-US" sz="1700" u="none" cap="none" strike="noStrike">
                <a:solidFill>
                  <a:srgbClr val="F2620F"/>
                </a:solidFill>
                <a:latin typeface="Arial"/>
                <a:ea typeface="Arial"/>
                <a:cs typeface="Arial"/>
                <a:sym typeface="Arial"/>
              </a:rPr>
              <a:t>clasiﬁcación binaria</a:t>
            </a:r>
            <a:r>
              <a:rPr b="0" i="0" lang="en-US" sz="1700" u="none" cap="none" strike="noStrike">
                <a:solidFill>
                  <a:srgbClr val="292929"/>
                </a:solidFill>
                <a:latin typeface="Arial"/>
                <a:ea typeface="Arial"/>
                <a:cs typeface="Arial"/>
                <a:sym typeface="Arial"/>
              </a:rPr>
              <a:t>.</a:t>
            </a:r>
            <a:endParaRPr b="0" i="0" sz="1700" u="none" cap="none" strike="noStrike">
              <a:solidFill>
                <a:srgbClr val="000000"/>
              </a:solidFill>
              <a:latin typeface="Arial"/>
              <a:ea typeface="Arial"/>
              <a:cs typeface="Arial"/>
              <a:sym typeface="Arial"/>
            </a:endParaRPr>
          </a:p>
          <a:p>
            <a:pPr indent="-187325" lvl="0" marL="199390" marR="216535" rtl="0" algn="l">
              <a:lnSpc>
                <a:spcPct val="101899"/>
              </a:lnSpc>
              <a:spcBef>
                <a:spcPts val="430"/>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Deﬁne explícitamente la </a:t>
            </a:r>
            <a:r>
              <a:rPr b="1" i="0" lang="en-US" sz="1700" u="none" cap="none" strike="noStrike">
                <a:solidFill>
                  <a:srgbClr val="F2620F"/>
                </a:solidFill>
                <a:latin typeface="Arial"/>
                <a:ea typeface="Arial"/>
                <a:cs typeface="Arial"/>
                <a:sym typeface="Arial"/>
              </a:rPr>
              <a:t>etiqueta positiva </a:t>
            </a:r>
            <a:r>
              <a:rPr b="0" i="0" lang="en-US" sz="1700" u="none" cap="none" strike="noStrike">
                <a:solidFill>
                  <a:srgbClr val="292929"/>
                </a:solidFill>
                <a:latin typeface="Arial"/>
                <a:ea typeface="Arial"/>
                <a:cs typeface="Arial"/>
                <a:sym typeface="Arial"/>
              </a:rPr>
              <a:t>y las variables                                                                        predictoras utilizadas.</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330"/>
              </a:spcBef>
              <a:spcAft>
                <a:spcPts val="0"/>
              </a:spcAft>
              <a:buClr>
                <a:srgbClr val="292929"/>
              </a:buClr>
              <a:buSzPts val="1700"/>
              <a:buFont typeface="Times New Roman"/>
              <a:buNone/>
            </a:pPr>
            <a:r>
              <a:t/>
            </a:r>
            <a:endParaRPr b="0" i="0" sz="17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250"/>
              <a:buFont typeface="Arial"/>
              <a:buNone/>
            </a:pPr>
            <a:r>
              <a:rPr b="1" i="0" lang="en-US" sz="2250" u="none" cap="none" strike="noStrike">
                <a:solidFill>
                  <a:srgbClr val="292929"/>
                </a:solidFill>
                <a:latin typeface="Arial"/>
                <a:ea typeface="Arial"/>
                <a:cs typeface="Arial"/>
                <a:sym typeface="Arial"/>
              </a:rPr>
              <a:t>Justiﬁcación de métricas y umbrales</a:t>
            </a:r>
            <a:endParaRPr b="0" i="0" sz="2250" u="none" cap="none" strike="noStrike">
              <a:solidFill>
                <a:srgbClr val="000000"/>
              </a:solidFill>
              <a:latin typeface="Arial"/>
              <a:ea typeface="Arial"/>
              <a:cs typeface="Arial"/>
              <a:sym typeface="Arial"/>
            </a:endParaRPr>
          </a:p>
          <a:p>
            <a:pPr indent="-187325" lvl="0" marL="199390" marR="5080" rtl="0" algn="l">
              <a:lnSpc>
                <a:spcPct val="101899"/>
              </a:lnSpc>
              <a:spcBef>
                <a:spcPts val="1620"/>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Explica por qué se seleccionaron métricas como </a:t>
            </a:r>
            <a:r>
              <a:rPr b="1" i="0" lang="en-US" sz="1700" u="none" cap="none" strike="noStrike">
                <a:solidFill>
                  <a:srgbClr val="F2620F"/>
                </a:solidFill>
                <a:latin typeface="Arial"/>
                <a:ea typeface="Arial"/>
                <a:cs typeface="Arial"/>
                <a:sym typeface="Arial"/>
              </a:rPr>
              <a:t>precision</a:t>
            </a:r>
            <a:r>
              <a:rPr b="0" i="0" lang="en-US" sz="1700" u="none" cap="none" strike="noStrike">
                <a:solidFill>
                  <a:srgbClr val="292929"/>
                </a:solidFill>
                <a:latin typeface="Arial"/>
                <a:ea typeface="Arial"/>
                <a:cs typeface="Arial"/>
                <a:sym typeface="Arial"/>
              </a:rPr>
              <a:t>, </a:t>
            </a:r>
            <a:r>
              <a:rPr b="1" i="0" lang="en-US" sz="1700" u="none" cap="none" strike="noStrike">
                <a:solidFill>
                  <a:srgbClr val="F2620F"/>
                </a:solidFill>
                <a:latin typeface="Arial"/>
                <a:ea typeface="Arial"/>
                <a:cs typeface="Arial"/>
                <a:sym typeface="Arial"/>
              </a:rPr>
              <a:t>recall</a:t>
            </a:r>
            <a:r>
              <a:rPr b="0" i="0" lang="en-US" sz="1700" u="none" cap="none" strike="noStrike">
                <a:solidFill>
                  <a:srgbClr val="292929"/>
                </a:solidFill>
                <a:latin typeface="Arial"/>
                <a:ea typeface="Arial"/>
                <a:cs typeface="Arial"/>
                <a:sym typeface="Arial"/>
              </a:rPr>
              <a:t>, </a:t>
            </a:r>
            <a:r>
              <a:rPr b="1" i="0" lang="en-US" sz="1700" u="none" cap="none" strike="noStrike">
                <a:solidFill>
                  <a:srgbClr val="F2620F"/>
                </a:solidFill>
                <a:latin typeface="Arial"/>
                <a:ea typeface="Arial"/>
                <a:cs typeface="Arial"/>
                <a:sym typeface="Arial"/>
              </a:rPr>
              <a:t>F1-score </a:t>
            </a:r>
            <a:r>
              <a:rPr b="0" i="0" lang="en-US" sz="1700" u="none" cap="none" strike="noStrike">
                <a:solidFill>
                  <a:srgbClr val="292929"/>
                </a:solidFill>
                <a:latin typeface="Arial"/>
                <a:ea typeface="Arial"/>
                <a:cs typeface="Arial"/>
                <a:sym typeface="Arial"/>
              </a:rPr>
              <a:t>y </a:t>
            </a:r>
            <a:r>
              <a:rPr b="1" i="0" lang="en-US" sz="1700" u="none" cap="none" strike="noStrike">
                <a:solidFill>
                  <a:srgbClr val="F2620F"/>
                </a:solidFill>
                <a:latin typeface="Arial"/>
                <a:ea typeface="Arial"/>
                <a:cs typeface="Arial"/>
                <a:sym typeface="Arial"/>
              </a:rPr>
              <a:t>ROC-AUC</a:t>
            </a:r>
            <a:r>
              <a:rPr b="0" i="0" lang="en-US" sz="1700" u="none" cap="none" strike="noStrike">
                <a:solidFill>
                  <a:srgbClr val="292929"/>
                </a:solidFill>
                <a:latin typeface="Arial"/>
                <a:ea typeface="Arial"/>
                <a:cs typeface="Arial"/>
                <a:sym typeface="Arial"/>
              </a:rPr>
              <a:t>.</a:t>
            </a:r>
            <a:endParaRPr b="0" i="0" sz="1700" u="none" cap="none" strike="noStrike">
              <a:solidFill>
                <a:srgbClr val="000000"/>
              </a:solidFill>
              <a:latin typeface="Arial"/>
              <a:ea typeface="Arial"/>
              <a:cs typeface="Arial"/>
              <a:sym typeface="Arial"/>
            </a:endParaRPr>
          </a:p>
          <a:p>
            <a:pPr indent="-187325" lvl="0" marL="199390" marR="401955" rtl="0" algn="l">
              <a:lnSpc>
                <a:spcPct val="101899"/>
              </a:lnSpc>
              <a:spcBef>
                <a:spcPts val="434"/>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Detalla el </a:t>
            </a:r>
            <a:r>
              <a:rPr b="1" i="0" lang="en-US" sz="1700" u="none" cap="none" strike="noStrike">
                <a:solidFill>
                  <a:srgbClr val="F2620F"/>
                </a:solidFill>
                <a:latin typeface="Arial"/>
                <a:ea typeface="Arial"/>
                <a:cs typeface="Arial"/>
                <a:sym typeface="Arial"/>
              </a:rPr>
              <a:t>umbral de decisión </a:t>
            </a:r>
            <a:r>
              <a:rPr b="0" i="0" lang="en-US" sz="1700" u="none" cap="none" strike="noStrike">
                <a:solidFill>
                  <a:srgbClr val="292929"/>
                </a:solidFill>
                <a:latin typeface="Arial"/>
                <a:ea typeface="Arial"/>
                <a:cs typeface="Arial"/>
                <a:sym typeface="Arial"/>
              </a:rPr>
              <a:t>usado y cómo afecta los                                                                     resultados del modelo.</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325"/>
              </a:spcBef>
              <a:spcAft>
                <a:spcPts val="0"/>
              </a:spcAft>
              <a:buClr>
                <a:srgbClr val="292929"/>
              </a:buClr>
              <a:buSzPts val="1700"/>
              <a:buFont typeface="Times New Roman"/>
              <a:buNone/>
            </a:pPr>
            <a:r>
              <a:t/>
            </a:r>
            <a:endParaRPr b="0" i="0" sz="1700" u="none" cap="none" strike="noStrike">
              <a:solidFill>
                <a:srgbClr val="000000"/>
              </a:solidFill>
              <a:latin typeface="Arial"/>
              <a:ea typeface="Arial"/>
              <a:cs typeface="Arial"/>
              <a:sym typeface="Arial"/>
            </a:endParaRPr>
          </a:p>
          <a:p>
            <a:pPr indent="0" lvl="0" marL="12700" marR="0" rtl="0" algn="l">
              <a:lnSpc>
                <a:spcPct val="100000"/>
              </a:lnSpc>
              <a:spcBef>
                <a:spcPts val="5"/>
              </a:spcBef>
              <a:spcAft>
                <a:spcPts val="0"/>
              </a:spcAft>
              <a:buClr>
                <a:srgbClr val="000000"/>
              </a:buClr>
              <a:buSzPts val="2250"/>
              <a:buFont typeface="Arial"/>
              <a:buNone/>
            </a:pPr>
            <a:r>
              <a:rPr b="1" i="0" lang="en-US" sz="2250" u="none" cap="none" strike="noStrike">
                <a:solidFill>
                  <a:srgbClr val="292929"/>
                </a:solidFill>
                <a:latin typeface="Arial"/>
                <a:ea typeface="Arial"/>
                <a:cs typeface="Arial"/>
                <a:sym typeface="Arial"/>
              </a:rPr>
              <a:t>Interpretación y limitaciones</a:t>
            </a:r>
            <a:endParaRPr b="0" i="0" sz="2250" u="none" cap="none" strike="noStrike">
              <a:solidFill>
                <a:srgbClr val="000000"/>
              </a:solidFill>
              <a:latin typeface="Arial"/>
              <a:ea typeface="Arial"/>
              <a:cs typeface="Arial"/>
              <a:sym typeface="Arial"/>
            </a:endParaRPr>
          </a:p>
          <a:p>
            <a:pPr indent="-186690" lvl="0" marL="199390" marR="0" rtl="0" algn="l">
              <a:lnSpc>
                <a:spcPct val="100000"/>
              </a:lnSpc>
              <a:spcBef>
                <a:spcPts val="1660"/>
              </a:spcBef>
              <a:spcAft>
                <a:spcPts val="0"/>
              </a:spcAft>
              <a:buClr>
                <a:srgbClr val="292929"/>
              </a:buClr>
              <a:buSzPts val="1700"/>
              <a:buFont typeface="Times New Roman"/>
              <a:buChar char="•"/>
            </a:pPr>
            <a:r>
              <a:rPr b="0" i="0" lang="en-US" sz="1700" u="none" cap="none" strike="noStrike">
                <a:solidFill>
                  <a:srgbClr val="292929"/>
                </a:solidFill>
                <a:latin typeface="Arial"/>
                <a:ea typeface="Arial"/>
                <a:cs typeface="Arial"/>
                <a:sym typeface="Arial"/>
              </a:rPr>
              <a:t>Incluye una interpretación de los resultados y las posibles</a:t>
            </a:r>
            <a:endParaRPr b="0" i="0" sz="1700" u="none" cap="none" strike="noStrike">
              <a:solidFill>
                <a:srgbClr val="000000"/>
              </a:solidFill>
              <a:latin typeface="Arial"/>
              <a:ea typeface="Arial"/>
              <a:cs typeface="Arial"/>
              <a:sym typeface="Arial"/>
            </a:endParaRPr>
          </a:p>
          <a:p>
            <a:pPr indent="0" lvl="0" marL="199390" marR="0" rtl="0" algn="l">
              <a:lnSpc>
                <a:spcPct val="100000"/>
              </a:lnSpc>
              <a:spcBef>
                <a:spcPts val="40"/>
              </a:spcBef>
              <a:spcAft>
                <a:spcPts val="0"/>
              </a:spcAft>
              <a:buClr>
                <a:srgbClr val="000000"/>
              </a:buClr>
              <a:buSzPts val="1700"/>
              <a:buFont typeface="Arial"/>
              <a:buNone/>
            </a:pPr>
            <a:r>
              <a:rPr b="1" i="0" lang="en-US" sz="1700" u="none" cap="none" strike="noStrike">
                <a:solidFill>
                  <a:srgbClr val="F2620F"/>
                </a:solidFill>
                <a:latin typeface="Arial"/>
                <a:ea typeface="Arial"/>
                <a:cs typeface="Arial"/>
                <a:sym typeface="Arial"/>
              </a:rPr>
              <a:t>limitaciones </a:t>
            </a:r>
            <a:r>
              <a:rPr b="0" i="0" lang="en-US" sz="1700" u="none" cap="none" strike="noStrike">
                <a:solidFill>
                  <a:srgbClr val="292929"/>
                </a:solidFill>
                <a:latin typeface="Arial"/>
                <a:ea typeface="Arial"/>
                <a:cs typeface="Arial"/>
                <a:sym typeface="Arial"/>
              </a:rPr>
              <a:t>del modelo.</a:t>
            </a:r>
            <a:endParaRPr b="0" i="0" sz="1700" u="none" cap="none" strike="noStrike">
              <a:solidFill>
                <a:srgbClr val="000000"/>
              </a:solidFill>
              <a:latin typeface="Arial"/>
              <a:ea typeface="Arial"/>
              <a:cs typeface="Arial"/>
              <a:sym typeface="Arial"/>
            </a:endParaRPr>
          </a:p>
        </p:txBody>
      </p:sp>
      <p:sp>
        <p:nvSpPr>
          <p:cNvPr descr="$PPTXTitle" id="794" name="Google Shape;794;p31"/>
          <p:cNvSpPr txBox="1"/>
          <p:nvPr>
            <p:ph type="title"/>
          </p:nvPr>
        </p:nvSpPr>
        <p:spPr>
          <a:xfrm>
            <a:off x="3033923" y="1566974"/>
            <a:ext cx="6287135" cy="1794081"/>
          </a:xfrm>
          <a:prstGeom prst="rect">
            <a:avLst/>
          </a:prstGeom>
          <a:noFill/>
          <a:ln>
            <a:noFill/>
          </a:ln>
        </p:spPr>
        <p:txBody>
          <a:bodyPr anchorCtr="0" anchor="t" bIns="0" lIns="0" spcFirstLastPara="1" rIns="0" wrap="square" tIns="100325">
            <a:spAutoFit/>
          </a:bodyPr>
          <a:lstStyle/>
          <a:p>
            <a:pPr indent="0" lvl="0" marL="12700" marR="5080" rtl="0" algn="l">
              <a:lnSpc>
                <a:spcPct val="110756"/>
              </a:lnSpc>
              <a:spcBef>
                <a:spcPts val="0"/>
              </a:spcBef>
              <a:spcAft>
                <a:spcPts val="0"/>
              </a:spcAft>
              <a:buSzPts val="1400"/>
              <a:buNone/>
            </a:pPr>
            <a:r>
              <a:rPr lang="en-US" sz="5950"/>
              <a:t>Guía para explicar el modelo</a:t>
            </a:r>
            <a:endParaRPr sz="5950"/>
          </a:p>
        </p:txBody>
      </p:sp>
      <p:pic>
        <p:nvPicPr>
          <p:cNvPr id="795" name="Google Shape;795;p31"/>
          <p:cNvPicPr preferRelativeResize="0"/>
          <p:nvPr/>
        </p:nvPicPr>
        <p:blipFill rotWithShape="1">
          <a:blip r:embed="rId3">
            <a:alphaModFix/>
          </a:blip>
          <a:srcRect b="0" l="0" r="0" t="0"/>
          <a:stretch/>
        </p:blipFill>
        <p:spPr>
          <a:xfrm>
            <a:off x="9958527" y="2433269"/>
            <a:ext cx="7399807" cy="4927600"/>
          </a:xfrm>
          <a:prstGeom prst="rect">
            <a:avLst/>
          </a:prstGeom>
          <a:noFill/>
          <a:ln>
            <a:noFill/>
          </a:ln>
        </p:spPr>
      </p:pic>
      <p:grpSp>
        <p:nvGrpSpPr>
          <p:cNvPr id="796" name="Google Shape;796;p31"/>
          <p:cNvGrpSpPr/>
          <p:nvPr/>
        </p:nvGrpSpPr>
        <p:grpSpPr>
          <a:xfrm>
            <a:off x="989609" y="1689068"/>
            <a:ext cx="845819" cy="846029"/>
            <a:chOff x="989609" y="1689068"/>
            <a:chExt cx="845819" cy="846029"/>
          </a:xfrm>
        </p:grpSpPr>
        <p:sp>
          <p:nvSpPr>
            <p:cNvPr id="797" name="Google Shape;797;p31"/>
            <p:cNvSpPr/>
            <p:nvPr/>
          </p:nvSpPr>
          <p:spPr>
            <a:xfrm>
              <a:off x="989629" y="1689074"/>
              <a:ext cx="547370" cy="547370"/>
            </a:xfrm>
            <a:custGeom>
              <a:rect b="b" l="l" r="r" t="t"/>
              <a:pathLst>
                <a:path extrusionOk="0" h="547369" w="547369">
                  <a:moveTo>
                    <a:pt x="176060" y="0"/>
                  </a:moveTo>
                  <a:lnTo>
                    <a:pt x="130416" y="6007"/>
                  </a:lnTo>
                  <a:lnTo>
                    <a:pt x="87896" y="23622"/>
                  </a:lnTo>
                  <a:lnTo>
                    <a:pt x="51511" y="51511"/>
                  </a:lnTo>
                  <a:lnTo>
                    <a:pt x="23621" y="87896"/>
                  </a:lnTo>
                  <a:lnTo>
                    <a:pt x="6007" y="130416"/>
                  </a:lnTo>
                  <a:lnTo>
                    <a:pt x="0" y="176060"/>
                  </a:lnTo>
                  <a:lnTo>
                    <a:pt x="377" y="187595"/>
                  </a:lnTo>
                  <a:lnTo>
                    <a:pt x="9359" y="232739"/>
                  </a:lnTo>
                  <a:lnTo>
                    <a:pt x="29721" y="274027"/>
                  </a:lnTo>
                  <a:lnTo>
                    <a:pt x="298208" y="547306"/>
                  </a:lnTo>
                  <a:lnTo>
                    <a:pt x="547306" y="298208"/>
                  </a:lnTo>
                  <a:lnTo>
                    <a:pt x="300735" y="51650"/>
                  </a:lnTo>
                  <a:lnTo>
                    <a:pt x="264223" y="23622"/>
                  </a:lnTo>
                  <a:lnTo>
                    <a:pt x="221691" y="6007"/>
                  </a:lnTo>
                  <a:lnTo>
                    <a:pt x="176060"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8" name="Google Shape;798;p31"/>
            <p:cNvSpPr/>
            <p:nvPr/>
          </p:nvSpPr>
          <p:spPr>
            <a:xfrm>
              <a:off x="1287833" y="1689068"/>
              <a:ext cx="547370" cy="547370"/>
            </a:xfrm>
            <a:custGeom>
              <a:rect b="b" l="l" r="r" t="t"/>
              <a:pathLst>
                <a:path extrusionOk="0" h="547369" w="547369">
                  <a:moveTo>
                    <a:pt x="371246" y="0"/>
                  </a:moveTo>
                  <a:lnTo>
                    <a:pt x="325615" y="6007"/>
                  </a:lnTo>
                  <a:lnTo>
                    <a:pt x="283083" y="23622"/>
                  </a:lnTo>
                  <a:lnTo>
                    <a:pt x="246570" y="51650"/>
                  </a:lnTo>
                  <a:lnTo>
                    <a:pt x="0" y="298208"/>
                  </a:lnTo>
                  <a:lnTo>
                    <a:pt x="249097" y="547306"/>
                  </a:lnTo>
                  <a:lnTo>
                    <a:pt x="495655" y="300736"/>
                  </a:lnTo>
                  <a:lnTo>
                    <a:pt x="523684" y="264223"/>
                  </a:lnTo>
                  <a:lnTo>
                    <a:pt x="541299" y="221691"/>
                  </a:lnTo>
                  <a:lnTo>
                    <a:pt x="547306" y="176060"/>
                  </a:lnTo>
                  <a:lnTo>
                    <a:pt x="546928" y="164516"/>
                  </a:lnTo>
                  <a:lnTo>
                    <a:pt x="537946" y="119368"/>
                  </a:lnTo>
                  <a:lnTo>
                    <a:pt x="517587" y="78093"/>
                  </a:lnTo>
                  <a:lnTo>
                    <a:pt x="487449" y="43699"/>
                  </a:lnTo>
                  <a:lnTo>
                    <a:pt x="449233" y="18183"/>
                  </a:lnTo>
                  <a:lnTo>
                    <a:pt x="405647" y="3386"/>
                  </a:lnTo>
                  <a:lnTo>
                    <a:pt x="37124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9" name="Google Shape;799;p31"/>
            <p:cNvSpPr/>
            <p:nvPr/>
          </p:nvSpPr>
          <p:spPr>
            <a:xfrm>
              <a:off x="989609" y="1839772"/>
              <a:ext cx="845819" cy="695325"/>
            </a:xfrm>
            <a:custGeom>
              <a:rect b="b" l="l" r="r" t="t"/>
              <a:pathLst>
                <a:path extrusionOk="0" h="695325" w="845819">
                  <a:moveTo>
                    <a:pt x="845553" y="518782"/>
                  </a:moveTo>
                  <a:lnTo>
                    <a:pt x="839546" y="473151"/>
                  </a:lnTo>
                  <a:lnTo>
                    <a:pt x="821931" y="430618"/>
                  </a:lnTo>
                  <a:lnTo>
                    <a:pt x="793902" y="394106"/>
                  </a:lnTo>
                  <a:lnTo>
                    <a:pt x="399796" y="0"/>
                  </a:lnTo>
                  <a:lnTo>
                    <a:pt x="150710" y="249085"/>
                  </a:lnTo>
                  <a:lnTo>
                    <a:pt x="173685" y="272072"/>
                  </a:lnTo>
                  <a:lnTo>
                    <a:pt x="51650" y="394119"/>
                  </a:lnTo>
                  <a:lnTo>
                    <a:pt x="23622" y="430631"/>
                  </a:lnTo>
                  <a:lnTo>
                    <a:pt x="6007" y="473163"/>
                  </a:lnTo>
                  <a:lnTo>
                    <a:pt x="0" y="518795"/>
                  </a:lnTo>
                  <a:lnTo>
                    <a:pt x="381" y="530339"/>
                  </a:lnTo>
                  <a:lnTo>
                    <a:pt x="9359" y="575487"/>
                  </a:lnTo>
                  <a:lnTo>
                    <a:pt x="29718" y="616762"/>
                  </a:lnTo>
                  <a:lnTo>
                    <a:pt x="59855" y="651154"/>
                  </a:lnTo>
                  <a:lnTo>
                    <a:pt x="98069" y="676668"/>
                  </a:lnTo>
                  <a:lnTo>
                    <a:pt x="141655" y="691476"/>
                  </a:lnTo>
                  <a:lnTo>
                    <a:pt x="176060" y="694855"/>
                  </a:lnTo>
                  <a:lnTo>
                    <a:pt x="187591" y="694474"/>
                  </a:lnTo>
                  <a:lnTo>
                    <a:pt x="232740" y="685495"/>
                  </a:lnTo>
                  <a:lnTo>
                    <a:pt x="274027" y="665137"/>
                  </a:lnTo>
                  <a:lnTo>
                    <a:pt x="422783" y="521169"/>
                  </a:lnTo>
                  <a:lnTo>
                    <a:pt x="544817" y="643191"/>
                  </a:lnTo>
                  <a:lnTo>
                    <a:pt x="581329" y="671220"/>
                  </a:lnTo>
                  <a:lnTo>
                    <a:pt x="623862" y="688835"/>
                  </a:lnTo>
                  <a:lnTo>
                    <a:pt x="669493" y="694842"/>
                  </a:lnTo>
                  <a:lnTo>
                    <a:pt x="681037" y="694474"/>
                  </a:lnTo>
                  <a:lnTo>
                    <a:pt x="726186" y="685495"/>
                  </a:lnTo>
                  <a:lnTo>
                    <a:pt x="767461" y="665124"/>
                  </a:lnTo>
                  <a:lnTo>
                    <a:pt x="801852" y="634987"/>
                  </a:lnTo>
                  <a:lnTo>
                    <a:pt x="827366" y="596773"/>
                  </a:lnTo>
                  <a:lnTo>
                    <a:pt x="842162" y="553186"/>
                  </a:lnTo>
                  <a:lnTo>
                    <a:pt x="845172" y="530326"/>
                  </a:lnTo>
                  <a:lnTo>
                    <a:pt x="845553" y="518782"/>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00" name="Google Shape;800;p31"/>
          <p:cNvGrpSpPr/>
          <p:nvPr/>
        </p:nvGrpSpPr>
        <p:grpSpPr>
          <a:xfrm>
            <a:off x="0" y="1"/>
            <a:ext cx="14536419" cy="948701"/>
            <a:chOff x="0" y="1"/>
            <a:chExt cx="14536419" cy="948701"/>
          </a:xfrm>
        </p:grpSpPr>
        <p:sp>
          <p:nvSpPr>
            <p:cNvPr id="801" name="Google Shape;801;p31"/>
            <p:cNvSpPr/>
            <p:nvPr/>
          </p:nvSpPr>
          <p:spPr>
            <a:xfrm>
              <a:off x="0" y="12"/>
              <a:ext cx="14536419" cy="948690"/>
            </a:xfrm>
            <a:custGeom>
              <a:rect b="b" l="l" r="r" t="t"/>
              <a:pathLst>
                <a:path extrusionOk="0" h="948690" w="14536419">
                  <a:moveTo>
                    <a:pt x="14536166" y="474192"/>
                  </a:moveTo>
                  <a:lnTo>
                    <a:pt x="14532039" y="412686"/>
                  </a:lnTo>
                  <a:lnTo>
                    <a:pt x="14519923" y="351853"/>
                  </a:lnTo>
                  <a:lnTo>
                    <a:pt x="14499971" y="293052"/>
                  </a:lnTo>
                  <a:lnTo>
                    <a:pt x="14472501" y="237363"/>
                  </a:lnTo>
                  <a:lnTo>
                    <a:pt x="14438008" y="185724"/>
                  </a:lnTo>
                  <a:lnTo>
                    <a:pt x="14397063" y="139039"/>
                  </a:lnTo>
                  <a:lnTo>
                    <a:pt x="14350378" y="98094"/>
                  </a:lnTo>
                  <a:lnTo>
                    <a:pt x="14298740" y="63601"/>
                  </a:lnTo>
                  <a:lnTo>
                    <a:pt x="14243050" y="36131"/>
                  </a:lnTo>
                  <a:lnTo>
                    <a:pt x="14184249" y="16179"/>
                  </a:lnTo>
                  <a:lnTo>
                    <a:pt x="14123353" y="4051"/>
                  </a:lnTo>
                  <a:lnTo>
                    <a:pt x="14061415" y="0"/>
                  </a:lnTo>
                  <a:lnTo>
                    <a:pt x="12650242" y="0"/>
                  </a:lnTo>
                  <a:lnTo>
                    <a:pt x="11239068" y="0"/>
                  </a:lnTo>
                  <a:lnTo>
                    <a:pt x="9827895" y="0"/>
                  </a:lnTo>
                  <a:lnTo>
                    <a:pt x="0" y="0"/>
                  </a:lnTo>
                  <a:lnTo>
                    <a:pt x="0" y="948385"/>
                  </a:lnTo>
                  <a:lnTo>
                    <a:pt x="9827831" y="948385"/>
                  </a:lnTo>
                  <a:lnTo>
                    <a:pt x="11239005" y="948385"/>
                  </a:lnTo>
                  <a:lnTo>
                    <a:pt x="12650178" y="948385"/>
                  </a:lnTo>
                  <a:lnTo>
                    <a:pt x="14061351" y="948385"/>
                  </a:lnTo>
                  <a:lnTo>
                    <a:pt x="14092454" y="947369"/>
                  </a:lnTo>
                  <a:lnTo>
                    <a:pt x="14153985" y="939266"/>
                  </a:lnTo>
                  <a:lnTo>
                    <a:pt x="14213993" y="923175"/>
                  </a:lnTo>
                  <a:lnTo>
                    <a:pt x="14271333" y="899426"/>
                  </a:lnTo>
                  <a:lnTo>
                    <a:pt x="14325143" y="868362"/>
                  </a:lnTo>
                  <a:lnTo>
                    <a:pt x="14374381" y="830592"/>
                  </a:lnTo>
                  <a:lnTo>
                    <a:pt x="14418310" y="786650"/>
                  </a:lnTo>
                  <a:lnTo>
                    <a:pt x="14456093" y="737412"/>
                  </a:lnTo>
                  <a:lnTo>
                    <a:pt x="14487157" y="683602"/>
                  </a:lnTo>
                  <a:lnTo>
                    <a:pt x="14510906" y="626262"/>
                  </a:lnTo>
                  <a:lnTo>
                    <a:pt x="14526984" y="566267"/>
                  </a:lnTo>
                  <a:lnTo>
                    <a:pt x="14535087" y="504952"/>
                  </a:lnTo>
                  <a:lnTo>
                    <a:pt x="14536166" y="474192"/>
                  </a:lnTo>
                  <a:close/>
                </a:path>
              </a:pathLst>
            </a:custGeom>
            <a:solidFill>
              <a:srgbClr val="F1610F">
                <a:alpha val="2509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2" name="Google Shape;802;p31"/>
            <p:cNvSpPr/>
            <p:nvPr/>
          </p:nvSpPr>
          <p:spPr>
            <a:xfrm>
              <a:off x="0" y="1"/>
              <a:ext cx="8891905" cy="948690"/>
            </a:xfrm>
            <a:custGeom>
              <a:rect b="b" l="l" r="r" t="t"/>
              <a:pathLst>
                <a:path extrusionOk="0" h="948690" w="8891905">
                  <a:moveTo>
                    <a:pt x="8416726" y="0"/>
                  </a:moveTo>
                  <a:lnTo>
                    <a:pt x="0" y="0"/>
                  </a:lnTo>
                  <a:lnTo>
                    <a:pt x="0" y="948384"/>
                  </a:lnTo>
                  <a:lnTo>
                    <a:pt x="8416667" y="948384"/>
                  </a:lnTo>
                  <a:lnTo>
                    <a:pt x="8447755" y="947368"/>
                  </a:lnTo>
                  <a:lnTo>
                    <a:pt x="8509291" y="939266"/>
                  </a:lnTo>
                  <a:lnTo>
                    <a:pt x="8569300" y="923184"/>
                  </a:lnTo>
                  <a:lnTo>
                    <a:pt x="8626638" y="899433"/>
                  </a:lnTo>
                  <a:lnTo>
                    <a:pt x="8680445" y="868372"/>
                  </a:lnTo>
                  <a:lnTo>
                    <a:pt x="8729686" y="830592"/>
                  </a:lnTo>
                  <a:lnTo>
                    <a:pt x="8773621" y="786658"/>
                  </a:lnTo>
                  <a:lnTo>
                    <a:pt x="8811400" y="737416"/>
                  </a:lnTo>
                  <a:lnTo>
                    <a:pt x="8842461" y="683610"/>
                  </a:lnTo>
                  <a:lnTo>
                    <a:pt x="8866213" y="626272"/>
                  </a:lnTo>
                  <a:lnTo>
                    <a:pt x="8882294" y="566271"/>
                  </a:lnTo>
                  <a:lnTo>
                    <a:pt x="8890396" y="504952"/>
                  </a:lnTo>
                  <a:lnTo>
                    <a:pt x="8891409" y="474192"/>
                  </a:lnTo>
                  <a:lnTo>
                    <a:pt x="8890396" y="443432"/>
                  </a:lnTo>
                  <a:lnTo>
                    <a:pt x="8882294" y="382113"/>
                  </a:lnTo>
                  <a:lnTo>
                    <a:pt x="8866213" y="322112"/>
                  </a:lnTo>
                  <a:lnTo>
                    <a:pt x="8842461" y="264774"/>
                  </a:lnTo>
                  <a:lnTo>
                    <a:pt x="8811400" y="210968"/>
                  </a:lnTo>
                  <a:lnTo>
                    <a:pt x="8773621" y="161726"/>
                  </a:lnTo>
                  <a:lnTo>
                    <a:pt x="8729686" y="117792"/>
                  </a:lnTo>
                  <a:lnTo>
                    <a:pt x="8680445" y="80012"/>
                  </a:lnTo>
                  <a:lnTo>
                    <a:pt x="8626638" y="48946"/>
                  </a:lnTo>
                  <a:lnTo>
                    <a:pt x="8569300" y="25198"/>
                  </a:lnTo>
                  <a:lnTo>
                    <a:pt x="8509291" y="9118"/>
                  </a:lnTo>
                  <a:lnTo>
                    <a:pt x="8447755" y="1017"/>
                  </a:lnTo>
                  <a:lnTo>
                    <a:pt x="8416726" y="0"/>
                  </a:lnTo>
                  <a:close/>
                </a:path>
              </a:pathLst>
            </a:custGeom>
            <a:solidFill>
              <a:srgbClr val="F1610F">
                <a:alpha val="50196"/>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3" name="Google Shape;803;p31"/>
            <p:cNvSpPr/>
            <p:nvPr/>
          </p:nvSpPr>
          <p:spPr>
            <a:xfrm>
              <a:off x="0" y="1"/>
              <a:ext cx="7482205" cy="948690"/>
            </a:xfrm>
            <a:custGeom>
              <a:rect b="b" l="l" r="r" t="t"/>
              <a:pathLst>
                <a:path extrusionOk="0" h="948690" w="7482205">
                  <a:moveTo>
                    <a:pt x="7006904" y="0"/>
                  </a:moveTo>
                  <a:lnTo>
                    <a:pt x="0" y="0"/>
                  </a:lnTo>
                  <a:lnTo>
                    <a:pt x="0" y="948385"/>
                  </a:lnTo>
                  <a:lnTo>
                    <a:pt x="7006889" y="948385"/>
                  </a:lnTo>
                  <a:lnTo>
                    <a:pt x="7037957" y="947368"/>
                  </a:lnTo>
                  <a:lnTo>
                    <a:pt x="7099494" y="939266"/>
                  </a:lnTo>
                  <a:lnTo>
                    <a:pt x="7159502" y="923184"/>
                  </a:lnTo>
                  <a:lnTo>
                    <a:pt x="7216840" y="899433"/>
                  </a:lnTo>
                  <a:lnTo>
                    <a:pt x="7270647" y="868372"/>
                  </a:lnTo>
                  <a:lnTo>
                    <a:pt x="7319888" y="830592"/>
                  </a:lnTo>
                  <a:lnTo>
                    <a:pt x="7363823" y="786658"/>
                  </a:lnTo>
                  <a:lnTo>
                    <a:pt x="7401603" y="737416"/>
                  </a:lnTo>
                  <a:lnTo>
                    <a:pt x="7432663" y="683610"/>
                  </a:lnTo>
                  <a:lnTo>
                    <a:pt x="7456415" y="626272"/>
                  </a:lnTo>
                  <a:lnTo>
                    <a:pt x="7472496" y="566271"/>
                  </a:lnTo>
                  <a:lnTo>
                    <a:pt x="7480598" y="504952"/>
                  </a:lnTo>
                  <a:lnTo>
                    <a:pt x="7481615" y="474192"/>
                  </a:lnTo>
                  <a:lnTo>
                    <a:pt x="7480598" y="443432"/>
                  </a:lnTo>
                  <a:lnTo>
                    <a:pt x="7472496" y="382113"/>
                  </a:lnTo>
                  <a:lnTo>
                    <a:pt x="7456415" y="322112"/>
                  </a:lnTo>
                  <a:lnTo>
                    <a:pt x="7432663" y="264774"/>
                  </a:lnTo>
                  <a:lnTo>
                    <a:pt x="7401603" y="210968"/>
                  </a:lnTo>
                  <a:lnTo>
                    <a:pt x="7363823" y="161726"/>
                  </a:lnTo>
                  <a:lnTo>
                    <a:pt x="7319888" y="117792"/>
                  </a:lnTo>
                  <a:lnTo>
                    <a:pt x="7270647" y="80012"/>
                  </a:lnTo>
                  <a:lnTo>
                    <a:pt x="7216840" y="48946"/>
                  </a:lnTo>
                  <a:lnTo>
                    <a:pt x="7159502" y="25198"/>
                  </a:lnTo>
                  <a:lnTo>
                    <a:pt x="7099494" y="9118"/>
                  </a:lnTo>
                  <a:lnTo>
                    <a:pt x="7037957" y="1017"/>
                  </a:lnTo>
                  <a:lnTo>
                    <a:pt x="7006904" y="0"/>
                  </a:lnTo>
                  <a:close/>
                </a:path>
              </a:pathLst>
            </a:custGeom>
            <a:solidFill>
              <a:srgbClr val="F2620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04" name="Google Shape;804;p31"/>
          <p:cNvSpPr/>
          <p:nvPr/>
        </p:nvSpPr>
        <p:spPr>
          <a:xfrm>
            <a:off x="0" y="9358312"/>
            <a:ext cx="17358995" cy="9525"/>
          </a:xfrm>
          <a:custGeom>
            <a:rect b="b" l="l" r="r" t="t"/>
            <a:pathLst>
              <a:path extrusionOk="0" h="9525" w="17358995">
                <a:moveTo>
                  <a:pt x="17358461" y="0"/>
                </a:moveTo>
                <a:lnTo>
                  <a:pt x="0" y="0"/>
                </a:lnTo>
                <a:lnTo>
                  <a:pt x="0" y="9525"/>
                </a:lnTo>
                <a:lnTo>
                  <a:pt x="17358461" y="9525"/>
                </a:lnTo>
                <a:lnTo>
                  <a:pt x="17358461" y="0"/>
                </a:lnTo>
                <a:close/>
              </a:path>
            </a:pathLst>
          </a:custGeom>
          <a:solidFill>
            <a:srgbClr val="2626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5" name="Google Shape;805;p31"/>
          <p:cNvSpPr txBox="1"/>
          <p:nvPr>
            <p:ph idx="12" type="sldNum"/>
          </p:nvPr>
        </p:nvSpPr>
        <p:spPr>
          <a:xfrm>
            <a:off x="878457" y="9567912"/>
            <a:ext cx="575944" cy="410882"/>
          </a:xfrm>
          <a:prstGeom prst="rect">
            <a:avLst/>
          </a:prstGeom>
          <a:noFill/>
          <a:ln>
            <a:noFill/>
          </a:ln>
        </p:spPr>
        <p:txBody>
          <a:bodyPr anchorCtr="0" anchor="t" bIns="0" lIns="0" spcFirstLastPara="1" rIns="0" wrap="square" tIns="0">
            <a:spAutoFit/>
          </a:bodyPr>
          <a:lstStyle/>
          <a:p>
            <a:pPr indent="0" lvl="0" marL="38100" rtl="0" algn="l">
              <a:lnSpc>
                <a:spcPct val="117884"/>
              </a:lnSpc>
              <a:spcBef>
                <a:spcPts val="0"/>
              </a:spcBef>
              <a:spcAft>
                <a:spcPts val="0"/>
              </a:spcAft>
              <a:buSzPts val="2600"/>
              <a:buNone/>
            </a:pPr>
            <a:fld id="{00000000-1234-1234-1234-123412341234}" type="slidenum">
              <a:rPr lang="en-US"/>
              <a:t>‹#›</a:t>
            </a:fld>
            <a:r>
              <a:rPr lang="en-US"/>
              <a:t>.</a:t>
            </a:r>
            <a:endParaRPr/>
          </a:p>
        </p:txBody>
      </p:sp>
      <p:sp>
        <p:nvSpPr>
          <p:cNvPr id="806" name="Google Shape;806;p31"/>
          <p:cNvSpPr txBox="1"/>
          <p:nvPr>
            <p:ph idx="10" type="dt"/>
          </p:nvPr>
        </p:nvSpPr>
        <p:spPr>
          <a:xfrm>
            <a:off x="3060581" y="9651677"/>
            <a:ext cx="2143778"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JAVIER ANDRÉS V.</a:t>
            </a:r>
            <a:endParaRPr/>
          </a:p>
        </p:txBody>
      </p:sp>
      <p:sp>
        <p:nvSpPr>
          <p:cNvPr id="807" name="Google Shape;807;p31"/>
          <p:cNvSpPr txBox="1"/>
          <p:nvPr>
            <p:ph idx="11" type="ftr"/>
          </p:nvPr>
        </p:nvSpPr>
        <p:spPr>
          <a:xfrm>
            <a:off x="16105767" y="9653963"/>
            <a:ext cx="1210965" cy="294953"/>
          </a:xfrm>
          <a:prstGeom prst="rect">
            <a:avLst/>
          </a:prstGeom>
          <a:noFill/>
          <a:ln>
            <a:noFill/>
          </a:ln>
        </p:spPr>
        <p:txBody>
          <a:bodyPr anchorCtr="0" anchor="t" bIns="0" lIns="0" spcFirstLastPara="1" rIns="0" wrap="square" tIns="0">
            <a:spAutoFit/>
          </a:bodyPr>
          <a:lstStyle/>
          <a:p>
            <a:pPr indent="0" lvl="0" marL="12700" rtl="0" algn="l">
              <a:lnSpc>
                <a:spcPct val="114500"/>
              </a:lnSpc>
              <a:spcBef>
                <a:spcPts val="0"/>
              </a:spcBef>
              <a:spcAft>
                <a:spcPts val="0"/>
              </a:spcAft>
              <a:buSzPts val="1400"/>
              <a:buNone/>
            </a:pPr>
            <a:r>
              <a:rPr lang="en-US"/>
              <a:t>22/4/2026</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grpSp>
        <p:nvGrpSpPr>
          <p:cNvPr id="812" name="Google Shape;812;g3d8b67da081_0_210"/>
          <p:cNvGrpSpPr/>
          <p:nvPr/>
        </p:nvGrpSpPr>
        <p:grpSpPr>
          <a:xfrm>
            <a:off x="518005" y="5493487"/>
            <a:ext cx="5727683" cy="4441351"/>
            <a:chOff x="0" y="-47625"/>
            <a:chExt cx="1508476" cy="1169700"/>
          </a:xfrm>
        </p:grpSpPr>
        <p:sp>
          <p:nvSpPr>
            <p:cNvPr id="813" name="Google Shape;813;g3d8b67da081_0_210"/>
            <p:cNvSpPr/>
            <p:nvPr/>
          </p:nvSpPr>
          <p:spPr>
            <a:xfrm>
              <a:off x="0" y="0"/>
              <a:ext cx="1508476" cy="1122056"/>
            </a:xfrm>
            <a:custGeom>
              <a:rect b="b" l="l" r="r" t="t"/>
              <a:pathLst>
                <a:path extrusionOk="0" h="1122056" w="1508476">
                  <a:moveTo>
                    <a:pt x="0" y="0"/>
                  </a:moveTo>
                  <a:lnTo>
                    <a:pt x="1508476" y="0"/>
                  </a:lnTo>
                  <a:lnTo>
                    <a:pt x="1508476"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14" name="Google Shape;814;g3d8b67da081_0_210"/>
            <p:cNvSpPr txBox="1"/>
            <p:nvPr/>
          </p:nvSpPr>
          <p:spPr>
            <a:xfrm>
              <a:off x="0" y="-47625"/>
              <a:ext cx="15084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15" name="Google Shape;815;g3d8b67da081_0_210"/>
          <p:cNvSpPr/>
          <p:nvPr/>
        </p:nvSpPr>
        <p:spPr>
          <a:xfrm>
            <a:off x="0" y="0"/>
            <a:ext cx="18288000" cy="10309860"/>
          </a:xfrm>
          <a:custGeom>
            <a:rect b="b" l="l" r="r" t="t"/>
            <a:pathLst>
              <a:path extrusionOk="0" h="10309860" w="18288000">
                <a:moveTo>
                  <a:pt x="0" y="0"/>
                </a:moveTo>
                <a:lnTo>
                  <a:pt x="18288000" y="0"/>
                </a:lnTo>
                <a:lnTo>
                  <a:pt x="18288000" y="10309860"/>
                </a:lnTo>
                <a:lnTo>
                  <a:pt x="0" y="10309860"/>
                </a:lnTo>
                <a:lnTo>
                  <a:pt x="0" y="0"/>
                </a:lnTo>
                <a:close/>
              </a:path>
            </a:pathLst>
          </a:custGeom>
          <a:blipFill rotWithShape="1">
            <a:blip r:embed="rId3">
              <a:alphaModFix/>
            </a:blip>
            <a:stretch>
              <a:fillRect b="0" l="0" r="0" t="0"/>
            </a:stretch>
          </a:blipFill>
          <a:ln>
            <a:noFill/>
          </a:ln>
        </p:spPr>
      </p:sp>
      <p:grpSp>
        <p:nvGrpSpPr>
          <p:cNvPr id="816" name="Google Shape;816;g3d8b67da081_0_210"/>
          <p:cNvGrpSpPr/>
          <p:nvPr/>
        </p:nvGrpSpPr>
        <p:grpSpPr>
          <a:xfrm>
            <a:off x="10589457" y="1951804"/>
            <a:ext cx="7106845" cy="1052528"/>
            <a:chOff x="0" y="-47625"/>
            <a:chExt cx="1871700" cy="277200"/>
          </a:xfrm>
        </p:grpSpPr>
        <p:sp>
          <p:nvSpPr>
            <p:cNvPr id="817" name="Google Shape;817;g3d8b67da081_0_210"/>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18" name="Google Shape;818;g3d8b67da081_0_210"/>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19" name="Google Shape;819;g3d8b67da081_0_210"/>
          <p:cNvGrpSpPr/>
          <p:nvPr/>
        </p:nvGrpSpPr>
        <p:grpSpPr>
          <a:xfrm>
            <a:off x="10589457" y="2788226"/>
            <a:ext cx="7106845" cy="976209"/>
            <a:chOff x="0" y="-47625"/>
            <a:chExt cx="1871700" cy="257100"/>
          </a:xfrm>
        </p:grpSpPr>
        <p:sp>
          <p:nvSpPr>
            <p:cNvPr id="820" name="Google Shape;820;g3d8b67da081_0_210"/>
            <p:cNvSpPr/>
            <p:nvPr/>
          </p:nvSpPr>
          <p:spPr>
            <a:xfrm>
              <a:off x="0" y="0"/>
              <a:ext cx="1871588" cy="209439"/>
            </a:xfrm>
            <a:custGeom>
              <a:rect b="b" l="l" r="r" t="t"/>
              <a:pathLst>
                <a:path extrusionOk="0" h="209439" w="1871588">
                  <a:moveTo>
                    <a:pt x="0" y="0"/>
                  </a:moveTo>
                  <a:lnTo>
                    <a:pt x="1871588" y="0"/>
                  </a:lnTo>
                  <a:lnTo>
                    <a:pt x="1871588" y="209439"/>
                  </a:lnTo>
                  <a:lnTo>
                    <a:pt x="0" y="20943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21" name="Google Shape;821;g3d8b67da081_0_210"/>
            <p:cNvSpPr txBox="1"/>
            <p:nvPr/>
          </p:nvSpPr>
          <p:spPr>
            <a:xfrm>
              <a:off x="0" y="-47625"/>
              <a:ext cx="1871700" cy="2571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822" name="Google Shape;822;g3d8b67da081_0_210"/>
          <p:cNvCxnSpPr/>
          <p:nvPr/>
        </p:nvCxnSpPr>
        <p:spPr>
          <a:xfrm>
            <a:off x="13482182" y="2148133"/>
            <a:ext cx="0" cy="1616400"/>
          </a:xfrm>
          <a:prstGeom prst="straightConnector1">
            <a:avLst/>
          </a:prstGeom>
          <a:noFill/>
          <a:ln cap="flat" cmpd="sng" w="38100">
            <a:solidFill>
              <a:srgbClr val="000000"/>
            </a:solidFill>
            <a:prstDash val="solid"/>
            <a:round/>
            <a:headEnd len="sm" w="sm" type="none"/>
            <a:tailEnd len="sm" w="sm" type="none"/>
          </a:ln>
        </p:spPr>
      </p:cxnSp>
      <p:grpSp>
        <p:nvGrpSpPr>
          <p:cNvPr id="823" name="Google Shape;823;g3d8b67da081_0_210"/>
          <p:cNvGrpSpPr/>
          <p:nvPr/>
        </p:nvGrpSpPr>
        <p:grpSpPr>
          <a:xfrm>
            <a:off x="10589457" y="3547783"/>
            <a:ext cx="7106845" cy="1052528"/>
            <a:chOff x="0" y="-47625"/>
            <a:chExt cx="1871700" cy="277200"/>
          </a:xfrm>
        </p:grpSpPr>
        <p:sp>
          <p:nvSpPr>
            <p:cNvPr id="824" name="Google Shape;824;g3d8b67da081_0_210"/>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25" name="Google Shape;825;g3d8b67da081_0_210"/>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826" name="Google Shape;826;g3d8b67da081_0_210"/>
          <p:cNvCxnSpPr/>
          <p:nvPr/>
        </p:nvCxnSpPr>
        <p:spPr>
          <a:xfrm>
            <a:off x="13482182" y="3744112"/>
            <a:ext cx="0" cy="855600"/>
          </a:xfrm>
          <a:prstGeom prst="straightConnector1">
            <a:avLst/>
          </a:prstGeom>
          <a:noFill/>
          <a:ln cap="flat" cmpd="sng" w="38100">
            <a:solidFill>
              <a:srgbClr val="000000"/>
            </a:solidFill>
            <a:prstDash val="solid"/>
            <a:round/>
            <a:headEnd len="sm" w="sm" type="none"/>
            <a:tailEnd len="sm" w="sm" type="none"/>
          </a:ln>
        </p:spPr>
      </p:cxnSp>
      <p:grpSp>
        <p:nvGrpSpPr>
          <p:cNvPr id="827" name="Google Shape;827;g3d8b67da081_0_210"/>
          <p:cNvGrpSpPr/>
          <p:nvPr/>
        </p:nvGrpSpPr>
        <p:grpSpPr>
          <a:xfrm>
            <a:off x="518005" y="1616524"/>
            <a:ext cx="9297334" cy="1052528"/>
            <a:chOff x="0" y="-47625"/>
            <a:chExt cx="2448600" cy="277200"/>
          </a:xfrm>
        </p:grpSpPr>
        <p:sp>
          <p:nvSpPr>
            <p:cNvPr id="828" name="Google Shape;828;g3d8b67da081_0_210"/>
            <p:cNvSpPr/>
            <p:nvPr/>
          </p:nvSpPr>
          <p:spPr>
            <a:xfrm>
              <a:off x="0" y="0"/>
              <a:ext cx="2448537" cy="229442"/>
            </a:xfrm>
            <a:custGeom>
              <a:rect b="b" l="l" r="r" t="t"/>
              <a:pathLst>
                <a:path extrusionOk="0" h="229442" w="2448537">
                  <a:moveTo>
                    <a:pt x="0" y="0"/>
                  </a:moveTo>
                  <a:lnTo>
                    <a:pt x="2448537" y="0"/>
                  </a:lnTo>
                  <a:lnTo>
                    <a:pt x="2448537"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29" name="Google Shape;829;g3d8b67da081_0_210"/>
            <p:cNvSpPr txBox="1"/>
            <p:nvPr/>
          </p:nvSpPr>
          <p:spPr>
            <a:xfrm>
              <a:off x="0" y="-47625"/>
              <a:ext cx="24486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30" name="Google Shape;830;g3d8b67da081_0_210"/>
          <p:cNvGrpSpPr/>
          <p:nvPr/>
        </p:nvGrpSpPr>
        <p:grpSpPr>
          <a:xfrm>
            <a:off x="518005" y="2455645"/>
            <a:ext cx="9297334" cy="976209"/>
            <a:chOff x="0" y="-47625"/>
            <a:chExt cx="2448600" cy="257100"/>
          </a:xfrm>
        </p:grpSpPr>
        <p:sp>
          <p:nvSpPr>
            <p:cNvPr id="831" name="Google Shape;831;g3d8b67da081_0_210"/>
            <p:cNvSpPr/>
            <p:nvPr/>
          </p:nvSpPr>
          <p:spPr>
            <a:xfrm>
              <a:off x="0" y="0"/>
              <a:ext cx="2448537" cy="209439"/>
            </a:xfrm>
            <a:custGeom>
              <a:rect b="b" l="l" r="r" t="t"/>
              <a:pathLst>
                <a:path extrusionOk="0" h="209439" w="2448537">
                  <a:moveTo>
                    <a:pt x="0" y="0"/>
                  </a:moveTo>
                  <a:lnTo>
                    <a:pt x="2448537" y="0"/>
                  </a:lnTo>
                  <a:lnTo>
                    <a:pt x="2448537" y="209439"/>
                  </a:lnTo>
                  <a:lnTo>
                    <a:pt x="0" y="20943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32" name="Google Shape;832;g3d8b67da081_0_210"/>
            <p:cNvSpPr txBox="1"/>
            <p:nvPr/>
          </p:nvSpPr>
          <p:spPr>
            <a:xfrm>
              <a:off x="0" y="-47625"/>
              <a:ext cx="2448600" cy="2571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833" name="Google Shape;833;g3d8b67da081_0_210"/>
          <p:cNvCxnSpPr/>
          <p:nvPr/>
        </p:nvCxnSpPr>
        <p:spPr>
          <a:xfrm flipH="1">
            <a:off x="4908135" y="1797356"/>
            <a:ext cx="4200" cy="839400"/>
          </a:xfrm>
          <a:prstGeom prst="straightConnector1">
            <a:avLst/>
          </a:prstGeom>
          <a:noFill/>
          <a:ln cap="flat" cmpd="sng" w="38100">
            <a:solidFill>
              <a:srgbClr val="000000"/>
            </a:solidFill>
            <a:prstDash val="solid"/>
            <a:round/>
            <a:headEnd len="sm" w="sm" type="none"/>
            <a:tailEnd len="sm" w="sm" type="none"/>
          </a:ln>
        </p:spPr>
      </p:cxnSp>
      <p:grpSp>
        <p:nvGrpSpPr>
          <p:cNvPr id="834" name="Google Shape;834;g3d8b67da081_0_210"/>
          <p:cNvGrpSpPr/>
          <p:nvPr/>
        </p:nvGrpSpPr>
        <p:grpSpPr>
          <a:xfrm>
            <a:off x="518005" y="3212503"/>
            <a:ext cx="9297334" cy="1387424"/>
            <a:chOff x="0" y="-47625"/>
            <a:chExt cx="2448600" cy="365400"/>
          </a:xfrm>
        </p:grpSpPr>
        <p:sp>
          <p:nvSpPr>
            <p:cNvPr id="835" name="Google Shape;835;g3d8b67da081_0_210"/>
            <p:cNvSpPr/>
            <p:nvPr/>
          </p:nvSpPr>
          <p:spPr>
            <a:xfrm>
              <a:off x="0" y="0"/>
              <a:ext cx="2448537" cy="317747"/>
            </a:xfrm>
            <a:custGeom>
              <a:rect b="b" l="l" r="r" t="t"/>
              <a:pathLst>
                <a:path extrusionOk="0" h="317747" w="2448537">
                  <a:moveTo>
                    <a:pt x="0" y="0"/>
                  </a:moveTo>
                  <a:lnTo>
                    <a:pt x="2448537" y="0"/>
                  </a:lnTo>
                  <a:lnTo>
                    <a:pt x="2448537" y="317747"/>
                  </a:lnTo>
                  <a:lnTo>
                    <a:pt x="0" y="317747"/>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36" name="Google Shape;836;g3d8b67da081_0_210"/>
            <p:cNvSpPr txBox="1"/>
            <p:nvPr/>
          </p:nvSpPr>
          <p:spPr>
            <a:xfrm>
              <a:off x="0" y="-47625"/>
              <a:ext cx="2448600" cy="3654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837" name="Google Shape;837;g3d8b67da081_0_210"/>
          <p:cNvCxnSpPr/>
          <p:nvPr/>
        </p:nvCxnSpPr>
        <p:spPr>
          <a:xfrm>
            <a:off x="4907814" y="3431692"/>
            <a:ext cx="4800" cy="1168200"/>
          </a:xfrm>
          <a:prstGeom prst="straightConnector1">
            <a:avLst/>
          </a:prstGeom>
          <a:noFill/>
          <a:ln cap="flat" cmpd="sng" w="38100">
            <a:solidFill>
              <a:srgbClr val="000000"/>
            </a:solidFill>
            <a:prstDash val="solid"/>
            <a:round/>
            <a:headEnd len="sm" w="sm" type="none"/>
            <a:tailEnd len="sm" w="sm" type="none"/>
          </a:ln>
        </p:spPr>
      </p:cxnSp>
      <p:cxnSp>
        <p:nvCxnSpPr>
          <p:cNvPr id="838" name="Google Shape;838;g3d8b67da081_0_210"/>
          <p:cNvCxnSpPr/>
          <p:nvPr/>
        </p:nvCxnSpPr>
        <p:spPr>
          <a:xfrm flipH="1">
            <a:off x="4908135" y="2626616"/>
            <a:ext cx="4200" cy="805200"/>
          </a:xfrm>
          <a:prstGeom prst="straightConnector1">
            <a:avLst/>
          </a:prstGeom>
          <a:noFill/>
          <a:ln cap="flat" cmpd="sng" w="38100">
            <a:solidFill>
              <a:srgbClr val="000000"/>
            </a:solidFill>
            <a:prstDash val="solid"/>
            <a:round/>
            <a:headEnd len="sm" w="sm" type="none"/>
            <a:tailEnd len="sm" w="sm" type="none"/>
          </a:ln>
        </p:spPr>
      </p:cxnSp>
      <p:sp>
        <p:nvSpPr>
          <p:cNvPr id="839" name="Google Shape;839;g3d8b67da081_0_210"/>
          <p:cNvSpPr txBox="1"/>
          <p:nvPr/>
        </p:nvSpPr>
        <p:spPr>
          <a:xfrm>
            <a:off x="10767769" y="2272944"/>
            <a:ext cx="2524800" cy="369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400"/>
              <a:buFont typeface="Arial"/>
              <a:buNone/>
            </a:pPr>
            <a:r>
              <a:rPr b="1" i="0" lang="en-US" sz="2400" u="none" cap="none" strike="noStrike">
                <a:solidFill>
                  <a:srgbClr val="000000"/>
                </a:solidFill>
                <a:latin typeface="DM Sans"/>
                <a:ea typeface="DM Sans"/>
                <a:cs typeface="DM Sans"/>
                <a:sym typeface="DM Sans"/>
              </a:rPr>
              <a:t>Hora de inicio</a:t>
            </a:r>
            <a:endParaRPr b="0" i="0" sz="2400" u="none" cap="none" strike="noStrike">
              <a:solidFill>
                <a:srgbClr val="000000"/>
              </a:solidFill>
              <a:latin typeface="Arial"/>
              <a:ea typeface="Arial"/>
              <a:cs typeface="Arial"/>
              <a:sym typeface="Arial"/>
            </a:endParaRPr>
          </a:p>
        </p:txBody>
      </p:sp>
      <p:sp>
        <p:nvSpPr>
          <p:cNvPr id="840" name="Google Shape;840;g3d8b67da081_0_210"/>
          <p:cNvSpPr txBox="1"/>
          <p:nvPr/>
        </p:nvSpPr>
        <p:spPr>
          <a:xfrm>
            <a:off x="10939368" y="3071390"/>
            <a:ext cx="21816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DM Sans"/>
                <a:ea typeface="DM Sans"/>
                <a:cs typeface="DM Sans"/>
                <a:sym typeface="DM Sans"/>
              </a:rPr>
              <a:t>Hora de fin: </a:t>
            </a:r>
            <a:endParaRPr b="0" i="0" sz="3000" u="none" cap="none" strike="noStrike">
              <a:solidFill>
                <a:srgbClr val="000000"/>
              </a:solidFill>
              <a:latin typeface="Arial"/>
              <a:ea typeface="Arial"/>
              <a:cs typeface="Arial"/>
              <a:sym typeface="Arial"/>
            </a:endParaRPr>
          </a:p>
        </p:txBody>
      </p:sp>
      <p:sp>
        <p:nvSpPr>
          <p:cNvPr id="841" name="Google Shape;841;g3d8b67da081_0_210"/>
          <p:cNvSpPr txBox="1"/>
          <p:nvPr/>
        </p:nvSpPr>
        <p:spPr>
          <a:xfrm>
            <a:off x="13482182" y="2272944"/>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000000"/>
                </a:solidFill>
                <a:latin typeface="DM Sans"/>
                <a:ea typeface="DM Sans"/>
                <a:cs typeface="DM Sans"/>
                <a:sym typeface="DM Sans"/>
              </a:rPr>
              <a:t>18:</a:t>
            </a:r>
            <a:r>
              <a:rPr lang="en-US" sz="3000">
                <a:latin typeface="DM Sans"/>
                <a:ea typeface="DM Sans"/>
                <a:cs typeface="DM Sans"/>
                <a:sym typeface="DM Sans"/>
              </a:rPr>
              <a:t>15</a:t>
            </a:r>
            <a:endParaRPr b="0" i="0" sz="1400" u="none" cap="none" strike="noStrike">
              <a:solidFill>
                <a:srgbClr val="000000"/>
              </a:solidFill>
              <a:latin typeface="Arial"/>
              <a:ea typeface="Arial"/>
              <a:cs typeface="Arial"/>
              <a:sym typeface="Arial"/>
            </a:endParaRPr>
          </a:p>
        </p:txBody>
      </p:sp>
      <p:sp>
        <p:nvSpPr>
          <p:cNvPr id="842" name="Google Shape;842;g3d8b67da081_0_210"/>
          <p:cNvSpPr txBox="1"/>
          <p:nvPr/>
        </p:nvSpPr>
        <p:spPr>
          <a:xfrm>
            <a:off x="13482182" y="3071390"/>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000000"/>
                </a:solidFill>
                <a:latin typeface="DM Sans"/>
                <a:ea typeface="DM Sans"/>
                <a:cs typeface="DM Sans"/>
                <a:sym typeface="DM Sans"/>
              </a:rPr>
              <a:t>1</a:t>
            </a:r>
            <a:r>
              <a:rPr lang="en-US" sz="3000">
                <a:latin typeface="DM Sans"/>
                <a:ea typeface="DM Sans"/>
                <a:cs typeface="DM Sans"/>
                <a:sym typeface="DM Sans"/>
              </a:rPr>
              <a:t>8</a:t>
            </a:r>
            <a:r>
              <a:rPr b="0" i="0" lang="en-US" sz="3000" u="none" cap="none" strike="noStrike">
                <a:solidFill>
                  <a:srgbClr val="000000"/>
                </a:solidFill>
                <a:latin typeface="DM Sans"/>
                <a:ea typeface="DM Sans"/>
                <a:cs typeface="DM Sans"/>
                <a:sym typeface="DM Sans"/>
              </a:rPr>
              <a:t>:55</a:t>
            </a:r>
            <a:endParaRPr b="0" i="0" sz="1400" u="none" cap="none" strike="noStrike">
              <a:solidFill>
                <a:srgbClr val="000000"/>
              </a:solidFill>
              <a:latin typeface="Arial"/>
              <a:ea typeface="Arial"/>
              <a:cs typeface="Arial"/>
              <a:sym typeface="Arial"/>
            </a:endParaRPr>
          </a:p>
        </p:txBody>
      </p:sp>
      <p:sp>
        <p:nvSpPr>
          <p:cNvPr id="843" name="Google Shape;843;g3d8b67da081_0_210"/>
          <p:cNvSpPr txBox="1"/>
          <p:nvPr/>
        </p:nvSpPr>
        <p:spPr>
          <a:xfrm>
            <a:off x="10654436" y="3869048"/>
            <a:ext cx="27516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z="2800" u="none" cap="none" strike="noStrike">
                <a:solidFill>
                  <a:srgbClr val="000000"/>
                </a:solidFill>
                <a:latin typeface="DM Sans"/>
                <a:ea typeface="DM Sans"/>
                <a:cs typeface="DM Sans"/>
                <a:sym typeface="DM Sans"/>
              </a:rPr>
              <a:t>Duración (min)</a:t>
            </a:r>
            <a:endParaRPr b="0" i="0" sz="2800" u="none" cap="none" strike="noStrike">
              <a:solidFill>
                <a:srgbClr val="000000"/>
              </a:solidFill>
              <a:latin typeface="Arial"/>
              <a:ea typeface="Arial"/>
              <a:cs typeface="Arial"/>
              <a:sym typeface="Arial"/>
            </a:endParaRPr>
          </a:p>
        </p:txBody>
      </p:sp>
      <p:sp>
        <p:nvSpPr>
          <p:cNvPr id="844" name="Google Shape;844;g3d8b67da081_0_210"/>
          <p:cNvSpPr txBox="1"/>
          <p:nvPr/>
        </p:nvSpPr>
        <p:spPr>
          <a:xfrm>
            <a:off x="13482182" y="3868922"/>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lang="en-US" sz="3000">
                <a:latin typeface="DM Sans"/>
                <a:ea typeface="DM Sans"/>
                <a:cs typeface="DM Sans"/>
                <a:sym typeface="DM Sans"/>
              </a:rPr>
              <a:t>40</a:t>
            </a:r>
            <a:endParaRPr b="0" i="0" sz="1400" u="none" cap="none" strike="noStrike">
              <a:solidFill>
                <a:srgbClr val="000000"/>
              </a:solidFill>
              <a:latin typeface="Arial"/>
              <a:ea typeface="Arial"/>
              <a:cs typeface="Arial"/>
              <a:sym typeface="Arial"/>
            </a:endParaRPr>
          </a:p>
        </p:txBody>
      </p:sp>
      <p:sp>
        <p:nvSpPr>
          <p:cNvPr id="845" name="Google Shape;845;g3d8b67da081_0_210"/>
          <p:cNvSpPr txBox="1"/>
          <p:nvPr/>
        </p:nvSpPr>
        <p:spPr>
          <a:xfrm>
            <a:off x="588368" y="1931291"/>
            <a:ext cx="4166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000000"/>
                </a:solidFill>
                <a:latin typeface="DM Sans"/>
                <a:ea typeface="DM Sans"/>
                <a:cs typeface="DM Sans"/>
                <a:sym typeface="DM Sans"/>
              </a:rPr>
              <a:t>Nombre de la actividad</a:t>
            </a:r>
            <a:endParaRPr b="0" i="0" sz="1400" u="none" cap="none" strike="noStrike">
              <a:solidFill>
                <a:srgbClr val="000000"/>
              </a:solidFill>
              <a:latin typeface="Arial"/>
              <a:ea typeface="Arial"/>
              <a:cs typeface="Arial"/>
              <a:sym typeface="Arial"/>
            </a:endParaRPr>
          </a:p>
        </p:txBody>
      </p:sp>
      <p:sp>
        <p:nvSpPr>
          <p:cNvPr id="846" name="Google Shape;846;g3d8b67da081_0_210"/>
          <p:cNvSpPr txBox="1"/>
          <p:nvPr/>
        </p:nvSpPr>
        <p:spPr>
          <a:xfrm>
            <a:off x="588368" y="2748334"/>
            <a:ext cx="4109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000000"/>
                </a:solidFill>
                <a:latin typeface="DM Sans"/>
                <a:ea typeface="DM Sans"/>
                <a:cs typeface="DM Sans"/>
                <a:sym typeface="DM Sans"/>
              </a:rPr>
              <a:t>Cantidad Participantes</a:t>
            </a:r>
            <a:endParaRPr b="0" i="0" sz="1400" u="none" cap="none" strike="noStrike">
              <a:solidFill>
                <a:srgbClr val="000000"/>
              </a:solidFill>
              <a:latin typeface="Arial"/>
              <a:ea typeface="Arial"/>
              <a:cs typeface="Arial"/>
              <a:sym typeface="Arial"/>
            </a:endParaRPr>
          </a:p>
        </p:txBody>
      </p:sp>
      <p:sp>
        <p:nvSpPr>
          <p:cNvPr id="847" name="Google Shape;847;g3d8b67da081_0_210"/>
          <p:cNvSpPr txBox="1"/>
          <p:nvPr/>
        </p:nvSpPr>
        <p:spPr>
          <a:xfrm>
            <a:off x="5208072" y="1937664"/>
            <a:ext cx="4213800" cy="1108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lang="en-US" sz="3000">
                <a:latin typeface="DM Sans"/>
                <a:ea typeface="DM Sans"/>
                <a:cs typeface="DM Sans"/>
                <a:sym typeface="DM Sans"/>
              </a:rPr>
              <a:t>Tarea 3</a:t>
            </a:r>
            <a:endParaRPr b="0" i="0" sz="3000" u="none" cap="none" strike="noStrike">
              <a:solidFill>
                <a:srgbClr val="000000"/>
              </a:solidFill>
              <a:latin typeface="DM Sans"/>
              <a:ea typeface="DM Sans"/>
              <a:cs typeface="DM Sans"/>
              <a:sym typeface="DM Sans"/>
            </a:endParaRPr>
          </a:p>
          <a:p>
            <a:pPr indent="0" lvl="0" marL="0" marR="0" rtl="0" algn="l">
              <a:lnSpc>
                <a:spcPct val="140000"/>
              </a:lnSpc>
              <a:spcBef>
                <a:spcPts val="0"/>
              </a:spcBef>
              <a:spcAft>
                <a:spcPts val="0"/>
              </a:spcAft>
              <a:buClr>
                <a:srgbClr val="000000"/>
              </a:buClr>
              <a:buSzPts val="3000"/>
              <a:buFont typeface="Arial"/>
              <a:buNone/>
            </a:pPr>
            <a:r>
              <a:t/>
            </a:r>
            <a:endParaRPr b="0" i="0" sz="3000" u="none" cap="none" strike="noStrike">
              <a:solidFill>
                <a:srgbClr val="000000"/>
              </a:solidFill>
              <a:latin typeface="DM Sans"/>
              <a:ea typeface="DM Sans"/>
              <a:cs typeface="DM Sans"/>
              <a:sym typeface="DM Sans"/>
            </a:endParaRPr>
          </a:p>
        </p:txBody>
      </p:sp>
      <p:sp>
        <p:nvSpPr>
          <p:cNvPr id="848" name="Google Shape;848;g3d8b67da081_0_210"/>
          <p:cNvSpPr txBox="1"/>
          <p:nvPr/>
        </p:nvSpPr>
        <p:spPr>
          <a:xfrm>
            <a:off x="5208072" y="2738809"/>
            <a:ext cx="22980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lang="en-US" sz="3000">
                <a:latin typeface="DM Sans"/>
                <a:ea typeface="DM Sans"/>
                <a:cs typeface="DM Sans"/>
                <a:sym typeface="DM Sans"/>
              </a:rPr>
              <a:t>20</a:t>
            </a:r>
            <a:endParaRPr b="0" i="0" sz="1400" u="none" cap="none" strike="noStrike">
              <a:solidFill>
                <a:srgbClr val="000000"/>
              </a:solidFill>
              <a:latin typeface="Arial"/>
              <a:ea typeface="Arial"/>
              <a:cs typeface="Arial"/>
              <a:sym typeface="Arial"/>
            </a:endParaRPr>
          </a:p>
        </p:txBody>
      </p:sp>
      <p:sp>
        <p:nvSpPr>
          <p:cNvPr id="849" name="Google Shape;849;g3d8b67da081_0_210"/>
          <p:cNvSpPr txBox="1"/>
          <p:nvPr/>
        </p:nvSpPr>
        <p:spPr>
          <a:xfrm>
            <a:off x="588368" y="3517417"/>
            <a:ext cx="4109400" cy="1761300"/>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Clr>
                <a:srgbClr val="000000"/>
              </a:buClr>
              <a:buSzPts val="2200"/>
              <a:buFont typeface="Arial"/>
              <a:buNone/>
            </a:pPr>
            <a:r>
              <a:rPr b="1" i="0" lang="en-US" sz="2200" u="none" cap="none" strike="noStrike">
                <a:solidFill>
                  <a:srgbClr val="000000"/>
                </a:solidFill>
                <a:latin typeface="DM Sans"/>
                <a:ea typeface="DM Sans"/>
                <a:cs typeface="DM Sans"/>
                <a:sym typeface="DM Sans"/>
              </a:rPr>
              <a:t>Doy fe que esta actividad está planificada en dtt (Sí/No):</a:t>
            </a:r>
            <a:endParaRPr b="0" i="0" sz="1400" u="none" cap="none" strike="noStrike">
              <a:solidFill>
                <a:srgbClr val="000000"/>
              </a:solidFill>
              <a:latin typeface="Arial"/>
              <a:ea typeface="Arial"/>
              <a:cs typeface="Arial"/>
              <a:sym typeface="Arial"/>
            </a:endParaRPr>
          </a:p>
          <a:p>
            <a:pPr indent="0" lvl="0" marL="0" marR="0" rtl="0" algn="l">
              <a:lnSpc>
                <a:spcPct val="140036"/>
              </a:lnSpc>
              <a:spcBef>
                <a:spcPts val="0"/>
              </a:spcBef>
              <a:spcAft>
                <a:spcPts val="0"/>
              </a:spcAft>
              <a:buClr>
                <a:srgbClr val="000000"/>
              </a:buClr>
              <a:buSzPts val="2200"/>
              <a:buFont typeface="Arial"/>
              <a:buNone/>
            </a:pPr>
            <a:r>
              <a:t/>
            </a:r>
            <a:endParaRPr b="1" i="0" sz="2200" u="none" cap="none" strike="noStrike">
              <a:solidFill>
                <a:srgbClr val="000000"/>
              </a:solidFill>
              <a:latin typeface="DM Sans"/>
              <a:ea typeface="DM Sans"/>
              <a:cs typeface="DM Sans"/>
              <a:sym typeface="DM Sans"/>
            </a:endParaRPr>
          </a:p>
        </p:txBody>
      </p:sp>
      <p:sp>
        <p:nvSpPr>
          <p:cNvPr id="850" name="Google Shape;850;g3d8b67da081_0_210"/>
          <p:cNvSpPr txBox="1"/>
          <p:nvPr/>
        </p:nvSpPr>
        <p:spPr>
          <a:xfrm>
            <a:off x="5121884" y="3740625"/>
            <a:ext cx="42138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000000"/>
                </a:solidFill>
                <a:latin typeface="DM Sans"/>
                <a:ea typeface="DM Sans"/>
                <a:cs typeface="DM Sans"/>
                <a:sym typeface="DM Sans"/>
              </a:rPr>
              <a:t>SI</a:t>
            </a:r>
            <a:endParaRPr b="0" i="0" sz="1400" u="none" cap="none" strike="noStrike">
              <a:solidFill>
                <a:srgbClr val="000000"/>
              </a:solidFill>
              <a:latin typeface="Arial"/>
              <a:ea typeface="Arial"/>
              <a:cs typeface="Arial"/>
              <a:sym typeface="Arial"/>
            </a:endParaRPr>
          </a:p>
        </p:txBody>
      </p:sp>
      <p:sp>
        <p:nvSpPr>
          <p:cNvPr id="851" name="Google Shape;851;g3d8b67da081_0_210"/>
          <p:cNvSpPr txBox="1"/>
          <p:nvPr/>
        </p:nvSpPr>
        <p:spPr>
          <a:xfrm>
            <a:off x="517999" y="4738300"/>
            <a:ext cx="171780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000000"/>
                </a:solidFill>
                <a:latin typeface="DM Sans"/>
                <a:ea typeface="DM Sans"/>
                <a:cs typeface="DM Sans"/>
                <a:sym typeface="DM Sans"/>
              </a:rPr>
              <a:t>Participantes: llenar las siguientes cajas de texto (tomar información del chat del meet)</a:t>
            </a:r>
            <a:endParaRPr b="0" i="0" sz="1400" u="none" cap="none" strike="noStrike">
              <a:solidFill>
                <a:srgbClr val="000000"/>
              </a:solidFill>
              <a:latin typeface="Arial"/>
              <a:ea typeface="Arial"/>
              <a:cs typeface="Arial"/>
              <a:sym typeface="Arial"/>
            </a:endParaRPr>
          </a:p>
        </p:txBody>
      </p:sp>
      <p:sp>
        <p:nvSpPr>
          <p:cNvPr id="852" name="Google Shape;852;g3d8b67da081_0_210"/>
          <p:cNvSpPr txBox="1"/>
          <p:nvPr/>
        </p:nvSpPr>
        <p:spPr>
          <a:xfrm>
            <a:off x="588375" y="5776522"/>
            <a:ext cx="5606400" cy="1523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000"/>
              <a:buFont typeface="Arial"/>
              <a:buNone/>
            </a:pPr>
            <a:r>
              <a:t/>
            </a:r>
            <a:endParaRPr sz="1500"/>
          </a:p>
          <a:p>
            <a:pPr indent="0" lvl="0" marL="0" marR="0" rtl="0" algn="ctr">
              <a:lnSpc>
                <a:spcPct val="140000"/>
              </a:lnSpc>
              <a:spcBef>
                <a:spcPts val="0"/>
              </a:spcBef>
              <a:spcAft>
                <a:spcPts val="0"/>
              </a:spcAft>
              <a:buClr>
                <a:srgbClr val="000000"/>
              </a:buClr>
              <a:buSzPts val="1000"/>
              <a:buFont typeface="Arial"/>
              <a:buNone/>
            </a:pPr>
            <a:r>
              <a:t/>
            </a:r>
            <a:endParaRPr sz="1500"/>
          </a:p>
          <a:p>
            <a:pPr indent="0" lvl="0" marL="0" marR="0" rtl="0" algn="ctr">
              <a:lnSpc>
                <a:spcPct val="140000"/>
              </a:lnSpc>
              <a:spcBef>
                <a:spcPts val="0"/>
              </a:spcBef>
              <a:spcAft>
                <a:spcPts val="0"/>
              </a:spcAft>
              <a:buClr>
                <a:srgbClr val="000000"/>
              </a:buClr>
              <a:buSzPts val="1000"/>
              <a:buFont typeface="Arial"/>
              <a:buNone/>
            </a:pPr>
            <a:r>
              <a:t/>
            </a:r>
            <a:endParaRPr sz="1500"/>
          </a:p>
          <a:p>
            <a:pPr indent="0" lvl="0" marL="0" marR="0" rtl="0" algn="ctr">
              <a:lnSpc>
                <a:spcPct val="140000"/>
              </a:lnSpc>
              <a:spcBef>
                <a:spcPts val="0"/>
              </a:spcBef>
              <a:spcAft>
                <a:spcPts val="0"/>
              </a:spcAft>
              <a:buClr>
                <a:srgbClr val="000000"/>
              </a:buClr>
              <a:buSzPts val="1000"/>
              <a:buFont typeface="Arial"/>
              <a:buNone/>
            </a:pPr>
            <a:r>
              <a:t/>
            </a:r>
            <a:endParaRPr sz="1500"/>
          </a:p>
          <a:p>
            <a:pPr indent="0" lvl="0" marL="0" marR="0" rtl="0" algn="ctr">
              <a:lnSpc>
                <a:spcPct val="140000"/>
              </a:lnSpc>
              <a:spcBef>
                <a:spcPts val="0"/>
              </a:spcBef>
              <a:spcAft>
                <a:spcPts val="0"/>
              </a:spcAft>
              <a:buClr>
                <a:srgbClr val="000000"/>
              </a:buClr>
              <a:buSzPts val="1000"/>
              <a:buFont typeface="Arial"/>
              <a:buNone/>
            </a:pPr>
            <a:r>
              <a:t/>
            </a:r>
            <a:endParaRPr sz="1500"/>
          </a:p>
        </p:txBody>
      </p:sp>
      <p:grpSp>
        <p:nvGrpSpPr>
          <p:cNvPr id="853" name="Google Shape;853;g3d8b67da081_0_210"/>
          <p:cNvGrpSpPr/>
          <p:nvPr/>
        </p:nvGrpSpPr>
        <p:grpSpPr>
          <a:xfrm>
            <a:off x="6356860" y="5493487"/>
            <a:ext cx="5782129" cy="4441351"/>
            <a:chOff x="0" y="-47625"/>
            <a:chExt cx="1522815" cy="1169700"/>
          </a:xfrm>
        </p:grpSpPr>
        <p:sp>
          <p:nvSpPr>
            <p:cNvPr id="854" name="Google Shape;854;g3d8b67da081_0_210"/>
            <p:cNvSpPr/>
            <p:nvPr/>
          </p:nvSpPr>
          <p:spPr>
            <a:xfrm>
              <a:off x="0" y="0"/>
              <a:ext cx="1522815" cy="1122056"/>
            </a:xfrm>
            <a:custGeom>
              <a:rect b="b" l="l" r="r" t="t"/>
              <a:pathLst>
                <a:path extrusionOk="0" h="1122056" w="1522815">
                  <a:moveTo>
                    <a:pt x="0" y="0"/>
                  </a:moveTo>
                  <a:lnTo>
                    <a:pt x="1522815" y="0"/>
                  </a:lnTo>
                  <a:lnTo>
                    <a:pt x="1522815"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55" name="Google Shape;855;g3d8b67da081_0_210"/>
            <p:cNvSpPr txBox="1"/>
            <p:nvPr/>
          </p:nvSpPr>
          <p:spPr>
            <a:xfrm>
              <a:off x="0" y="-47625"/>
              <a:ext cx="15228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56" name="Google Shape;856;g3d8b67da081_0_210"/>
          <p:cNvGrpSpPr/>
          <p:nvPr/>
        </p:nvGrpSpPr>
        <p:grpSpPr>
          <a:xfrm>
            <a:off x="12253100" y="5493494"/>
            <a:ext cx="5442743" cy="4441351"/>
            <a:chOff x="0" y="-47625"/>
            <a:chExt cx="1505100" cy="1169700"/>
          </a:xfrm>
        </p:grpSpPr>
        <p:sp>
          <p:nvSpPr>
            <p:cNvPr id="857" name="Google Shape;857;g3d8b67da081_0_210"/>
            <p:cNvSpPr/>
            <p:nvPr/>
          </p:nvSpPr>
          <p:spPr>
            <a:xfrm>
              <a:off x="0" y="0"/>
              <a:ext cx="1505027" cy="1122056"/>
            </a:xfrm>
            <a:custGeom>
              <a:rect b="b" l="l" r="r" t="t"/>
              <a:pathLst>
                <a:path extrusionOk="0" h="1122056" w="1505027">
                  <a:moveTo>
                    <a:pt x="0" y="0"/>
                  </a:moveTo>
                  <a:lnTo>
                    <a:pt x="1505027" y="0"/>
                  </a:lnTo>
                  <a:lnTo>
                    <a:pt x="1505027"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858" name="Google Shape;858;g3d8b67da081_0_210"/>
            <p:cNvSpPr txBox="1"/>
            <p:nvPr/>
          </p:nvSpPr>
          <p:spPr>
            <a:xfrm>
              <a:off x="0" y="-47625"/>
              <a:ext cx="15051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59" name="Google Shape;859;g3d8b67da081_0_210"/>
          <p:cNvSpPr txBox="1"/>
          <p:nvPr/>
        </p:nvSpPr>
        <p:spPr>
          <a:xfrm>
            <a:off x="6446197" y="5735926"/>
            <a:ext cx="5606400" cy="11643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dk1"/>
              </a:buClr>
              <a:buSzPts val="1200"/>
              <a:buFont typeface="Arial"/>
              <a:buNone/>
            </a:pPr>
            <a:r>
              <a:t/>
            </a:r>
            <a:endParaRPr sz="1700">
              <a:solidFill>
                <a:schemeClr val="dk1"/>
              </a:solidFill>
            </a:endParaRPr>
          </a:p>
          <a:p>
            <a:pPr indent="0" lvl="0" marL="0" marR="0" rtl="0" algn="ctr">
              <a:lnSpc>
                <a:spcPct val="115000"/>
              </a:lnSpc>
              <a:spcBef>
                <a:spcPts val="0"/>
              </a:spcBef>
              <a:spcAft>
                <a:spcPts val="0"/>
              </a:spcAft>
              <a:buClr>
                <a:schemeClr val="dk1"/>
              </a:buClr>
              <a:buSzPts val="1200"/>
              <a:buFont typeface="Arial"/>
              <a:buNone/>
            </a:pPr>
            <a:r>
              <a:t/>
            </a:r>
            <a:endParaRPr sz="1700">
              <a:solidFill>
                <a:schemeClr val="dk1"/>
              </a:solidFill>
            </a:endParaRPr>
          </a:p>
          <a:p>
            <a:pPr indent="0" lvl="0" marL="0" marR="0" rtl="0" algn="ctr">
              <a:lnSpc>
                <a:spcPct val="115000"/>
              </a:lnSpc>
              <a:spcBef>
                <a:spcPts val="0"/>
              </a:spcBef>
              <a:spcAft>
                <a:spcPts val="0"/>
              </a:spcAft>
              <a:buClr>
                <a:schemeClr val="dk1"/>
              </a:buClr>
              <a:buSzPts val="1200"/>
              <a:buFont typeface="Arial"/>
              <a:buNone/>
            </a:pPr>
            <a:r>
              <a:t/>
            </a:r>
            <a:endParaRPr sz="1700">
              <a:solidFill>
                <a:schemeClr val="dk1"/>
              </a:solidFill>
            </a:endParaRPr>
          </a:p>
          <a:p>
            <a:pPr indent="0" lvl="0" marL="0" marR="0" rtl="0" algn="ctr">
              <a:lnSpc>
                <a:spcPct val="115000"/>
              </a:lnSpc>
              <a:spcBef>
                <a:spcPts val="0"/>
              </a:spcBef>
              <a:spcAft>
                <a:spcPts val="0"/>
              </a:spcAft>
              <a:buClr>
                <a:schemeClr val="dk1"/>
              </a:buClr>
              <a:buSzPts val="1200"/>
              <a:buFont typeface="Arial"/>
              <a:buNone/>
            </a:pPr>
            <a:r>
              <a:t/>
            </a:r>
            <a:endParaRPr sz="1700">
              <a:solidFill>
                <a:schemeClr val="dk1"/>
              </a:solidFill>
            </a:endParaRPr>
          </a:p>
        </p:txBody>
      </p:sp>
      <p:sp>
        <p:nvSpPr>
          <p:cNvPr id="860" name="Google Shape;860;g3d8b67da081_0_210"/>
          <p:cNvSpPr txBox="1"/>
          <p:nvPr/>
        </p:nvSpPr>
        <p:spPr>
          <a:xfrm>
            <a:off x="12301094" y="5778551"/>
            <a:ext cx="5606400" cy="7620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dk1"/>
              </a:buClr>
              <a:buSzPts val="1200"/>
              <a:buFont typeface="Arial"/>
              <a:buNone/>
            </a:pPr>
            <a:r>
              <a:t/>
            </a:r>
            <a:endParaRPr sz="1500">
              <a:solidFill>
                <a:schemeClr val="dk1"/>
              </a:solidFill>
            </a:endParaRPr>
          </a:p>
          <a:p>
            <a:pPr indent="0" lvl="0" marL="0" marR="0" rtl="0" algn="ctr">
              <a:lnSpc>
                <a:spcPct val="115000"/>
              </a:lnSpc>
              <a:spcBef>
                <a:spcPts val="0"/>
              </a:spcBef>
              <a:spcAft>
                <a:spcPts val="0"/>
              </a:spcAft>
              <a:buClr>
                <a:schemeClr val="dk1"/>
              </a:buClr>
              <a:buSzPts val="1200"/>
              <a:buFont typeface="Arial"/>
              <a:buNone/>
            </a:pPr>
            <a:r>
              <a:t/>
            </a:r>
            <a:endParaRPr sz="1500">
              <a:solidFill>
                <a:schemeClr val="dk1"/>
              </a:solidFill>
            </a:endParaRPr>
          </a:p>
          <a:p>
            <a:pPr indent="0" lvl="0" marL="0" marR="0" rtl="0" algn="ctr">
              <a:lnSpc>
                <a:spcPct val="115000"/>
              </a:lnSpc>
              <a:spcBef>
                <a:spcPts val="0"/>
              </a:spcBef>
              <a:spcAft>
                <a:spcPts val="0"/>
              </a:spcAft>
              <a:buClr>
                <a:schemeClr val="dk1"/>
              </a:buClr>
              <a:buSzPts val="1200"/>
              <a:buFont typeface="Arial"/>
              <a:buNone/>
            </a:pPr>
            <a:r>
              <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2026-04-22T20:19:58Z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2026-04-22T00:00:00Z</vt:filetime>
  </property>
  <property fmtid="{D5CDD505-2E9C-101B-9397-08002B2CF9AE}" pid="3" name="CreationClient">
    <vt:lpwstr>outline-to-presentation</vt:lpwstr>
  </property>
  <property fmtid="{D5CDD505-2E9C-101B-9397-08002B2CF9AE}" pid="4" name="Creator">
    <vt:lpwstr>Adobe Express</vt:lpwstr>
  </property>
  <property fmtid="{D5CDD505-2E9C-101B-9397-08002B2CF9AE}" pid="5" name="LastSaved">
    <vt:filetime>2026-04-22T00:00:00Z</vt:filetime>
  </property>
  <property fmtid="{D5CDD505-2E9C-101B-9397-08002B2CF9AE}" pid="6" name="Producer">
    <vt:lpwstr>Adobe Express</vt:lpwstr>
  </property>
</Properties>
</file>